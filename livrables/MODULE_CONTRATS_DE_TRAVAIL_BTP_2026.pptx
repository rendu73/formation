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9"/>
  </p:notesMasterIdLst>
  <p:handoutMasterIdLst>
    <p:handoutMasterId r:id="rId130"/>
  </p:handoutMasterIdLst>
  <p:sldIdLst>
    <p:sldId id="443" r:id="rId136"/>
    <p:sldId id="444" r:id="rId137"/>
    <p:sldId id="445" r:id="rId138"/>
    <p:sldId id="446" r:id="rId139"/>
    <p:sldId id="447" r:id="rId140"/>
    <p:sldId id="448" r:id="rId141"/>
    <p:sldId id="449" r:id="rId142"/>
    <p:sldId id="450" r:id="rId143"/>
    <p:sldId id="451" r:id="rId144"/>
    <p:sldId id="452" r:id="rId145"/>
    <p:sldId id="453" r:id="rId146"/>
    <p:sldId id="454" r:id="rId147"/>
    <p:sldId id="455" r:id="rId148"/>
    <p:sldId id="456" r:id="rId149"/>
    <p:sldId id="457" r:id="rId150"/>
    <p:sldId id="458" r:id="rId151"/>
    <p:sldId id="459" r:id="rId152"/>
    <p:sldId id="460" r:id="rId153"/>
    <p:sldId id="461" r:id="rId154"/>
    <p:sldId id="462" r:id="rId155"/>
    <p:sldId id="463" r:id="rId156"/>
    <p:sldId id="464" r:id="rId157"/>
    <p:sldId id="465" r:id="rId158"/>
    <p:sldId id="466" r:id="rId159"/>
    <p:sldId id="467" r:id="rId160"/>
    <p:sldId id="468" r:id="rId161"/>
    <p:sldId id="469" r:id="rId162"/>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varScale="1">
        <p:scale>
          <a:sx n="105" d="100"/>
          <a:sy n="105" d="100"/>
        </p:scale>
        <p:origin x="83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2" d="100"/>
          <a:sy n="92" d="100"/>
        </p:scale>
        <p:origin x="3732" y="342"/>
      </p:cViewPr>
      <p:guideLst/>
    </p:cSldViewPr>
  </p:notesViewPr>
  <p:gridSpacing cx="72008" cy="72008"/>
</p:viewPr>
</file>

<file path=ppt/_rels/presentation.xml.rels><?xml version="1.0" encoding="utf-8"?><Relationships xmlns="http://schemas.openxmlformats.org/package/2006/relationships"><Relationship Id="rId134" Type="http://schemas.openxmlformats.org/officeDocument/2006/relationships/tableStyles" Target="tableStyles.xml"/><Relationship Id="rId129" Type="http://schemas.openxmlformats.org/officeDocument/2006/relationships/notesMaster" Target="notesMasters/notesMaster1.xml"/><Relationship Id="rId1" Type="http://schemas.openxmlformats.org/officeDocument/2006/relationships/customXml" Target="../customXml/item1.xml"/><Relationship Id="rId130" Type="http://schemas.openxmlformats.org/officeDocument/2006/relationships/handoutMaster" Target="handoutMasters/handoutMaster1.xml"/><Relationship Id="rId135" Type="http://schemas.microsoft.com/office/2018/10/relationships/authors" Target="authors.xml"/><Relationship Id="rId2" Type="http://schemas.openxmlformats.org/officeDocument/2006/relationships/customXml" Target="../customXml/item2.xml"/><Relationship Id="rId131" Type="http://schemas.openxmlformats.org/officeDocument/2006/relationships/presProps" Target="presProps.xml"/><Relationship Id="rId3" Type="http://schemas.openxmlformats.org/officeDocument/2006/relationships/customXml" Target="../customXml/item3.xml"/><Relationship Id="rId132" Type="http://schemas.openxmlformats.org/officeDocument/2006/relationships/viewProps" Target="viewProps.xml"/><Relationship Id="rId4" Type="http://schemas.openxmlformats.org/officeDocument/2006/relationships/slideMaster" Target="slideMasters/slideMaster1.xml"/><Relationship Id="rId133" Type="http://schemas.openxmlformats.org/officeDocument/2006/relationships/theme" Target="theme/theme1.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0" Type="http://schemas.openxmlformats.org/officeDocument/2006/relationships/slide" Target="slides/slide129.xml"/><Relationship Id="rId141" Type="http://schemas.openxmlformats.org/officeDocument/2006/relationships/slide" Target="slides/slide130.xml"/><Relationship Id="rId142" Type="http://schemas.openxmlformats.org/officeDocument/2006/relationships/slide" Target="slides/slide131.xml"/><Relationship Id="rId143" Type="http://schemas.openxmlformats.org/officeDocument/2006/relationships/slide" Target="slides/slide132.xml"/><Relationship Id="rId144" Type="http://schemas.openxmlformats.org/officeDocument/2006/relationships/slide" Target="slides/slide133.xml"/><Relationship Id="rId145" Type="http://schemas.openxmlformats.org/officeDocument/2006/relationships/slide" Target="slides/slide134.xml"/><Relationship Id="rId146" Type="http://schemas.openxmlformats.org/officeDocument/2006/relationships/slide" Target="slides/slide135.xml"/><Relationship Id="rId147" Type="http://schemas.openxmlformats.org/officeDocument/2006/relationships/slide" Target="slides/slide136.xml"/><Relationship Id="rId148" Type="http://schemas.openxmlformats.org/officeDocument/2006/relationships/slide" Target="slides/slide137.xml"/><Relationship Id="rId149" Type="http://schemas.openxmlformats.org/officeDocument/2006/relationships/slide" Target="slides/slide138.xml"/><Relationship Id="rId150" Type="http://schemas.openxmlformats.org/officeDocument/2006/relationships/slide" Target="slides/slide139.xml"/><Relationship Id="rId151" Type="http://schemas.openxmlformats.org/officeDocument/2006/relationships/slide" Target="slides/slide140.xml"/><Relationship Id="rId152" Type="http://schemas.openxmlformats.org/officeDocument/2006/relationships/slide" Target="slides/slide141.xml"/><Relationship Id="rId153" Type="http://schemas.openxmlformats.org/officeDocument/2006/relationships/slide" Target="slides/slide142.xml"/><Relationship Id="rId154" Type="http://schemas.openxmlformats.org/officeDocument/2006/relationships/slide" Target="slides/slide143.xml"/><Relationship Id="rId155" Type="http://schemas.openxmlformats.org/officeDocument/2006/relationships/slide" Target="slides/slide144.xml"/><Relationship Id="rId156" Type="http://schemas.openxmlformats.org/officeDocument/2006/relationships/slide" Target="slides/slide145.xml"/><Relationship Id="rId157" Type="http://schemas.openxmlformats.org/officeDocument/2006/relationships/slide" Target="slides/slide146.xml"/><Relationship Id="rId158" Type="http://schemas.openxmlformats.org/officeDocument/2006/relationships/slide" Target="slides/slide147.xml"/><Relationship Id="rId159" Type="http://schemas.openxmlformats.org/officeDocument/2006/relationships/slide" Target="slides/slide148.xml"/><Relationship Id="rId160" Type="http://schemas.openxmlformats.org/officeDocument/2006/relationships/slide" Target="slides/slide149.xml"/><Relationship Id="rId161" Type="http://schemas.openxmlformats.org/officeDocument/2006/relationships/slide" Target="slides/slide150.xml"/><Relationship Id="rId162" Type="http://schemas.openxmlformats.org/officeDocument/2006/relationships/slide" Target="slides/slide1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F6446FD3-06B8-4551-9841-526F5F46DE71}" type="datetime1">
              <a:rPr lang="fr-FR" smtClean="0"/>
              <a:t>06/09/2026</a:t>
            </a:fld>
            <a:endParaRPr lang="fr-FR" dirty="0"/>
          </a:p>
        </p:txBody>
      </p:sp>
      <p:sp>
        <p:nvSpPr>
          <p:cNvPr id="4" name="Espace réservé du pied de page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F757874-EF65-4B61-B062-40C932C81294}" type="slidenum">
              <a:rPr lang="fr-FR" smtClean="0"/>
              <a:t>‹N°›</a:t>
            </a:fld>
            <a:endParaRPr lang="fr-FR"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E8491C47-A92C-4257-8558-68970A214844}" type="datetime1">
              <a:rPr lang="fr-FR" smtClean="0"/>
              <a:t>06/09/2026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noProof="0"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6937E2AA-278D-0B48-A5DE-00B1FC5BDAF9}" type="slidenum">
              <a:rPr lang="fr-FR" noProof="0" smtClean="0"/>
              <a:t>‹N°›</a:t>
            </a:fld>
            <a:endParaRPr lang="fr-FR" noProof="0" dirty="0"/>
          </a:p>
        </p:txBody>
      </p:sp>
    </p:spTree>
    <p:extLst>
      <p:ext uri="{BB962C8B-B14F-4D97-AF65-F5344CB8AC3E}">
        <p14:creationId xmlns:p14="http://schemas.microsoft.com/office/powerpoint/2010/main" val="42665593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Cette séquence se place volontairement entre la séquence 2 « L’embauche » et la séquence 3 « Le brut » : l’embauche décrit les formalités, la conclusion du contrat décrit ce qui est écrit et ce qui sera repris dans le paramétrage de la paie.</a:t>
            </a:r>
          </a:p>
          <a:p>
            <a:r>
              <a:rPr lang="fr-FR" dirty="0"/>
              <a:t>Numérotée « 2 bis » pour ne pas renuméroter les séquences 3 à 7 du support existant. Durée indicative : une demi-journée.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Annoncer l’objectif : à la sortie de la séquence, le collaborateur doit savoir lire un contrat de travail BTP et en extraire les données de paramétrage de la paie, et savoir alerter le client sur les clauses manquantes.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Diapositive d’ouverture : faire le lien avec les séquences suivantes du support.</a:t>
            </a:r>
          </a:p>
          <a:p>
            <a:r>
              <a:rPr lang="fr-FR" dirty="0"/>
              <a:t>Le contrat n’est pas un sujet « juridique » détaché de la paie : la quasi-totalité des données du bulletin BTP y trouve sa source. Faire citer par les participants les erreurs de contrat qu’ils ont déjà eu à corriger en paie.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Rappel de la séquence 1. Insister sur le fait que la durée maximale du CDD, ses renouvellements, le délai de carence, la période d’essai et le recours au CDI de chantier relèvent des blocs verrouillés de la branche : un accord d’entreprise ne peut pas y déroger dans un sens moins favorable.</a:t>
            </a:r>
          </a:p>
          <a:p>
            <a:r>
              <a:rPr lang="fr-FR" dirty="0"/>
              <a:t>Réflexe cabinet : réclamer chaque année les accords d’entreprise du client et les archiver.</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Vérifier systématiquement les IDCC sur le contrat, le bulletin et la DSN : c’est la première source d’erreur des dossiers repris.</a:t>
            </a:r>
          </a:p>
          <a:p>
            <a:r>
              <a:rPr lang="fr-FR" dirty="0"/>
              <a:t>Rappeler qu’il faut ajouter la convention régionale ou départementale (salaires minimaux, indemnités de petits déplacements) et savoir si l’entreprise adhère à un syndicat patronal.</a:t>
            </a:r>
          </a:p>
          <a:p>
            <a:r>
              <a:rPr lang="fr-FR" dirty="0"/>
              <a:t>La CCN des cadres du bâtiment n’est pas étendue : elle ne s’applique qu’aux adhérents, sauf extension régionale.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Compléter la séquence 2 : ici on se place au moment de la signature, pas de la simple déclaration.</a:t>
            </a:r>
          </a:p>
          <a:p>
            <a:r>
              <a:rPr lang="fr-FR" dirty="0"/>
              <a:t>Le suivi individuel renforcé (SIR) impose un examen médical d’aptitude préalable à l’affectation : amiante, plomb, risque de chute de hauteur lors du montage et démontage d’échafaudages, etc. Sans avis d’aptitude, le salarié ne peut pas être affecté au poste.</a:t>
            </a:r>
          </a:p>
          <a:p>
            <a:r>
              <a:rPr lang="fr-FR" dirty="0"/>
              <a:t>La carte BTP est due pour tout salarié affecté à un chantier, apprentis et intérimaires compris.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Point réglementaire souvent ignoré des TPE du BTP, alors qu’il s’applique à toutes les embauches. Le salarié déjà en poste peut également demander ces informations : l’employeur doit répondre dans les 7 jours.</a:t>
            </a:r>
          </a:p>
          <a:p>
            <a:r>
              <a:rPr lang="fr-FR" dirty="0"/>
              <a:t>Un contrat de travail écrit complet vaut information, à condition qu’il reprenne l’ensemble des éléments listés à la diapositive suivante. Sinon, une annexe d’information est nécessaire.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Faire le parallèle avec la trame de contrat utilisée au cabinet : la plupart des trames couvrent la colonne de gauche, rarement la colonne de droite.</a:t>
            </a:r>
          </a:p>
          <a:p>
            <a:r>
              <a:rPr lang="fr-FR" dirty="0"/>
              <a:t>Sanction : le salarié met d’abord l’employeur en demeure ; à défaut de réponse ou de régularisation, il peut saisir le conseil de prud’hommes.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Spécificité BTP forte : le salarié perçoit ses congés payés d’un tiers, la caisse CIBTP. L’information sur les organismes de protection sociale prend donc ici tout son sens et évite une bonne partie des réclamations de salariés en début de contrat.</a:t>
            </a:r>
          </a:p>
          <a:p>
            <a:r>
              <a:rPr lang="fr-FR" dirty="0"/>
              <a:t>Proposer au client une annexe type « information du salarié » à joindre au contrat : elle se met à jour une fois par an et couvre l’ensemble des embauches.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Reprend et complète la diapositive « L’embauche : le contrat de travail » de la séquence 2.</a:t>
            </a:r>
          </a:p>
          <a:p>
            <a:r>
              <a:rPr lang="fr-FR" dirty="0"/>
              <a:t>Argument à donner au client : sans écrit, aucune période d’essai, aucune clause de mobilité chantiers, aucun forfait jours. L’absence d’écrit se paie au premier contentieux.</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CDD : la période d’essai est de 1 jour par semaine de contrat, plafonnée à 2 semaines lorsque le contrat est au plus de 6 mois, et à 1 mois au-delà.</a:t>
            </a:r>
          </a:p>
          <a:p>
            <a:r>
              <a:rPr lang="fr-FR" dirty="0"/>
              <a:t>Depuis le 9 septembre 2023, les durées conventionnelles plus longues issues d’accords antérieurs au 26 juin 2008 ne sont plus applicables (loi du 9 mars 2023) : on revient aux durées légales ci-dessus.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Cohérent avec la diapositive « L’embauche : la période d’essai » de la séquence 2 : y renvoyer et ne pas développer deux fois.</a:t>
            </a:r>
          </a:p>
          <a:p>
            <a:r>
              <a:rPr lang="fr-FR" dirty="0"/>
              <a:t>Délais de prévenance employeur (art. L. 1221-25) : moins de 8 jours de présence 24 h, de 8 jours à 1 mois 48 h, après 1 mois 2 semaines, après 3 mois 1 mois. Le délai ne peut pas prolonger la période d’essai : à défaut, indemnité compensatrice.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CDI de chantier est l’outil historique du BTP : il permet d’embaucher pour une opération longue sans supporter la précarité du CDD ni sa limitation de durée.</a:t>
            </a:r>
          </a:p>
          <a:p>
            <a:r>
              <a:rPr lang="fr-FR" dirty="0"/>
              <a:t>Vérifier si un accord de branche étendu encadre le recours dans la catégorie concernée : à défaut, c’est l’usage du secteur qui fonde le recours (art. L. 1223-8).</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Point de vigilance majeur : beaucoup d’entreprises croient que le contrat « se termine tout seul » à la fin du chantier. Il faut engager une procédure de licenciement.</a:t>
            </a:r>
          </a:p>
          <a:p>
            <a:r>
              <a:rPr lang="fr-FR" dirty="0"/>
              <a:t>En paie : solde de tout compte avec indemnité de licenciement, préavis, attestation France Travail. Utiliser en DSN le motif de rupture correspondant à la fin de chantier et vérifier la nomenclature de la norme DSN en vigueur.</a:t>
            </a:r>
          </a:p>
          <a:p>
            <a:r>
              <a:rPr lang="fr-FR" dirty="0"/>
              <a:t>Prévoir aussi la clause de reclassement lorsque l’accord de branche l’impose.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L’absence de CDD d’usage dans le BTP est un point clé : un client qui enchaîne les CDD « le temps du chantier » doit basculer sur un CDI de chantier.</a:t>
            </a:r>
          </a:p>
          <a:p>
            <a:r>
              <a:rPr lang="fr-FR" dirty="0"/>
              <a:t>Exceptions au délai de carence : nouvelle absence du salarié remplacé, travaux urgents de sécurité, emploi saisonnier, rupture anticipée à l’initiative du salarié, refus de renouvellement par le salarié.</a:t>
            </a:r>
          </a:p>
          <a:p>
            <a:r>
              <a:rPr lang="fr-FR" dirty="0"/>
              <a:t>Transmission tardive de l’écrit : indemnité au salarié pouvant aller jusqu’à un mois de salaire.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Un motif imprécis ou une mention manquante entraîne la requalification en CDI, avec indemnité de requalification d’au moins un mois de salaire.</a:t>
            </a:r>
          </a:p>
          <a:p>
            <a:r>
              <a:rPr lang="fr-FR" dirty="0"/>
              <a:t>Point à vérifier auprès de la caisse CIBTP du dossier : assiette des cotisations congés payés applicable à l’indemnité de fin de contrat.</a:t>
            </a:r>
          </a:p>
          <a:p>
            <a:r>
              <a:rPr lang="fr-FR" dirty="0"/>
              <a:t>Ne pas confondre l’indemnité de fin de contrat de 10 % (précarité) avec l’indemnité compensatrice de congés payés, qui dans le BTP est versée par la caisse.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Dispositif issu de la loi du 21 décembre 2022 sur le marché du travail et du décret n° 2023-1307 du 28 décembre 2023.</a:t>
            </a:r>
          </a:p>
          <a:p>
            <a:r>
              <a:rPr lang="fr-FR" dirty="0"/>
              <a:t>Très fréquent dans le BTP compte tenu du volume de CDD. Le cabinet doit prévenir le client : sans déclaration à France Travail, l’employeur perd le bénéfice de l’exclusion de l’indemnité de 10 % et s’expose à une réclamation du salarié.</a:t>
            </a:r>
          </a:p>
          <a:p>
            <a:r>
              <a:rPr lang="fr-FR" dirty="0"/>
              <a:t>Conserver la proposition écrite, la preuve de sa remise et la réponse du salarié.</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Renvoyer aux diapositives « Les apprentis » de la séquence 3 pour le détail du calcul de la rémunération et de la prime de vacances.</a:t>
            </a:r>
          </a:p>
          <a:p>
            <a:r>
              <a:rPr lang="fr-FR" dirty="0"/>
              <a:t>En cas de non-affiliation initiale à la caisse des congés payés, adresser un exemplaire du contrat dans les 8 jours suivant l’enregistrement. Si une rupture ramène le contrat à moins d’un an, les cotisations congés payés sont dues rétroactivement.</a:t>
            </a:r>
          </a:p>
          <a:p>
            <a:r>
              <a:rPr lang="fr-FR" dirty="0"/>
              <a:t>Actualiser chaque année les seuils d’exonération et le régime social des apprentis : vérifier le BOSS et la loi de financement de la sécurité sociale applicable.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L’intérimaire n’est pas salarié de l’entreprise utilisatrice mais son coût et ses heures impactent le dossier : cotisation OPPBTP intérimaires, effectif, obligations de sécurité.</a:t>
            </a:r>
          </a:p>
          <a:p>
            <a:r>
              <a:rPr lang="fr-FR" dirty="0"/>
              <a:t>Le devoir de vigilance est une obligation du donneur d’ordre : sans attestation, solidarité financière en cas de travail dissimulé du sous-traitant. Le cabinet a un devoir de conseil sur ce point.</a:t>
            </a:r>
          </a:p>
          <a:p>
            <a:r>
              <a:rPr lang="fr-FR" dirty="0"/>
              <a:t>Salariés détachés : vérifier l’existence de la déclaration préalable de détachement et la désignation d’un représentant en France.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temps partiel est rare chez les ouvriers de chantier mais fréquent pour les postes administratifs et les conjoints collaborateurs des TPE : c’est là que se trouvent les contrats mal rédigés.</a:t>
            </a:r>
          </a:p>
          <a:p>
            <a:r>
              <a:rPr lang="fr-FR" dirty="0"/>
              <a:t>Dérogations à la durée minimale : demande écrite et motivée du salarié, étudiant de moins de 26 ans, accord de branche étendu, contrats de moins de 7 jours et remplacements.</a:t>
            </a:r>
          </a:p>
          <a:p>
            <a:r>
              <a:rPr lang="fr-FR" dirty="0"/>
              <a:t>En paie : ne pas oublier la proratisation du plafond de sécurité sociale.</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Diapositive centrale de la séquence : c’est ici que le contrat rencontre le bulletin.</a:t>
            </a:r>
          </a:p>
          <a:p>
            <a:r>
              <a:rPr lang="fr-FR" dirty="0"/>
              <a:t>Le lieu de rattachement administratif est déterminant : il sert à mesurer les zones concentriques des indemnités de petits déplacements et à apprécier le dépassement du temps normal de trajet (Cass. soc. 18 octobre 2017, n° 16-13.281).</a:t>
            </a:r>
          </a:p>
          <a:p>
            <a:r>
              <a:rPr lang="fr-FR" dirty="0"/>
              <a:t>Forfait jours : rappeler la majoration du minimum conventionnel et l’obligation de suivi de la charge de travail et du droit à la déconnexion.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Renvoyer à la séquence 4 pour le calcul et l’impact sur les bases.</a:t>
            </a:r>
          </a:p>
          <a:p>
            <a:r>
              <a:rPr lang="fr-FR" dirty="0"/>
              <a:t>Le contrat peut informer le salarié de l’application de la DFS, mais ne peut pas valoir consentement définitif : le consentement se recueille chaque année et le salarié peut s’y opposer.</a:t>
            </a:r>
          </a:p>
          <a:p>
            <a:r>
              <a:rPr lang="fr-FR" dirty="0"/>
              <a:t>Le calendrier de sortie de la DFS dans le BTP prévoit une baisse d’un point par an à compter de 2024, à partir d’un taux de 10 %, jusqu’à extinction. VÉRIFIER LE TAUX APPLICABLE À L’ANNÉE DE LA PAIE DANS LE BOSS avant l’animation.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Le BOSS assimile désormais l’entretien des vêtements de travail à un frais professionnel : en cas d’application de la DFS, la prime de salissure est réintégrée dans le brut abattu (voir séquence 4).</a:t>
            </a:r>
          </a:p>
          <a:p>
            <a:r>
              <a:rPr lang="fr-FR" dirty="0"/>
              <a:t>Véhicule : si le salarié ne peut pas l’utiliser à titre personnel, ce n’est pas un avantage en nature ; l’écrire dans le contrat ou dans une note de service et pouvoir le prouver.</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Diapositive de synthèse à utiliser comme grille de conseil au client.</a:t>
            </a:r>
          </a:p>
          <a:p>
            <a:r>
              <a:rPr lang="fr-FR" dirty="0"/>
              <a:t>Message clé : pour un besoin lié à un chantier long et identifié, le CDI de chantier est plus sûr et moins coûteux que l’enchaînement de CDD, qui est de surcroît impossible à fonder sur l’usage dans le BTP.</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Avant chaque animation, actualiser les valeurs chiffrées : taux de DFS de l’année, barèmes de rémunération des alternants, aides à l’alternance, montants des indemnités de petits et grands déplacements.</a:t>
            </a:r>
          </a:p>
          <a:p>
            <a:r>
              <a:rPr lang="fr-FR" dirty="0"/>
              <a:t>Sources à consulter : BOSS, site de l’URSSAF, caisse CIBTP de la région, PRO BTP, conventions collectives régionales ou départementales.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Distribuer cette check-list en fin de séquence. Elle sert de trame d’audit à l’entrée d’un nouveau dossier BTP et de support au devoir de conseil du cabinet.</a:t>
            </a:r>
          </a:p>
          <a:p>
            <a:r>
              <a:rPr lang="fr-FR" dirty="0"/>
              <a:t>Conseil : conserver au dossier la preuve de chaque point, notamment le consentement DFS et l’information écrite du salarié.</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Corrigés indicatifs.</a:t>
            </a:r>
          </a:p>
          <a:p>
            <a:r>
              <a:rPr lang="fr-FR" dirty="0"/>
              <a:t>Cas 1 : CDI de chantier, le CDD d’usage étant exclu dans le BTP et la durée dépassant 18 mois si le chantier se prolonge. Écrit obligatoire désignant le chantier.</a:t>
            </a:r>
          </a:p>
          <a:p>
            <a:r>
              <a:rPr lang="fr-FR" dirty="0"/>
              <a:t>Cas 2 : proposition écrite du CDI, délai de réflexion, information de France Travail dans le mois, perte de l’indemnité de fin de contrat de 10 %.</a:t>
            </a:r>
          </a:p>
          <a:p>
            <a:r>
              <a:rPr lang="fr-FR" dirty="0"/>
              <a:t>Cas 3 : consentement du salarié non recueilli, absence de preuve des frais : redressement URSSAF et qualification possible de travail dissimulé. Régulariser par la procédure annuelle de recueil du consentement.</a:t>
            </a:r>
          </a:p>
          <a:p>
            <a:r>
              <a:rPr lang="fr-FR" dirty="0"/>
              <a:t>Cas 4 : passage de l’IDCC 1596 à l’IDCC 1597 pour les ouvriers du bâtiment, avenant d’information, mise à jour du paramétrage et de la DSN, vérification des grilles de salaires.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a:t>
            </a:fld>
            <a:endParaRPr lang="fr-F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pic>
        <p:nvPicPr>
          <p:cNvPr id="2" name="Espace réservé d’image 8">
            <a:extLst>
              <a:ext uri="{FF2B5EF4-FFF2-40B4-BE49-F238E27FC236}">
                <a16:creationId xmlns:a16="http://schemas.microsoft.com/office/drawing/2014/main" id="{D56268A4-B555-72BE-6160-318763ECAA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7" name="Rectangle 6">
            <a:extLst>
              <a:ext uri="{FF2B5EF4-FFF2-40B4-BE49-F238E27FC236}">
                <a16:creationId xmlns:a16="http://schemas.microsoft.com/office/drawing/2014/main" id="{12D44DBA-D665-923B-A38C-C68A9C039EA9}"/>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noProof="0" dirty="0"/>
          </a:p>
        </p:txBody>
      </p:sp>
      <p:sp>
        <p:nvSpPr>
          <p:cNvPr id="6" name="Titr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rtlCol="0" anchor="ctr" anchorCtr="0">
            <a:noAutofit/>
          </a:bodyPr>
          <a:lstStyle>
            <a:lvl1pPr algn="ctr">
              <a:defRPr lang="fr-FR" sz="4400"/>
            </a:lvl1pPr>
          </a:lstStyle>
          <a:p>
            <a:pPr rtl="0"/>
            <a:r>
              <a:rPr lang="fr-FR" noProof="0"/>
              <a:t>Cliquez pour ajouter un titre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2">
    <p:spTree>
      <p:nvGrpSpPr>
        <p:cNvPr id="1" name=""/>
        <p:cNvGrpSpPr/>
        <p:nvPr/>
      </p:nvGrpSpPr>
      <p:grpSpPr>
        <a:xfrm>
          <a:off x="0" y="0"/>
          <a:ext cx="0" cy="0"/>
          <a:chOff x="0" y="0"/>
          <a:chExt cx="0" cy="0"/>
        </a:xfrm>
      </p:grpSpPr>
      <p:pic>
        <p:nvPicPr>
          <p:cNvPr id="7" name="Espace réservé d’image 38">
            <a:extLst>
              <a:ext uri="{FF2B5EF4-FFF2-40B4-BE49-F238E27FC236}">
                <a16:creationId xmlns:a16="http://schemas.microsoft.com/office/drawing/2014/main" id="{31550E6E-10D6-E75A-F6B1-8800DAC2CBF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7802" b="7802"/>
          <a:stretch>
            <a:fillRect/>
          </a:stretch>
        </p:blipFill>
        <p:spPr>
          <a:xfrm>
            <a:off x="0" y="0"/>
            <a:ext cx="12188952" cy="6858000"/>
          </a:xfrm>
          <a:prstGeom prst="rect">
            <a:avLst/>
          </a:prstGeom>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73038" y="1457865"/>
            <a:ext cx="3200400" cy="4580626"/>
          </a:xfrm>
        </p:spPr>
        <p:txBody>
          <a:bodyPr rtlCol="0" anchor="t">
            <a:noAutofit/>
          </a:bodyPr>
          <a:lstStyle>
            <a:lvl1pPr algn="ct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A772710C-A212-1B12-06CD-FA2A14F89D68}"/>
              </a:ext>
            </a:extLst>
          </p:cNvPr>
          <p:cNvSpPr>
            <a:spLocks noGrp="1"/>
          </p:cNvSpPr>
          <p:nvPr>
            <p:ph idx="1" hasCustomPrompt="1"/>
          </p:nvPr>
        </p:nvSpPr>
        <p:spPr>
          <a:xfrm>
            <a:off x="4796287" y="1457864"/>
            <a:ext cx="4986068" cy="4580627"/>
          </a:xfrm>
        </p:spPr>
        <p:txBody>
          <a:bodyPr tIns="45720" rtlCol="0" anchor="t" anchorCtr="0">
            <a:normAutofit/>
          </a:bodyPr>
          <a:lstStyle>
            <a:lvl1pPr marL="0" indent="0">
              <a:lnSpc>
                <a:spcPct val="150000"/>
              </a:lnSpc>
              <a:spcBef>
                <a:spcPts val="1000"/>
              </a:spcBef>
              <a:spcAft>
                <a:spcPts val="1200"/>
              </a:spcAft>
              <a:buNone/>
              <a:defRPr lang="fr-FR" sz="2400"/>
            </a:lvl1pPr>
            <a:lvl2pPr>
              <a:lnSpc>
                <a:spcPct val="150000"/>
              </a:lnSpc>
              <a:spcBef>
                <a:spcPts val="1000"/>
              </a:spcBef>
              <a:spcAft>
                <a:spcPts val="1200"/>
              </a:spcAft>
              <a:defRPr lang="fr-FR" sz="2000"/>
            </a:lvl2pPr>
            <a:lvl3pPr>
              <a:lnSpc>
                <a:spcPct val="150000"/>
              </a:lnSpc>
              <a:spcBef>
                <a:spcPts val="1000"/>
              </a:spcBef>
              <a:spcAft>
                <a:spcPts val="1200"/>
              </a:spcAft>
              <a:defRPr lang="fr-FR" sz="1800"/>
            </a:lvl3pPr>
            <a:lvl4pPr>
              <a:lnSpc>
                <a:spcPct val="150000"/>
              </a:lnSpc>
              <a:spcBef>
                <a:spcPts val="1000"/>
              </a:spcBef>
              <a:spcAft>
                <a:spcPts val="1200"/>
              </a:spcAft>
              <a:defRPr lang="fr-FR" sz="1600"/>
            </a:lvl4pPr>
            <a:lvl5pPr>
              <a:lnSpc>
                <a:spcPct val="150000"/>
              </a:lnSpc>
              <a:spcBef>
                <a:spcPts val="1000"/>
              </a:spcBef>
              <a:spcAft>
                <a:spcPts val="1200"/>
              </a:spcAft>
              <a:defRPr lang="fr-FR" sz="16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E1911627-7C03-4787-82AE-1BA2E184BD3B}"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 imag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61F88592-24FD-96EC-ADB3-C0B7682DF9A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Titr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918259" y="798653"/>
            <a:ext cx="5166167" cy="5289630"/>
          </a:xfrm>
          <a:solidFill>
            <a:schemeClr val="bg1">
              <a:alpha val="95000"/>
            </a:schemeClr>
          </a:solidFill>
        </p:spPr>
        <p:txBody>
          <a:bodyPr lIns="274320" rIns="274320" rtlCol="0" anchor="ctr">
            <a:noAutofit/>
          </a:bodyPr>
          <a:lstStyle>
            <a:lvl1pPr algn="ctr">
              <a:defRPr lang="fr-FR" sz="4400"/>
            </a:lvl1pPr>
          </a:lstStyle>
          <a:p>
            <a:pPr rtl="0"/>
            <a:r>
              <a:rPr lang="fr-FR" noProof="0"/>
              <a:t>Cliquez pour ajouter un titre</a:t>
            </a:r>
          </a:p>
        </p:txBody>
      </p:sp>
      <p:sp>
        <p:nvSpPr>
          <p:cNvPr id="8" name="Espace réservé d’image 7">
            <a:extLst>
              <a:ext uri="{FF2B5EF4-FFF2-40B4-BE49-F238E27FC236}">
                <a16:creationId xmlns:a16="http://schemas.microsoft.com/office/drawing/2014/main" id="{E592AF4F-2F83-7005-B3AC-6FCC7FB19140}"/>
              </a:ext>
            </a:extLst>
          </p:cNvPr>
          <p:cNvSpPr>
            <a:spLocks noGrp="1"/>
          </p:cNvSpPr>
          <p:nvPr>
            <p:ph type="pic" sz="quarter" idx="13"/>
          </p:nvPr>
        </p:nvSpPr>
        <p:spPr>
          <a:xfrm>
            <a:off x="6084424" y="787077"/>
            <a:ext cx="5166167" cy="5289631"/>
          </a:xfrm>
          <a:solidFill>
            <a:schemeClr val="bg1">
              <a:alpha val="95000"/>
            </a:schemeClr>
          </a:solidFill>
        </p:spPr>
        <p:txBody>
          <a:bodyPr rtlCol="0">
            <a:noAutofit/>
          </a:bodyPr>
          <a:lstStyle>
            <a:lvl1pPr marL="342900" indent="-342900" algn="ctr">
              <a:buFont typeface="Arial" panose="020B0604020202020204" pitchFamily="34" charset="0"/>
              <a:buChar char="•"/>
              <a:defRPr lang="fr-FR" sz="20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fr-FR"/>
            </a:pPr>
            <a:r>
              <a:rPr lang="fr-FR" noProof="0"/>
              <a:t>Cliquez sur l'icône pour ajouter une image</a:t>
            </a:r>
            <a:endParaRPr lang="fr-FR" noProof="0" dirty="0"/>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2D52580B-3117-496F-9E52-EA2BED40ADC3}"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 sous-titre + image">
    <p:spTree>
      <p:nvGrpSpPr>
        <p:cNvPr id="1" name=""/>
        <p:cNvGrpSpPr/>
        <p:nvPr/>
      </p:nvGrpSpPr>
      <p:grpSpPr>
        <a:xfrm>
          <a:off x="0" y="0"/>
          <a:ext cx="0" cy="0"/>
          <a:chOff x="0" y="0"/>
          <a:chExt cx="0" cy="0"/>
        </a:xfrm>
      </p:grpSpPr>
      <p:pic>
        <p:nvPicPr>
          <p:cNvPr id="8" name="Espace réservé d’image 13">
            <a:extLst>
              <a:ext uri="{FF2B5EF4-FFF2-40B4-BE49-F238E27FC236}">
                <a16:creationId xmlns:a16="http://schemas.microsoft.com/office/drawing/2014/main" id="{BD017017-3234-8C24-B9FC-80FB1120D156}"/>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Rectangle 10">
            <a:extLst>
              <a:ext uri="{FF2B5EF4-FFF2-40B4-BE49-F238E27FC236}">
                <a16:creationId xmlns:a16="http://schemas.microsoft.com/office/drawing/2014/main" id="{CC226FA8-C264-7189-EEA0-5264009074FF}"/>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6135" y="1124887"/>
            <a:ext cx="4480560" cy="2352356"/>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296135" y="3571197"/>
            <a:ext cx="4476967" cy="2123547"/>
          </a:xfrm>
        </p:spPr>
        <p:txBody>
          <a:bodyPr rtlCol="0">
            <a:noAutofit/>
          </a:bodyPr>
          <a:lstStyle>
            <a:lvl1pPr marL="0" indent="0" algn="l">
              <a:buNone/>
              <a:defRPr lang="fr-FR" sz="2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7" name="Espace réservé d’image 7">
            <a:extLst>
              <a:ext uri="{FF2B5EF4-FFF2-40B4-BE49-F238E27FC236}">
                <a16:creationId xmlns:a16="http://schemas.microsoft.com/office/drawing/2014/main" id="{AA872EE9-FDFB-95A7-3547-DCAA0B51FE21}"/>
              </a:ext>
            </a:extLst>
          </p:cNvPr>
          <p:cNvSpPr>
            <a:spLocks noGrp="1"/>
          </p:cNvSpPr>
          <p:nvPr>
            <p:ph type="pic" sz="quarter" idx="13"/>
          </p:nvPr>
        </p:nvSpPr>
        <p:spPr>
          <a:xfrm>
            <a:off x="1329545" y="1148037"/>
            <a:ext cx="4365199" cy="4546707"/>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503064C0-D26B-4F6C-A65C-4492D719F302}"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9241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1">
    <p:spTree>
      <p:nvGrpSpPr>
        <p:cNvPr id="1" name=""/>
        <p:cNvGrpSpPr/>
        <p:nvPr/>
      </p:nvGrpSpPr>
      <p:grpSpPr>
        <a:xfrm>
          <a:off x="0" y="0"/>
          <a:ext cx="0" cy="0"/>
          <a:chOff x="0" y="0"/>
          <a:chExt cx="0" cy="0"/>
        </a:xfrm>
      </p:grpSpPr>
      <p:pic>
        <p:nvPicPr>
          <p:cNvPr id="7" name="Espace réservé d’image 17">
            <a:extLst>
              <a:ext uri="{FF2B5EF4-FFF2-40B4-BE49-F238E27FC236}">
                <a16:creationId xmlns:a16="http://schemas.microsoft.com/office/drawing/2014/main" id="{28B211FD-99D2-B373-669F-6E0F8E5B336F}"/>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8" name="Rectangle 7">
            <a:extLst>
              <a:ext uri="{FF2B5EF4-FFF2-40B4-BE49-F238E27FC236}">
                <a16:creationId xmlns:a16="http://schemas.microsoft.com/office/drawing/2014/main" id="{C4079EDA-1B98-E3C1-23AD-7FB6F39FE268}"/>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616598" y="995425"/>
            <a:ext cx="8958805" cy="1077230"/>
          </a:xfrm>
        </p:spPr>
        <p:txBody>
          <a:bodyPr rtlCol="0" anchor="b" anchorCtr="0">
            <a:noAutofit/>
          </a:bodyPr>
          <a:lstStyle>
            <a:lvl1pPr algn="ctr">
              <a:defRPr lang="fr-FR" sz="3600"/>
            </a:lvl1pPr>
          </a:lstStyle>
          <a:p>
            <a:pPr rtl="0"/>
            <a:r>
              <a:rPr lang="fr-FR"/>
              <a:t>Cliquez pour ajouter un titre</a:t>
            </a:r>
          </a:p>
        </p:txBody>
      </p:sp>
      <p:sp>
        <p:nvSpPr>
          <p:cNvPr id="9" name="Espace réservé du contenu 2">
            <a:extLst>
              <a:ext uri="{FF2B5EF4-FFF2-40B4-BE49-F238E27FC236}">
                <a16:creationId xmlns:a16="http://schemas.microsoft.com/office/drawing/2014/main" id="{76BDAEBE-3A0C-BBCD-A1F0-E1F1E07000E1}"/>
              </a:ext>
            </a:extLst>
          </p:cNvPr>
          <p:cNvSpPr>
            <a:spLocks noGrp="1"/>
          </p:cNvSpPr>
          <p:nvPr>
            <p:ph sz="half" idx="14" hasCustomPrompt="1"/>
          </p:nvPr>
        </p:nvSpPr>
        <p:spPr>
          <a:xfrm>
            <a:off x="1616599" y="2257061"/>
            <a:ext cx="8958804" cy="3541853"/>
          </a:xfrm>
        </p:spPr>
        <p:txBody>
          <a:bodyPr rtlCol="0">
            <a:normAutofit/>
          </a:bodyPr>
          <a:lstStyle>
            <a:lvl1pPr marL="0" indent="0">
              <a:spcBef>
                <a:spcPts val="1000"/>
              </a:spcBef>
              <a:spcAft>
                <a:spcPts val="10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B7E4C082-5100-4018-81AE-E83F3AC52478}"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 image ">
    <p:spTree>
      <p:nvGrpSpPr>
        <p:cNvPr id="1" name=""/>
        <p:cNvGrpSpPr/>
        <p:nvPr/>
      </p:nvGrpSpPr>
      <p:grpSpPr>
        <a:xfrm>
          <a:off x="0" y="0"/>
          <a:ext cx="0" cy="0"/>
          <a:chOff x="0" y="0"/>
          <a:chExt cx="0" cy="0"/>
        </a:xfrm>
      </p:grpSpPr>
      <p:pic>
        <p:nvPicPr>
          <p:cNvPr id="4" name="Espace réservé d’image 5">
            <a:extLst>
              <a:ext uri="{FF2B5EF4-FFF2-40B4-BE49-F238E27FC236}">
                <a16:creationId xmlns:a16="http://schemas.microsoft.com/office/drawing/2014/main" id="{236F3DDC-7FF8-F6A3-16EA-A01E7F79536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524" y="0"/>
            <a:ext cx="12188952" cy="6858000"/>
          </a:xfrm>
          <a:prstGeom prst="rect">
            <a:avLst/>
          </a:prstGeom>
        </p:spPr>
      </p:pic>
      <p:sp>
        <p:nvSpPr>
          <p:cNvPr id="9" name="Titre 33">
            <a:extLst>
              <a:ext uri="{FF2B5EF4-FFF2-40B4-BE49-F238E27FC236}">
                <a16:creationId xmlns:a16="http://schemas.microsoft.com/office/drawing/2014/main" id="{E728EBB2-9164-AC06-6682-9505D88F9535}"/>
              </a:ext>
              <a:ext uri="{C183D7F6-B498-43B3-948B-1728B52AA6E4}">
                <adec:decorative xmlns:adec="http://schemas.microsoft.com/office/drawing/2017/decorative" val="1"/>
              </a:ext>
            </a:extLst>
          </p:cNvPr>
          <p:cNvSpPr txBox="1">
            <a:spLocks/>
          </p:cNvSpPr>
          <p:nvPr userDrawn="1"/>
        </p:nvSpPr>
        <p:spPr>
          <a:xfrm>
            <a:off x="915924" y="777240"/>
            <a:ext cx="6115497" cy="5303520"/>
          </a:xfrm>
          <a:prstGeom prst="rect">
            <a:avLst/>
          </a:prstGeom>
          <a:solidFill>
            <a:schemeClr val="bg1">
              <a:alpha val="95000"/>
            </a:schemeClr>
          </a:solidFill>
        </p:spPr>
        <p:txBody>
          <a:bodyPr vert="horz" lIns="91440" tIns="45720" rIns="91440" bIns="45720" rtlCol="0" anchor="b" anchorCtr="0">
            <a:noAutofit/>
          </a:bodyPr>
          <a:lst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a:lstStyle>
          <a:p>
            <a:pP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416937" y="879674"/>
            <a:ext cx="5377406" cy="2550005"/>
          </a:xfrm>
        </p:spPr>
        <p:txBody>
          <a:bodyPr rtlCol="0" anchor="b" anchorCtr="0">
            <a:noAutofit/>
          </a:bodyPr>
          <a:lstStyle>
            <a:lvl1pPr>
              <a:defRPr lang="fr-FR" sz="3600"/>
            </a:lvl1pPr>
          </a:lstStyle>
          <a:p>
            <a:pPr rtl="0"/>
            <a:r>
              <a:rPr lang="fr-FR"/>
              <a:t>Cliquez pour ajouter un titre</a:t>
            </a:r>
          </a:p>
        </p:txBody>
      </p:sp>
      <p:sp>
        <p:nvSpPr>
          <p:cNvPr id="13" name="Espace réservé du texte 12">
            <a:extLst>
              <a:ext uri="{FF2B5EF4-FFF2-40B4-BE49-F238E27FC236}">
                <a16:creationId xmlns:a16="http://schemas.microsoft.com/office/drawing/2014/main" id="{53BA3AA6-E309-C0C7-B2C6-3705384B7067}"/>
              </a:ext>
            </a:extLst>
          </p:cNvPr>
          <p:cNvSpPr>
            <a:spLocks noGrp="1"/>
          </p:cNvSpPr>
          <p:nvPr>
            <p:ph type="body" sz="quarter" idx="13" hasCustomPrompt="1"/>
          </p:nvPr>
        </p:nvSpPr>
        <p:spPr>
          <a:xfrm>
            <a:off x="1417638" y="3576900"/>
            <a:ext cx="4126635" cy="2233613"/>
          </a:xfrm>
        </p:spPr>
        <p:txBody>
          <a:bodyPr rtlCol="0"/>
          <a:lstStyle>
            <a:lvl1pPr marL="0" indent="0">
              <a:buNone/>
              <a:defRPr lang="fr-FR"/>
            </a:lvl1pPr>
            <a:lvl2pPr marL="457200" indent="0">
              <a:buNone/>
              <a:defRPr lang="fr-FR"/>
            </a:lvl2pPr>
            <a:lvl3pPr marL="914400" indent="0">
              <a:buNone/>
              <a:defRPr lang="fr-FR"/>
            </a:lvl3pPr>
            <a:lvl4pPr marL="1371600" indent="0">
              <a:buNone/>
              <a:defRPr lang="fr-FR"/>
            </a:lvl4pPr>
            <a:lvl5pPr marL="1828800" indent="0">
              <a:buNone/>
              <a:defRPr lang="fr-FR"/>
            </a:lvl5pPr>
          </a:lstStyle>
          <a:p>
            <a:pPr lvl="0" rtl="0"/>
            <a:r>
              <a:rPr lang="fr-FR"/>
              <a:t>Cliquer pour ajouter du texte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8E4D955D-EB19-45A7-87BF-B455E4573A66}"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84543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ntenus 1">
    <p:spTree>
      <p:nvGrpSpPr>
        <p:cNvPr id="1" name=""/>
        <p:cNvGrpSpPr/>
        <p:nvPr/>
      </p:nvGrpSpPr>
      <p:grpSpPr>
        <a:xfrm>
          <a:off x="0" y="0"/>
          <a:ext cx="0" cy="0"/>
          <a:chOff x="0" y="0"/>
          <a:chExt cx="0" cy="0"/>
        </a:xfrm>
      </p:grpSpPr>
      <p:pic>
        <p:nvPicPr>
          <p:cNvPr id="8" name="Espace réservé d’image 5">
            <a:extLst>
              <a:ext uri="{FF2B5EF4-FFF2-40B4-BE49-F238E27FC236}">
                <a16:creationId xmlns:a16="http://schemas.microsoft.com/office/drawing/2014/main" id="{540E5FCC-3981-FB51-F0ED-B8BAB5C45A2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3BCE2C9E-7BC3-0EB6-EBE4-26EE33A1F2A3}"/>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269357" y="891251"/>
            <a:ext cx="9653286" cy="1158254"/>
          </a:xfrm>
        </p:spPr>
        <p:txBody>
          <a:bodyPr rtlCol="0" anchor="b" anchorCtr="0">
            <a:noAutofit/>
          </a:bodyPr>
          <a:lstStyle>
            <a:lvl1pPr algn="ctr">
              <a:defRPr lang="fr-FR" sz="3600"/>
            </a:lvl1pPr>
          </a:lstStyle>
          <a:p>
            <a:pPr rtl="0"/>
            <a:r>
              <a:rPr lang="fr-FR"/>
              <a:t>Cliquez pour ajouter un titre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47388252-C743-4B7B-AD80-BD8EE80425B9}"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ECB36301-48E6-AF64-5055-0CCA79474EAE}"/>
              </a:ext>
            </a:extLst>
          </p:cNvPr>
          <p:cNvSpPr>
            <a:spLocks noGrp="1"/>
          </p:cNvSpPr>
          <p:nvPr>
            <p:ph sz="half" idx="13" hasCustomPrompt="1"/>
          </p:nvPr>
        </p:nvSpPr>
        <p:spPr>
          <a:xfrm>
            <a:off x="1400540" y="2257062"/>
            <a:ext cx="406271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contenu 2">
            <a:extLst>
              <a:ext uri="{FF2B5EF4-FFF2-40B4-BE49-F238E27FC236}">
                <a16:creationId xmlns:a16="http://schemas.microsoft.com/office/drawing/2014/main" id="{5F973906-E48D-CA3F-3E96-205D2E688DC5}"/>
              </a:ext>
            </a:extLst>
          </p:cNvPr>
          <p:cNvSpPr>
            <a:spLocks noGrp="1"/>
          </p:cNvSpPr>
          <p:nvPr>
            <p:ph sz="half" idx="14" hasCustomPrompt="1"/>
          </p:nvPr>
        </p:nvSpPr>
        <p:spPr>
          <a:xfrm>
            <a:off x="6588311" y="2257061"/>
            <a:ext cx="420315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ux contenus 2">
    <p:spTree>
      <p:nvGrpSpPr>
        <p:cNvPr id="1" name=""/>
        <p:cNvGrpSpPr/>
        <p:nvPr/>
      </p:nvGrpSpPr>
      <p:grpSpPr>
        <a:xfrm>
          <a:off x="0" y="0"/>
          <a:ext cx="0" cy="0"/>
          <a:chOff x="0" y="0"/>
          <a:chExt cx="0" cy="0"/>
        </a:xfrm>
      </p:grpSpPr>
      <p:pic>
        <p:nvPicPr>
          <p:cNvPr id="8" name="Espace réservé d’image 44">
            <a:extLst>
              <a:ext uri="{FF2B5EF4-FFF2-40B4-BE49-F238E27FC236}">
                <a16:creationId xmlns:a16="http://schemas.microsoft.com/office/drawing/2014/main" id="{07AB38AA-85DC-3DF3-4ED4-B78FB670FFA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8F2DD44F-3200-BF06-94F9-C6A07EAD76B9}"/>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92361" y="777240"/>
            <a:ext cx="10007278" cy="1283843"/>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47029" y="2261313"/>
            <a:ext cx="3275746" cy="3653350"/>
          </a:xfrm>
        </p:spPr>
        <p:txBody>
          <a:bodyPr rtlCol="0">
            <a:normAutofit/>
          </a:bodyPr>
          <a:lstStyle>
            <a:lvl1pPr marL="0" indent="0">
              <a:lnSpc>
                <a:spcPct val="10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9144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D43A5B14-E4D4-48F8-96BF-F94AC27E1E63}"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C2AA9CA0-D45C-FE27-D4E4-DD219364E4FB}"/>
              </a:ext>
            </a:extLst>
          </p:cNvPr>
          <p:cNvSpPr>
            <a:spLocks noGrp="1"/>
          </p:cNvSpPr>
          <p:nvPr>
            <p:ph sz="half" idx="13" hasCustomPrompt="1"/>
          </p:nvPr>
        </p:nvSpPr>
        <p:spPr>
          <a:xfrm>
            <a:off x="5150734" y="2261313"/>
            <a:ext cx="5594236" cy="3653350"/>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F1219773-33FA-E4F9-4EAE-0764613F621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2817C37-9292-1CF3-6529-DEF7174273E0}"/>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061275" y="1134320"/>
            <a:ext cx="4803494" cy="1956122"/>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061275" y="3418271"/>
            <a:ext cx="4803494" cy="2305409"/>
          </a:xfrm>
        </p:spPr>
        <p:txBody>
          <a:bodyPr rtlCol="0">
            <a:noAutofit/>
          </a:bodyPr>
          <a:lstStyle>
            <a:lvl1pPr marL="0" indent="0" algn="l">
              <a:spcAft>
                <a:spcPts val="1000"/>
              </a:spcAft>
              <a:buNone/>
              <a:defRPr lang="fr-FR" sz="1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12" name="Espace réservé d’image 11">
            <a:extLst>
              <a:ext uri="{FF2B5EF4-FFF2-40B4-BE49-F238E27FC236}">
                <a16:creationId xmlns:a16="http://schemas.microsoft.com/office/drawing/2014/main" id="{E5D7B0DF-23EB-406B-9FAA-0182626A919B}"/>
              </a:ext>
            </a:extLst>
          </p:cNvPr>
          <p:cNvSpPr>
            <a:spLocks noGrp="1"/>
          </p:cNvSpPr>
          <p:nvPr>
            <p:ph type="pic" sz="quarter" idx="13"/>
          </p:nvPr>
        </p:nvSpPr>
        <p:spPr>
          <a:xfrm>
            <a:off x="1308563" y="1146638"/>
            <a:ext cx="4389120" cy="4572000"/>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FA544EF9-C7E3-40B0-9725-5455385E7B71}"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56372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 Tableau">
    <p:spTree>
      <p:nvGrpSpPr>
        <p:cNvPr id="1" name=""/>
        <p:cNvGrpSpPr/>
        <p:nvPr/>
      </p:nvGrpSpPr>
      <p:grpSpPr>
        <a:xfrm>
          <a:off x="0" y="0"/>
          <a:ext cx="0" cy="0"/>
          <a:chOff x="0" y="0"/>
          <a:chExt cx="0" cy="0"/>
        </a:xfrm>
      </p:grpSpPr>
      <p:pic>
        <p:nvPicPr>
          <p:cNvPr id="4" name="Espace réservé d’image 64">
            <a:extLst>
              <a:ext uri="{FF2B5EF4-FFF2-40B4-BE49-F238E27FC236}">
                <a16:creationId xmlns:a16="http://schemas.microsoft.com/office/drawing/2014/main" id="{7C62E1FE-8CAE-1FE1-6A91-DFE7F1D87083}"/>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266219"/>
            <a:ext cx="10389243" cy="1424470"/>
          </a:xfrm>
        </p:spPr>
        <p:txBody>
          <a:bodyPr rtlCol="0" anchor="ctr" anchorCtr="0">
            <a:noAutofit/>
          </a:bodyPr>
          <a:lstStyle>
            <a:lvl1pP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779325"/>
            <a:ext cx="3490732" cy="4297680"/>
          </a:xfrm>
        </p:spPr>
        <p:txBody>
          <a:bodyPr tIns="274320" rtlCol="0">
            <a:normAutofit/>
          </a:bodyPr>
          <a:lstStyle>
            <a:lvl1pPr marL="0" indent="0">
              <a:spcBef>
                <a:spcPts val="1000"/>
              </a:spcBef>
              <a:spcAft>
                <a:spcPts val="1000"/>
              </a:spcAft>
              <a:buNone/>
              <a:defRPr lang="fr-FR" sz="1800"/>
            </a:lvl1pPr>
            <a:lvl2pPr marL="228600" indent="0">
              <a:spcBef>
                <a:spcPts val="1000"/>
              </a:spcBef>
              <a:spcAft>
                <a:spcPts val="1000"/>
              </a:spcAft>
              <a:buNone/>
              <a:defRPr lang="fr-FR" sz="1800"/>
            </a:lvl2pPr>
            <a:lvl3pPr marL="685800" indent="0">
              <a:spcBef>
                <a:spcPts val="1000"/>
              </a:spcBef>
              <a:spcAft>
                <a:spcPts val="1000"/>
              </a:spcAft>
              <a:buNone/>
              <a:defRPr lang="fr-FR" sz="1800"/>
            </a:lvl3pPr>
            <a:lvl4pPr marL="1143000" indent="0">
              <a:spcBef>
                <a:spcPts val="1000"/>
              </a:spcBef>
              <a:spcAft>
                <a:spcPts val="1000"/>
              </a:spcAft>
              <a:buNone/>
              <a:defRPr lang="fr-FR" sz="1800"/>
            </a:lvl4pPr>
            <a:lvl5pPr marL="1600200" indent="0">
              <a:spcBef>
                <a:spcPts val="1000"/>
              </a:spcBef>
              <a:spcAft>
                <a:spcPts val="1000"/>
              </a:spcAft>
              <a:buNone/>
              <a:defRPr lang="fr-FR" sz="18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ableau 7">
            <a:extLst>
              <a:ext uri="{FF2B5EF4-FFF2-40B4-BE49-F238E27FC236}">
                <a16:creationId xmlns:a16="http://schemas.microsoft.com/office/drawing/2014/main" id="{423FEB60-8FB5-7F10-EDD7-8AB4B3139EF6}"/>
              </a:ext>
            </a:extLst>
          </p:cNvPr>
          <p:cNvSpPr>
            <a:spLocks noGrp="1"/>
          </p:cNvSpPr>
          <p:nvPr>
            <p:ph type="tbl" sz="quarter" idx="13"/>
          </p:nvPr>
        </p:nvSpPr>
        <p:spPr>
          <a:xfrm>
            <a:off x="4502552" y="1779325"/>
            <a:ext cx="6724891" cy="4297680"/>
          </a:xfrm>
        </p:spPr>
        <p:txBody>
          <a:bodyPr rtlCol="0"/>
          <a:lstStyle>
            <a:defPPr>
              <a:defRPr lang="fr-FR"/>
            </a:defPPr>
          </a:lstStyle>
          <a:p>
            <a:pPr rtl="0"/>
            <a:r>
              <a:rPr lang="fr-FR" noProof="0"/>
              <a:t>Cliquez sur l'icône pour ajouter un tableau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5F1A6C06-0733-4592-8966-AF7599068723}" type="datetime1">
              <a:rPr lang="fr-FR" noProof="0" smtClean="0"/>
              <a:t>06/09/2026</a:t>
            </a:fld>
            <a:endParaRPr lang="fr-FR" noProof="0"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noProof="0"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ux contenus 3">
    <p:spTree>
      <p:nvGrpSpPr>
        <p:cNvPr id="1" name=""/>
        <p:cNvGrpSpPr/>
        <p:nvPr/>
      </p:nvGrpSpPr>
      <p:grpSpPr>
        <a:xfrm>
          <a:off x="0" y="0"/>
          <a:ext cx="0" cy="0"/>
          <a:chOff x="0" y="0"/>
          <a:chExt cx="0" cy="0"/>
        </a:xfrm>
      </p:grpSpPr>
      <p:pic>
        <p:nvPicPr>
          <p:cNvPr id="8" name="Espace réservé d’image 17">
            <a:extLst>
              <a:ext uri="{FF2B5EF4-FFF2-40B4-BE49-F238E27FC236}">
                <a16:creationId xmlns:a16="http://schemas.microsoft.com/office/drawing/2014/main" id="{32B61A96-5F36-8895-B920-FC12FD76DC53}"/>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9" name="Rectangle 8">
            <a:extLst>
              <a:ext uri="{FF2B5EF4-FFF2-40B4-BE49-F238E27FC236}">
                <a16:creationId xmlns:a16="http://schemas.microsoft.com/office/drawing/2014/main" id="{8774BC39-6D56-474E-28BE-99260516AB0C}"/>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73070" y="914400"/>
            <a:ext cx="10045861" cy="1146680"/>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23687" y="2288614"/>
            <a:ext cx="5382228" cy="3475578"/>
          </a:xfrm>
        </p:spPr>
        <p:txBody>
          <a:bodyPr rtlCol="0">
            <a:normAutofit/>
          </a:bodyPr>
          <a:lstStyle>
            <a:lvl1pPr marL="0" indent="0">
              <a:spcBef>
                <a:spcPts val="1000"/>
              </a:spcBef>
              <a:spcAft>
                <a:spcPts val="0"/>
              </a:spcAft>
              <a:buNone/>
              <a:defRPr lang="fr-FR" sz="1800"/>
            </a:lvl1pPr>
            <a:lvl2pPr marL="685800">
              <a:spcBef>
                <a:spcPts val="600"/>
              </a:spcBef>
              <a:spcAft>
                <a:spcPts val="600"/>
              </a:spcAft>
              <a:defRPr lang="fr-FR" sz="1800"/>
            </a:lvl2pPr>
            <a:lvl3pPr marL="1143000">
              <a:spcBef>
                <a:spcPts val="600"/>
              </a:spcBef>
              <a:spcAft>
                <a:spcPts val="600"/>
              </a:spcAft>
              <a:defRPr lang="fr-FR" sz="1800"/>
            </a:lvl3pPr>
            <a:lvl4pPr marL="1600200">
              <a:spcBef>
                <a:spcPts val="600"/>
              </a:spcBef>
              <a:spcAft>
                <a:spcPts val="600"/>
              </a:spcAft>
              <a:defRPr lang="fr-FR" sz="1800"/>
            </a:lvl4pPr>
            <a:lvl5pPr marL="20574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u contenu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451790" y="2288614"/>
            <a:ext cx="3108960" cy="3475578"/>
          </a:xfrm>
        </p:spPr>
        <p:txBody>
          <a:bodyPr tIns="91440" rtlCol="0">
            <a:normAutofit/>
          </a:bodyPr>
          <a:lstStyle>
            <a:lvl1pPr marL="0" indent="0">
              <a:lnSpc>
                <a:spcPct val="15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6858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FBD8F672-8C4B-4224-8F63-2DD9FE821C6D}"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pic>
        <p:nvPicPr>
          <p:cNvPr id="3" name="Espace réservé d’image 64">
            <a:extLst>
              <a:ext uri="{FF2B5EF4-FFF2-40B4-BE49-F238E27FC236}">
                <a16:creationId xmlns:a16="http://schemas.microsoft.com/office/drawing/2014/main" id="{55E792AE-CF37-9DD8-2703-49480775F029}"/>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133629"/>
            <a:ext cx="10515600" cy="1325563"/>
          </a:xfrm>
        </p:spPr>
        <p:txBody>
          <a:bodyPr rtlCol="0" anchor="b" anchorCtr="0">
            <a:noAutofit/>
          </a:bodyPr>
          <a:lstStyle>
            <a:lvl1pPr>
              <a:defRPr lang="fr-FR" sz="3600"/>
            </a:lvl1pPr>
          </a:lstStyle>
          <a:p>
            <a:pPr rtl="0"/>
            <a:r>
              <a:rPr lang="fr-FR"/>
              <a:t>Cliquez pour ajouter un titre</a:t>
            </a:r>
          </a:p>
        </p:txBody>
      </p:sp>
      <p:sp>
        <p:nvSpPr>
          <p:cNvPr id="8" name="Espace réservé du tableau 7">
            <a:extLst>
              <a:ext uri="{FF2B5EF4-FFF2-40B4-BE49-F238E27FC236}">
                <a16:creationId xmlns:a16="http://schemas.microsoft.com/office/drawing/2014/main" id="{0CEAFE70-86D3-8690-31CA-F9A1FBA494D0}"/>
              </a:ext>
            </a:extLst>
          </p:cNvPr>
          <p:cNvSpPr>
            <a:spLocks noGrp="1"/>
          </p:cNvSpPr>
          <p:nvPr>
            <p:ph type="tbl" sz="quarter" idx="13"/>
          </p:nvPr>
        </p:nvSpPr>
        <p:spPr>
          <a:xfrm>
            <a:off x="914400" y="1779325"/>
            <a:ext cx="10361676" cy="4297680"/>
          </a:xfrm>
        </p:spPr>
        <p:txBody>
          <a:bodyPr rtlCol="0"/>
          <a:lstStyle>
            <a:lvl1pPr>
              <a:defRPr lang="fr-FR"/>
            </a:lvl1pPr>
          </a:lstStyle>
          <a:p>
            <a:pPr rtl="0"/>
            <a:r>
              <a:rPr lang="fr-FR"/>
              <a:t>Cliquez sur l'icône pour ajouter un tableau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552C5ED7-A1CD-49A3-A299-830AF836F4E6}"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u 3">
    <p:spTree>
      <p:nvGrpSpPr>
        <p:cNvPr id="1" name=""/>
        <p:cNvGrpSpPr/>
        <p:nvPr/>
      </p:nvGrpSpPr>
      <p:grpSpPr>
        <a:xfrm>
          <a:off x="0" y="0"/>
          <a:ext cx="0" cy="0"/>
          <a:chOff x="0" y="0"/>
          <a:chExt cx="0" cy="0"/>
        </a:xfrm>
      </p:grpSpPr>
      <p:pic>
        <p:nvPicPr>
          <p:cNvPr id="7" name="Espace réservé d’image 13">
            <a:extLst>
              <a:ext uri="{FF2B5EF4-FFF2-40B4-BE49-F238E27FC236}">
                <a16:creationId xmlns:a16="http://schemas.microsoft.com/office/drawing/2014/main" id="{A1BB4149-7987-3EF4-952D-2271B4DD8AB1}"/>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07B335AD-7A4B-841B-52BC-8FF32D99D749}"/>
              </a:ext>
              <a:ext uri="{C183D7F6-B498-43B3-948B-1728B52AA6E4}">
                <adec:decorative xmlns:adec="http://schemas.microsoft.com/office/drawing/2017/decorative" val="1"/>
              </a:ext>
            </a:extLst>
          </p:cNvPr>
          <p:cNvSpPr/>
          <p:nvPr userDrawn="1"/>
        </p:nvSpPr>
        <p:spPr>
          <a:xfrm>
            <a:off x="3799368" y="0"/>
            <a:ext cx="4593265"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4143375" y="92597"/>
            <a:ext cx="3905250" cy="3032567"/>
          </a:xfrm>
        </p:spPr>
        <p:txBody>
          <a:bodyPr rtlCol="0" anchor="b">
            <a:noAutofit/>
          </a:bodyPr>
          <a:lstStyle>
            <a:lvl1pPr algn="ctr">
              <a:defRPr lang="fr-FR"/>
            </a:lvl1pPr>
          </a:lstStyle>
          <a:p>
            <a:pPr rtl="0"/>
            <a:r>
              <a:rPr lang="fr-FR"/>
              <a:t>Cliquez pour ajouter un titre</a:t>
            </a:r>
          </a:p>
        </p:txBody>
      </p:sp>
      <p:sp>
        <p:nvSpPr>
          <p:cNvPr id="10" name="Espace réservé du texte 9">
            <a:extLst>
              <a:ext uri="{FF2B5EF4-FFF2-40B4-BE49-F238E27FC236}">
                <a16:creationId xmlns:a16="http://schemas.microsoft.com/office/drawing/2014/main" id="{A13E19FD-68BB-0F8D-21CF-9E48B806073F}"/>
              </a:ext>
            </a:extLst>
          </p:cNvPr>
          <p:cNvSpPr>
            <a:spLocks noGrp="1"/>
          </p:cNvSpPr>
          <p:nvPr>
            <p:ph type="body" sz="quarter" idx="10" hasCustomPrompt="1"/>
          </p:nvPr>
        </p:nvSpPr>
        <p:spPr>
          <a:xfrm>
            <a:off x="4143375" y="4004321"/>
            <a:ext cx="3905250" cy="2743200"/>
          </a:xfrm>
        </p:spPr>
        <p:txBody>
          <a:bodyPr rtlCol="0">
            <a:normAutofit/>
          </a:bodyPr>
          <a:lstStyle>
            <a:lvl1pPr marL="0" indent="0" algn="ctr">
              <a:buNone/>
              <a:defRPr lang="fr-FR" sz="1800"/>
            </a:lvl1pPr>
            <a:lvl2pPr marL="457200" indent="0" algn="ctr">
              <a:buNone/>
              <a:defRPr lang="fr-FR"/>
            </a:lvl2pPr>
            <a:lvl3pPr marL="914400" indent="0" algn="ctr">
              <a:buNone/>
              <a:defRPr lang="fr-FR"/>
            </a:lvl3pPr>
            <a:lvl4pPr marL="1371600" indent="0" algn="ctr">
              <a:buNone/>
              <a:defRPr lang="fr-FR"/>
            </a:lvl4pPr>
            <a:lvl5pPr marL="1828800" indent="0" algn="ctr">
              <a:buNone/>
              <a:defRPr lang="fr-FR"/>
            </a:lvl5pPr>
          </a:lstStyle>
          <a:p>
            <a:pPr lvl="0" rtl="0"/>
            <a:r>
              <a:rPr lang="fr-FR"/>
              <a:t>Cliquer pour ajouter du texte</a:t>
            </a:r>
          </a:p>
        </p:txBody>
      </p:sp>
    </p:spTree>
    <p:extLst>
      <p:ext uri="{BB962C8B-B14F-4D97-AF65-F5344CB8AC3E}">
        <p14:creationId xmlns:p14="http://schemas.microsoft.com/office/powerpoint/2010/main" val="21629670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ommaire simple">
    <p:spTree>
      <p:nvGrpSpPr>
        <p:cNvPr id="1" name=""/>
        <p:cNvGrpSpPr/>
        <p:nvPr/>
      </p:nvGrpSpPr>
      <p:grpSpPr>
        <a:xfrm>
          <a:off x="0" y="0"/>
          <a:ext cx="0" cy="0"/>
          <a:chOff x="0" y="0"/>
          <a:chExt cx="0" cy="0"/>
        </a:xfrm>
      </p:grpSpPr>
      <p:cxnSp>
        <p:nvCxnSpPr>
          <p:cNvPr id="6" name="Connecteur droit 5"/>
          <p:cNvCxnSpPr/>
          <p:nvPr userDrawn="1"/>
        </p:nvCxnSpPr>
        <p:spPr>
          <a:xfrm>
            <a:off x="431681" y="108874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7" name="Espace réservé du texte 6"/>
          <p:cNvSpPr>
            <a:spLocks noGrp="1"/>
          </p:cNvSpPr>
          <p:nvPr>
            <p:ph type="body" sz="quarter" idx="13" hasCustomPrompt="1"/>
          </p:nvPr>
        </p:nvSpPr>
        <p:spPr>
          <a:xfrm>
            <a:off x="431799" y="1208755"/>
            <a:ext cx="8784548" cy="4800464"/>
          </a:xfrm>
        </p:spPr>
        <p:txBody>
          <a:bodyPr/>
          <a:lstStyle>
            <a:lvl1pPr>
              <a:spcBef>
                <a:spcPts val="1600"/>
              </a:spcBef>
              <a:defRPr>
                <a:solidFill>
                  <a:schemeClr val="tx1"/>
                </a:solidFill>
              </a:defRPr>
            </a:lvl1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3074" name="Picture 2" descr="F:\Services\__Eléments Agence IMMEDIA\Derniers PICTOS reçus\05_08_2016\Pictogrammes-PPT_CFPC-2016\GRAND_Liste.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76254" y="1748813"/>
            <a:ext cx="4032001" cy="4032000"/>
          </a:xfrm>
          <a:prstGeom prst="rect">
            <a:avLst/>
          </a:prstGeom>
          <a:noFill/>
          <a:extLst>
            <a:ext uri="{909E8E84-426E-40DD-AFC4-6F175D3DCCD1}">
              <a14:hiddenFill xmlns:a14="http://schemas.microsoft.com/office/drawing/2010/main">
                <a:solidFill>
                  <a:srgbClr val="FFFFFF"/>
                </a:solidFill>
              </a14:hiddenFill>
            </a:ext>
          </a:extLst>
        </p:spPr>
      </p:pic>
      <p:sp>
        <p:nvSpPr>
          <p:cNvPr id="8" name="Espace réservé du texte 7"/>
          <p:cNvSpPr>
            <a:spLocks noGrp="1"/>
          </p:cNvSpPr>
          <p:nvPr>
            <p:ph type="body" sz="quarter" idx="14" hasCustomPrompt="1"/>
          </p:nvPr>
        </p:nvSpPr>
        <p:spPr>
          <a:xfrm>
            <a:off x="431800" y="308654"/>
            <a:ext cx="11269133" cy="780087"/>
          </a:xfrm>
        </p:spPr>
        <p:txBody>
          <a:bodyPr/>
          <a:lstStyle>
            <a:lvl1pPr marL="0" indent="0">
              <a:buNone/>
              <a:defRPr sz="4267" b="0" cap="all" spc="267" baseline="0"/>
            </a:lvl1pPr>
          </a:lstStyle>
          <a:p>
            <a:pPr lvl="0"/>
            <a:r>
              <a:rPr lang="fr-FR" dirty="0"/>
              <a:t>Sommaire</a:t>
            </a:r>
          </a:p>
        </p:txBody>
      </p:sp>
    </p:spTree>
    <p:extLst>
      <p:ext uri="{BB962C8B-B14F-4D97-AF65-F5344CB8AC3E}">
        <p14:creationId xmlns:p14="http://schemas.microsoft.com/office/powerpoint/2010/main" val="3309844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re de section">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574" y="668694"/>
            <a:ext cx="8407484" cy="293644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1</a:t>
            </a:r>
          </a:p>
        </p:txBody>
      </p:sp>
      <p:sp>
        <p:nvSpPr>
          <p:cNvPr id="12" name="Rectangle 11"/>
          <p:cNvSpPr/>
          <p:nvPr userDrawn="1"/>
        </p:nvSpPr>
        <p:spPr>
          <a:xfrm>
            <a:off x="432000" y="188640"/>
            <a:ext cx="2783680" cy="4800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964207140"/>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cxnSp>
        <p:nvCxnSpPr>
          <p:cNvPr id="6" name="Connecteur droit 5"/>
          <p:cNvCxnSpPr/>
          <p:nvPr userDrawn="1"/>
        </p:nvCxnSpPr>
        <p:spPr>
          <a:xfrm>
            <a:off x="431681" y="162880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10" name="Espace réservé du contenu 9"/>
          <p:cNvSpPr>
            <a:spLocks noGrp="1"/>
          </p:cNvSpPr>
          <p:nvPr>
            <p:ph sz="quarter" idx="14" hasCustomPrompt="1"/>
          </p:nvPr>
        </p:nvSpPr>
        <p:spPr>
          <a:xfrm>
            <a:off x="431800" y="1748813"/>
            <a:ext cx="11269133" cy="4132812"/>
          </a:xfrm>
        </p:spPr>
        <p:txBody>
          <a:bodyPr>
            <a:normAutofit/>
          </a:body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 name="Titre 1"/>
          <p:cNvSpPr>
            <a:spLocks noGrp="1"/>
          </p:cNvSpPr>
          <p:nvPr>
            <p:ph type="title" hasCustomPrompt="1"/>
          </p:nvPr>
        </p:nvSpPr>
        <p:spPr>
          <a:xfrm>
            <a:off x="431682" y="428667"/>
            <a:ext cx="11251489" cy="1200133"/>
          </a:xfrm>
        </p:spPr>
        <p:txBody>
          <a:bodyPr/>
          <a:lstStyle>
            <a:lvl1pPr algn="l">
              <a:defRPr/>
            </a:lvl1pPr>
          </a:lstStyle>
          <a:p>
            <a:r>
              <a:rPr lang="fr-FR" dirty="0"/>
              <a:t>Insérez le titre</a:t>
            </a:r>
          </a:p>
        </p:txBody>
      </p:sp>
    </p:spTree>
    <p:extLst>
      <p:ext uri="{BB962C8B-B14F-4D97-AF65-F5344CB8AC3E}">
        <p14:creationId xmlns:p14="http://schemas.microsoft.com/office/powerpoint/2010/main" val="3607063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équence 2">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2</a:t>
            </a:r>
          </a:p>
        </p:txBody>
      </p:sp>
      <p:sp>
        <p:nvSpPr>
          <p:cNvPr id="12" name="Rectangle 11"/>
          <p:cNvSpPr/>
          <p:nvPr userDrawn="1"/>
        </p:nvSpPr>
        <p:spPr>
          <a:xfrm>
            <a:off x="3252313" y="188640"/>
            <a:ext cx="2788800" cy="4800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568309926"/>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équence 3">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3</a:t>
            </a:r>
          </a:p>
        </p:txBody>
      </p:sp>
      <p:sp>
        <p:nvSpPr>
          <p:cNvPr id="12" name="Rectangle 11"/>
          <p:cNvSpPr/>
          <p:nvPr userDrawn="1"/>
        </p:nvSpPr>
        <p:spPr>
          <a:xfrm>
            <a:off x="6081600" y="188640"/>
            <a:ext cx="2783680" cy="651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4240301197"/>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équence 4">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4</a:t>
            </a:r>
          </a:p>
        </p:txBody>
      </p:sp>
      <p:sp>
        <p:nvSpPr>
          <p:cNvPr id="12" name="Rectangle 11"/>
          <p:cNvSpPr/>
          <p:nvPr userDrawn="1"/>
        </p:nvSpPr>
        <p:spPr>
          <a:xfrm>
            <a:off x="8916313" y="188640"/>
            <a:ext cx="2783680"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269725761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fr-FR"/>
            </a:defPPr>
          </a:lstStyle>
          <a:p>
            <a:pPr rtl="0"/>
            <a:r>
              <a:rPr lang="fr-FR" noProof="0"/>
              <a:t>Modifiez le style du titre</a:t>
            </a:r>
          </a:p>
        </p:txBody>
      </p:sp>
      <p:sp>
        <p:nvSpPr>
          <p:cNvPr id="3" name="Espace réservé du texte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fr-FR" sz="1200">
                <a:solidFill>
                  <a:schemeClr val="tx1">
                    <a:tint val="82000"/>
                  </a:schemeClr>
                </a:solidFill>
              </a:defRPr>
            </a:lvl1pPr>
          </a:lstStyle>
          <a:p>
            <a:pPr rtl="0"/>
            <a:fld id="{1A6DB10E-2FC6-46ED-ACF4-C6C6ED67EF1C}"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fr-FR" sz="1200">
                <a:solidFill>
                  <a:schemeClr val="tx1">
                    <a:tint val="82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fr-FR" sz="1200">
                <a:solidFill>
                  <a:schemeClr val="tx1">
                    <a:tint val="82000"/>
                  </a:schemeClr>
                </a:solidFill>
              </a:defRPr>
            </a:lvl1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52" r:id="rId6"/>
    <p:sldLayoutId id="2147483662" r:id="rId7"/>
    <p:sldLayoutId id="2147483663" r:id="rId8"/>
    <p:sldLayoutId id="2147483649" r:id="rId9"/>
    <p:sldLayoutId id="2147483666" r:id="rId10"/>
    <p:sldLayoutId id="2147483664" r:id="rId11"/>
    <p:sldLayoutId id="2147483665" r:id="rId12"/>
    <p:sldLayoutId id="2147483661" r:id="rId13"/>
    <p:sldLayoutId id="2147483667" r:id="rId14"/>
    <p:sldLayoutId id="2147483668" r:id="rId15"/>
    <p:sldLayoutId id="2147483669" r:id="rId16"/>
    <p:sldLayoutId id="2147483670" r:id="rId17"/>
    <p:sldLayoutId id="2147483671" r:id="rId18"/>
    <p:sldLayoutId id="2147483672" r:id="rId19"/>
  </p:sldLayoutIdLst>
  <p:hf sldNum="0" hdr="0" ftr="0" dt="0"/>
  <p:txStyles>
    <p:title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sldMaster>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5.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7.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8.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9.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0.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2.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3.xml"/><Relationship Id="rId3" Type="http://schemas.openxmlformats.org/officeDocument/2006/relationships/image" Target="../media/image12.png"/></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4.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5.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6.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7.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8.xml"/><Relationship Id="rId3" Type="http://schemas.openxmlformats.org/officeDocument/2006/relationships/image" Target="../media/image12.png"/></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9.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0.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1.xml"/><Relationship Id="rId3" Type="http://schemas.openxmlformats.org/officeDocument/2006/relationships/image" Target="../media/image12.png"/></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2.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3.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4.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5.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6.xml"/><Relationship Id="rId3" Type="http://schemas.openxmlformats.org/officeDocument/2006/relationships/image" Target="../media/image12.pn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7.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8.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9.xml"/><Relationship Id="rId3" Type="http://schemas.openxmlformats.org/officeDocument/2006/relationships/image" Target="../media/image12.png"/></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0.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1.xml"/></Relationships>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Séquence 2 bis</a:t>
            </a:r>
          </a:p>
        </p:txBody>
      </p:sp>
      <p:sp>
        <p:nvSpPr>
          <p:cNvPr id="5" name="Espace réservé du texte 4"/>
          <p:cNvSpPr>
            <a:spLocks noGrp="1"/>
          </p:cNvSpPr>
          <p:nvPr>
            <p:ph type="body" idx="1"/>
          </p:nvPr>
        </p:nvSpPr>
        <p:spPr/>
        <p:txBody>
          <a:bodyPr>
            <a:normAutofit/>
          </a:bodyPr>
          <a:lstStyle/>
          <a:p>
            <a:r>
              <a:rPr lang="fr-FR" dirty="0"/>
              <a:t>La conclusion du contrat de travail</a:t>
            </a:r>
          </a:p>
        </p:txBody>
      </p:sp>
      <p:sp>
        <p:nvSpPr>
          <p:cNvPr id="6" name="Espace réservé du contenu 5"/>
          <p:cNvSpPr>
            <a:spLocks noGrp="1"/>
          </p:cNvSpPr>
          <p:nvPr>
            <p:ph sz="quarter" idx="10"/>
          </p:nvPr>
        </p:nvSpPr>
        <p:spPr/>
        <p:txBody>
          <a:bodyPr/>
          <a:lstStyle/>
          <a:p>
            <a:endParaRPr lang="fr-F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799" y="1208755"/>
            <a:ext cx="8784548" cy="4800464"/>
          </a:xfrm>
        </p:spPr>
        <p:txBody>
          <a:bodyPr>
            <a:normAutofit/>
          </a:bodyPr>
          <a:lstStyle/>
          <a:p>
            <a:r>
              <a:rPr lang="fr-FR" sz="2400" dirty="0"/>
              <a:t>Le contrat de travail, socle du paramétrage de la paie BTP</a:t>
            </a:r>
          </a:p>
          <a:p>
            <a:r>
              <a:rPr lang="fr-FR" sz="2400" dirty="0"/>
              <a:t>Les formalités préalables et l’information écrite du salarié</a:t>
            </a:r>
          </a:p>
          <a:p>
            <a:r>
              <a:rPr lang="fr-FR" sz="2400" dirty="0"/>
              <a:t>CDI, CDI de chantier, CDD : choisir le bon contrat</a:t>
            </a:r>
          </a:p>
          <a:p>
            <a:r>
              <a:rPr lang="fr-FR" sz="2400" dirty="0"/>
              <a:t>Alternance, intérim, détachement, temps partiel</a:t>
            </a:r>
          </a:p>
          <a:p>
            <a:r>
              <a:rPr lang="fr-FR" sz="2400" dirty="0"/>
              <a:t>Les clauses qui pèsent sur le bulletin BTP</a:t>
            </a:r>
          </a:p>
          <a:p>
            <a:r>
              <a:rPr lang="fr-FR" sz="2400" dirty="0"/>
              <a:t>Points de vigilance 2026 et check-list</a:t>
            </a:r>
          </a:p>
        </p:txBody>
      </p:sp>
      <p:sp>
        <p:nvSpPr>
          <p:cNvPr id="4" name="Espace réservé du contenu 3"/>
          <p:cNvSpPr>
            <a:spLocks noGrp="1"/>
          </p:cNvSpPr>
          <p:nvPr>
            <p:ph type="body" sz="quarter" idx="14"/>
          </p:nvPr>
        </p:nvSpPr>
        <p:spPr>
          <a:xfrm>
            <a:off x="431800" y="308654"/>
            <a:ext cx="11269133" cy="780087"/>
          </a:xfrm>
        </p:spPr>
        <p:txBody>
          <a:bodyPr>
            <a:normAutofit/>
          </a:bodyPr>
          <a:lstStyle/>
          <a:p>
            <a:r>
              <a:rPr lang="fr-FR" sz="2200" dirty="0"/>
              <a:t>SOMMAIRE SéQUENCE 2 bis - La conclusion du contrat de travail</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La classification et le coefficient déterminent le minimum conventionnel régional</a:t>
            </a:r>
          </a:p>
          <a:p>
            <a:pPr algn="just"/>
            <a:r>
              <a:rPr lang="fr-FR" sz="2400" dirty="0"/>
              <a:t>Le lieu de rattachement conditionne petits déplacements, trajet et grand déplacement</a:t>
            </a:r>
          </a:p>
          <a:p>
            <a:pPr algn="just"/>
            <a:r>
              <a:rPr lang="fr-FR" sz="2400" dirty="0"/>
              <a:t>La catégorie (ouvrier, ETAM, cadre) commande la CCN, la caisse CP, la retraite et la prévoyance</a:t>
            </a:r>
          </a:p>
          <a:p>
            <a:pPr algn="just"/>
            <a:r>
              <a:rPr lang="fr-FR" sz="2400" dirty="0"/>
              <a:t>L’option pour la déduction forfaitaire spécifique se décide à l’embauche</a:t>
            </a:r>
          </a:p>
          <a:p>
            <a:pPr algn="just"/>
            <a:r>
              <a:rPr lang="fr-FR" sz="2400" dirty="0"/>
              <a:t>Une erreur au contrat se répète sur chaque bulletin : rappels de salaire, redressement, requalification</a:t>
            </a:r>
          </a:p>
        </p:txBody>
      </p:sp>
      <p:sp>
        <p:nvSpPr>
          <p:cNvPr id="3" name="Titre 2"/>
          <p:cNvSpPr>
            <a:spLocks noGrp="1"/>
          </p:cNvSpPr>
          <p:nvPr>
            <p:ph type="title"/>
          </p:nvPr>
        </p:nvSpPr>
        <p:spPr/>
        <p:txBody>
          <a:bodyPr>
            <a:normAutofit/>
          </a:bodyPr>
          <a:lstStyle/>
          <a:p>
            <a:r>
              <a:rPr lang="fr-FR" sz="3067" dirty="0"/>
              <a:t>Le contrat de travail : le socle du paramétrage de la paie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800" dirty="0"/>
              <a:t>Ordre public : le contrat ne peut jamais y déroger, même avec l’accord du salarié</a:t>
            </a:r>
          </a:p>
          <a:p>
            <a:pPr algn="just"/>
            <a:r>
              <a:rPr lang="fr-FR" sz="2800" dirty="0"/>
              <a:t>Blocs verrouillés de la branche (art. L. 2253-1) : classifications, minima, période d’essai, CDD, CDI de chantier, temps partiel</a:t>
            </a:r>
          </a:p>
          <a:p>
            <a:pPr algn="just"/>
            <a:r>
              <a:rPr lang="fr-FR" sz="2800" dirty="0"/>
              <a:t>Accord d’entreprise : primauté sur les autres thèmes (art. L. 2253-3), toujours demander au client s’il en existe un</a:t>
            </a:r>
          </a:p>
          <a:p>
            <a:pPr algn="just"/>
            <a:r>
              <a:rPr lang="fr-FR" sz="2800" dirty="0"/>
              <a:t>Le contrat ne l’emporte que s’il est plus favorable au salarié</a:t>
            </a:r>
          </a:p>
        </p:txBody>
      </p:sp>
      <p:sp>
        <p:nvSpPr>
          <p:cNvPr id="3" name="Titre 2"/>
          <p:cNvSpPr>
            <a:spLocks noGrp="1"/>
          </p:cNvSpPr>
          <p:nvPr>
            <p:ph type="title"/>
          </p:nvPr>
        </p:nvSpPr>
        <p:spPr/>
        <p:txBody>
          <a:bodyPr>
            <a:normAutofit/>
          </a:bodyPr>
          <a:lstStyle/>
          <a:p>
            <a:r>
              <a:rPr lang="fr-FR" sz="3067" dirty="0"/>
              <a:t>La hiérarchie des sources et le contrat de travail</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3749040"/>
        </p:xfrm>
        <a:graphic>
          <a:graphicData uri="http://schemas.openxmlformats.org/drawingml/2006/table">
            <a:tbl>
              <a:tblPr firstRow="1" bandRow="1">
                <a:tableStyleId>{5C22544A-7EE6-4342-B048-85BDC9FD1C3A}</a:tableStyleId>
              </a:tblPr>
              <a:tblGrid>
                <a:gridCol w="4400000"/>
                <a:gridCol w="3400000"/>
                <a:gridCol w="3400000"/>
              </a:tblGrid>
              <a:tr h="457200">
                <a:tc>
                  <a:txBody>
                    <a:bodyPr/>
                    <a:lstStyle/>
                    <a:p>
                      <a:r>
                        <a:rPr lang="fr-FR" sz="2200" b="1" dirty="0"/>
                        <a:t>Catégorie</a:t>
                      </a:r>
                    </a:p>
                  </a:txBody>
                  <a:tcPr marL="121920" marR="121920" marT="60960" marB="60960" anchor="ctr"/>
                </a:tc>
                <a:tc>
                  <a:txBody>
                    <a:bodyPr/>
                    <a:lstStyle/>
                    <a:p>
                      <a:pPr algn="ctr"/>
                      <a:r>
                        <a:rPr lang="fr-FR" sz="2200" b="1" dirty="0"/>
                        <a:t>Bâtiment (IDCC)</a:t>
                      </a:r>
                    </a:p>
                  </a:txBody>
                  <a:tcPr marL="121920" marR="121920" marT="60960" marB="60960" anchor="ctr"/>
                </a:tc>
                <a:tc>
                  <a:txBody>
                    <a:bodyPr/>
                    <a:lstStyle/>
                    <a:p>
                      <a:pPr algn="ctr"/>
                      <a:r>
                        <a:rPr lang="fr-FR" sz="2200" b="1" dirty="0"/>
                        <a:t>Travaux publics (IDCC)</a:t>
                      </a:r>
                    </a:p>
                  </a:txBody>
                  <a:tcPr marL="121920" marR="121920" marT="60960" marB="60960" anchor="ctr"/>
                </a:tc>
              </a:tr>
              <a:tr h="792480">
                <a:tc>
                  <a:txBody>
                    <a:bodyPr/>
                    <a:lstStyle/>
                    <a:p>
                      <a:r>
                        <a:rPr lang="fr-FR" sz="2200" dirty="0"/>
                        <a:t>Ouvriers, entreprises jusqu’à 10 salariés</a:t>
                      </a:r>
                    </a:p>
                  </a:txBody>
                  <a:tcPr marL="121920" marR="121920" marT="60960" marB="60960" anchor="ctr"/>
                </a:tc>
                <a:tc>
                  <a:txBody>
                    <a:bodyPr/>
                    <a:lstStyle/>
                    <a:p>
                      <a:pPr algn="ctr"/>
                      <a:r>
                        <a:rPr lang="fr-FR" sz="2200" dirty="0"/>
                        <a:t>1596</a:t>
                      </a:r>
                    </a:p>
                  </a:txBody>
                  <a:tcPr marL="121920" marR="121920" marT="60960" marB="60960" anchor="ctr"/>
                </a:tc>
                <a:tc>
                  <a:txBody>
                    <a:bodyPr/>
                    <a:lstStyle/>
                    <a:p>
                      <a:pPr algn="ctr"/>
                      <a:r>
                        <a:rPr lang="fr-FR" sz="2200" dirty="0"/>
                        <a:t>1702</a:t>
                      </a:r>
                    </a:p>
                  </a:txBody>
                  <a:tcPr marL="121920" marR="121920" marT="60960" marB="60960" anchor="ctr"/>
                </a:tc>
              </a:tr>
              <a:tr h="792480">
                <a:tc>
                  <a:txBody>
                    <a:bodyPr/>
                    <a:lstStyle/>
                    <a:p>
                      <a:r>
                        <a:rPr lang="fr-FR" sz="2200" dirty="0"/>
                        <a:t>Ouvriers, entreprises de plus de 10 salariés</a:t>
                      </a:r>
                    </a:p>
                  </a:txBody>
                  <a:tcPr marL="121920" marR="121920" marT="60960" marB="60960" anchor="ctr"/>
                </a:tc>
                <a:tc>
                  <a:txBody>
                    <a:bodyPr/>
                    <a:lstStyle/>
                    <a:p>
                      <a:pPr algn="ctr"/>
                      <a:r>
                        <a:rPr lang="fr-FR" sz="2200" dirty="0"/>
                        <a:t>1597</a:t>
                      </a:r>
                    </a:p>
                  </a:txBody>
                  <a:tcPr marL="121920" marR="121920" marT="60960" marB="60960" anchor="ctr"/>
                </a:tc>
                <a:tc>
                  <a:txBody>
                    <a:bodyPr/>
                    <a:lstStyle/>
                    <a:p>
                      <a:pPr algn="ctr"/>
                      <a:r>
                        <a:rPr lang="fr-FR" sz="2200" dirty="0"/>
                        <a:t>1702</a:t>
                      </a:r>
                    </a:p>
                  </a:txBody>
                  <a:tcPr marL="121920" marR="121920" marT="60960" marB="60960" anchor="ctr"/>
                </a:tc>
              </a:tr>
              <a:tr h="457200">
                <a:tc>
                  <a:txBody>
                    <a:bodyPr/>
                    <a:lstStyle/>
                    <a:p>
                      <a:r>
                        <a:rPr lang="fr-FR" sz="2200" dirty="0"/>
                        <a:t>ETAM</a:t>
                      </a:r>
                    </a:p>
                  </a:txBody>
                  <a:tcPr marL="121920" marR="121920" marT="60960" marB="60960" anchor="ctr"/>
                </a:tc>
                <a:tc>
                  <a:txBody>
                    <a:bodyPr/>
                    <a:lstStyle/>
                    <a:p>
                      <a:pPr algn="ctr"/>
                      <a:r>
                        <a:rPr lang="fr-FR" sz="2200" dirty="0"/>
                        <a:t>2609</a:t>
                      </a:r>
                    </a:p>
                  </a:txBody>
                  <a:tcPr marL="121920" marR="121920" marT="60960" marB="60960" anchor="ctr"/>
                </a:tc>
                <a:tc>
                  <a:txBody>
                    <a:bodyPr/>
                    <a:lstStyle/>
                    <a:p>
                      <a:pPr algn="ctr"/>
                      <a:r>
                        <a:rPr lang="fr-FR" sz="2200" dirty="0"/>
                        <a:t>2614</a:t>
                      </a:r>
                    </a:p>
                  </a:txBody>
                  <a:tcPr marL="121920" marR="121920" marT="60960" marB="60960" anchor="ctr"/>
                </a:tc>
              </a:tr>
              <a:tr h="457200">
                <a:tc>
                  <a:txBody>
                    <a:bodyPr/>
                    <a:lstStyle/>
                    <a:p>
                      <a:r>
                        <a:rPr lang="fr-FR" sz="2200" dirty="0"/>
                        <a:t>Cadres</a:t>
                      </a:r>
                    </a:p>
                  </a:txBody>
                  <a:tcPr marL="121920" marR="121920" marT="60960" marB="60960" anchor="ctr"/>
                </a:tc>
                <a:tc>
                  <a:txBody>
                    <a:bodyPr/>
                    <a:lstStyle/>
                    <a:p>
                      <a:pPr algn="ctr"/>
                      <a:r>
                        <a:rPr lang="fr-FR" sz="2200" dirty="0"/>
                        <a:t>2420 (non étendue)</a:t>
                      </a:r>
                    </a:p>
                  </a:txBody>
                  <a:tcPr marL="121920" marR="121920" marT="60960" marB="60960" anchor="ctr"/>
                </a:tc>
                <a:tc>
                  <a:txBody>
                    <a:bodyPr/>
                    <a:lstStyle/>
                    <a:p>
                      <a:pPr algn="ctr"/>
                      <a:r>
                        <a:rPr lang="fr-FR" sz="2200" dirty="0"/>
                        <a:t>3212</a:t>
                      </a:r>
                    </a:p>
                  </a:txBody>
                  <a:tcPr marL="121920" marR="121920" marT="60960" marB="60960" anchor="ctr"/>
                </a:tc>
              </a:tr>
              <a:tr h="792480">
                <a:tc gridSpan="3">
                  <a:txBody>
                    <a:bodyPr/>
                    <a:lstStyle/>
                    <a:p>
                      <a:r>
                        <a:rPr lang="fr-FR" sz="2200" dirty="0"/>
                        <a:t>Le franchissement du seuil de 10 salariés change l’IDCC des ouvriers du bâtiment : avenant au contrat et mise à jour de la DSN</a:t>
                      </a:r>
                    </a:p>
                  </a:txBody>
                  <a:tcPr marL="121920" marR="121920" marT="60960" marB="60960" anchor="ctr"/>
                </a:tc>
                <a:tc hMerge="1">
                  <a:txBody>
                    <a:bodyPr/>
                    <a:lstStyle/>
                    <a:p>
                      <a:endParaRPr lang="fr-FR"/>
                    </a:p>
                  </a:txBody>
                  <a:tcPr/>
                </a:tc>
                <a:tc hMerge="1">
                  <a:txBody>
                    <a:bodyPr/>
                    <a:lstStyle/>
                    <a:p>
                      <a:endParaRPr lang="fr-FR"/>
                    </a:p>
                  </a:txBody>
                  <a:tcPr/>
                </a:tc>
              </a:tr>
            </a:tbl>
          </a:graphicData>
        </a:graphic>
      </p:graphicFrame>
      <p:sp>
        <p:nvSpPr>
          <p:cNvPr id="3" name="Titre 2"/>
          <p:cNvSpPr>
            <a:spLocks noGrp="1"/>
          </p:cNvSpPr>
          <p:nvPr>
            <p:ph type="title"/>
          </p:nvPr>
        </p:nvSpPr>
        <p:spPr/>
        <p:txBody>
          <a:bodyPr>
            <a:normAutofit/>
          </a:bodyPr>
          <a:lstStyle/>
          <a:p>
            <a:r>
              <a:rPr lang="fr-FR" sz="3067" dirty="0"/>
              <a:t>Identifier la convention collective AVANT de rédiger</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DPAE à l’URSSAF dans les 8 jours qui précèdent l’embauche</a:t>
            </a:r>
          </a:p>
          <a:p>
            <a:pPr algn="just"/>
            <a:r>
              <a:rPr lang="fr-FR" sz="2400" dirty="0"/>
              <a:t>Vérification de l’autorisation de travail pour les ressortissants hors Union européenne</a:t>
            </a:r>
          </a:p>
          <a:p>
            <a:pPr algn="just"/>
            <a:r>
              <a:rPr lang="fr-FR" sz="2400" dirty="0"/>
              <a:t>Suivi médical : VIP dans les 3 mois, examen d’aptitude AVANT l’affectation pour les postes à risque</a:t>
            </a:r>
          </a:p>
          <a:p>
            <a:pPr algn="just"/>
            <a:r>
              <a:rPr lang="fr-FR" sz="2400" dirty="0"/>
              <a:t>Carte d’identification professionnelle BTP à demander à l’UCF avant l’affectation au chantier</a:t>
            </a:r>
          </a:p>
          <a:p>
            <a:pPr algn="just"/>
            <a:r>
              <a:rPr lang="fr-FR" sz="2400" dirty="0"/>
              <a:t>Affiliation à la caisse CIBTP et à PRO BTP, inscription au registre unique du personnel</a:t>
            </a:r>
          </a:p>
        </p:txBody>
      </p:sp>
      <p:sp>
        <p:nvSpPr>
          <p:cNvPr id="3" name="Titre 2"/>
          <p:cNvSpPr>
            <a:spLocks noGrp="1"/>
          </p:cNvSpPr>
          <p:nvPr>
            <p:ph type="title"/>
          </p:nvPr>
        </p:nvSpPr>
        <p:spPr/>
        <p:txBody>
          <a:bodyPr>
            <a:normAutofit/>
          </a:bodyPr>
          <a:lstStyle/>
          <a:p>
            <a:r>
              <a:rPr lang="fr-FR" sz="3067" dirty="0"/>
              <a:t>Les formalités préalables à la conclusion du contrat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Directive (UE) 2019/1152 relative à des conditions de travail transparentes et prévisibles</a:t>
            </a:r>
          </a:p>
          <a:p>
            <a:pPr algn="just"/>
            <a:r>
              <a:rPr lang="fr-FR" sz="2400" dirty="0"/>
              <a:t>Transposée par la loi du 9 mars 2023 et le décret n° 2023-1004 du 30 octobre 2023</a:t>
            </a:r>
          </a:p>
          <a:p>
            <a:pPr algn="just"/>
            <a:r>
              <a:rPr lang="fr-FR" sz="2400" dirty="0"/>
              <a:t>Due pour tous les contrats, y compris un CDI conclu verbalement</a:t>
            </a:r>
          </a:p>
          <a:p>
            <a:pPr algn="just"/>
            <a:r>
              <a:rPr lang="fr-FR" sz="2400" dirty="0"/>
              <a:t>Deux échéances à compter de l’embauche : 7 jours calendaires, puis 1 mois</a:t>
            </a:r>
          </a:p>
          <a:p>
            <a:pPr algn="just"/>
            <a:r>
              <a:rPr lang="fr-FR" sz="2400" dirty="0"/>
              <a:t>Remise sur support papier ou électronique, avec conservation de la preuve</a:t>
            </a:r>
          </a:p>
        </p:txBody>
      </p:sp>
      <p:sp>
        <p:nvSpPr>
          <p:cNvPr id="3" name="Titre 2"/>
          <p:cNvSpPr>
            <a:spLocks noGrp="1"/>
          </p:cNvSpPr>
          <p:nvPr>
            <p:ph type="title"/>
          </p:nvPr>
        </p:nvSpPr>
        <p:spPr/>
        <p:txBody>
          <a:bodyPr>
            <a:normAutofit/>
          </a:bodyPr>
          <a:lstStyle/>
          <a:p>
            <a:r>
              <a:rPr lang="fr-FR" sz="3067" dirty="0"/>
              <a:t>L’obligation d’information écrite du salarié (1)</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3169920"/>
        </p:xfrm>
        <a:graphic>
          <a:graphicData uri="http://schemas.openxmlformats.org/drawingml/2006/table">
            <a:tbl>
              <a:tblPr firstRow="1" bandRow="1">
                <a:tableStyleId>{5C22544A-7EE6-4342-B048-85BDC9FD1C3A}</a:tableStyleId>
              </a:tblPr>
              <a:tblGrid>
                <a:gridCol w="5600000"/>
                <a:gridCol w="5600000"/>
              </a:tblGrid>
              <a:tr h="426720">
                <a:tc>
                  <a:txBody>
                    <a:bodyPr/>
                    <a:lstStyle/>
                    <a:p>
                      <a:r>
                        <a:rPr lang="fr-FR" sz="2000" b="1" dirty="0"/>
                        <a:t>Dans les 7 jours calendaires</a:t>
                      </a:r>
                    </a:p>
                  </a:txBody>
                  <a:tcPr marL="121920" marR="121920" marT="60960" marB="60960" anchor="ctr"/>
                </a:tc>
                <a:tc>
                  <a:txBody>
                    <a:bodyPr/>
                    <a:lstStyle/>
                    <a:p>
                      <a:pPr algn="ctr"/>
                      <a:r>
                        <a:rPr lang="fr-FR" sz="2000" b="1" dirty="0"/>
                        <a:t>Dans le mois</a:t>
                      </a:r>
                    </a:p>
                  </a:txBody>
                  <a:tcPr marL="121920" marR="121920" marT="60960" marB="60960" anchor="ctr"/>
                </a:tc>
              </a:tr>
              <a:tr h="426720">
                <a:tc>
                  <a:txBody>
                    <a:bodyPr/>
                    <a:lstStyle/>
                    <a:p>
                      <a:r>
                        <a:rPr lang="fr-FR" sz="2000" dirty="0"/>
                        <a:t>Identité des parties et lieu(x) de travail</a:t>
                      </a:r>
                    </a:p>
                  </a:txBody>
                  <a:tcPr marL="121920" marR="121920" marT="60960" marB="60960" anchor="ctr"/>
                </a:tc>
                <a:tc>
                  <a:txBody>
                    <a:bodyPr/>
                    <a:lstStyle/>
                    <a:p>
                      <a:pPr algn="ctr"/>
                      <a:r>
                        <a:rPr lang="fr-FR" sz="2000" dirty="0"/>
                        <a:t>Droit aux congés payés et modalités</a:t>
                      </a:r>
                    </a:p>
                  </a:txBody>
                  <a:tcPr marL="121920" marR="121920" marT="60960" marB="60960" anchor="ctr"/>
                </a:tc>
              </a:tr>
              <a:tr h="426720">
                <a:tc>
                  <a:txBody>
                    <a:bodyPr/>
                    <a:lstStyle/>
                    <a:p>
                      <a:r>
                        <a:rPr lang="fr-FR" sz="2000" dirty="0"/>
                        <a:t>Intitulé du poste et catégorie d’emploi</a:t>
                      </a:r>
                    </a:p>
                  </a:txBody>
                  <a:tcPr marL="121920" marR="121920" marT="60960" marB="60960" anchor="ctr"/>
                </a:tc>
                <a:tc>
                  <a:txBody>
                    <a:bodyPr/>
                    <a:lstStyle/>
                    <a:p>
                      <a:pPr algn="ctr"/>
                      <a:r>
                        <a:rPr lang="fr-FR" sz="2000" dirty="0"/>
                        <a:t>Procédure de rupture et durée du préavis</a:t>
                      </a:r>
                    </a:p>
                  </a:txBody>
                  <a:tcPr marL="121920" marR="121920" marT="60960" marB="60960" anchor="ctr"/>
                </a:tc>
              </a:tr>
              <a:tr h="731520">
                <a:tc>
                  <a:txBody>
                    <a:bodyPr/>
                    <a:lstStyle/>
                    <a:p>
                      <a:r>
                        <a:rPr lang="fr-FR" sz="2000" dirty="0"/>
                        <a:t>Date d’embauche, durée de la période d’essai</a:t>
                      </a:r>
                    </a:p>
                  </a:txBody>
                  <a:tcPr marL="121920" marR="121920" marT="60960" marB="60960" anchor="ctr"/>
                </a:tc>
                <a:tc>
                  <a:txBody>
                    <a:bodyPr/>
                    <a:lstStyle/>
                    <a:p>
                      <a:pPr algn="ctr"/>
                      <a:r>
                        <a:rPr lang="fr-FR" sz="2000" dirty="0"/>
                        <a:t>Droit à la formation</a:t>
                      </a:r>
                    </a:p>
                  </a:txBody>
                  <a:tcPr marL="121920" marR="121920" marT="60960" marB="60960" anchor="ctr"/>
                </a:tc>
              </a:tr>
              <a:tr h="731520">
                <a:tc>
                  <a:txBody>
                    <a:bodyPr/>
                    <a:lstStyle/>
                    <a:p>
                      <a:r>
                        <a:rPr lang="fr-FR" sz="2000" dirty="0"/>
                        <a:t>Rémunération : éléments, périodicité, versement</a:t>
                      </a:r>
                    </a:p>
                  </a:txBody>
                  <a:tcPr marL="121920" marR="121920" marT="60960" marB="60960" anchor="ctr"/>
                </a:tc>
                <a:tc>
                  <a:txBody>
                    <a:bodyPr/>
                    <a:lstStyle/>
                    <a:p>
                      <a:pPr algn="ctr"/>
                      <a:r>
                        <a:rPr lang="fr-FR" sz="2000" dirty="0"/>
                        <a:t>Convention collective applicable</a:t>
                      </a:r>
                    </a:p>
                  </a:txBody>
                  <a:tcPr marL="121920" marR="121920" marT="60960" marB="60960" anchor="ctr"/>
                </a:tc>
              </a:tr>
              <a:tr h="426720">
                <a:tc>
                  <a:txBody>
                    <a:bodyPr/>
                    <a:lstStyle/>
                    <a:p>
                      <a:r>
                        <a:rPr lang="fr-FR" sz="2000" dirty="0"/>
                        <a:t>Durée du travail et heures supplémentaires</a:t>
                      </a:r>
                    </a:p>
                  </a:txBody>
                  <a:tcPr marL="121920" marR="121920" marT="60960" marB="60960" anchor="ctr"/>
                </a:tc>
                <a:tc>
                  <a:txBody>
                    <a:bodyPr/>
                    <a:lstStyle/>
                    <a:p>
                      <a:pPr algn="ctr"/>
                      <a:r>
                        <a:rPr lang="fr-FR" sz="2000" dirty="0"/>
                        <a:t>Organismes de protection sociale</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sz="3067" dirty="0"/>
              <a:t>L’obligation d’information écrite du salarié (2)</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800" dirty="0"/>
              <a:t>Le salarié doit être informé nommément de la caisse des congés payés, de PRO BTP et de la caisse de retraite</a:t>
            </a:r>
          </a:p>
          <a:p>
            <a:pPr algn="just"/>
            <a:r>
              <a:rPr lang="fr-FR" sz="2800" dirty="0"/>
              <a:t>La convention collective doit être identifiée précisément : catégorie, effectif, région</a:t>
            </a:r>
          </a:p>
          <a:p>
            <a:pPr algn="just"/>
            <a:r>
              <a:rPr lang="fr-FR" sz="2800" dirty="0"/>
              <a:t>Les modalités de prise et de paiement des congés par la caisse méritent d’être expliquées</a:t>
            </a:r>
          </a:p>
          <a:p>
            <a:pPr algn="just"/>
            <a:r>
              <a:rPr lang="fr-FR" sz="2800" dirty="0"/>
              <a:t>Réflexe cabinet : mettre à jour les trames de contrat et prévoir une annexe d’information</a:t>
            </a:r>
          </a:p>
        </p:txBody>
      </p:sp>
      <p:sp>
        <p:nvSpPr>
          <p:cNvPr id="3" name="Titre 2"/>
          <p:cNvSpPr>
            <a:spLocks noGrp="1"/>
          </p:cNvSpPr>
          <p:nvPr>
            <p:ph type="title"/>
          </p:nvPr>
        </p:nvSpPr>
        <p:spPr/>
        <p:txBody>
          <a:bodyPr>
            <a:normAutofit/>
          </a:bodyPr>
          <a:lstStyle/>
          <a:p>
            <a:r>
              <a:rPr lang="fr-FR" sz="3067" dirty="0"/>
              <a:t>Information écrite : ce que cela change dans le BTP</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800" dirty="0"/>
              <a:t>La loi n’impose pas d’écrit, mais les conventions collectives BTP imposent la remise d’un document écrit</a:t>
            </a:r>
          </a:p>
          <a:p>
            <a:pPr algn="just"/>
            <a:r>
              <a:rPr lang="fr-FR" sz="2800" dirty="0"/>
              <a:t>Ce document porte sur les éléments fondamentaux : durée du travail, classification, rémunération</a:t>
            </a:r>
          </a:p>
          <a:p>
            <a:pPr algn="just"/>
            <a:r>
              <a:rPr lang="fr-FR" sz="2800" dirty="0"/>
              <a:t>Depuis 2023, l’information écrite est due dans tous les cas : le contrat écrit devient la seule solution sûre</a:t>
            </a:r>
          </a:p>
          <a:p>
            <a:pPr algn="just"/>
            <a:r>
              <a:rPr lang="fr-FR" sz="2800" dirty="0"/>
              <a:t>La période d’essai et la clause de mobilité n’existent que si elles sont écrites</a:t>
            </a:r>
          </a:p>
        </p:txBody>
      </p:sp>
      <p:sp>
        <p:nvSpPr>
          <p:cNvPr id="3" name="Titre 2"/>
          <p:cNvSpPr>
            <a:spLocks noGrp="1"/>
          </p:cNvSpPr>
          <p:nvPr>
            <p:ph type="title"/>
          </p:nvPr>
        </p:nvSpPr>
        <p:spPr/>
        <p:txBody>
          <a:bodyPr>
            <a:normAutofit/>
          </a:bodyPr>
          <a:lstStyle/>
          <a:p>
            <a:r>
              <a:rPr lang="fr-FR" dirty="0"/>
              <a:t>Le CDI dans le BTP</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4084320"/>
        </p:xfrm>
        <a:graphic>
          <a:graphicData uri="http://schemas.openxmlformats.org/drawingml/2006/table">
            <a:tbl>
              <a:tblPr firstRow="1" bandRow="1">
                <a:tableStyleId>{5C22544A-7EE6-4342-B048-85BDC9FD1C3A}</a:tableStyleId>
              </a:tblPr>
              <a:tblGrid>
                <a:gridCol w="4600000"/>
                <a:gridCol w="2500000"/>
                <a:gridCol w="2100000"/>
                <a:gridCol w="2000000"/>
              </a:tblGrid>
              <a:tr h="792480">
                <a:tc>
                  <a:txBody>
                    <a:bodyPr/>
                    <a:lstStyle/>
                    <a:p>
                      <a:r>
                        <a:rPr lang="fr-FR" sz="2200" b="1" dirty="0"/>
                        <a:t>Catégorie</a:t>
                      </a:r>
                    </a:p>
                  </a:txBody>
                  <a:tcPr marL="121920" marR="121920" marT="60960" marB="60960" anchor="ctr"/>
                </a:tc>
                <a:tc>
                  <a:txBody>
                    <a:bodyPr/>
                    <a:lstStyle/>
                    <a:p>
                      <a:pPr algn="ctr"/>
                      <a:r>
                        <a:rPr lang="fr-FR" sz="2200" b="1" dirty="0"/>
                        <a:t>Durée initiale</a:t>
                      </a:r>
                    </a:p>
                  </a:txBody>
                  <a:tcPr marL="121920" marR="121920" marT="60960" marB="60960" anchor="ctr"/>
                </a:tc>
                <a:tc>
                  <a:txBody>
                    <a:bodyPr/>
                    <a:lstStyle/>
                    <a:p>
                      <a:pPr algn="ctr"/>
                      <a:r>
                        <a:rPr lang="fr-FR" sz="2200" b="1" dirty="0"/>
                        <a:t>Renouvellement</a:t>
                      </a:r>
                    </a:p>
                  </a:txBody>
                  <a:tcPr marL="121920" marR="121920" marT="60960" marB="60960" anchor="ctr"/>
                </a:tc>
                <a:tc>
                  <a:txBody>
                    <a:bodyPr/>
                    <a:lstStyle/>
                    <a:p>
                      <a:pPr algn="ctr"/>
                      <a:r>
                        <a:rPr lang="fr-FR" sz="2200" b="1" dirty="0"/>
                        <a:t>Total maximum</a:t>
                      </a:r>
                    </a:p>
                  </a:txBody>
                  <a:tcPr marL="121920" marR="121920" marT="60960" marB="60960" anchor="ctr"/>
                </a:tc>
              </a:tr>
              <a:tr h="457200">
                <a:tc>
                  <a:txBody>
                    <a:bodyPr/>
                    <a:lstStyle/>
                    <a:p>
                      <a:r>
                        <a:rPr lang="fr-FR" sz="2200" dirty="0"/>
                        <a:t>Ouvriers et employés</a:t>
                      </a:r>
                    </a:p>
                  </a:txBody>
                  <a:tcPr marL="121920" marR="121920" marT="60960" marB="60960" anchor="ctr"/>
                </a:tc>
                <a:tc>
                  <a:txBody>
                    <a:bodyPr/>
                    <a:lstStyle/>
                    <a:p>
                      <a:pPr algn="ctr"/>
                      <a:r>
                        <a:rPr lang="fr-FR" sz="2200" dirty="0"/>
                        <a:t>2 mois</a:t>
                      </a:r>
                    </a:p>
                  </a:txBody>
                  <a:tcPr marL="121920" marR="121920" marT="60960" marB="60960" anchor="ctr"/>
                </a:tc>
                <a:tc>
                  <a:txBody>
                    <a:bodyPr/>
                    <a:lstStyle/>
                    <a:p>
                      <a:pPr algn="ctr"/>
                      <a:r>
                        <a:rPr lang="fr-FR" sz="2200" dirty="0"/>
                        <a:t>1 fois</a:t>
                      </a:r>
                    </a:p>
                  </a:txBody>
                  <a:tcPr marL="121920" marR="121920" marT="60960" marB="60960" anchor="ctr"/>
                </a:tc>
                <a:tc>
                  <a:txBody>
                    <a:bodyPr/>
                    <a:lstStyle/>
                    <a:p>
                      <a:pPr algn="ctr"/>
                      <a:r>
                        <a:rPr lang="fr-FR" sz="2200" dirty="0"/>
                        <a:t>4 mois</a:t>
                      </a:r>
                    </a:p>
                  </a:txBody>
                  <a:tcPr marL="121920" marR="121920" marT="60960" marB="60960" anchor="ctr"/>
                </a:tc>
              </a:tr>
              <a:tr h="792480">
                <a:tc>
                  <a:txBody>
                    <a:bodyPr/>
                    <a:lstStyle/>
                    <a:p>
                      <a:r>
                        <a:rPr lang="fr-FR" sz="2200" dirty="0"/>
                        <a:t>Agents de maîtrise et techniciens (ETAM)</a:t>
                      </a:r>
                    </a:p>
                  </a:txBody>
                  <a:tcPr marL="121920" marR="121920" marT="60960" marB="60960" anchor="ctr"/>
                </a:tc>
                <a:tc>
                  <a:txBody>
                    <a:bodyPr/>
                    <a:lstStyle/>
                    <a:p>
                      <a:pPr algn="ctr"/>
                      <a:r>
                        <a:rPr lang="fr-FR" sz="2200" dirty="0"/>
                        <a:t>3 mois</a:t>
                      </a:r>
                    </a:p>
                  </a:txBody>
                  <a:tcPr marL="121920" marR="121920" marT="60960" marB="60960" anchor="ctr"/>
                </a:tc>
                <a:tc>
                  <a:txBody>
                    <a:bodyPr/>
                    <a:lstStyle/>
                    <a:p>
                      <a:pPr algn="ctr"/>
                      <a:r>
                        <a:rPr lang="fr-FR" sz="2200" dirty="0"/>
                        <a:t>1 fois</a:t>
                      </a:r>
                    </a:p>
                  </a:txBody>
                  <a:tcPr marL="121920" marR="121920" marT="60960" marB="60960" anchor="ctr"/>
                </a:tc>
                <a:tc>
                  <a:txBody>
                    <a:bodyPr/>
                    <a:lstStyle/>
                    <a:p>
                      <a:pPr algn="ctr"/>
                      <a:r>
                        <a:rPr lang="fr-FR" sz="2200" dirty="0"/>
                        <a:t>6 mois</a:t>
                      </a:r>
                    </a:p>
                  </a:txBody>
                  <a:tcPr marL="121920" marR="121920" marT="60960" marB="60960" anchor="ctr"/>
                </a:tc>
              </a:tr>
              <a:tr h="457200">
                <a:tc>
                  <a:txBody>
                    <a:bodyPr/>
                    <a:lstStyle/>
                    <a:p>
                      <a:r>
                        <a:rPr lang="fr-FR" sz="2200" dirty="0"/>
                        <a:t>Cadres</a:t>
                      </a:r>
                    </a:p>
                  </a:txBody>
                  <a:tcPr marL="121920" marR="121920" marT="60960" marB="60960" anchor="ctr"/>
                </a:tc>
                <a:tc>
                  <a:txBody>
                    <a:bodyPr/>
                    <a:lstStyle/>
                    <a:p>
                      <a:pPr algn="ctr"/>
                      <a:r>
                        <a:rPr lang="fr-FR" sz="2200" dirty="0"/>
                        <a:t>4 mois</a:t>
                      </a:r>
                    </a:p>
                  </a:txBody>
                  <a:tcPr marL="121920" marR="121920" marT="60960" marB="60960" anchor="ctr"/>
                </a:tc>
                <a:tc>
                  <a:txBody>
                    <a:bodyPr/>
                    <a:lstStyle/>
                    <a:p>
                      <a:pPr algn="ctr"/>
                      <a:r>
                        <a:rPr lang="fr-FR" sz="2200" dirty="0"/>
                        <a:t>1 fois</a:t>
                      </a:r>
                    </a:p>
                  </a:txBody>
                  <a:tcPr marL="121920" marR="121920" marT="60960" marB="60960" anchor="ctr"/>
                </a:tc>
                <a:tc>
                  <a:txBody>
                    <a:bodyPr/>
                    <a:lstStyle/>
                    <a:p>
                      <a:pPr algn="ctr"/>
                      <a:r>
                        <a:rPr lang="fr-FR" sz="2200" dirty="0"/>
                        <a:t>8 mois</a:t>
                      </a:r>
                    </a:p>
                  </a:txBody>
                  <a:tcPr marL="121920" marR="121920" marT="60960" marB="60960" anchor="ctr"/>
                </a:tc>
              </a:tr>
              <a:tr h="792480">
                <a:tc>
                  <a:txBody>
                    <a:bodyPr/>
                    <a:lstStyle/>
                    <a:p>
                      <a:r>
                        <a:rPr lang="fr-FR" sz="2200" dirty="0"/>
                        <a:t>CDD</a:t>
                      </a:r>
                    </a:p>
                  </a:txBody>
                  <a:tcPr marL="121920" marR="121920" marT="60960" marB="60960" anchor="ctr"/>
                </a:tc>
                <a:tc>
                  <a:txBody>
                    <a:bodyPr/>
                    <a:lstStyle/>
                    <a:p>
                      <a:pPr algn="ctr"/>
                      <a:r>
                        <a:rPr lang="fr-FR" sz="2200" dirty="0"/>
                        <a:t>1 jour par semaine</a:t>
                      </a:r>
                    </a:p>
                  </a:txBody>
                  <a:tcPr marL="121920" marR="121920" marT="60960" marB="60960" anchor="ctr"/>
                </a:tc>
                <a:tc>
                  <a:txBody>
                    <a:bodyPr/>
                    <a:lstStyle/>
                    <a:p>
                      <a:pPr algn="ctr"/>
                      <a:r>
                        <a:rPr lang="fr-FR" sz="2200" dirty="0"/>
                        <a:t>Non</a:t>
                      </a:r>
                    </a:p>
                  </a:txBody>
                  <a:tcPr marL="121920" marR="121920" marT="60960" marB="60960" anchor="ctr"/>
                </a:tc>
                <a:tc>
                  <a:txBody>
                    <a:bodyPr/>
                    <a:lstStyle/>
                    <a:p>
                      <a:pPr algn="ctr"/>
                      <a:r>
                        <a:rPr lang="fr-FR" sz="2200" dirty="0"/>
                        <a:t>2 semaines ou 1 mois</a:t>
                      </a:r>
                    </a:p>
                  </a:txBody>
                  <a:tcPr marL="121920" marR="121920" marT="60960" marB="60960" anchor="ctr"/>
                </a:tc>
              </a:tr>
              <a:tr h="792480">
                <a:tc gridSpan="4">
                  <a:txBody>
                    <a:bodyPr/>
                    <a:lstStyle/>
                    <a:p>
                      <a:r>
                        <a:rPr lang="fr-FR" sz="2200" dirty="0"/>
                        <a:t>Le renouvellement suppose un accord de branche étendu qui le prévoit ET une clause du contrat</a:t>
                      </a:r>
                    </a:p>
                  </a:txBody>
                  <a:tcPr marL="121920" marR="121920" marT="60960" marB="60960" anchor="ctr"/>
                </a:tc>
                <a:tc hMerge="1">
                  <a:txBody>
                    <a:bodyPr/>
                    <a:lstStyle/>
                    <a:p>
                      <a:endParaRPr lang="fr-FR"/>
                    </a:p>
                  </a:txBody>
                  <a:tcPr/>
                </a:tc>
                <a:tc hMerge="1">
                  <a:txBody>
                    <a:bodyPr/>
                    <a:lstStyle/>
                    <a:p>
                      <a:endParaRPr lang="fr-FR"/>
                    </a:p>
                  </a:txBody>
                  <a:tcPr/>
                </a:tc>
                <a:tc hMerge="1">
                  <a:txBody>
                    <a:bodyPr/>
                    <a:lstStyle/>
                    <a:p>
                      <a:endParaRPr lang="fr-FR"/>
                    </a:p>
                  </a:txBody>
                  <a:tcPr/>
                </a:tc>
              </a:tr>
            </a:tbl>
          </a:graphicData>
        </a:graphic>
      </p:graphicFrame>
      <p:sp>
        <p:nvSpPr>
          <p:cNvPr id="3" name="Titre 2"/>
          <p:cNvSpPr>
            <a:spLocks noGrp="1"/>
          </p:cNvSpPr>
          <p:nvPr>
            <p:ph type="title"/>
          </p:nvPr>
        </p:nvSpPr>
        <p:spPr/>
        <p:txBody>
          <a:bodyPr>
            <a:normAutofit/>
          </a:bodyPr>
          <a:lstStyle/>
          <a:p>
            <a:r>
              <a:rPr lang="fr-FR" dirty="0"/>
              <a:t>La période d’essai : les durées légales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CCN ouvriers de 1990 : durée plus courte que la loi mais antérieure à 2008, donc écartée</a:t>
            </a:r>
          </a:p>
          <a:p>
            <a:pPr algn="just"/>
            <a:r>
              <a:rPr lang="fr-FR" sz="2200" dirty="0"/>
              <a:t>La CCN du bâtiment ne prévoit pas le renouvellement pour les ouvriers : il est impossible</a:t>
            </a:r>
          </a:p>
          <a:p>
            <a:pPr algn="just"/>
            <a:r>
              <a:rPr lang="fr-FR" sz="2200" dirty="0"/>
              <a:t>ETAM et cadres BTP : renouvellement possible une fois, à écrire dans le contrat</a:t>
            </a:r>
          </a:p>
          <a:p>
            <a:pPr algn="just"/>
            <a:r>
              <a:rPr lang="fr-FR" sz="2200" dirty="0"/>
              <a:t>Délais de prévenance employeur : 24 h, 48 h, 2 semaines puis 1 mois selon la présence</a:t>
            </a:r>
          </a:p>
          <a:p>
            <a:pPr algn="just"/>
            <a:r>
              <a:rPr lang="fr-FR" sz="2200" dirty="0"/>
              <a:t>Ouvriers du bâtiment : pas de délai de prévenance conventionnel à la charge du salarié</a:t>
            </a:r>
          </a:p>
        </p:txBody>
      </p:sp>
      <p:sp>
        <p:nvSpPr>
          <p:cNvPr id="3" name="Titre 2"/>
          <p:cNvSpPr>
            <a:spLocks noGrp="1"/>
          </p:cNvSpPr>
          <p:nvPr>
            <p:ph type="title"/>
          </p:nvPr>
        </p:nvSpPr>
        <p:spPr/>
        <p:txBody>
          <a:bodyPr>
            <a:normAutofit/>
          </a:bodyPr>
          <a:lstStyle/>
          <a:p>
            <a:r>
              <a:rPr lang="fr-FR" dirty="0"/>
              <a:t>La période d’essai : les particularités BTP</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800" dirty="0"/>
              <a:t>Articles L. 1223-8 et L. 1223-9 : un CDI conclu pour la durée d’un chantier ou d’une opération</a:t>
            </a:r>
          </a:p>
          <a:p>
            <a:pPr algn="just"/>
            <a:r>
              <a:rPr lang="fr-FR" sz="2800" dirty="0"/>
              <a:t>Recours ouvert dans le BTP, secteur où il constitue un usage habituel et constant</a:t>
            </a:r>
          </a:p>
          <a:p>
            <a:pPr algn="just"/>
            <a:r>
              <a:rPr lang="fr-FR" sz="2800" dirty="0"/>
              <a:t>Écrit obligatoire, désignant le chantier ou l’opération et mentionnant expressément le régime</a:t>
            </a:r>
          </a:p>
          <a:p>
            <a:pPr algn="just"/>
            <a:r>
              <a:rPr lang="fr-FR" sz="2800" dirty="0"/>
              <a:t>Le salarié bénéficie de tous les droits du CDI : ancienneté, préavis, indemnité de licenciement</a:t>
            </a:r>
          </a:p>
        </p:txBody>
      </p:sp>
      <p:sp>
        <p:nvSpPr>
          <p:cNvPr id="3" name="Titre 2"/>
          <p:cNvSpPr>
            <a:spLocks noGrp="1"/>
          </p:cNvSpPr>
          <p:nvPr>
            <p:ph type="title"/>
          </p:nvPr>
        </p:nvSpPr>
        <p:spPr/>
        <p:txBody>
          <a:bodyPr>
            <a:normAutofit/>
          </a:bodyPr>
          <a:lstStyle/>
          <a:p>
            <a:r>
              <a:rPr lang="fr-FR" dirty="0"/>
              <a:t>Le CDI de chantier ou d’opération (1)</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800" dirty="0"/>
              <a:t>L’achèvement du chantier est un licenciement pour cause réelle et sérieuse reposant sur un motif spécifique</a:t>
            </a:r>
          </a:p>
          <a:p>
            <a:pPr algn="just"/>
            <a:r>
              <a:rPr lang="fr-FR" sz="2800" dirty="0"/>
              <a:t>Procédure complète : convocation, entretien préalable, notification, préavis</a:t>
            </a:r>
          </a:p>
          <a:p>
            <a:pPr algn="just"/>
            <a:r>
              <a:rPr lang="fr-FR" sz="2800" dirty="0"/>
              <a:t>Indemnité de licenciement due dès 8 mois d’ancienneté, aucune indemnité de précarité</a:t>
            </a:r>
          </a:p>
          <a:p>
            <a:pPr algn="just"/>
            <a:r>
              <a:rPr lang="fr-FR" sz="2800" dirty="0"/>
              <a:t>Chantier mal identifié au contrat : requalification et licenciement sans cause réelle et sérieuse</a:t>
            </a:r>
          </a:p>
        </p:txBody>
      </p:sp>
      <p:sp>
        <p:nvSpPr>
          <p:cNvPr id="3" name="Titre 2"/>
          <p:cNvSpPr>
            <a:spLocks noGrp="1"/>
          </p:cNvSpPr>
          <p:nvPr>
            <p:ph type="title"/>
          </p:nvPr>
        </p:nvSpPr>
        <p:spPr/>
        <p:txBody>
          <a:bodyPr>
            <a:normAutofit/>
          </a:bodyPr>
          <a:lstStyle/>
          <a:p>
            <a:r>
              <a:rPr lang="fr-FR" dirty="0"/>
              <a:t>Le CDI de chantier ou d’opération (2)</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Cas de recours limitativement énumérés : remplacement, accroissement temporaire d’activité, emploi saisonnier</a:t>
            </a:r>
          </a:p>
          <a:p>
            <a:pPr algn="just"/>
            <a:r>
              <a:rPr lang="fr-FR" sz="2200" dirty="0"/>
              <a:t>Le BTP ne figure pas dans les secteurs autorisant le CDD d’usage (art. D. 1242-1)</a:t>
            </a:r>
          </a:p>
          <a:p>
            <a:pPr algn="just"/>
            <a:r>
              <a:rPr lang="fr-FR" sz="2200" dirty="0"/>
              <a:t>Écrit obligatoire, transmis au salarié dans les 2 jours ouvrables suivant l’embauche</a:t>
            </a:r>
          </a:p>
          <a:p>
            <a:pPr algn="just"/>
            <a:r>
              <a:rPr lang="fr-FR" sz="2200" dirty="0"/>
              <a:t>Durée maximale de 18 mois renouvellements compris et 2 renouvellements, sauf accord de branche étendu</a:t>
            </a:r>
          </a:p>
          <a:p>
            <a:pPr algn="just"/>
            <a:r>
              <a:rPr lang="fr-FR" sz="2200" dirty="0"/>
              <a:t>Délai de carence de un tiers ou de la moitié de la durée du contrat précédent, sauf exceptions légales</a:t>
            </a:r>
          </a:p>
        </p:txBody>
      </p:sp>
      <p:sp>
        <p:nvSpPr>
          <p:cNvPr id="3" name="Titre 2"/>
          <p:cNvSpPr>
            <a:spLocks noGrp="1"/>
          </p:cNvSpPr>
          <p:nvPr>
            <p:ph type="title"/>
          </p:nvPr>
        </p:nvSpPr>
        <p:spPr/>
        <p:txBody>
          <a:bodyPr>
            <a:normAutofit/>
          </a:bodyPr>
          <a:lstStyle/>
          <a:p>
            <a:r>
              <a:rPr lang="fr-FR" dirty="0"/>
              <a:t>Le CDD : les règles à ne pas manquer</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Motif précis, terme ou durée minimale, poste occupé, convention collective, rémunération</a:t>
            </a:r>
          </a:p>
          <a:p>
            <a:pPr algn="just"/>
            <a:r>
              <a:rPr lang="fr-FR" sz="2400" dirty="0"/>
              <a:t>Nom et adresse de la caisse de retraite complémentaire et de l’organisme de prévoyance</a:t>
            </a:r>
          </a:p>
          <a:p>
            <a:pPr algn="just"/>
            <a:r>
              <a:rPr lang="fr-FR" sz="2400" dirty="0"/>
              <a:t>Indemnité de fin de contrat de 10 % de la rémunération brute totale</a:t>
            </a:r>
          </a:p>
          <a:p>
            <a:pPr algn="just"/>
            <a:r>
              <a:rPr lang="fr-FR" sz="2400" dirty="0"/>
              <a:t>Pas d’indemnité en cas de refus d’un CDI équivalent, de rupture par le salarié ou de faute grave</a:t>
            </a:r>
          </a:p>
          <a:p>
            <a:pPr algn="just"/>
            <a:r>
              <a:rPr lang="fr-FR" sz="2400" dirty="0"/>
              <a:t>Dans le BTP, les congés payés sont réglés par la caisse : l’employeur ne verse pas d’indemnité de 10 % à ce titre</a:t>
            </a:r>
          </a:p>
        </p:txBody>
      </p:sp>
      <p:sp>
        <p:nvSpPr>
          <p:cNvPr id="3" name="Titre 2"/>
          <p:cNvSpPr>
            <a:spLocks noGrp="1"/>
          </p:cNvSpPr>
          <p:nvPr>
            <p:ph type="title"/>
          </p:nvPr>
        </p:nvSpPr>
        <p:spPr/>
        <p:txBody>
          <a:bodyPr>
            <a:normAutofit/>
          </a:bodyPr>
          <a:lstStyle/>
          <a:p>
            <a:r>
              <a:rPr lang="fr-FR" dirty="0"/>
              <a:t>Le CDD : mentions obligatoires et impacts paie</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Proposition de CDI sur le même emploi, avec une rémunération au moins équivalente, notifiée par écrit</a:t>
            </a:r>
          </a:p>
          <a:p>
            <a:pPr algn="just"/>
            <a:r>
              <a:rPr lang="fr-FR" sz="2200" dirty="0"/>
              <a:t>Délai de réflexion raisonnable laissé au salarié et mentionné dans la proposition</a:t>
            </a:r>
          </a:p>
          <a:p>
            <a:pPr algn="just"/>
            <a:r>
              <a:rPr lang="fr-FR" sz="2200" dirty="0"/>
              <a:t>En cas de refus, information de France Travail dans le mois, par le portail dédié</a:t>
            </a:r>
          </a:p>
          <a:p>
            <a:pPr algn="just"/>
            <a:r>
              <a:rPr lang="fr-FR" sz="2200" dirty="0"/>
              <a:t>Deux refus en douze mois peuvent priver le salarié de l’allocation chômage</a:t>
            </a:r>
          </a:p>
          <a:p>
            <a:pPr algn="just"/>
            <a:r>
              <a:rPr lang="fr-FR" sz="2200" dirty="0"/>
              <a:t>Le refus fait également tomber l’indemnité de fin de contrat de 10 %</a:t>
            </a:r>
          </a:p>
        </p:txBody>
      </p:sp>
      <p:sp>
        <p:nvSpPr>
          <p:cNvPr id="3" name="Titre 2"/>
          <p:cNvSpPr>
            <a:spLocks noGrp="1"/>
          </p:cNvSpPr>
          <p:nvPr>
            <p:ph type="title"/>
          </p:nvPr>
        </p:nvSpPr>
        <p:spPr/>
        <p:txBody>
          <a:bodyPr>
            <a:normAutofit/>
          </a:bodyPr>
          <a:lstStyle/>
          <a:p>
            <a:r>
              <a:rPr lang="fr-FR" dirty="0"/>
              <a:t>Le refus d’un CDI par un salarié en CDD</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Contrat écrit sur formulaire Cerfa, transmis à Constructys pour dépôt</a:t>
            </a:r>
          </a:p>
          <a:p>
            <a:pPr algn="just"/>
            <a:r>
              <a:rPr lang="fr-FR" sz="2400" dirty="0"/>
              <a:t>Apprentissage : de 6 mois à 3 ans, prolongation possible en cas d’échec à l’examen</a:t>
            </a:r>
          </a:p>
          <a:p>
            <a:pPr algn="just"/>
            <a:r>
              <a:rPr lang="fr-FR" sz="2400" dirty="0"/>
              <a:t>Le barème conventionnel BTP de rémunération est plus favorable que le barème légal</a:t>
            </a:r>
          </a:p>
          <a:p>
            <a:pPr algn="just"/>
            <a:r>
              <a:rPr lang="fr-FR" sz="2400" dirty="0"/>
              <a:t>Affiliation à la caisse des congés payés dès lors que le contrat atteint un an</a:t>
            </a:r>
          </a:p>
          <a:p>
            <a:pPr algn="just"/>
            <a:r>
              <a:rPr lang="fr-FR" sz="2400" dirty="0"/>
              <a:t>Carte BTP également obligatoire pour les alternants affectés sur chantier</a:t>
            </a:r>
          </a:p>
        </p:txBody>
      </p:sp>
      <p:sp>
        <p:nvSpPr>
          <p:cNvPr id="3" name="Titre 2"/>
          <p:cNvSpPr>
            <a:spLocks noGrp="1"/>
          </p:cNvSpPr>
          <p:nvPr>
            <p:ph type="title"/>
          </p:nvPr>
        </p:nvSpPr>
        <p:spPr/>
        <p:txBody>
          <a:bodyPr>
            <a:normAutofit/>
          </a:bodyPr>
          <a:lstStyle/>
          <a:p>
            <a:r>
              <a:rPr lang="fr-FR" dirty="0"/>
              <a:t>L’alternance dans le BTP</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Contrat de mission : égalité de rémunération avec un salarié de qualification équivalente</a:t>
            </a:r>
          </a:p>
          <a:p>
            <a:pPr algn="just"/>
            <a:r>
              <a:rPr lang="fr-FR" sz="2200" dirty="0"/>
              <a:t>Indemnité de fin de mission et indemnité de congés payés de 10 % versées par l’entreprise de travail temporaire</a:t>
            </a:r>
          </a:p>
          <a:p>
            <a:pPr algn="just"/>
            <a:r>
              <a:rPr lang="fr-FR" sz="2200" dirty="0"/>
              <a:t>Cotisation OPPBTP intérimaires assise sur les heures, appelée par la caisse des congés payés</a:t>
            </a:r>
          </a:p>
          <a:p>
            <a:pPr algn="just"/>
            <a:r>
              <a:rPr lang="fr-FR" sz="2200" dirty="0"/>
              <a:t>Détachement : déclaration SIPSI, représentant en France, carte BTP obligatoire</a:t>
            </a:r>
          </a:p>
          <a:p>
            <a:pPr algn="just"/>
            <a:r>
              <a:rPr lang="fr-FR" sz="2200" dirty="0"/>
              <a:t>Sous-traitance : attestation de vigilance URSSAF tous les 6 mois pour tout contrat d’au moins 5 000 € HT</a:t>
            </a:r>
          </a:p>
        </p:txBody>
      </p:sp>
      <p:sp>
        <p:nvSpPr>
          <p:cNvPr id="3" name="Titre 2"/>
          <p:cNvSpPr>
            <a:spLocks noGrp="1"/>
          </p:cNvSpPr>
          <p:nvPr>
            <p:ph type="title"/>
          </p:nvPr>
        </p:nvSpPr>
        <p:spPr/>
        <p:txBody>
          <a:bodyPr>
            <a:normAutofit/>
          </a:bodyPr>
          <a:lstStyle/>
          <a:p>
            <a:r>
              <a:rPr lang="fr-FR" dirty="0"/>
              <a:t>Intérim, détachement et sous-traitance</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Durée minimale de 24 heures par semaine, sauf dérogations écrites et motivées</a:t>
            </a:r>
          </a:p>
          <a:p>
            <a:pPr algn="just"/>
            <a:r>
              <a:rPr lang="fr-FR" sz="2400" dirty="0"/>
              <a:t>Mentions impératives : durée, répartition, modalités de modification, limites des heures complémentaires</a:t>
            </a:r>
          </a:p>
          <a:p>
            <a:pPr algn="just"/>
            <a:r>
              <a:rPr lang="fr-FR" sz="2400" dirty="0"/>
              <a:t>Heures complémentaires majorées de 10 % dans la limite du dixième, puis de 25 %</a:t>
            </a:r>
          </a:p>
          <a:p>
            <a:pPr algn="just"/>
            <a:r>
              <a:rPr lang="fr-FR" sz="2400" dirty="0"/>
              <a:t>Mentions absentes : présomption de temps plein et rappel de salaire</a:t>
            </a:r>
          </a:p>
          <a:p>
            <a:pPr algn="just"/>
            <a:r>
              <a:rPr lang="fr-FR" sz="2400" dirty="0"/>
              <a:t>En BTP : articuler avec les paniers, l’indemnité de trajet et la réduction du plafond</a:t>
            </a:r>
          </a:p>
        </p:txBody>
      </p:sp>
      <p:sp>
        <p:nvSpPr>
          <p:cNvPr id="3" name="Titre 2"/>
          <p:cNvSpPr>
            <a:spLocks noGrp="1"/>
          </p:cNvSpPr>
          <p:nvPr>
            <p:ph type="title"/>
          </p:nvPr>
        </p:nvSpPr>
        <p:spPr/>
        <p:txBody>
          <a:bodyPr>
            <a:normAutofit/>
          </a:bodyPr>
          <a:lstStyle/>
          <a:p>
            <a:r>
              <a:rPr lang="fr-FR" dirty="0"/>
              <a:t>Le contrat à temps partiel</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Classification, coefficient et position : base du minimum conventionnel régional</a:t>
            </a:r>
          </a:p>
          <a:p>
            <a:pPr algn="just"/>
            <a:r>
              <a:rPr lang="fr-FR" sz="2400" dirty="0"/>
              <a:t>Lieu de rattachement administratif : point de départ des zones de petits déplacements</a:t>
            </a:r>
          </a:p>
          <a:p>
            <a:pPr algn="just"/>
            <a:r>
              <a:rPr lang="fr-FR" sz="2400" dirty="0"/>
              <a:t>Clause de mobilité chantiers : sans elle, tout changement de lieu est une modification du contrat</a:t>
            </a:r>
          </a:p>
          <a:p>
            <a:pPr algn="just"/>
            <a:r>
              <a:rPr lang="fr-FR" sz="2400" dirty="0"/>
              <a:t>Convention individuelle de forfait en jours : écrite, ETAM à partir de la position F et cadres</a:t>
            </a:r>
          </a:p>
          <a:p>
            <a:pPr algn="just"/>
            <a:r>
              <a:rPr lang="fr-FR" sz="2400" dirty="0"/>
              <a:t>Durée du travail de référence et traitement des heures supplémentaires</a:t>
            </a:r>
          </a:p>
        </p:txBody>
      </p:sp>
      <p:sp>
        <p:nvSpPr>
          <p:cNvPr id="3" name="Titre 2"/>
          <p:cNvSpPr>
            <a:spLocks noGrp="1"/>
          </p:cNvSpPr>
          <p:nvPr>
            <p:ph type="title"/>
          </p:nvPr>
        </p:nvSpPr>
        <p:spPr/>
        <p:txBody>
          <a:bodyPr>
            <a:normAutofit/>
          </a:bodyPr>
          <a:lstStyle/>
          <a:p>
            <a:r>
              <a:rPr lang="fr-FR" dirty="0"/>
              <a:t>Les clauses qui pèsent sur le bulletin BTP (1)</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La déduction forfaitaire spécifique est une option de l’employeur, pas une clause opposable au salarié</a:t>
            </a:r>
          </a:p>
          <a:p>
            <a:pPr algn="just"/>
            <a:r>
              <a:rPr lang="fr-FR" sz="2200" dirty="0"/>
              <a:t>Depuis 2022, consentement du salarié requis : accord collectif, avis du CSE ou accord individuel annuel</a:t>
            </a:r>
          </a:p>
          <a:p>
            <a:pPr algn="just"/>
            <a:r>
              <a:rPr lang="fr-FR" sz="2200" dirty="0"/>
              <a:t>Abattement dégressif d’un point par an dans le BTP jusqu’à sa suppression</a:t>
            </a:r>
          </a:p>
          <a:p>
            <a:pPr algn="just"/>
            <a:r>
              <a:rPr lang="fr-FR" sz="2200" dirty="0"/>
              <a:t>L’employeur doit pouvoir prouver que le salarié supporte effectivement des frais</a:t>
            </a:r>
          </a:p>
          <a:p>
            <a:pPr algn="just"/>
            <a:r>
              <a:rPr lang="fr-FR" sz="2200" dirty="0"/>
              <a:t>Pratiquer l’abattement sans respecter la procédure caractérise un travail dissimulé</a:t>
            </a:r>
          </a:p>
        </p:txBody>
      </p:sp>
      <p:sp>
        <p:nvSpPr>
          <p:cNvPr id="3" name="Titre 2"/>
          <p:cNvSpPr>
            <a:spLocks noGrp="1"/>
          </p:cNvSpPr>
          <p:nvPr>
            <p:ph type="title"/>
          </p:nvPr>
        </p:nvSpPr>
        <p:spPr/>
        <p:txBody>
          <a:bodyPr>
            <a:normAutofit/>
          </a:bodyPr>
          <a:lstStyle/>
          <a:p>
            <a:r>
              <a:rPr lang="fr-FR" sz="3067" dirty="0"/>
              <a:t>Les clauses qui pèsent sur le bulletin BTP (2) : la DFS</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200" dirty="0"/>
              <a:t>Vêtements de travail et EPI : à la charge de l’employeur, leur entretien est un frais professionnel</a:t>
            </a:r>
          </a:p>
          <a:p>
            <a:pPr algn="just"/>
            <a:r>
              <a:rPr lang="fr-FR" sz="2200" dirty="0"/>
              <a:t>Clause de non-concurrence : contrepartie financière obligatoire et soumise à cotisations</a:t>
            </a:r>
          </a:p>
          <a:p>
            <a:pPr algn="just"/>
            <a:r>
              <a:rPr lang="fr-FR" sz="2200" dirty="0"/>
              <a:t>Astreintes, forfait d’heures supplémentaires, 13e mois : à écrire pour être opposables</a:t>
            </a:r>
          </a:p>
          <a:p>
            <a:pPr algn="just"/>
            <a:r>
              <a:rPr lang="fr-FR" sz="2200" dirty="0"/>
              <a:t>Prévoyance et frais de santé : informer le salarié des organismes et des garanties</a:t>
            </a:r>
          </a:p>
          <a:p>
            <a:pPr algn="just"/>
            <a:r>
              <a:rPr lang="fr-FR" sz="2200" dirty="0"/>
              <a:t>Utilisation d’un véhicule de l’entreprise : distinguer l’outil de travail de l’avantage en nature</a:t>
            </a:r>
          </a:p>
        </p:txBody>
      </p:sp>
      <p:sp>
        <p:nvSpPr>
          <p:cNvPr id="3" name="Titre 2"/>
          <p:cNvSpPr>
            <a:spLocks noGrp="1"/>
          </p:cNvSpPr>
          <p:nvPr>
            <p:ph type="title"/>
          </p:nvPr>
        </p:nvSpPr>
        <p:spPr/>
        <p:txBody>
          <a:bodyPr>
            <a:normAutofit/>
          </a:bodyPr>
          <a:lstStyle/>
          <a:p>
            <a:r>
              <a:rPr lang="fr-FR" dirty="0"/>
              <a:t>Les autres clauses à sécuriser</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ph sz="quarter" idx="14"/>
          </p:nvPr>
        </p:nvGraphicFramePr>
        <p:xfrm>
          <a:off x="431800" y="1748813"/>
          <a:ext cx="11200000" cy="4084320"/>
        </p:xfrm>
        <a:graphic>
          <a:graphicData uri="http://schemas.openxmlformats.org/drawingml/2006/table">
            <a:tbl>
              <a:tblPr firstRow="1" bandRow="1">
                <a:tableStyleId>{5C22544A-7EE6-4342-B048-85BDC9FD1C3A}</a:tableStyleId>
              </a:tblPr>
              <a:tblGrid>
                <a:gridCol w="2500000"/>
                <a:gridCol w="2900000"/>
                <a:gridCol w="3200000"/>
                <a:gridCol w="2600000"/>
              </a:tblGrid>
              <a:tr h="426720">
                <a:tc>
                  <a:txBody>
                    <a:bodyPr/>
                    <a:lstStyle/>
                    <a:p>
                      <a:r>
                        <a:rPr lang="fr-FR" sz="2000" b="1" dirty="0"/>
                        <a:t>Contrat</a:t>
                      </a:r>
                    </a:p>
                  </a:txBody>
                  <a:tcPr marL="121920" marR="121920" marT="60960" marB="60960" anchor="ctr"/>
                </a:tc>
                <a:tc>
                  <a:txBody>
                    <a:bodyPr/>
                    <a:lstStyle/>
                    <a:p>
                      <a:pPr algn="ctr"/>
                      <a:r>
                        <a:rPr lang="fr-FR" sz="2000" b="1" dirty="0"/>
                        <a:t>Écrit</a:t>
                      </a:r>
                    </a:p>
                  </a:txBody>
                  <a:tcPr marL="121920" marR="121920" marT="60960" marB="60960" anchor="ctr"/>
                </a:tc>
                <a:tc>
                  <a:txBody>
                    <a:bodyPr/>
                    <a:lstStyle/>
                    <a:p>
                      <a:pPr algn="ctr"/>
                      <a:r>
                        <a:rPr lang="fr-FR" sz="2000" b="1" dirty="0"/>
                        <a:t>Fin du contrat</a:t>
                      </a:r>
                    </a:p>
                  </a:txBody>
                  <a:tcPr marL="121920" marR="121920" marT="60960" marB="60960" anchor="ctr"/>
                </a:tc>
                <a:tc>
                  <a:txBody>
                    <a:bodyPr/>
                    <a:lstStyle/>
                    <a:p>
                      <a:pPr algn="ctr"/>
                      <a:r>
                        <a:rPr lang="fr-FR" sz="2000" b="1" dirty="0"/>
                        <a:t>Indemnité de fin</a:t>
                      </a:r>
                    </a:p>
                  </a:txBody>
                  <a:tcPr marL="121920" marR="121920" marT="60960" marB="60960" anchor="ctr"/>
                </a:tc>
              </a:tr>
              <a:tr h="731520">
                <a:tc>
                  <a:txBody>
                    <a:bodyPr/>
                    <a:lstStyle/>
                    <a:p>
                      <a:r>
                        <a:rPr lang="fr-FR" sz="2000" dirty="0"/>
                        <a:t>CDI</a:t>
                      </a:r>
                    </a:p>
                  </a:txBody>
                  <a:tcPr marL="121920" marR="121920" marT="60960" marB="60960" anchor="ctr"/>
                </a:tc>
                <a:tc>
                  <a:txBody>
                    <a:bodyPr/>
                    <a:lstStyle/>
                    <a:p>
                      <a:pPr algn="ctr"/>
                      <a:r>
                        <a:rPr lang="fr-FR" sz="2000" dirty="0"/>
                        <a:t>Imposé par la CCN BTP</a:t>
                      </a:r>
                    </a:p>
                  </a:txBody>
                  <a:tcPr marL="121920" marR="121920" marT="60960" marB="60960" anchor="ctr"/>
                </a:tc>
                <a:tc>
                  <a:txBody>
                    <a:bodyPr/>
                    <a:lstStyle/>
                    <a:p>
                      <a:pPr algn="ctr"/>
                      <a:r>
                        <a:rPr lang="fr-FR" sz="2000" dirty="0"/>
                        <a:t>Rupture de droit commun</a:t>
                      </a:r>
                    </a:p>
                  </a:txBody>
                  <a:tcPr marL="121920" marR="121920" marT="60960" marB="60960" anchor="ctr"/>
                </a:tc>
                <a:tc>
                  <a:txBody>
                    <a:bodyPr/>
                    <a:lstStyle/>
                    <a:p>
                      <a:pPr algn="ctr"/>
                      <a:r>
                        <a:rPr lang="fr-FR" sz="2000" dirty="0"/>
                        <a:t>Indemnité de licenciement</a:t>
                      </a:r>
                    </a:p>
                  </a:txBody>
                  <a:tcPr marL="121920" marR="121920" marT="60960" marB="60960" anchor="ctr"/>
                </a:tc>
              </a:tr>
              <a:tr h="731520">
                <a:tc>
                  <a:txBody>
                    <a:bodyPr/>
                    <a:lstStyle/>
                    <a:p>
                      <a:r>
                        <a:rPr lang="fr-FR" sz="2000" dirty="0"/>
                        <a:t>CDI de chantier</a:t>
                      </a:r>
                    </a:p>
                  </a:txBody>
                  <a:tcPr marL="121920" marR="121920" marT="60960" marB="60960" anchor="ctr"/>
                </a:tc>
                <a:tc>
                  <a:txBody>
                    <a:bodyPr/>
                    <a:lstStyle/>
                    <a:p>
                      <a:pPr algn="ctr"/>
                      <a:r>
                        <a:rPr lang="fr-FR" sz="2000" dirty="0"/>
                        <a:t>Obligatoire</a:t>
                      </a:r>
                    </a:p>
                  </a:txBody>
                  <a:tcPr marL="121920" marR="121920" marT="60960" marB="60960" anchor="ctr"/>
                </a:tc>
                <a:tc>
                  <a:txBody>
                    <a:bodyPr/>
                    <a:lstStyle/>
                    <a:p>
                      <a:pPr algn="ctr"/>
                      <a:r>
                        <a:rPr lang="fr-FR" sz="2000" dirty="0"/>
                        <a:t>Achèvement du chantier : licenciement</a:t>
                      </a:r>
                    </a:p>
                  </a:txBody>
                  <a:tcPr marL="121920" marR="121920" marT="60960" marB="60960" anchor="ctr"/>
                </a:tc>
                <a:tc>
                  <a:txBody>
                    <a:bodyPr/>
                    <a:lstStyle/>
                    <a:p>
                      <a:pPr algn="ctr"/>
                      <a:r>
                        <a:rPr lang="fr-FR" sz="2000" dirty="0"/>
                        <a:t>Indemnité de licenciement</a:t>
                      </a:r>
                    </a:p>
                  </a:txBody>
                  <a:tcPr marL="121920" marR="121920" marT="60960" marB="60960" anchor="ctr"/>
                </a:tc>
              </a:tr>
              <a:tr h="731520">
                <a:tc>
                  <a:txBody>
                    <a:bodyPr/>
                    <a:lstStyle/>
                    <a:p>
                      <a:r>
                        <a:rPr lang="fr-FR" sz="2000" dirty="0"/>
                        <a:t>CDD</a:t>
                      </a:r>
                    </a:p>
                  </a:txBody>
                  <a:tcPr marL="121920" marR="121920" marT="60960" marB="60960" anchor="ctr"/>
                </a:tc>
                <a:tc>
                  <a:txBody>
                    <a:bodyPr/>
                    <a:lstStyle/>
                    <a:p>
                      <a:pPr algn="ctr"/>
                      <a:r>
                        <a:rPr lang="fr-FR" sz="2000" dirty="0"/>
                        <a:t>Obligatoire, sous 2 jours ouvrables</a:t>
                      </a:r>
                    </a:p>
                  </a:txBody>
                  <a:tcPr marL="121920" marR="121920" marT="60960" marB="60960" anchor="ctr"/>
                </a:tc>
                <a:tc>
                  <a:txBody>
                    <a:bodyPr/>
                    <a:lstStyle/>
                    <a:p>
                      <a:pPr algn="ctr"/>
                      <a:r>
                        <a:rPr lang="fr-FR" sz="2000" dirty="0"/>
                        <a:t>Terme ou fin de l’objet</a:t>
                      </a:r>
                    </a:p>
                  </a:txBody>
                  <a:tcPr marL="121920" marR="121920" marT="60960" marB="60960" anchor="ctr"/>
                </a:tc>
                <a:tc>
                  <a:txBody>
                    <a:bodyPr/>
                    <a:lstStyle/>
                    <a:p>
                      <a:pPr algn="ctr"/>
                      <a:r>
                        <a:rPr lang="fr-FR" sz="2000" dirty="0"/>
                        <a:t>10 % sauf exceptions</a:t>
                      </a:r>
                    </a:p>
                  </a:txBody>
                  <a:tcPr marL="121920" marR="121920" marT="60960" marB="60960" anchor="ctr"/>
                </a:tc>
              </a:tr>
              <a:tr h="731520">
                <a:tc>
                  <a:txBody>
                    <a:bodyPr/>
                    <a:lstStyle/>
                    <a:p>
                      <a:r>
                        <a:rPr lang="fr-FR" sz="2000" dirty="0"/>
                        <a:t>Intérim</a:t>
                      </a:r>
                    </a:p>
                  </a:txBody>
                  <a:tcPr marL="121920" marR="121920" marT="60960" marB="60960" anchor="ctr"/>
                </a:tc>
                <a:tc>
                  <a:txBody>
                    <a:bodyPr/>
                    <a:lstStyle/>
                    <a:p>
                      <a:pPr algn="ctr"/>
                      <a:r>
                        <a:rPr lang="fr-FR" sz="2000" dirty="0"/>
                        <a:t>Obligatoire, établi par l’ETT</a:t>
                      </a:r>
                    </a:p>
                  </a:txBody>
                  <a:tcPr marL="121920" marR="121920" marT="60960" marB="60960" anchor="ctr"/>
                </a:tc>
                <a:tc>
                  <a:txBody>
                    <a:bodyPr/>
                    <a:lstStyle/>
                    <a:p>
                      <a:pPr algn="ctr"/>
                      <a:r>
                        <a:rPr lang="fr-FR" sz="2000" dirty="0"/>
                        <a:t>Fin de mission</a:t>
                      </a:r>
                    </a:p>
                  </a:txBody>
                  <a:tcPr marL="121920" marR="121920" marT="60960" marB="60960" anchor="ctr"/>
                </a:tc>
                <a:tc>
                  <a:txBody>
                    <a:bodyPr/>
                    <a:lstStyle/>
                    <a:p>
                      <a:pPr algn="ctr"/>
                      <a:r>
                        <a:rPr lang="fr-FR" sz="2000" dirty="0"/>
                        <a:t>IFM et ICCP versées par l’ETT</a:t>
                      </a:r>
                    </a:p>
                  </a:txBody>
                  <a:tcPr marL="121920" marR="121920" marT="60960" marB="60960" anchor="ctr"/>
                </a:tc>
              </a:tr>
              <a:tr h="731520">
                <a:tc>
                  <a:txBody>
                    <a:bodyPr/>
                    <a:lstStyle/>
                    <a:p>
                      <a:r>
                        <a:rPr lang="fr-FR" sz="2000" dirty="0"/>
                        <a:t>Apprentissage</a:t>
                      </a:r>
                    </a:p>
                  </a:txBody>
                  <a:tcPr marL="121920" marR="121920" marT="60960" marB="60960" anchor="ctr"/>
                </a:tc>
                <a:tc>
                  <a:txBody>
                    <a:bodyPr/>
                    <a:lstStyle/>
                    <a:p>
                      <a:pPr algn="ctr"/>
                      <a:r>
                        <a:rPr lang="fr-FR" sz="2000" dirty="0"/>
                        <a:t>Obligatoire, formulaire Cerfa</a:t>
                      </a:r>
                    </a:p>
                  </a:txBody>
                  <a:tcPr marL="121920" marR="121920" marT="60960" marB="60960" anchor="ctr"/>
                </a:tc>
                <a:tc>
                  <a:txBody>
                    <a:bodyPr/>
                    <a:lstStyle/>
                    <a:p>
                      <a:pPr algn="ctr"/>
                      <a:r>
                        <a:rPr lang="fr-FR" sz="2000" dirty="0"/>
                        <a:t>Terme du cycle de formation</a:t>
                      </a:r>
                    </a:p>
                  </a:txBody>
                  <a:tcPr marL="121920" marR="121920" marT="60960" marB="60960" anchor="ctr"/>
                </a:tc>
                <a:tc>
                  <a:txBody>
                    <a:bodyPr/>
                    <a:lstStyle/>
                    <a:p>
                      <a:pPr algn="ctr"/>
                      <a:r>
                        <a:rPr lang="fr-FR" sz="2000" dirty="0"/>
                        <a:t>Aucune</a:t>
                      </a:r>
                    </a:p>
                  </a:txBody>
                  <a:tcPr marL="121920" marR="121920" marT="60960" marB="60960" anchor="ctr"/>
                </a:tc>
              </a:tr>
            </a:tbl>
          </a:graphicData>
        </a:graphic>
      </p:graphicFrame>
      <p:sp>
        <p:nvSpPr>
          <p:cNvPr id="3" name="Titre 2"/>
          <p:cNvSpPr>
            <a:spLocks noGrp="1"/>
          </p:cNvSpPr>
          <p:nvPr>
            <p:ph type="title"/>
          </p:nvPr>
        </p:nvSpPr>
        <p:spPr/>
        <p:txBody>
          <a:bodyPr>
            <a:normAutofit/>
          </a:bodyPr>
          <a:lstStyle/>
          <a:p>
            <a:r>
              <a:rPr lang="fr-FR" dirty="0"/>
              <a:t>Quel contrat pour quel besoin ?</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1550000" y="1748813"/>
            <a:ext cx="10150933" cy="4400000"/>
          </a:xfrm>
        </p:spPr>
        <p:txBody>
          <a:bodyPr>
            <a:normAutofit/>
          </a:bodyPr>
          <a:lstStyle/>
          <a:p>
            <a:pPr algn="just"/>
            <a:r>
              <a:rPr lang="fr-FR" sz="2200" dirty="0"/>
              <a:t>Trames de contrat à mettre à jour au regard de l’obligation d’information écrite</a:t>
            </a:r>
          </a:p>
          <a:p>
            <a:pPr algn="just"/>
            <a:r>
              <a:rPr lang="fr-FR" sz="2200" dirty="0"/>
              <a:t>DFS : recueillir chaque année le consentement et appliquer le taux de l’année</a:t>
            </a:r>
          </a:p>
          <a:p>
            <a:pPr algn="just"/>
            <a:r>
              <a:rPr lang="fr-FR" sz="2200" dirty="0"/>
              <a:t>Refus d’un CDI par un salarié en CDD : ne pas oublier la déclaration à France Travail</a:t>
            </a:r>
          </a:p>
          <a:p>
            <a:pPr algn="just"/>
            <a:r>
              <a:rPr lang="fr-FR" sz="2200" dirty="0"/>
              <a:t>Franchissement du seuil de 10 salariés : changer d’IDCC et régulariser la DSN</a:t>
            </a:r>
          </a:p>
          <a:p>
            <a:pPr algn="just"/>
            <a:r>
              <a:rPr lang="fr-FR" sz="2200" dirty="0"/>
              <a:t>Carte BTP et suivi médical renforcé : conditions d’accès au chantier</a:t>
            </a:r>
          </a:p>
        </p:txBody>
      </p:sp>
      <p:sp>
        <p:nvSpPr>
          <p:cNvPr id="3" name="Titre 2"/>
          <p:cNvSpPr>
            <a:spLocks noGrp="1"/>
          </p:cNvSpPr>
          <p:nvPr>
            <p:ph type="title"/>
          </p:nvPr>
        </p:nvSpPr>
        <p:spPr/>
        <p:txBody>
          <a:bodyPr>
            <a:normAutofit/>
          </a:bodyPr>
          <a:lstStyle/>
          <a:p>
            <a:r>
              <a:rPr lang="fr-FR" dirty="0"/>
              <a:t>Points de vigilance 2026</a:t>
            </a:r>
          </a:p>
        </p:txBody>
      </p:sp>
      <p:pic>
        <p:nvPicPr>
          <p:cNvPr id="9" name="Picture 8" descr="alerte-attention"/>
          <p:cNvPicPr>
            <a:picLocks noChangeAspect="1" noChangeArrowheads="1"/>
          </p:cNvPicPr>
          <p:nvPr/>
        </p:nvPicPr>
        <p:blipFill>
          <a:blip r:embed="rId3" cstate="print"/>
          <a:srcRect/>
          <a:stretch>
            <a:fillRect/>
          </a:stretch>
        </p:blipFill>
        <p:spPr bwMode="auto">
          <a:xfrm>
            <a:off x="-84687" y="2700000"/>
            <a:ext cx="1440160" cy="1440160"/>
          </a:xfrm>
          <a:prstGeom prst="rect">
            <a:avLst/>
          </a:prstGeom>
          <a:noFill/>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Catégorie, effectif, région : la bonne convention collective est-elle identifiée ?</a:t>
            </a:r>
          </a:p>
          <a:p>
            <a:pPr algn="just"/>
            <a:r>
              <a:rPr lang="fr-FR" sz="2400" dirty="0"/>
              <a:t>Classification et salaire : le minimum conventionnel régional est-il respecté ?</a:t>
            </a:r>
          </a:p>
          <a:p>
            <a:pPr algn="just"/>
            <a:r>
              <a:rPr lang="fr-FR" sz="2400" dirty="0"/>
              <a:t>Lieu de rattachement : les zones de déplacement sont-elles exploitables ?</a:t>
            </a:r>
          </a:p>
          <a:p>
            <a:pPr algn="just"/>
            <a:r>
              <a:rPr lang="fr-FR" sz="2400" dirty="0"/>
              <a:t>Période d’essai, mobilité, forfait jours : les clauses sont-elles écrites ?</a:t>
            </a:r>
          </a:p>
          <a:p>
            <a:pPr algn="just"/>
            <a:r>
              <a:rPr lang="fr-FR" sz="2400" dirty="0"/>
              <a:t>DPAE, caisse CP, PRO BTP, carte BTP, suivi médical : les formalités sont-elles faites ?</a:t>
            </a:r>
          </a:p>
        </p:txBody>
      </p:sp>
      <p:sp>
        <p:nvSpPr>
          <p:cNvPr id="3" name="Titre 2"/>
          <p:cNvSpPr>
            <a:spLocks noGrp="1"/>
          </p:cNvSpPr>
          <p:nvPr>
            <p:ph type="title"/>
          </p:nvPr>
        </p:nvSpPr>
        <p:spPr/>
        <p:txBody>
          <a:bodyPr>
            <a:normAutofit/>
          </a:bodyPr>
          <a:lstStyle/>
          <a:p>
            <a:r>
              <a:rPr lang="fr-FR" sz="3067" dirty="0"/>
              <a:t>Check-list du collaborateur paie à la conclusion du contrat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31800" y="1748813"/>
            <a:ext cx="11269133" cy="4400000"/>
          </a:xfrm>
        </p:spPr>
        <p:txBody>
          <a:bodyPr>
            <a:normAutofit/>
          </a:bodyPr>
          <a:lstStyle/>
          <a:p>
            <a:pPr algn="just"/>
            <a:r>
              <a:rPr lang="fr-FR" sz="2400" dirty="0"/>
              <a:t>Cas 1 : une entreprise de 8 ouvriers embauche pour un chantier de 14 mois. Quel contrat proposer et pourquoi ?</a:t>
            </a:r>
          </a:p>
          <a:p>
            <a:pPr algn="just"/>
            <a:r>
              <a:rPr lang="fr-FR" sz="2400" dirty="0"/>
              <a:t>Cas 2 : un CDD de 4 mois pour accroissement d’activité arrive à son terme, le salarié refuse le CDI proposé. Quelles conséquences ?</a:t>
            </a:r>
          </a:p>
          <a:p>
            <a:pPr algn="just"/>
            <a:r>
              <a:rPr lang="fr-FR" sz="2400" dirty="0"/>
              <a:t>Cas 3 : un contrat mentionne l’abattement de 10 % sans autre formalité. Quel risque et quelle régularisation ?</a:t>
            </a:r>
          </a:p>
          <a:p>
            <a:pPr algn="just"/>
            <a:r>
              <a:rPr lang="fr-FR" sz="2400" dirty="0"/>
              <a:t>Cas 4 : l’effectif passe de 10 à 12 salariés en cours d’année. Que faut-il modifier ?</a:t>
            </a:r>
          </a:p>
        </p:txBody>
      </p:sp>
      <p:sp>
        <p:nvSpPr>
          <p:cNvPr id="3" name="Titre 2"/>
          <p:cNvSpPr>
            <a:spLocks noGrp="1"/>
          </p:cNvSpPr>
          <p:nvPr>
            <p:ph type="title"/>
          </p:nvPr>
        </p:nvSpPr>
        <p:spPr/>
        <p:txBody>
          <a:bodyPr>
            <a:normAutofit/>
          </a:bodyPr>
          <a:lstStyle/>
          <a:p>
            <a:r>
              <a:rPr lang="fr-FR" dirty="0"/>
              <a:t>La conclusion du contrat : exercice</a:t>
            </a:r>
          </a:p>
        </p:txBody>
      </p:sp>
    </p:spTree>
  </p:cSld>
  <p:clrMapOvr>
    <a:masterClrMapping/>
  </p:clrMapOvr>
</p:sld>
</file>

<file path=ppt/theme/theme1.xml><?xml version="1.0" encoding="utf-8"?>
<a:theme xmlns:a="http://schemas.openxmlformats.org/drawingml/2006/main" name="Personnalisé">
  <a:themeElements>
    <a:clrScheme name="TM10081922">
      <a:dk1>
        <a:srgbClr val="000000"/>
      </a:dk1>
      <a:lt1>
        <a:srgbClr val="FFFFFF"/>
      </a:lt1>
      <a:dk2>
        <a:srgbClr val="435369"/>
      </a:dk2>
      <a:lt2>
        <a:srgbClr val="E7E5E5"/>
      </a:lt2>
      <a:accent1>
        <a:srgbClr val="F2E5D8"/>
      </a:accent1>
      <a:accent2>
        <a:srgbClr val="8C3A27"/>
      </a:accent2>
      <a:accent3>
        <a:srgbClr val="F0C8BC"/>
      </a:accent3>
      <a:accent4>
        <a:srgbClr val="D9A390"/>
      </a:accent4>
      <a:accent5>
        <a:srgbClr val="FFF6F4"/>
      </a:accent5>
      <a:accent6>
        <a:srgbClr val="183F1E"/>
      </a:accent6>
      <a:hlink>
        <a:srgbClr val="467886"/>
      </a:hlink>
      <a:folHlink>
        <a:srgbClr val="96607D"/>
      </a:folHlink>
    </a:clrScheme>
    <a:fontScheme name="Custom 100">
      <a:majorFont>
        <a:latin typeface="Tisa Offc Serif Pro"/>
        <a:ea typeface=""/>
        <a:cs typeface=""/>
      </a:majorFont>
      <a:minorFont>
        <a:latin typeface="Qui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_72342536_TF10081922_Win32" id="{7BC52F11-DA02-48DC-8184-F5C159ED06F7}" vid="{67B1E8DC-E01C-42C6-94A3-40EB0BB60D7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a774a2b-bdf9-4966-8a34-a8cc9bbcc689" xsi:nil="true"/>
    <lcf76f155ced4ddcb4097134ff3c332f xmlns="7be4420d-3530-4f80-a479-62b9a272b2b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4B10C6517D904B99912CD8D7E2C458" ma:contentTypeVersion="15" ma:contentTypeDescription="Crée un document." ma:contentTypeScope="" ma:versionID="e1cad357db00acc9fda58d3b7f94e267">
  <xsd:schema xmlns:xsd="http://www.w3.org/2001/XMLSchema" xmlns:xs="http://www.w3.org/2001/XMLSchema" xmlns:p="http://schemas.microsoft.com/office/2006/metadata/properties" xmlns:ns2="7be4420d-3530-4f80-a479-62b9a272b2b5" xmlns:ns3="4a774a2b-bdf9-4966-8a34-a8cc9bbcc689" targetNamespace="http://schemas.microsoft.com/office/2006/metadata/properties" ma:root="true" ma:fieldsID="e795a42cd59ecba587f8b9af401b3372" ns2:_="" ns3:_="">
    <xsd:import namespace="7be4420d-3530-4f80-a479-62b9a272b2b5"/>
    <xsd:import namespace="4a774a2b-bdf9-4966-8a34-a8cc9bbcc6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e4420d-3530-4f80-a479-62b9a272b2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5770225b-ab96-42e6-9610-3b2afa84431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774a2b-bdf9-4966-8a34-a8cc9bbcc6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110c81-1dd9-444e-a9e5-53b44b62586c}" ma:internalName="TaxCatchAll" ma:showField="CatchAllData" ma:web="4a774a2b-bdf9-4966-8a34-a8cc9bbcc689">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349358-775F-4CF9-9AE6-33A7901637E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B8FC0E5-78D4-4876-86AB-BD26F2374D61}"/>
</file>

<file path=customXml/itemProps3.xml><?xml version="1.0" encoding="utf-8"?>
<ds:datastoreItem xmlns:ds="http://schemas.openxmlformats.org/officeDocument/2006/customXml" ds:itemID="{FB2D96AF-4C9E-4DD0-A165-CD22BB87D09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{54908CF3-EE35-43F1-A75C-9B9358EDB6ED}TF96423eb0-8e02-4a99-b83b-bc60d19202d587b10bba_win32-6f1b4b62d9a7</Template>
  <TotalTime>11</TotalTime>
  <Words>11175</Words>
  <Application>Microsoft Office PowerPoint</Application>
  <PresentationFormat>Grand écran</PresentationFormat>
  <Paragraphs>946</Paragraphs>
  <Slides>124</Slides>
  <Notes>124</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124</vt:i4>
      </vt:variant>
    </vt:vector>
  </HeadingPairs>
  <TitlesOfParts>
    <vt:vector size="134" baseType="lpstr">
      <vt:lpstr>ＭＳ Ｐゴシック</vt:lpstr>
      <vt:lpstr>Aptos</vt:lpstr>
      <vt:lpstr>Arial</vt:lpstr>
      <vt:lpstr>Calibri</vt:lpstr>
      <vt:lpstr>Quire Sans Pro Light</vt:lpstr>
      <vt:lpstr>Tisa Offc Serif Pro</vt:lpstr>
      <vt:lpstr>Webdings</vt:lpstr>
      <vt:lpstr>Wingdings</vt:lpstr>
      <vt:lpstr>Wingdings 3</vt:lpstr>
      <vt:lpstr>Personnalisé</vt:lpstr>
      <vt:lpstr>LES ESSENTIELS DU BTP</vt:lpstr>
      <vt:lpstr>Présentation PowerPoint</vt:lpstr>
      <vt:lpstr>Séquence 1 </vt:lpstr>
      <vt:lpstr>Les 3 niveaux de hiérarchie du code  de travail</vt:lpstr>
      <vt:lpstr>La négociation d’entreprise et la CCN</vt:lpstr>
      <vt:lpstr>Les particularités des conventions collectives du BTP (1)</vt:lpstr>
      <vt:lpstr>Les particularités des conventions collectives du Btp (2)</vt:lpstr>
      <vt:lpstr>avertissement</vt:lpstr>
      <vt:lpstr>Les particularités des conventions collectives du Btp (3)</vt:lpstr>
      <vt:lpstr>Conventions collectives BTP</vt:lpstr>
      <vt:lpstr>Conventions collectives : Information des salariés</vt:lpstr>
      <vt:lpstr>Séquence 2 </vt:lpstr>
      <vt:lpstr>L’embauche : Les obligations dans un contexte de responsabilité de l’employeur</vt:lpstr>
      <vt:lpstr>L’embauche : Mesures pour assurer la santé et la sécurité des salariés</vt:lpstr>
      <vt:lpstr>L’embauche : les risques</vt:lpstr>
      <vt:lpstr>L’embauche : Pénibilité  </vt:lpstr>
      <vt:lpstr>L’embauche : La période d’essai</vt:lpstr>
      <vt:lpstr>L’embauche : CDD </vt:lpstr>
      <vt:lpstr>L’embauche : Le contrat de travail </vt:lpstr>
      <vt:lpstr>L’embauche : Forfait jours </vt:lpstr>
      <vt:lpstr>L’embauche : Exercice</vt:lpstr>
      <vt:lpstr>Séquence 3 </vt:lpstr>
      <vt:lpstr>Présentation PowerPoint</vt:lpstr>
      <vt:lpstr>Le brut : classification et rémunération (1)</vt:lpstr>
      <vt:lpstr>Le brut : classification et rémunération (2)</vt:lpstr>
      <vt:lpstr>Le brut : Rémunération minimum conventionnelle </vt:lpstr>
      <vt:lpstr>Le brut : Les heures</vt:lpstr>
      <vt:lpstr>Le brut : Les heures supplémentaires (1)</vt:lpstr>
      <vt:lpstr>Le brut : Les heures supplémentaires (2)</vt:lpstr>
      <vt:lpstr>Le travail de nuit </vt:lpstr>
      <vt:lpstr>Le travail  des jours fériés (ouvriers)</vt:lpstr>
      <vt:lpstr>Les apprentis (1)</vt:lpstr>
      <vt:lpstr>Les apprentis (2)</vt:lpstr>
      <vt:lpstr>Les apprentis (3)</vt:lpstr>
      <vt:lpstr>Le brut : Les primes </vt:lpstr>
      <vt:lpstr>Les trajets</vt:lpstr>
      <vt:lpstr>Le temps de travail effectif et les temps de trajet</vt:lpstr>
      <vt:lpstr>Le brut : les temps de trajet (1)</vt:lpstr>
      <vt:lpstr>Le brut : les temps de trajet (2)</vt:lpstr>
      <vt:lpstr>Le brut : les temps de trajet (3)</vt:lpstr>
      <vt:lpstr>Le brut et l’indemnité de trajet SELON LA CONVENTION COLLECTIVE</vt:lpstr>
      <vt:lpstr>Le brut et l’indemnité de trajet POSITION DE LA COUR DE CASSATION</vt:lpstr>
      <vt:lpstr>Le brut, l’indemnité de trajet et l'URSSAF</vt:lpstr>
      <vt:lpstr>Séquence 4  </vt:lpstr>
      <vt:lpstr>Présentation PowerPoint</vt:lpstr>
      <vt:lpstr>Avec le BOSS disparition des frais d’entreprise</vt:lpstr>
      <vt:lpstr>Les frais professionnels et de déplacement :  Les grands déplacements (1)</vt:lpstr>
      <vt:lpstr>Les frais professionnels et de déplacement :  Les grands déplacements (2)</vt:lpstr>
      <vt:lpstr>Les frais de grands déplacements et  La déduction forfaitaire spécifique</vt:lpstr>
      <vt:lpstr>Les frais professionnels et de déplacement : Les voyages </vt:lpstr>
      <vt:lpstr>Avant de traiter les petits déplacements </vt:lpstr>
      <vt:lpstr>Les frais professionnels et de déplacements :  Autres frais professionnels </vt:lpstr>
      <vt:lpstr>Les frais professionnels :  Indemnités de petits déplacements (1)</vt:lpstr>
      <vt:lpstr>Les frais professionnels :  Indemnités de petits déplacements (2)</vt:lpstr>
      <vt:lpstr>Les frais professionnels :  La déduction forfaitaire spécifique</vt:lpstr>
      <vt:lpstr>Les frais professionnels : le brut et La déduction forfaitaire spécifique</vt:lpstr>
      <vt:lpstr>Les frais professionnels : La déduction forfaitaire spécifique et le calcul du net imposable</vt:lpstr>
      <vt:lpstr>Séquence 5  </vt:lpstr>
      <vt:lpstr>Présentation PowerPoint</vt:lpstr>
      <vt:lpstr>Les cotisations : versées à l’URSSAF</vt:lpstr>
      <vt:lpstr>Les cotisations : versées à l’URSSAF</vt:lpstr>
      <vt:lpstr>Les cotisations : versées à l’URSSAF</vt:lpstr>
      <vt:lpstr>Les cotisations : versées à l’URSSAF</vt:lpstr>
      <vt:lpstr>Les cotisations : versées à l’URSSAF</vt:lpstr>
      <vt:lpstr>URSSAF : la réduction générale des cotisations patronales sur les bas salaires (ex réduction Fillon) </vt:lpstr>
      <vt:lpstr>URSSAF : la réduction générale des cotisations patronales sur les bas salaires (ex réduction Fillon) </vt:lpstr>
      <vt:lpstr>réduction du plafond SS dans le BTP(1)</vt:lpstr>
      <vt:lpstr>réduction du plafond SS dans le BTP(2)</vt:lpstr>
      <vt:lpstr>Les cotisations : Les autres cotisations </vt:lpstr>
      <vt:lpstr>Cotisations retraite (ETAM)</vt:lpstr>
      <vt:lpstr>BTp ET FORMATION CONTINUE</vt:lpstr>
      <vt:lpstr>Garanties prévoyance PRO-BTP </vt:lpstr>
      <vt:lpstr>Mutuelle santé </vt:lpstr>
      <vt:lpstr>Caisse congés payés et cotisation syndicale</vt:lpstr>
      <vt:lpstr>Impact du secteur sur les bases fiscales </vt:lpstr>
      <vt:lpstr>LE BULLETIN DE PAYE </vt:lpstr>
      <vt:lpstr>Séquence 6 </vt:lpstr>
      <vt:lpstr>Présentation PowerPoint</vt:lpstr>
      <vt:lpstr>Les évènements courants : Maternité </vt:lpstr>
      <vt:lpstr>Les évènements courants : maladie (1)</vt:lpstr>
      <vt:lpstr>Les évènements courants : maladie (2) </vt:lpstr>
      <vt:lpstr>Les évènements courants : maladie et contrat incapacité de travail</vt:lpstr>
      <vt:lpstr>Les évènements courants : maladie et indemnités  (- 90 jours) versées par PRO-BTP aux ouvriers du bâtiment </vt:lpstr>
      <vt:lpstr>Les évènements courants : maladie et indemnités  (- 90 jours) versées par PRO-BTP aux ouvriers des travaux publics </vt:lpstr>
      <vt:lpstr>Les évènements courants : maladie et indemnités (+ 90 jours) versées par PRO-BTP aux ouvriers (1) </vt:lpstr>
      <vt:lpstr>Les évènements courants : maladie et indemnités (+ 90 jours) versées par PRO-BTP aux ouvriers (2) </vt:lpstr>
      <vt:lpstr>Les évènements courants : Les congés payés</vt:lpstr>
      <vt:lpstr>Les congés payés et le plafond SS </vt:lpstr>
      <vt:lpstr>Les congés payés et un jour férié</vt:lpstr>
      <vt:lpstr>Les évènements courants : Les indemnités</vt:lpstr>
      <vt:lpstr>Les évènements courants : Congés payés  Particularités Etam/cadres</vt:lpstr>
      <vt:lpstr>Les évènements courants : Les intempéries</vt:lpstr>
      <vt:lpstr>Les évènements courants : Les intempéries</vt:lpstr>
      <vt:lpstr>Les intempéries</vt:lpstr>
      <vt:lpstr>Séquence 7</vt:lpstr>
      <vt:lpstr>Présentation PowerPoint</vt:lpstr>
      <vt:lpstr>CDD : renouvellement, transformation en CDI</vt:lpstr>
      <vt:lpstr>Fin de contrat : documents à remettre</vt:lpstr>
      <vt:lpstr>La Rupture : Préavis</vt:lpstr>
      <vt:lpstr>La Rupture : Licenciement (1)</vt:lpstr>
      <vt:lpstr>La Rupture : Licenciement (2)</vt:lpstr>
      <vt:lpstr>La Rupture : Licenciement (3)</vt:lpstr>
      <vt:lpstr>Départ en retraite : visite médicale</vt:lpstr>
      <vt:lpstr>La Rupture : Indemnités de départ  à la retraite (1)</vt:lpstr>
      <vt:lpstr>La Rupture : Indemnités de départ  à la retraite (2)</vt:lpstr>
      <vt:lpstr>La Rupture : Indemnités de mise  à la retraite (1) </vt:lpstr>
      <vt:lpstr>La Rupture : Indemnités de mise  à la retraite (2)</vt:lpstr>
      <vt:lpstr>La Rupture : Indemnités de mise  à la retraite (2)</vt:lpstr>
      <vt:lpstr>Que retenir : points principaux pouvant être modifiés par accord d’entreprise</vt:lpstr>
      <vt:lpstr>Que retenir des conventions collectives des ouvriers du Bâtiment - 07/03/2018 (1)</vt:lpstr>
      <vt:lpstr>Que retenir des conventions collectives des ouvriers du Bâtiment - 07/03/2018 (2)</vt:lpstr>
      <vt:lpstr>Que retenir des conventions collectives des ouvriers du Bâtiment - 07/03/2018 (3)</vt:lpstr>
      <vt:lpstr>Ordre du jour</vt:lpstr>
      <vt:lpstr>La puissance de la communication</vt:lpstr>
      <vt:lpstr>Surmontez la nervosité</vt:lpstr>
      <vt:lpstr>Suscitez l’intérêt du public</vt:lpstr>
      <vt:lpstr>Sélection d’aides visuelles</vt:lpstr>
      <vt:lpstr>Techniques de discours efficaces</vt:lpstr>
      <vt:lpstr>Navigation dans les sessions de Q&amp;R</vt:lpstr>
      <vt:lpstr>Impact du discours</vt:lpstr>
      <vt:lpstr>Discours dynamique</vt:lpstr>
      <vt:lpstr>Derniers conseils et points importants à retenir</vt:lpstr>
      <vt:lpstr>Mesures d’engagement du discours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Florence Rendu</dc:creator>
  <cp:lastModifiedBy>Florence Rendu</cp:lastModifiedBy>
  <cp:revision>1</cp:revision>
  <dcterms:created xsi:type="dcterms:W3CDTF">2025-09-16T06:35:21Z</dcterms:created>
  <dcterms:modified xsi:type="dcterms:W3CDTF">2026-09-06T17:22:48Z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0x0101008E4B10C6517D904B99912CD8D7E2C458</vt:lpwstr>
  </property>
</Properties>
</file>