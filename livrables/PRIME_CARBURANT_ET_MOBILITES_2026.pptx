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9"/>
  </p:notesMasterIdLst>
  <p:handoutMasterIdLst>
    <p:handoutMasterId r:id="rId130"/>
  </p:handoutMasterIdLst>
  <p:sldIdLst>
    <p:sldId id="443" r:id="rId136"/>
    <p:sldId id="444" r:id="rId137"/>
    <p:sldId id="445" r:id="rId138"/>
    <p:sldId id="446" r:id="rId139"/>
    <p:sldId id="447" r:id="rId140"/>
    <p:sldId id="448" r:id="rId141"/>
    <p:sldId id="449" r:id="rId142"/>
    <p:sldId id="450" r:id="rId143"/>
    <p:sldId id="451" r:id="rId144"/>
    <p:sldId id="452" r:id="rId145"/>
    <p:sldId id="453" r:id="rId146"/>
    <p:sldId id="454" r:id="rId147"/>
    <p:sldId id="455" r:id="rId148"/>
    <p:sldId id="456" r:id="rId149"/>
    <p:sldId id="457" r:id="rId150"/>
    <p:sldId id="458" r:id="rId151"/>
    <p:sldId id="459" r:id="rId152"/>
    <p:sldId id="460" r:id="rId153"/>
    <p:sldId id="461" r:id="rId154"/>
    <p:sldId id="462" r:id="rId155"/>
    <p:sldId id="463" r:id="rId156"/>
    <p:sldId id="464" r:id="rId157"/>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105" d="100"/>
          <a:sy n="105" d="100"/>
        </p:scale>
        <p:origin x="83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2" d="100"/>
          <a:sy n="92" d="100"/>
        </p:scale>
        <p:origin x="3732" y="342"/>
      </p:cViewPr>
      <p:guideLst/>
    </p:cSldViewPr>
  </p:notesViewPr>
  <p:gridSpacing cx="72008" cy="72008"/>
</p:viewPr>
</file>

<file path=ppt/_rels/presentation.xml.rels><?xml version="1.0" encoding="utf-8"?><Relationships xmlns="http://schemas.openxmlformats.org/package/2006/relationships"><Relationship Id="rId134" Type="http://schemas.openxmlformats.org/officeDocument/2006/relationships/tableStyles" Target="tableStyles.xml"/><Relationship Id="rId129" Type="http://schemas.openxmlformats.org/officeDocument/2006/relationships/notesMaster" Target="notesMasters/notesMaster1.xml"/><Relationship Id="rId1" Type="http://schemas.openxmlformats.org/officeDocument/2006/relationships/customXml" Target="../customXml/item1.xml"/><Relationship Id="rId130" Type="http://schemas.openxmlformats.org/officeDocument/2006/relationships/handoutMaster" Target="handoutMasters/handoutMaster1.xml"/><Relationship Id="rId135" Type="http://schemas.microsoft.com/office/2018/10/relationships/authors" Target="authors.xml"/><Relationship Id="rId2" Type="http://schemas.openxmlformats.org/officeDocument/2006/relationships/customXml" Target="../customXml/item2.xml"/><Relationship Id="rId131" Type="http://schemas.openxmlformats.org/officeDocument/2006/relationships/presProps" Target="presProps.xml"/><Relationship Id="rId3" Type="http://schemas.openxmlformats.org/officeDocument/2006/relationships/customXml" Target="../customXml/item3.xml"/><Relationship Id="rId132" Type="http://schemas.openxmlformats.org/officeDocument/2006/relationships/viewProps" Target="viewProps.xml"/><Relationship Id="rId4" Type="http://schemas.openxmlformats.org/officeDocument/2006/relationships/slideMaster" Target="slideMasters/slideMaster1.xml"/><Relationship Id="rId133" Type="http://schemas.openxmlformats.org/officeDocument/2006/relationships/theme" Target="theme/theme1.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1" Type="http://schemas.openxmlformats.org/officeDocument/2006/relationships/slide" Target="slides/slide130.xml"/><Relationship Id="rId142" Type="http://schemas.openxmlformats.org/officeDocument/2006/relationships/slide" Target="slides/slide131.xml"/><Relationship Id="rId143" Type="http://schemas.openxmlformats.org/officeDocument/2006/relationships/slide" Target="slides/slide132.xml"/><Relationship Id="rId144" Type="http://schemas.openxmlformats.org/officeDocument/2006/relationships/slide" Target="slides/slide133.xml"/><Relationship Id="rId145" Type="http://schemas.openxmlformats.org/officeDocument/2006/relationships/slide" Target="slides/slide134.xml"/><Relationship Id="rId146" Type="http://schemas.openxmlformats.org/officeDocument/2006/relationships/slide" Target="slides/slide135.xml"/><Relationship Id="rId147" Type="http://schemas.openxmlformats.org/officeDocument/2006/relationships/slide" Target="slides/slide136.xml"/><Relationship Id="rId148" Type="http://schemas.openxmlformats.org/officeDocument/2006/relationships/slide" Target="slides/slide137.xml"/><Relationship Id="rId149" Type="http://schemas.openxmlformats.org/officeDocument/2006/relationships/slide" Target="slides/slide138.xml"/><Relationship Id="rId150" Type="http://schemas.openxmlformats.org/officeDocument/2006/relationships/slide" Target="slides/slide139.xml"/><Relationship Id="rId151" Type="http://schemas.openxmlformats.org/officeDocument/2006/relationships/slide" Target="slides/slide140.xml"/><Relationship Id="rId152" Type="http://schemas.openxmlformats.org/officeDocument/2006/relationships/slide" Target="slides/slide141.xml"/><Relationship Id="rId153" Type="http://schemas.openxmlformats.org/officeDocument/2006/relationships/slide" Target="slides/slide142.xml"/><Relationship Id="rId154" Type="http://schemas.openxmlformats.org/officeDocument/2006/relationships/slide" Target="slides/slide143.xml"/><Relationship Id="rId155" Type="http://schemas.openxmlformats.org/officeDocument/2006/relationships/slide" Target="slides/slide144.xml"/><Relationship Id="rId156" Type="http://schemas.openxmlformats.org/officeDocument/2006/relationships/slide" Target="slides/slide145.xml"/><Relationship Id="rId157" Type="http://schemas.openxmlformats.org/officeDocument/2006/relationships/slide" Target="slides/slide14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F6446FD3-06B8-4551-9841-526F5F46DE71}" type="datetime1">
              <a:rPr lang="fr-FR" smtClean="0"/>
              <a:t>06/09/2026</a:t>
            </a:fld>
            <a:endParaRPr lang="fr-FR" dirty="0"/>
          </a:p>
        </p:txBody>
      </p:sp>
      <p:sp>
        <p:nvSpPr>
          <p:cNvPr id="4" name="Espace réservé du pied de page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F757874-EF65-4B61-B062-40C932C81294}" type="slidenum">
              <a:rPr lang="fr-FR" smtClean="0"/>
              <a:t>‹N°›</a:t>
            </a:fld>
            <a:endParaRPr lang="fr-FR"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E8491C47-A92C-4257-8558-68970A214844}" type="datetime1">
              <a:rPr lang="fr-FR" smtClean="0"/>
              <a:t>06/09/2026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6937E2AA-278D-0B48-A5DE-00B1FC5BDAF9}" type="slidenum">
              <a:rPr lang="fr-FR" noProof="0" smtClean="0"/>
              <a:t>‹N°›</a:t>
            </a:fld>
            <a:endParaRPr lang="fr-FR" noProof="0"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Support autonome, utilisable en réunion d’information clients ou en formation interne des gestionnaires de paie. Durée indicative : 1 h 30 avec l’exercice.</a:t>
            </a:r>
          </a:p>
          <a:p>
            <a:r>
              <a:rPr lang="fr-FR" dirty="0"/>
              <a:t>Fil conducteur : la « prime carburant » n’est pas un dispositif nouveau, c’est la prime transport de l’article L. 3261-3 du code du travail, dont le plafond et les conditions sont assouplis pour la seule année 2026. Le support replace cette mesure dans le panorama complet des dispositifs de mobilité domicile-travail.</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Annoncer l’objectif : à la sortie, le participant sait quel dispositif proposer à un client selon la situation de ses salariés, connaît le plafond d’exonération de chacun et sait contrôler les cumuls salarié par salarié.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La « prime carburant » désigne dans la presse deux choses différentes : l’aide de l’État de 100 € versée aux travailleurs modestes (hors paie, voir la diapositive dédiée) et la prime transport versée par l’employeur, seule concernée par la paie.</a:t>
            </a:r>
          </a:p>
          <a:p>
            <a:r>
              <a:rPr lang="fr-FR" dirty="0"/>
              <a:t>Base réglementaire annoncée : un décret en Conseil d’État et un arrêté modifiant l’arrêté du 4 septembre 2025 relatif aux frais professionnels. Le BOSS admet par tolérance que les employeurs appliquent dès maintenant le plafond de 600 € et la suspension des conditions dans leurs déclarations 2026.</a:t>
            </a:r>
          </a:p>
          <a:p>
            <a:r>
              <a:rPr lang="fr-FR" dirty="0"/>
              <a:t>Point de vigilance : au 1er janvier 2027, retour au plafond de 300 € et aux conditions de droit commun, sauf nouvelle prorogation.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Trois familles : une obligation (les abonnements), deux dispositifs facultatifs exonérés sous plafond (prime transport et FMD), et des régimes voisins à ne pas confondre (IK, avantages en nature, aide de l’État).</a:t>
            </a:r>
          </a:p>
          <a:p>
            <a:r>
              <a:rPr lang="fr-FR" dirty="0"/>
              <a:t>Rappeler que le champ est le trajet entre la résidence habituelle et le lieu de travail : les déplacements professionnels relèvent des frais professionnels classiques.</a:t>
            </a:r>
          </a:p>
          <a:p>
            <a:r>
              <a:rPr lang="fr-FR" dirty="0"/>
              <a:t>Pour les clients du BTP : les indemnités conventionnelles de trajet et de transport (petits déplacements) sont un régime distinct, traité dans le support « Les essentiels du BTP ».</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Insister sur le vocabulaire : les logiciels de paie parlent de « prime transport », l’URSSAF de « prime de carburant », le code du travail de « prise en charge des frais de carburant ». C’est un seul et même dispositif.</a:t>
            </a:r>
          </a:p>
          <a:p>
            <a:r>
              <a:rPr lang="fr-FR" dirty="0"/>
              <a:t>Le montant est libre (forfait mensuel, forfait annuel, remboursement) mais l’exonération s’arrête au plafond ; au-delà, la fraction excédentaire est un complément de salaire soumis à cotisations et imposable.</a:t>
            </a:r>
          </a:p>
          <a:p>
            <a:r>
              <a:rPr lang="fr-FR" dirty="0"/>
              <a:t>Le principe d’égalité impose d’appliquer les mêmes règles à tous les salariés placés dans la même situation : pas de prime réservée à une catégorie sans critère objectif.</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Ces conditions sont celles des articles L. 3261-3 et R. 3261-11 et suivants du code du travail. Elles redeviendront applicables au 1er janvier 2027, sauf prorogation : il faut donc les connaître pour préparer les clients.</a:t>
            </a:r>
          </a:p>
          <a:p>
            <a:r>
              <a:rPr lang="fr-FR" dirty="0"/>
              <a:t>Les exclusions (véhicule de fonction avec carburant, logement, transport gratuit) ne sont pas suspendues en 2026 : elles continuent de s’appliquer.</a:t>
            </a:r>
          </a:p>
          <a:p>
            <a:r>
              <a:rPr lang="fr-FR" dirty="0"/>
              <a:t>Le plafond de 600 € dont 300 € de carburant est celui de l’arrêté du 4 septembre 2025 relatif aux frais professionnels, applicable depuis le 1er janvier 2025.</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Mesure temporaire : elle vise les primes versées entre le 1er janvier et le 31 décembre 2026. Un employeur qui a versé une prime carburant depuis janvier 2026 peut régulariser l’exonération sur l’année.</a:t>
            </a:r>
          </a:p>
          <a:p>
            <a:r>
              <a:rPr lang="fr-FR" dirty="0"/>
              <a:t>La condition de non-desserte est suspendue, mais le salarié doit toujours utiliser son véhicule personnel pour venir travailler : conserver l’attestation.</a:t>
            </a:r>
          </a:p>
          <a:p>
            <a:r>
              <a:rPr lang="fr-FR" dirty="0"/>
              <a:t>Le plafond de 600 € pour la recharge électrique, hybride rechargeable ou hydrogène est inchangé. Le plafond global de la prime transport reste de 600 €.</a:t>
            </a:r>
          </a:p>
          <a:p>
            <a:r>
              <a:rPr lang="fr-FR" dirty="0"/>
              <a:t>Vérifier la publication du décret et de l’arrêté modificatif avant chaque animation et actualiser cette diapositive si les textes s’écartent du communiqué.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Lecture du tableau : en 2026, seule la sous-limite « carburant » bouge, de 300 € à 600 €. Elle rejoint le plafond global de la prime transport, qui reste fixé à 600 €.</a:t>
            </a:r>
          </a:p>
          <a:p>
            <a:r>
              <a:rPr lang="fr-FR" dirty="0"/>
              <a:t>Cumul avec le FMD : le communiqué de l’URSSAF maintient la limite globale de 600 € pour l’ensemble prime transport + FMD. Retenir cette lecture prudente : un salarié qui perçoit 600 € de prime carburant n’a plus de marge d’exonération pour un FMD.</a:t>
            </a:r>
          </a:p>
          <a:p>
            <a:r>
              <a:rPr lang="fr-FR" dirty="0"/>
              <a:t>Le plafond s’apprécie par employeur : un salarié multi-employeurs peut recevoir une prime exonérée de chacun d’eux.</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Bulletin : la prime figure hors assiette de cotisations et de CSG-CRDS, et hors net imposable, à hauteur du plafond ; la fraction excédentaire est réintégrée en brut.</a:t>
            </a:r>
          </a:p>
          <a:p>
            <a:r>
              <a:rPr lang="fr-FR" dirty="0"/>
              <a:t>Le versement peut prendre la forme d’un titre-mobilité dématérialisé (art. L. 3261-5 CT, décret n° 2021-1663 du 16 décembre 2021), sur le modèle du titre-restaurant.</a:t>
            </a:r>
          </a:p>
          <a:p>
            <a:r>
              <a:rPr lang="fr-FR" dirty="0"/>
              <a:t>Fiscalité : exonération d’impôt sur le revenu dans les mêmes limites (art. 81, 19° ter du CGI). Le salarié qui opte pour la déduction des frais réels doit réintégrer la prime dans son revenu imposable : le signaler au client pour l’information des salariés.</a:t>
            </a:r>
          </a:p>
          <a:p>
            <a:r>
              <a:rPr lang="fr-FR" dirty="0"/>
              <a:t>Réflexe cabinet : mettre en place un modèle d’attestation annuelle et un état de suivi des cumuls par salarié.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Articles L. 3261-2 et R. 3261-1 à R. 3261-10 du code du travail. Aucune condition de distance ou de zone : l’obligation s’applique à tous les employeurs, quel que soit l’effectif, dès lors que le salarié présente un abonnement.</a:t>
            </a:r>
          </a:p>
          <a:p>
            <a:r>
              <a:rPr lang="fr-FR" dirty="0"/>
              <a:t>Ne sont pas concernés les titres à l’unité (ils relèvent du FMD) ni les salariés dont le transport est assuré gratuitement par l’employeur.</a:t>
            </a:r>
          </a:p>
          <a:p>
            <a:r>
              <a:rPr lang="fr-FR" dirty="0"/>
              <a:t>Le remboursement est proportionnel au titre : un abonnement annuel se rembourse mensuellement à hauteur de 50 % de son douzième.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mécanisme des 75 % est né en 2022 (loi de finances rectificative du 16 août 2022) et a été prorogé chaque année depuis. La loi de finances pour 2026 le proroge pour les revenus 2025 et 2026 : sans nouvelle prorogation, retour au régime du BOSS en 2027 (au-delà de 50 %, exonération sous condition d’éloignement justifié).</a:t>
            </a:r>
          </a:p>
          <a:p>
            <a:r>
              <a:rPr lang="fr-FR" dirty="0"/>
              <a:t>Exemple : abonnement TER de 1 200 € par an ; l’employeur prend 75 %, soit 900 € exonérés. S’il prend 100 %, les 300 € restants sont exonérés seulement si le salarié ne peut pas se rapprocher (mutation, emploi du conjoint, etc.).</a:t>
            </a:r>
          </a:p>
          <a:p>
            <a:r>
              <a:rPr lang="fr-FR" dirty="0"/>
              <a:t>En 2026, un salarié peut cumuler l’abonnement pris en charge et une prime carburant, par exemple pour rejoindre la gare en voiture.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Article L. 3261-3-1 et articles R. 3261-13-1 à R. 3261-13-3 du code du travail. Le FMD est facultatif : accord collectif ou décision unilatérale après consultation du CSE, mêmes conditions pour tous les salariés.</a:t>
            </a:r>
          </a:p>
          <a:p>
            <a:r>
              <a:rPr lang="fr-FR" dirty="0"/>
              <a:t>La liste des modes s’est élargie en 2022 aux engins personnels motorisés détenus par le salarié (auparavant seulement en location).</a:t>
            </a:r>
          </a:p>
          <a:p>
            <a:r>
              <a:rPr lang="fr-FR" dirty="0"/>
              <a:t>Justificatif : attestation sur l’honneur annuelle du salarié ou justificatif d’utilisation (facture de plateforme de covoiturage, attestation du registre de preuve de covoiturage). Aucun nombre minimal de jours n’est fixé par la loi dans le secteur privé, sauf disposition de l’accord ou de la décision unilatérale.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Depuis le 1er janvier 2025, le plafond du FMD est de 600 € (500 € auparavant) et le cumul avec l’abonnement de transports publics est exonéré jusqu’à 900 € (800 € auparavant). Ces montants sont pérennes, contrairement au plafond carburant de 2026.</a:t>
            </a:r>
          </a:p>
          <a:p>
            <a:r>
              <a:rPr lang="fr-FR" dirty="0"/>
              <a:t>Lorsque la prise en charge de l’abonnement dépasse 900 € à elle seule, le FMD n’est plus exonéré : le plafond de 900 € est un plafond global, l’abonnement s’impute en premier.</a:t>
            </a:r>
          </a:p>
          <a:p>
            <a:r>
              <a:rPr lang="fr-FR" dirty="0"/>
              <a:t>Exonération sociale et fiscale dans les mêmes limites ; même règle que pour la prime transport en cas d’option du salarié pour les frais réels.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contrôle des cumuls se fait salarié par salarié et par année civile. Prévoir un état de suivi dans le dossier de paie : abonnement pris en charge, FMD, prime transport, avec le cumul annuel et la fraction soumise.</a:t>
            </a:r>
          </a:p>
          <a:p>
            <a:r>
              <a:rPr lang="fr-FR" dirty="0"/>
              <a:t>Le cumul abonnement + prime carburant n’est possible qu’en 2026, du fait de la suspension de l’interdiction de cumul de l’article L. 3261-3. Il redevient interdit au 1er janvier 2027 sauf prorogation.</a:t>
            </a:r>
          </a:p>
          <a:p>
            <a:r>
              <a:rPr lang="fr-FR" dirty="0"/>
              <a:t>Le plafond de la prime transport s’apprécie par employeur ; celui du FMD également.</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Cas 1 : illustre le doublement du plafond carburant en 2026.</a:t>
            </a:r>
          </a:p>
          <a:p>
            <a:r>
              <a:rPr lang="fr-FR" dirty="0"/>
              <a:t>Cas 2 : la part de 75 % est exonérée sans justification d’éloignement (LF 2026, art. 68).</a:t>
            </a:r>
          </a:p>
          <a:p>
            <a:r>
              <a:rPr lang="fr-FR" dirty="0"/>
              <a:t>Cas 3 : le cumul abonnement + FMD est plafonné à 900 € ; l’abonnement s’impute en premier, la fraction du FMD au-delà (100 €) est soumise.</a:t>
            </a:r>
          </a:p>
          <a:p>
            <a:r>
              <a:rPr lang="fr-FR" dirty="0"/>
              <a:t>Cas 4 : le cumul FMD + prime transport est plafonné à 600 € au total.</a:t>
            </a:r>
          </a:p>
          <a:p>
            <a:r>
              <a:rPr lang="fr-FR" dirty="0"/>
              <a:t>Cas 5 : l’exclusion des salariés disposant d’un véhicule de fonction avec carburant pris en charge n’est pas suspendue en 2026 : la prime est intégralement soumise.</a:t>
            </a:r>
          </a:p>
          <a:p>
            <a:r>
              <a:rPr lang="fr-FR" dirty="0"/>
              <a:t>Faire calculer les cas par les participants avant d’afficher les réponses.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Différence de logique : la prime transport est un forfait sous plafond sans justificatif de dépense ; les IK remboursent une dépense réelle, kilomètre par kilomètre, sur la base du barème et des justificatifs (carte grise, distance, jours travaillés).</a:t>
            </a:r>
          </a:p>
          <a:p>
            <a:r>
              <a:rPr lang="fr-FR" dirty="0"/>
              <a:t>Le barème kilométrique 2026 reprend celui de 2025, sans revalorisation. Exemple pour une voiture de 5 CV jusqu’à 5 000 km : 0,636 € par kilomètre.</a:t>
            </a:r>
          </a:p>
          <a:p>
            <a:r>
              <a:rPr lang="fr-FR" dirty="0"/>
              <a:t>Les IK conviennent aux salariés qui parcourent de longues distances : au-delà de 600 € par an, elles restent exonérées dès lors que l’usage contraint du véhicule est établi, alors que la prime carburant est plafonnée.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Ces dispositifs ne sont pas des prises en charge de frais mais des avantages en nature à régime de faveur ; ils complètent la politique mobilité d’un client.</a:t>
            </a:r>
          </a:p>
          <a:p>
            <a:r>
              <a:rPr lang="fr-FR" dirty="0"/>
              <a:t>Véhicule électrique : le régime issu de l’arrêté du 25 février 2025 s’applique aux véhicules mis à disposition depuis le 1er février 2025 et respectant la condition d’éco-score. Le salarié disposant d’un véhicule de fonction avec carburant ou électricité pris en charge est exclu de la prime transport.</a:t>
            </a:r>
          </a:p>
          <a:p>
            <a:r>
              <a:rPr lang="fr-FR" dirty="0"/>
              <a:t>Borne au domicile non restituée : abattement porté à 75 % et plafond à 1 585,50 € si la borne a plus de 5 ans.</a:t>
            </a:r>
          </a:p>
          <a:p>
            <a:r>
              <a:rPr lang="fr-FR" dirty="0"/>
              <a:t>Ces montants sont revalorisés chaque année : vérifier le BOSS avant animation.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Aucun traitement en paie : l’aide est demandée par le salarié lui-même et versée par la DGFiP. Le cabinet peut néanmoins informer les clients pour qu’ils relaient l’information à leurs salariés avant la fermeture du guichet.</a:t>
            </a:r>
          </a:p>
          <a:p>
            <a:r>
              <a:rPr lang="fr-FR" dirty="0"/>
              <a:t>L’aide couvre les dépenses de carburant engagées d’avril à août 2026 et se cumule avec la prime carburant de l’employeur.</a:t>
            </a:r>
          </a:p>
          <a:p>
            <a:r>
              <a:rPr lang="fr-FR" dirty="0"/>
              <a:t>Pour les indépendants clients du cabinet : la demande relève du chef d’entreprise lui-même, avec les mêmes conditions de ressources.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à remettre aux participants comme mémo. Tous les plafonds sont annuels, par salarié et par employeur, et s’entendent en exonération sociale et fiscale.</a:t>
            </a:r>
          </a:p>
          <a:p>
            <a:r>
              <a:rPr lang="fr-FR" dirty="0"/>
              <a:t>Les deux montants temporaires sont le plafond carburant de 600 € et l’exonération à 75 % de l’abonnement : ils expirent au 31 décembre 2026 sauf prorogation.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Vérifier la publication du décret et de l’arrêté modifiant l’arrêté du 4 septembre 2025 : en cas d’écart avec le communiqué du BOSS, le texte prime.</a:t>
            </a:r>
          </a:p>
          <a:p>
            <a:r>
              <a:rPr lang="fr-FR" dirty="0"/>
              <a:t>Vérifier en paie que la prime est bien paramétrée hors assiette et hors net imposable, avec un plafond annuel glissant et non mensuel : un salarié entré en cours d’année bénéficie du plafond entier.</a:t>
            </a:r>
          </a:p>
          <a:p>
            <a:r>
              <a:rPr lang="fr-FR" dirty="0"/>
              <a:t>Clients du BTP : ne pas confondre la prime carburant avec les indemnités de trajet et de transport des petits déplacements, qui relèvent des conventions collectives régionales et des limites d’exonération propres aux frais professionnels.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Corrigé :</a:t>
            </a:r>
          </a:p>
          <a:p>
            <a:r>
              <a:rPr lang="fr-FR" dirty="0"/>
              <a:t>1. VRAI en 2026 : la condition de non-desserte est suspendue jusqu’au 31 décembre 2026, à condition qu’il utilise son véhicule personnel pour venir travailler. FAUX en droit commun.</a:t>
            </a:r>
          </a:p>
          <a:p>
            <a:r>
              <a:rPr lang="fr-FR" dirty="0"/>
              <a:t>2. FAUX : le cumul FMD + prime transport est plafonné à 600 € au total ; les 300 € de FMD sont soumis.</a:t>
            </a:r>
          </a:p>
          <a:p>
            <a:r>
              <a:rPr lang="fr-FR" dirty="0"/>
              <a:t>3. FAUX pour 2025 et 2026 : jusqu’à 75 %, aucune justification n’est exigée (LF 2026, art. 68). Au-delà de 75 %, la justification d’éloignement redevient nécessaire.</a:t>
            </a:r>
          </a:p>
          <a:p>
            <a:r>
              <a:rPr lang="fr-FR" dirty="0"/>
              <a:t>4. FAUX : le plafond s’apprécie par employeur.</a:t>
            </a:r>
          </a:p>
          <a:p>
            <a:r>
              <a:rPr lang="fr-FR" dirty="0"/>
              <a:t>5. FAUX : cette exclusion n’est pas suspendue en 2026 ; la prime est intégralement soumise.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Toutes les valeurs de ce support sont à jour de septembre 2026. Avant chaque animation, vérifier sur le BOSS : le plafond carburant, la publication des textes 2026, les montants des avantages en nature véhicule et borne, et une éventuelle prorogation des mesures temporaires en loi de finances pour 2027.</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pic>
        <p:nvPicPr>
          <p:cNvPr id="2" name="Espace réservé d’image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noProof="0" dirty="0"/>
          </a:p>
        </p:txBody>
      </p:sp>
      <p:sp>
        <p:nvSpPr>
          <p:cNvPr id="6" name="Titr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rtlCol="0" anchor="ctr" anchorCtr="0">
            <a:noAutofit/>
          </a:bodyPr>
          <a:lstStyle>
            <a:lvl1pPr algn="ctr">
              <a:defRPr lang="fr-FR" sz="4400"/>
            </a:lvl1pPr>
          </a:lstStyle>
          <a:p>
            <a:pPr rtl="0"/>
            <a:r>
              <a:rPr lang="fr-FR" noProof="0"/>
              <a:t>Cliquez pour ajouter un titre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2">
    <p:spTree>
      <p:nvGrpSpPr>
        <p:cNvPr id="1" name=""/>
        <p:cNvGrpSpPr/>
        <p:nvPr/>
      </p:nvGrpSpPr>
      <p:grpSpPr>
        <a:xfrm>
          <a:off x="0" y="0"/>
          <a:ext cx="0" cy="0"/>
          <a:chOff x="0" y="0"/>
          <a:chExt cx="0" cy="0"/>
        </a:xfrm>
      </p:grpSpPr>
      <p:pic>
        <p:nvPicPr>
          <p:cNvPr id="7" name="Espace réservé d’image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rtlCol="0" anchor="t">
            <a:noAutofit/>
          </a:bodyPr>
          <a:lstStyle>
            <a:lvl1pPr algn="ct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rtlCol="0" anchor="t" anchorCtr="0">
            <a:normAutofit/>
          </a:bodyPr>
          <a:lstStyle>
            <a:lvl1pPr marL="0" indent="0">
              <a:lnSpc>
                <a:spcPct val="150000"/>
              </a:lnSpc>
              <a:spcBef>
                <a:spcPts val="1000"/>
              </a:spcBef>
              <a:spcAft>
                <a:spcPts val="1200"/>
              </a:spcAft>
              <a:buNone/>
              <a:defRPr lang="fr-FR" sz="2400"/>
            </a:lvl1pPr>
            <a:lvl2pPr>
              <a:lnSpc>
                <a:spcPct val="150000"/>
              </a:lnSpc>
              <a:spcBef>
                <a:spcPts val="1000"/>
              </a:spcBef>
              <a:spcAft>
                <a:spcPts val="1200"/>
              </a:spcAft>
              <a:defRPr lang="fr-FR" sz="2000"/>
            </a:lvl2pPr>
            <a:lvl3pPr>
              <a:lnSpc>
                <a:spcPct val="150000"/>
              </a:lnSpc>
              <a:spcBef>
                <a:spcPts val="1000"/>
              </a:spcBef>
              <a:spcAft>
                <a:spcPts val="1200"/>
              </a:spcAft>
              <a:defRPr lang="fr-FR" sz="1800"/>
            </a:lvl3pPr>
            <a:lvl4pPr>
              <a:lnSpc>
                <a:spcPct val="150000"/>
              </a:lnSpc>
              <a:spcBef>
                <a:spcPts val="1000"/>
              </a:spcBef>
              <a:spcAft>
                <a:spcPts val="1200"/>
              </a:spcAft>
              <a:defRPr lang="fr-FR" sz="1600"/>
            </a:lvl4pPr>
            <a:lvl5pPr>
              <a:lnSpc>
                <a:spcPct val="150000"/>
              </a:lnSpc>
              <a:spcBef>
                <a:spcPts val="1000"/>
              </a:spcBef>
              <a:spcAft>
                <a:spcPts val="1200"/>
              </a:spcAft>
              <a:defRPr lang="fr-FR" sz="16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E1911627-7C03-4787-82AE-1BA2E184BD3B}"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 imag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r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rtlCol="0" anchor="ctr">
            <a:noAutofit/>
          </a:bodyPr>
          <a:lstStyle>
            <a:lvl1pPr algn="ctr">
              <a:defRPr lang="fr-FR" sz="4400"/>
            </a:lvl1pPr>
          </a:lstStyle>
          <a:p>
            <a:pPr rtl="0"/>
            <a:r>
              <a:rPr lang="fr-FR" noProof="0"/>
              <a:t>Cliquez pour ajouter un titre</a:t>
            </a:r>
          </a:p>
        </p:txBody>
      </p:sp>
      <p:sp>
        <p:nvSpPr>
          <p:cNvPr id="8" name="Espace réservé d’image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rtlCol="0">
            <a:noAutofit/>
          </a:bodyPr>
          <a:lstStyle>
            <a:lvl1pPr marL="342900" indent="-342900" algn="ctr">
              <a:buFont typeface="Arial" panose="020B0604020202020204" pitchFamily="34" charset="0"/>
              <a:buChar char="•"/>
              <a:defRPr lang="fr-F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fr-FR"/>
            </a:pPr>
            <a:r>
              <a:rPr lang="fr-FR" noProof="0"/>
              <a:t>Cliquez sur l'icône pour ajouter une image</a:t>
            </a:r>
            <a:endParaRPr lang="fr-FR" noProof="0" dirty="0"/>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2D52580B-3117-496F-9E52-EA2BED40ADC3}"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 sous-titre + image">
    <p:spTree>
      <p:nvGrpSpPr>
        <p:cNvPr id="1" name=""/>
        <p:cNvGrpSpPr/>
        <p:nvPr/>
      </p:nvGrpSpPr>
      <p:grpSpPr>
        <a:xfrm>
          <a:off x="0" y="0"/>
          <a:ext cx="0" cy="0"/>
          <a:chOff x="0" y="0"/>
          <a:chExt cx="0" cy="0"/>
        </a:xfrm>
      </p:grpSpPr>
      <p:pic>
        <p:nvPicPr>
          <p:cNvPr id="8" name="Espace réservé d’image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rtlCol="0">
            <a:noAutofit/>
          </a:bodyPr>
          <a:lstStyle>
            <a:lvl1pPr marL="0" indent="0" algn="l">
              <a:buNone/>
              <a:defRPr lang="fr-FR" sz="2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7" name="Espace réservé d’image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503064C0-D26B-4F6C-A65C-4492D719F302}"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1">
    <p:spTree>
      <p:nvGrpSpPr>
        <p:cNvPr id="1" name=""/>
        <p:cNvGrpSpPr/>
        <p:nvPr/>
      </p:nvGrpSpPr>
      <p:grpSpPr>
        <a:xfrm>
          <a:off x="0" y="0"/>
          <a:ext cx="0" cy="0"/>
          <a:chOff x="0" y="0"/>
          <a:chExt cx="0" cy="0"/>
        </a:xfrm>
      </p:grpSpPr>
      <p:pic>
        <p:nvPicPr>
          <p:cNvPr id="7" name="Espace réservé d’image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rtlCol="0" anchor="b" anchorCtr="0">
            <a:noAutofit/>
          </a:bodyPr>
          <a:lstStyle>
            <a:lvl1pPr algn="ctr">
              <a:defRPr lang="fr-FR" sz="3600"/>
            </a:lvl1pPr>
          </a:lstStyle>
          <a:p>
            <a:pPr rtl="0"/>
            <a:r>
              <a:rPr lang="fr-FR"/>
              <a:t>Cliquez pour ajouter un titre</a:t>
            </a:r>
          </a:p>
        </p:txBody>
      </p:sp>
      <p:sp>
        <p:nvSpPr>
          <p:cNvPr id="9" name="Espace réservé du contenu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rtlCol="0">
            <a:normAutofit/>
          </a:bodyPr>
          <a:lstStyle>
            <a:lvl1pPr marL="0" indent="0">
              <a:spcBef>
                <a:spcPts val="1000"/>
              </a:spcBef>
              <a:spcAft>
                <a:spcPts val="10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B7E4C082-5100-4018-81AE-E83F3AC52478}"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 image ">
    <p:spTree>
      <p:nvGrpSpPr>
        <p:cNvPr id="1" name=""/>
        <p:cNvGrpSpPr/>
        <p:nvPr/>
      </p:nvGrpSpPr>
      <p:grpSpPr>
        <a:xfrm>
          <a:off x="0" y="0"/>
          <a:ext cx="0" cy="0"/>
          <a:chOff x="0" y="0"/>
          <a:chExt cx="0" cy="0"/>
        </a:xfrm>
      </p:grpSpPr>
      <p:pic>
        <p:nvPicPr>
          <p:cNvPr id="4" name="Espace réservé d’image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r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a:lstStyle>
          <a:p>
            <a:pP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rtlCol="0" anchor="b" anchorCtr="0">
            <a:noAutofit/>
          </a:bodyPr>
          <a:lstStyle>
            <a:lvl1pPr>
              <a:defRPr lang="fr-FR" sz="3600"/>
            </a:lvl1pPr>
          </a:lstStyle>
          <a:p>
            <a:pPr rtl="0"/>
            <a:r>
              <a:rPr lang="fr-FR"/>
              <a:t>Cliquez pour ajouter un titre</a:t>
            </a:r>
          </a:p>
        </p:txBody>
      </p:sp>
      <p:sp>
        <p:nvSpPr>
          <p:cNvPr id="13" name="Espace réservé du texte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rtlCol="0"/>
          <a:lstStyle>
            <a:lvl1pPr marL="0" indent="0">
              <a:buNone/>
              <a:defRPr lang="fr-FR"/>
            </a:lvl1pPr>
            <a:lvl2pPr marL="457200" indent="0">
              <a:buNone/>
              <a:defRPr lang="fr-FR"/>
            </a:lvl2pPr>
            <a:lvl3pPr marL="914400" indent="0">
              <a:buNone/>
              <a:defRPr lang="fr-FR"/>
            </a:lvl3pPr>
            <a:lvl4pPr marL="1371600" indent="0">
              <a:buNone/>
              <a:defRPr lang="fr-FR"/>
            </a:lvl4pPr>
            <a:lvl5pPr marL="1828800" indent="0">
              <a:buNone/>
              <a:defRPr lang="fr-FR"/>
            </a:lvl5pPr>
          </a:lstStyle>
          <a:p>
            <a:pPr lvl="0" rtl="0"/>
            <a:r>
              <a:rPr lang="fr-FR"/>
              <a:t>Cliquer pour ajouter du texte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8E4D955D-EB19-45A7-87BF-B455E4573A66}"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84543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1">
    <p:spTree>
      <p:nvGrpSpPr>
        <p:cNvPr id="1" name=""/>
        <p:cNvGrpSpPr/>
        <p:nvPr/>
      </p:nvGrpSpPr>
      <p:grpSpPr>
        <a:xfrm>
          <a:off x="0" y="0"/>
          <a:ext cx="0" cy="0"/>
          <a:chOff x="0" y="0"/>
          <a:chExt cx="0" cy="0"/>
        </a:xfrm>
      </p:grpSpPr>
      <p:pic>
        <p:nvPicPr>
          <p:cNvPr id="8" name="Espace réservé d’image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rtlCol="0" anchor="b" anchorCtr="0">
            <a:noAutofit/>
          </a:bodyPr>
          <a:lstStyle>
            <a:lvl1pPr algn="ctr">
              <a:defRPr lang="fr-FR" sz="3600"/>
            </a:lvl1pPr>
          </a:lstStyle>
          <a:p>
            <a:pPr rtl="0"/>
            <a:r>
              <a:rPr lang="fr-FR"/>
              <a:t>Cliquez pour ajouter un titre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47388252-C743-4B7B-AD80-BD8EE80425B9}"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contenu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ux contenus 2">
    <p:spTree>
      <p:nvGrpSpPr>
        <p:cNvPr id="1" name=""/>
        <p:cNvGrpSpPr/>
        <p:nvPr/>
      </p:nvGrpSpPr>
      <p:grpSpPr>
        <a:xfrm>
          <a:off x="0" y="0"/>
          <a:ext cx="0" cy="0"/>
          <a:chOff x="0" y="0"/>
          <a:chExt cx="0" cy="0"/>
        </a:xfrm>
      </p:grpSpPr>
      <p:pic>
        <p:nvPicPr>
          <p:cNvPr id="8" name="Espace réservé d’image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rtlCol="0">
            <a:normAutofit/>
          </a:bodyPr>
          <a:lstStyle>
            <a:lvl1pPr marL="0" indent="0">
              <a:lnSpc>
                <a:spcPct val="10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9144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D43A5B14-E4D4-48F8-96BF-F94AC27E1E63}"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rtlCol="0">
            <a:noAutofit/>
          </a:bodyPr>
          <a:lstStyle>
            <a:lvl1pPr marL="0" indent="0" algn="l">
              <a:spcAft>
                <a:spcPts val="1000"/>
              </a:spcAft>
              <a:buNone/>
              <a:defRPr lang="fr-FR" sz="1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12" name="Espace réservé d’image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FA544EF9-C7E3-40B0-9725-5455385E7B71}"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56372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 Tableau">
    <p:spTree>
      <p:nvGrpSpPr>
        <p:cNvPr id="1" name=""/>
        <p:cNvGrpSpPr/>
        <p:nvPr/>
      </p:nvGrpSpPr>
      <p:grpSpPr>
        <a:xfrm>
          <a:off x="0" y="0"/>
          <a:ext cx="0" cy="0"/>
          <a:chOff x="0" y="0"/>
          <a:chExt cx="0" cy="0"/>
        </a:xfrm>
      </p:grpSpPr>
      <p:pic>
        <p:nvPicPr>
          <p:cNvPr id="4" name="Espace réservé d’image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rtlCol="0" anchor="ctr" anchorCtr="0">
            <a:noAutofit/>
          </a:bodyPr>
          <a:lstStyle>
            <a:lvl1pP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rtlCol="0">
            <a:normAutofit/>
          </a:bodyPr>
          <a:lstStyle>
            <a:lvl1pPr marL="0" indent="0">
              <a:spcBef>
                <a:spcPts val="1000"/>
              </a:spcBef>
              <a:spcAft>
                <a:spcPts val="1000"/>
              </a:spcAft>
              <a:buNone/>
              <a:defRPr lang="fr-FR" sz="1800"/>
            </a:lvl1pPr>
            <a:lvl2pPr marL="228600" indent="0">
              <a:spcBef>
                <a:spcPts val="1000"/>
              </a:spcBef>
              <a:spcAft>
                <a:spcPts val="1000"/>
              </a:spcAft>
              <a:buNone/>
              <a:defRPr lang="fr-FR" sz="1800"/>
            </a:lvl2pPr>
            <a:lvl3pPr marL="685800" indent="0">
              <a:spcBef>
                <a:spcPts val="1000"/>
              </a:spcBef>
              <a:spcAft>
                <a:spcPts val="1000"/>
              </a:spcAft>
              <a:buNone/>
              <a:defRPr lang="fr-FR" sz="1800"/>
            </a:lvl3pPr>
            <a:lvl4pPr marL="1143000" indent="0">
              <a:spcBef>
                <a:spcPts val="1000"/>
              </a:spcBef>
              <a:spcAft>
                <a:spcPts val="1000"/>
              </a:spcAft>
              <a:buNone/>
              <a:defRPr lang="fr-FR" sz="1800"/>
            </a:lvl4pPr>
            <a:lvl5pPr marL="1600200" indent="0">
              <a:spcBef>
                <a:spcPts val="1000"/>
              </a:spcBef>
              <a:spcAft>
                <a:spcPts val="1000"/>
              </a:spcAft>
              <a:buNone/>
              <a:defRPr lang="fr-FR" sz="18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ableau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rtlCol="0"/>
          <a:lstStyle>
            <a:defPPr>
              <a:defRPr lang="fr-FR"/>
            </a:defPPr>
          </a:lstStyle>
          <a:p>
            <a:pPr rtl="0"/>
            <a:r>
              <a:rPr lang="fr-FR" noProof="0"/>
              <a:t>Cliquez sur l'icône pour ajouter un tableau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5F1A6C06-0733-4592-8966-AF7599068723}" type="datetime1">
              <a:rPr lang="fr-FR" noProof="0" smtClean="0"/>
              <a:t>06/09/2026</a:t>
            </a:fld>
            <a:endParaRPr lang="fr-FR" noProof="0"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noProof="0"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ux contenus 3">
    <p:spTree>
      <p:nvGrpSpPr>
        <p:cNvPr id="1" name=""/>
        <p:cNvGrpSpPr/>
        <p:nvPr/>
      </p:nvGrpSpPr>
      <p:grpSpPr>
        <a:xfrm>
          <a:off x="0" y="0"/>
          <a:ext cx="0" cy="0"/>
          <a:chOff x="0" y="0"/>
          <a:chExt cx="0" cy="0"/>
        </a:xfrm>
      </p:grpSpPr>
      <p:pic>
        <p:nvPicPr>
          <p:cNvPr id="8" name="Espace réservé d’image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rtlCol="0">
            <a:normAutofit/>
          </a:bodyPr>
          <a:lstStyle>
            <a:lvl1pPr marL="0" indent="0">
              <a:spcBef>
                <a:spcPts val="1000"/>
              </a:spcBef>
              <a:spcAft>
                <a:spcPts val="0"/>
              </a:spcAft>
              <a:buNone/>
              <a:defRPr lang="fr-FR" sz="1800"/>
            </a:lvl1pPr>
            <a:lvl2pPr marL="685800">
              <a:spcBef>
                <a:spcPts val="600"/>
              </a:spcBef>
              <a:spcAft>
                <a:spcPts val="600"/>
              </a:spcAft>
              <a:defRPr lang="fr-FR" sz="1800"/>
            </a:lvl2pPr>
            <a:lvl3pPr marL="1143000">
              <a:spcBef>
                <a:spcPts val="600"/>
              </a:spcBef>
              <a:spcAft>
                <a:spcPts val="600"/>
              </a:spcAft>
              <a:defRPr lang="fr-FR" sz="1800"/>
            </a:lvl3pPr>
            <a:lvl4pPr marL="1600200">
              <a:spcBef>
                <a:spcPts val="600"/>
              </a:spcBef>
              <a:spcAft>
                <a:spcPts val="600"/>
              </a:spcAft>
              <a:defRPr lang="fr-FR" sz="1800"/>
            </a:lvl4pPr>
            <a:lvl5pPr marL="20574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u contenu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rtlCol="0">
            <a:normAutofit/>
          </a:bodyPr>
          <a:lstStyle>
            <a:lvl1pPr marL="0" indent="0">
              <a:lnSpc>
                <a:spcPct val="15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6858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FBD8F672-8C4B-4224-8F63-2DD9FE821C6D}"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pic>
        <p:nvPicPr>
          <p:cNvPr id="3" name="Espace réservé d’image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rtlCol="0" anchor="b" anchorCtr="0">
            <a:noAutofit/>
          </a:bodyPr>
          <a:lstStyle>
            <a:lvl1pPr>
              <a:defRPr lang="fr-FR" sz="3600"/>
            </a:lvl1pPr>
          </a:lstStyle>
          <a:p>
            <a:pPr rtl="0"/>
            <a:r>
              <a:rPr lang="fr-FR"/>
              <a:t>Cliquez pour ajouter un titre</a:t>
            </a:r>
          </a:p>
        </p:txBody>
      </p:sp>
      <p:sp>
        <p:nvSpPr>
          <p:cNvPr id="8" name="Espace réservé du tableau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rtlCol="0"/>
          <a:lstStyle>
            <a:lvl1pPr>
              <a:defRPr lang="fr-FR"/>
            </a:lvl1pPr>
          </a:lstStyle>
          <a:p>
            <a:pPr rtl="0"/>
            <a:r>
              <a:rPr lang="fr-FR"/>
              <a:t>Cliquez sur l'icône pour ajouter un tableau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552C5ED7-A1CD-49A3-A299-830AF836F4E6}"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u 3">
    <p:spTree>
      <p:nvGrpSpPr>
        <p:cNvPr id="1" name=""/>
        <p:cNvGrpSpPr/>
        <p:nvPr/>
      </p:nvGrpSpPr>
      <p:grpSpPr>
        <a:xfrm>
          <a:off x="0" y="0"/>
          <a:ext cx="0" cy="0"/>
          <a:chOff x="0" y="0"/>
          <a:chExt cx="0" cy="0"/>
        </a:xfrm>
      </p:grpSpPr>
      <p:pic>
        <p:nvPicPr>
          <p:cNvPr id="7" name="Espace réservé d’image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rtlCol="0" anchor="b">
            <a:noAutofit/>
          </a:bodyPr>
          <a:lstStyle>
            <a:lvl1pPr algn="ctr">
              <a:defRPr lang="fr-FR"/>
            </a:lvl1pPr>
          </a:lstStyle>
          <a:p>
            <a:pPr rtl="0"/>
            <a:r>
              <a:rPr lang="fr-FR"/>
              <a:t>Cliquez pour ajouter un titre</a:t>
            </a:r>
          </a:p>
        </p:txBody>
      </p:sp>
      <p:sp>
        <p:nvSpPr>
          <p:cNvPr id="10" name="Espace réservé du texte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rtlCol="0">
            <a:normAutofit/>
          </a:bodyPr>
          <a:lstStyle>
            <a:lvl1pPr marL="0" indent="0" algn="ctr">
              <a:buNone/>
              <a:defRPr lang="fr-FR" sz="1800"/>
            </a:lvl1pPr>
            <a:lvl2pPr marL="457200" indent="0" algn="ctr">
              <a:buNone/>
              <a:defRPr lang="fr-FR"/>
            </a:lvl2pPr>
            <a:lvl3pPr marL="914400" indent="0" algn="ctr">
              <a:buNone/>
              <a:defRPr lang="fr-FR"/>
            </a:lvl3pPr>
            <a:lvl4pPr marL="1371600" indent="0" algn="ctr">
              <a:buNone/>
              <a:defRPr lang="fr-FR"/>
            </a:lvl4pPr>
            <a:lvl5pPr marL="1828800" indent="0" algn="ctr">
              <a:buNone/>
              <a:defRPr lang="fr-FR"/>
            </a:lvl5pPr>
          </a:lstStyle>
          <a:p>
            <a:pPr lvl="0" rtl="0"/>
            <a:r>
              <a:rPr lang="fr-FR"/>
              <a:t>Cliquer pour ajouter du texte</a:t>
            </a:r>
          </a:p>
        </p:txBody>
      </p:sp>
    </p:spTree>
    <p:extLst>
      <p:ext uri="{BB962C8B-B14F-4D97-AF65-F5344CB8AC3E}">
        <p14:creationId xmlns:p14="http://schemas.microsoft.com/office/powerpoint/2010/main" val="21629670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ommaire simple">
    <p:spTree>
      <p:nvGrpSpPr>
        <p:cNvPr id="1" name=""/>
        <p:cNvGrpSpPr/>
        <p:nvPr/>
      </p:nvGrpSpPr>
      <p:grpSpPr>
        <a:xfrm>
          <a:off x="0" y="0"/>
          <a:ext cx="0" cy="0"/>
          <a:chOff x="0" y="0"/>
          <a:chExt cx="0" cy="0"/>
        </a:xfrm>
      </p:grpSpPr>
      <p:cxnSp>
        <p:nvCxnSpPr>
          <p:cNvPr id="6" name="Connecteur droit 5"/>
          <p:cNvCxnSpPr/>
          <p:nvPr userDrawn="1"/>
        </p:nvCxnSpPr>
        <p:spPr>
          <a:xfrm>
            <a:off x="431681" y="108874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7" name="Espace réservé du texte 6"/>
          <p:cNvSpPr>
            <a:spLocks noGrp="1"/>
          </p:cNvSpPr>
          <p:nvPr>
            <p:ph type="body" sz="quarter" idx="13" hasCustomPrompt="1"/>
          </p:nvPr>
        </p:nvSpPr>
        <p:spPr>
          <a:xfrm>
            <a:off x="431799" y="1208755"/>
            <a:ext cx="8784548" cy="4800464"/>
          </a:xfrm>
        </p:spPr>
        <p:txBody>
          <a:bodyPr/>
          <a:lstStyle>
            <a:lvl1pPr>
              <a:spcBef>
                <a:spcPts val="1600"/>
              </a:spcBef>
              <a:defRPr>
                <a:solidFill>
                  <a:schemeClr val="tx1"/>
                </a:solidFill>
              </a:defRPr>
            </a:lvl1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3074" name="Picture 2" descr="F:\Services\__Eléments Agence IMMEDIA\Derniers PICTOS reçus\05_08_2016\Pictogrammes-PPT_CFPC-2016\GRAND_Liste.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76254" y="1748813"/>
            <a:ext cx="4032001" cy="4032000"/>
          </a:xfrm>
          <a:prstGeom prst="rect">
            <a:avLst/>
          </a:prstGeom>
          <a:noFill/>
          <a:extLst>
            <a:ext uri="{909E8E84-426E-40DD-AFC4-6F175D3DCCD1}">
              <a14:hiddenFill xmlns:a14="http://schemas.microsoft.com/office/drawing/2010/main">
                <a:solidFill>
                  <a:srgbClr val="FFFFFF"/>
                </a:solidFill>
              </a14:hiddenFill>
            </a:ext>
          </a:extLst>
        </p:spPr>
      </p:pic>
      <p:sp>
        <p:nvSpPr>
          <p:cNvPr id="8" name="Espace réservé du texte 7"/>
          <p:cNvSpPr>
            <a:spLocks noGrp="1"/>
          </p:cNvSpPr>
          <p:nvPr>
            <p:ph type="body" sz="quarter" idx="14" hasCustomPrompt="1"/>
          </p:nvPr>
        </p:nvSpPr>
        <p:spPr>
          <a:xfrm>
            <a:off x="431800" y="308654"/>
            <a:ext cx="11269133" cy="780087"/>
          </a:xfrm>
        </p:spPr>
        <p:txBody>
          <a:bodyPr/>
          <a:lstStyle>
            <a:lvl1pPr marL="0" indent="0">
              <a:buNone/>
              <a:defRPr sz="4267" b="0" cap="all" spc="267" baseline="0"/>
            </a:lvl1pPr>
          </a:lstStyle>
          <a:p>
            <a:pPr lvl="0"/>
            <a:r>
              <a:rPr lang="fr-FR" dirty="0"/>
              <a:t>Sommaire</a:t>
            </a:r>
          </a:p>
        </p:txBody>
      </p:sp>
    </p:spTree>
    <p:extLst>
      <p:ext uri="{BB962C8B-B14F-4D97-AF65-F5344CB8AC3E}">
        <p14:creationId xmlns:p14="http://schemas.microsoft.com/office/powerpoint/2010/main" val="3309844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de section">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574" y="668694"/>
            <a:ext cx="8407484" cy="293644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1</a:t>
            </a:r>
          </a:p>
        </p:txBody>
      </p:sp>
      <p:sp>
        <p:nvSpPr>
          <p:cNvPr id="12" name="Rectangle 11"/>
          <p:cNvSpPr/>
          <p:nvPr userDrawn="1"/>
        </p:nvSpPr>
        <p:spPr>
          <a:xfrm>
            <a:off x="432000" y="188640"/>
            <a:ext cx="2783680" cy="4800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964207140"/>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cxnSp>
        <p:nvCxnSpPr>
          <p:cNvPr id="6" name="Connecteur droit 5"/>
          <p:cNvCxnSpPr/>
          <p:nvPr userDrawn="1"/>
        </p:nvCxnSpPr>
        <p:spPr>
          <a:xfrm>
            <a:off x="431681" y="162880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10" name="Espace réservé du contenu 9"/>
          <p:cNvSpPr>
            <a:spLocks noGrp="1"/>
          </p:cNvSpPr>
          <p:nvPr>
            <p:ph sz="quarter" idx="14" hasCustomPrompt="1"/>
          </p:nvPr>
        </p:nvSpPr>
        <p:spPr>
          <a:xfrm>
            <a:off x="431800" y="1748813"/>
            <a:ext cx="11269133" cy="4132812"/>
          </a:xfrm>
        </p:spPr>
        <p:txBody>
          <a:bodyPr>
            <a:normAutofit/>
          </a:body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 name="Titre 1"/>
          <p:cNvSpPr>
            <a:spLocks noGrp="1"/>
          </p:cNvSpPr>
          <p:nvPr>
            <p:ph type="title" hasCustomPrompt="1"/>
          </p:nvPr>
        </p:nvSpPr>
        <p:spPr>
          <a:xfrm>
            <a:off x="431682" y="428667"/>
            <a:ext cx="11251489" cy="1200133"/>
          </a:xfrm>
        </p:spPr>
        <p:txBody>
          <a:bodyPr/>
          <a:lstStyle>
            <a:lvl1pPr algn="l">
              <a:defRPr/>
            </a:lvl1pPr>
          </a:lstStyle>
          <a:p>
            <a:r>
              <a:rPr lang="fr-FR" dirty="0"/>
              <a:t>Insérez le titre</a:t>
            </a:r>
          </a:p>
        </p:txBody>
      </p:sp>
    </p:spTree>
    <p:extLst>
      <p:ext uri="{BB962C8B-B14F-4D97-AF65-F5344CB8AC3E}">
        <p14:creationId xmlns:p14="http://schemas.microsoft.com/office/powerpoint/2010/main" val="360706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équence 2">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2</a:t>
            </a:r>
          </a:p>
        </p:txBody>
      </p:sp>
      <p:sp>
        <p:nvSpPr>
          <p:cNvPr id="12" name="Rectangle 11"/>
          <p:cNvSpPr/>
          <p:nvPr userDrawn="1"/>
        </p:nvSpPr>
        <p:spPr>
          <a:xfrm>
            <a:off x="3252313" y="188640"/>
            <a:ext cx="2788800" cy="480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568309926"/>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équence 3">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3</a:t>
            </a:r>
          </a:p>
        </p:txBody>
      </p:sp>
      <p:sp>
        <p:nvSpPr>
          <p:cNvPr id="12" name="Rectangle 11"/>
          <p:cNvSpPr/>
          <p:nvPr userDrawn="1"/>
        </p:nvSpPr>
        <p:spPr>
          <a:xfrm>
            <a:off x="6081600" y="188640"/>
            <a:ext cx="2783680" cy="651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4240301197"/>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équence 4">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4</a:t>
            </a:r>
          </a:p>
        </p:txBody>
      </p:sp>
      <p:sp>
        <p:nvSpPr>
          <p:cNvPr id="12" name="Rectangle 11"/>
          <p:cNvSpPr/>
          <p:nvPr userDrawn="1"/>
        </p:nvSpPr>
        <p:spPr>
          <a:xfrm>
            <a:off x="8916313" y="188640"/>
            <a:ext cx="2783680"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269725761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fr-FR"/>
            </a:defPPr>
          </a:lstStyle>
          <a:p>
            <a:pPr rtl="0"/>
            <a:r>
              <a:rPr lang="fr-FR" noProof="0"/>
              <a:t>Modifiez le style du titre</a:t>
            </a:r>
          </a:p>
        </p:txBody>
      </p:sp>
      <p:sp>
        <p:nvSpPr>
          <p:cNvPr id="3" name="Espace réservé du texte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fr-FR" sz="1200">
                <a:solidFill>
                  <a:schemeClr val="tx1">
                    <a:tint val="82000"/>
                  </a:schemeClr>
                </a:solidFill>
              </a:defRPr>
            </a:lvl1pPr>
          </a:lstStyle>
          <a:p>
            <a:pPr rtl="0"/>
            <a:fld id="{1A6DB10E-2FC6-46ED-ACF4-C6C6ED67EF1C}"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fr-FR" sz="1200">
                <a:solidFill>
                  <a:schemeClr val="tx1">
                    <a:tint val="82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fr-FR" sz="1200">
                <a:solidFill>
                  <a:schemeClr val="tx1">
                    <a:tint val="82000"/>
                  </a:schemeClr>
                </a:solidFill>
              </a:defRPr>
            </a:lvl1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 id="2147483667" r:id="rId14"/>
    <p:sldLayoutId id="2147483668" r:id="rId15"/>
    <p:sldLayoutId id="2147483669" r:id="rId16"/>
    <p:sldLayoutId id="2147483670" r:id="rId17"/>
    <p:sldLayoutId id="2147483671" r:id="rId18"/>
    <p:sldLayoutId id="2147483672" r:id="rId19"/>
  </p:sldLayoutIdLst>
  <p:hf sldNum="0" hdr="0" ftr="0" dt="0"/>
  <p:txStyles>
    <p:title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5.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8.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0.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1.xml"/><Relationship Id="rId3" Type="http://schemas.openxmlformats.org/officeDocument/2006/relationships/image" Target="../media/image12.png"/></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3.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4.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5.xml"/><Relationship Id="rId3" Type="http://schemas.openxmlformats.org/officeDocument/2006/relationships/image" Target="../media/image12.png"/></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6.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7.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8.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9.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0.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2.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3.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4.xml"/><Relationship Id="rId3" Type="http://schemas.openxmlformats.org/officeDocument/2006/relationships/image" Target="../media/image12.png"/></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5.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6.xml"/></Relationships>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Prime carburant 2026</a:t>
            </a:r>
          </a:p>
        </p:txBody>
      </p:sp>
      <p:sp>
        <p:nvSpPr>
          <p:cNvPr id="5" name="Espace réservé du texte 4"/>
          <p:cNvSpPr>
            <a:spLocks noGrp="1"/>
          </p:cNvSpPr>
          <p:nvPr>
            <p:ph type="body" idx="1"/>
          </p:nvPr>
        </p:nvSpPr>
        <p:spPr/>
        <p:txBody>
          <a:bodyPr>
            <a:normAutofit/>
          </a:bodyPr>
          <a:lstStyle/>
          <a:p>
            <a:r>
              <a:rPr lang="fr-FR" dirty="0"/>
              <a:t>et dispositifs de mobilité domicile-travail : règles et plafonds</a:t>
            </a:r>
          </a:p>
        </p:txBody>
      </p:sp>
      <p:sp>
        <p:nvSpPr>
          <p:cNvPr id="6" name="Espace réservé du contenu 5"/>
          <p:cNvSpPr>
            <a:spLocks noGrp="1"/>
          </p:cNvSpPr>
          <p:nvPr>
            <p:ph sz="quarter" idx="10"/>
          </p:nvPr>
        </p:nvSpPr>
        <p:spPr/>
        <p:txBody>
          <a:bodyPr/>
          <a:lstStyle/>
          <a:p>
            <a:endParaRPr lang="fr-F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normAutofit/>
          </a:bodyPr>
          <a:lstStyle/>
          <a:p>
            <a:r>
              <a:rPr lang="fr-FR" sz="2400" dirty="0"/>
              <a:t>Le contexte 2026 et la carte des dispositifs</a:t>
            </a:r>
          </a:p>
          <a:p>
            <a:r>
              <a:rPr lang="fr-FR" sz="2400" dirty="0"/>
              <a:t>La prime carburant : définition, conditions, plafonds 2026</a:t>
            </a:r>
          </a:p>
          <a:p>
            <a:r>
              <a:rPr lang="fr-FR" sz="2400" dirty="0"/>
              <a:t>La prise en charge des abonnements de transports publics</a:t>
            </a:r>
          </a:p>
          <a:p>
            <a:r>
              <a:rPr lang="fr-FR" sz="2400" dirty="0"/>
              <a:t>Le forfait mobilités durables</a:t>
            </a:r>
          </a:p>
          <a:p>
            <a:r>
              <a:rPr lang="fr-FR" sz="2400" dirty="0"/>
              <a:t>Les cumuls et les autres dispositifs liés à la mobilité</a:t>
            </a:r>
          </a:p>
          <a:p>
            <a:r>
              <a:rPr lang="fr-FR" sz="2400" dirty="0"/>
              <a:t>Synthèse des plafonds, points de vigilance et exercice</a:t>
            </a:r>
          </a:p>
        </p:txBody>
      </p:sp>
      <p:sp>
        <p:nvSpPr>
          <p:cNvPr id="4" name="Espace réservé du contenu 3"/>
          <p:cNvSpPr>
            <a:spLocks noGrp="1"/>
          </p:cNvSpPr>
          <p:nvPr>
            <p:ph type="body" sz="quarter" idx="14"/>
          </p:nvPr>
        </p:nvSpPr>
        <p:spPr>
          <a:xfrm>
            <a:off x="431800" y="308654"/>
            <a:ext cx="11269133" cy="780087"/>
          </a:xfrm>
        </p:spPr>
        <p:txBody>
          <a:bodyPr>
            <a:normAutofit/>
          </a:bodyPr>
          <a:lstStyle/>
          <a:p>
            <a:r>
              <a:rPr lang="fr-FR" sz="2200" dirty="0"/>
              <a:t>SOMMAIRE - Prime carburant 2026 et dispositifs de mobilité</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Hausse des prix des carburants au printemps 2026, liée au conflit au Moyen-Orient</a:t>
            </a:r>
          </a:p>
          <a:p>
            <a:pPr algn="just"/>
            <a:r>
              <a:rPr lang="fr-FR" sz="2200" dirty="0"/>
              <a:t>Réponse du Gouvernement : une aide de l’État aux travailleurs « grands rouleurs » et un assouplissement de la prime transport</a:t>
            </a:r>
          </a:p>
          <a:p>
            <a:pPr algn="just"/>
            <a:r>
              <a:rPr lang="fr-FR" sz="2200" dirty="0"/>
              <a:t>Plafond d’exonération de la prise en charge du carburant doublé : 300 € → 600 € par an et par salarié</a:t>
            </a:r>
          </a:p>
          <a:p>
            <a:pPr algn="just"/>
            <a:r>
              <a:rPr lang="fr-FR" sz="2200" dirty="0"/>
              <a:t>Conditions d’accès suspendues jusqu’au 31 décembre 2026 : tous les salariés peuvent en bénéficier</a:t>
            </a:r>
          </a:p>
          <a:p>
            <a:pPr algn="just"/>
            <a:r>
              <a:rPr lang="fr-FR" sz="2200" dirty="0"/>
              <a:t>Mesure confirmée par le BOSS (communiqué du 6 août 2026), applicable par anticipation dans l’attente des textes</a:t>
            </a:r>
          </a:p>
        </p:txBody>
      </p:sp>
      <p:sp>
        <p:nvSpPr>
          <p:cNvPr id="3" name="Titre 2"/>
          <p:cNvSpPr>
            <a:spLocks noGrp="1"/>
          </p:cNvSpPr>
          <p:nvPr>
            <p:ph type="title"/>
          </p:nvPr>
        </p:nvSpPr>
        <p:spPr/>
        <p:txBody>
          <a:bodyPr>
            <a:normAutofit/>
          </a:bodyPr>
          <a:lstStyle/>
          <a:p>
            <a:r>
              <a:rPr lang="fr-FR" sz="3067" dirty="0"/>
              <a:t>Le contexte 2026 : pourquoi parle-t-on de « prime carburant »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69133" cy="4145276"/>
        </p:xfrm>
        <a:graphic>
          <a:graphicData uri="http://schemas.openxmlformats.org/drawingml/2006/table">
            <a:tbl>
              <a:tblPr firstRow="1" bandRow="1">
                <a:tableStyleId>{5C22544A-7EE6-4342-B048-85BDC9FD1C3A}</a:tableStyleId>
              </a:tblPr>
              <a:tblGrid>
                <a:gridCol w="3300000"/>
                <a:gridCol w="2500000"/>
                <a:gridCol w="3200000"/>
                <a:gridCol w="2269133"/>
              </a:tblGrid>
              <a:tr h="365759">
                <a:tc>
                  <a:txBody>
                    <a:bodyPr/>
                    <a:lstStyle/>
                    <a:p>
                      <a:r>
                        <a:rPr lang="fr-FR" sz="1600" b="1" dirty="0"/>
                        <a:t>Dispositif</a:t>
                      </a:r>
                    </a:p>
                  </a:txBody>
                  <a:tcPr marL="121920" marR="121920" marT="60960" marB="60960" anchor="ctr"/>
                </a:tc>
                <a:tc>
                  <a:txBody>
                    <a:bodyPr/>
                    <a:lstStyle/>
                    <a:p>
                      <a:pPr algn="ctr"/>
                      <a:r>
                        <a:rPr lang="fr-FR" sz="1600" b="1" dirty="0"/>
                        <a:t>Caractère</a:t>
                      </a:r>
                    </a:p>
                  </a:txBody>
                  <a:tcPr marL="121920" marR="121920" marT="60960" marB="60960" anchor="ctr"/>
                </a:tc>
                <a:tc>
                  <a:txBody>
                    <a:bodyPr/>
                    <a:lstStyle/>
                    <a:p>
                      <a:pPr algn="ctr"/>
                      <a:r>
                        <a:rPr lang="fr-FR" sz="1600" b="1" dirty="0"/>
                        <a:t>Ce qui est pris en charge</a:t>
                      </a:r>
                    </a:p>
                  </a:txBody>
                  <a:tcPr marL="121920" marR="121920" marT="60960" marB="60960" anchor="ctr"/>
                </a:tc>
                <a:tc>
                  <a:txBody>
                    <a:bodyPr/>
                    <a:lstStyle/>
                    <a:p>
                      <a:pPr algn="ctr"/>
                      <a:r>
                        <a:rPr lang="fr-FR" sz="1600" b="1" dirty="0"/>
                        <a:t>Texte</a:t>
                      </a:r>
                    </a:p>
                  </a:txBody>
                  <a:tcPr marL="121920" marR="121920" marT="60960" marB="60960" anchor="ctr"/>
                </a:tc>
              </a:tr>
              <a:tr h="853439">
                <a:tc>
                  <a:txBody>
                    <a:bodyPr/>
                    <a:lstStyle/>
                    <a:p>
                      <a:r>
                        <a:rPr lang="fr-FR" sz="1600" dirty="0"/>
                        <a:t>Abonnements de transports publics et vélos en location publique</a:t>
                      </a:r>
                    </a:p>
                  </a:txBody>
                  <a:tcPr marL="121920" marR="121920" marT="60960" marB="60960" anchor="ctr"/>
                </a:tc>
                <a:tc>
                  <a:txBody>
                    <a:bodyPr/>
                    <a:lstStyle/>
                    <a:p>
                      <a:pPr algn="ctr"/>
                      <a:r>
                        <a:rPr lang="fr-FR" sz="1600" dirty="0"/>
                        <a:t>Obligatoire (50 %)</a:t>
                      </a:r>
                    </a:p>
                  </a:txBody>
                  <a:tcPr marL="121920" marR="121920" marT="60960" marB="60960" anchor="ctr"/>
                </a:tc>
                <a:tc>
                  <a:txBody>
                    <a:bodyPr/>
                    <a:lstStyle/>
                    <a:p>
                      <a:pPr algn="ctr"/>
                      <a:r>
                        <a:rPr lang="fr-FR" sz="1600" dirty="0"/>
                        <a:t>Abonnements bus, train, métro, tram, vélos publics</a:t>
                      </a:r>
                    </a:p>
                  </a:txBody>
                  <a:tcPr marL="121920" marR="121920" marT="60960" marB="60960" anchor="ctr"/>
                </a:tc>
                <a:tc>
                  <a:txBody>
                    <a:bodyPr/>
                    <a:lstStyle/>
                    <a:p>
                      <a:pPr algn="ctr"/>
                      <a:r>
                        <a:rPr lang="fr-FR" sz="1600" dirty="0"/>
                        <a:t>Art. L. 3261-2 CT</a:t>
                      </a:r>
                    </a:p>
                  </a:txBody>
                  <a:tcPr marL="121920" marR="121920" marT="60960" marB="60960" anchor="ctr"/>
                </a:tc>
              </a:tr>
              <a:tr h="853439">
                <a:tc>
                  <a:txBody>
                    <a:bodyPr/>
                    <a:lstStyle/>
                    <a:p>
                      <a:r>
                        <a:rPr lang="fr-FR" sz="1600" dirty="0"/>
                        <a:t>Prime transport, dite prime carburant</a:t>
                      </a:r>
                    </a:p>
                  </a:txBody>
                  <a:tcPr marL="121920" marR="121920" marT="60960" marB="60960" anchor="ctr"/>
                </a:tc>
                <a:tc>
                  <a:txBody>
                    <a:bodyPr/>
                    <a:lstStyle/>
                    <a:p>
                      <a:pPr algn="ctr"/>
                      <a:r>
                        <a:rPr lang="fr-FR" sz="1600" dirty="0"/>
                        <a:t>Facultatif</a:t>
                      </a:r>
                    </a:p>
                  </a:txBody>
                  <a:tcPr marL="121920" marR="121920" marT="60960" marB="60960" anchor="ctr"/>
                </a:tc>
                <a:tc>
                  <a:txBody>
                    <a:bodyPr/>
                    <a:lstStyle/>
                    <a:p>
                      <a:pPr algn="ctr"/>
                      <a:r>
                        <a:rPr lang="fr-FR" sz="1600" dirty="0"/>
                        <a:t>Carburant, recharge électrique, hybride rechargeable, hydrogène</a:t>
                      </a:r>
                    </a:p>
                  </a:txBody>
                  <a:tcPr marL="121920" marR="121920" marT="60960" marB="60960" anchor="ctr"/>
                </a:tc>
                <a:tc>
                  <a:txBody>
                    <a:bodyPr/>
                    <a:lstStyle/>
                    <a:p>
                      <a:pPr algn="ctr"/>
                      <a:r>
                        <a:rPr lang="fr-FR" sz="1600" dirty="0"/>
                        <a:t>Art. L. 3261-3 CT</a:t>
                      </a:r>
                    </a:p>
                  </a:txBody>
                  <a:tcPr marL="121920" marR="121920" marT="60960" marB="60960" anchor="ctr"/>
                </a:tc>
              </a:tr>
              <a:tr h="853439">
                <a:tc>
                  <a:txBody>
                    <a:bodyPr/>
                    <a:lstStyle/>
                    <a:p>
                      <a:r>
                        <a:rPr lang="fr-FR" sz="1600" dirty="0"/>
                        <a:t>Forfait mobilités durables (FMD)</a:t>
                      </a:r>
                    </a:p>
                  </a:txBody>
                  <a:tcPr marL="121920" marR="121920" marT="60960" marB="60960" anchor="ctr"/>
                </a:tc>
                <a:tc>
                  <a:txBody>
                    <a:bodyPr/>
                    <a:lstStyle/>
                    <a:p>
                      <a:pPr algn="ctr"/>
                      <a:r>
                        <a:rPr lang="fr-FR" sz="1600" dirty="0"/>
                        <a:t>Facultatif</a:t>
                      </a:r>
                    </a:p>
                  </a:txBody>
                  <a:tcPr marL="121920" marR="121920" marT="60960" marB="60960" anchor="ctr"/>
                </a:tc>
                <a:tc>
                  <a:txBody>
                    <a:bodyPr/>
                    <a:lstStyle/>
                    <a:p>
                      <a:pPr algn="ctr"/>
                      <a:r>
                        <a:rPr lang="fr-FR" sz="1600" dirty="0"/>
                        <a:t>Vélo, covoiturage, trottinette, autopartage, tickets unitaires</a:t>
                      </a:r>
                    </a:p>
                  </a:txBody>
                  <a:tcPr marL="121920" marR="121920" marT="60960" marB="60960" anchor="ctr"/>
                </a:tc>
                <a:tc>
                  <a:txBody>
                    <a:bodyPr/>
                    <a:lstStyle/>
                    <a:p>
                      <a:pPr algn="ctr"/>
                      <a:r>
                        <a:rPr lang="fr-FR" sz="1600" dirty="0"/>
                        <a:t>Art. L. 3261-3-1 CT</a:t>
                      </a:r>
                    </a:p>
                  </a:txBody>
                  <a:tcPr marL="121920" marR="121920" marT="60960" marB="60960" anchor="ctr"/>
                </a:tc>
              </a:tr>
              <a:tr h="609600">
                <a:tc>
                  <a:txBody>
                    <a:bodyPr/>
                    <a:lstStyle/>
                    <a:p>
                      <a:r>
                        <a:rPr lang="fr-FR" sz="1600" dirty="0"/>
                        <a:t>Indemnités kilométriques domicile-travail</a:t>
                      </a:r>
                    </a:p>
                  </a:txBody>
                  <a:tcPr marL="121920" marR="121920" marT="60960" marB="60960" anchor="ctr"/>
                </a:tc>
                <a:tc>
                  <a:txBody>
                    <a:bodyPr/>
                    <a:lstStyle/>
                    <a:p>
                      <a:pPr algn="ctr"/>
                      <a:r>
                        <a:rPr lang="fr-FR" sz="1600" dirty="0"/>
                        <a:t>Facultatif, frais professionnels</a:t>
                      </a:r>
                    </a:p>
                  </a:txBody>
                  <a:tcPr marL="121920" marR="121920" marT="60960" marB="60960" anchor="ctr"/>
                </a:tc>
                <a:tc>
                  <a:txBody>
                    <a:bodyPr/>
                    <a:lstStyle/>
                    <a:p>
                      <a:pPr algn="ctr"/>
                      <a:r>
                        <a:rPr lang="fr-FR" sz="1600" dirty="0"/>
                        <a:t>Usage contraint du véhicule personnel</a:t>
                      </a:r>
                    </a:p>
                  </a:txBody>
                  <a:tcPr marL="121920" marR="121920" marT="60960" marB="60960" anchor="ctr"/>
                </a:tc>
                <a:tc>
                  <a:txBody>
                    <a:bodyPr/>
                    <a:lstStyle/>
                    <a:p>
                      <a:pPr algn="ctr"/>
                      <a:r>
                        <a:rPr lang="fr-FR" sz="1600" dirty="0"/>
                        <a:t>BOSS, frais professionnels</a:t>
                      </a:r>
                    </a:p>
                  </a:txBody>
                  <a:tcPr marL="121920" marR="121920" marT="60960" marB="60960" anchor="ctr"/>
                </a:tc>
              </a:tr>
              <a:tr h="609600">
                <a:tc>
                  <a:txBody>
                    <a:bodyPr/>
                    <a:lstStyle/>
                    <a:p>
                      <a:r>
                        <a:rPr lang="fr-FR" sz="1600" dirty="0"/>
                        <a:t>Aide de l’État « grands rouleurs »</a:t>
                      </a:r>
                    </a:p>
                  </a:txBody>
                  <a:tcPr marL="121920" marR="121920" marT="60960" marB="60960" anchor="ctr"/>
                </a:tc>
                <a:tc>
                  <a:txBody>
                    <a:bodyPr/>
                    <a:lstStyle/>
                    <a:p>
                      <a:pPr algn="ctr"/>
                      <a:r>
                        <a:rPr lang="fr-FR" sz="1600" dirty="0"/>
                        <a:t>Hors paie</a:t>
                      </a:r>
                    </a:p>
                  </a:txBody>
                  <a:tcPr marL="121920" marR="121920" marT="60960" marB="60960" anchor="ctr"/>
                </a:tc>
                <a:tc>
                  <a:txBody>
                    <a:bodyPr/>
                    <a:lstStyle/>
                    <a:p>
                      <a:pPr algn="ctr"/>
                      <a:r>
                        <a:rPr lang="fr-FR" sz="1600" dirty="0"/>
                        <a:t>100 € par véhicule, sous conditions de ressources</a:t>
                      </a:r>
                    </a:p>
                  </a:txBody>
                  <a:tcPr marL="121920" marR="121920" marT="60960" marB="60960" anchor="ctr"/>
                </a:tc>
                <a:tc>
                  <a:txBody>
                    <a:bodyPr/>
                    <a:lstStyle/>
                    <a:p>
                      <a:pPr algn="ctr"/>
                      <a:r>
                        <a:rPr lang="fr-FR" sz="1600" dirty="0"/>
                        <a:t>impots.gouv.fr</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sz="3067" dirty="0"/>
              <a:t>La carte des dispositifs de mobilité domicile-travail en 2026</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Nom légal : prise en charge des frais de carburant et d’alimentation des véhicules électriques, hybrides rechargeables ou hydrogène (art. L. 3261-3 CT)</a:t>
            </a:r>
          </a:p>
          <a:p>
            <a:pPr algn="just"/>
            <a:r>
              <a:rPr lang="fr-FR" sz="2200" dirty="0"/>
              <a:t>Trajet couvert : résidence habituelle ↔ lieu de travail, avec le véhicule personnel du salarié</a:t>
            </a:r>
          </a:p>
          <a:p>
            <a:pPr algn="just"/>
            <a:r>
              <a:rPr lang="fr-FR" sz="2200" dirty="0"/>
              <a:t>Dispositif facultatif : l’employeur décide de le mettre en place et fixe librement le montant</a:t>
            </a:r>
          </a:p>
          <a:p>
            <a:pPr algn="just"/>
            <a:r>
              <a:rPr lang="fr-FR" sz="2200" dirty="0"/>
              <a:t>Exonération de cotisations, de CSG-CRDS et d’impôt sur le revenu dans la limite d’un plafond annuel</a:t>
            </a:r>
          </a:p>
          <a:p>
            <a:pPr algn="just"/>
            <a:r>
              <a:rPr lang="fr-FR" sz="2200" dirty="0"/>
              <a:t>Bénéficie à tous les salariés qui remplissent les conditions, selon les mêmes modalités</a:t>
            </a:r>
          </a:p>
        </p:txBody>
      </p:sp>
      <p:sp>
        <p:nvSpPr>
          <p:cNvPr id="3" name="Titre 2"/>
          <p:cNvSpPr>
            <a:spLocks noGrp="1"/>
          </p:cNvSpPr>
          <p:nvPr>
            <p:ph type="title"/>
          </p:nvPr>
        </p:nvSpPr>
        <p:spPr/>
        <p:txBody>
          <a:bodyPr>
            <a:normAutofit/>
          </a:bodyPr>
          <a:lstStyle/>
          <a:p>
            <a:r>
              <a:rPr lang="fr-FR" sz="3067" dirty="0"/>
              <a:t>La prime carburant : de quoi parle-t-on exactement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Résidence ou lieu de travail dans une commune non desservie par les transports collectifs réguliers, ou hors d’un périmètre de plan de mobilité obligatoire</a:t>
            </a:r>
          </a:p>
          <a:p>
            <a:pPr algn="just"/>
            <a:r>
              <a:rPr lang="fr-FR" sz="2200" dirty="0"/>
              <a:t>Ou horaires de travail particuliers rendant impossible l’usage des transports collectifs</a:t>
            </a:r>
          </a:p>
          <a:p>
            <a:pPr algn="just"/>
            <a:r>
              <a:rPr lang="fr-FR" sz="2200" dirty="0"/>
              <a:t>Exclus : salariés disposant d’un véhicule mis à disposition avec carburant pris en charge, logés sans frais de transport, ou transportés gratuitement par l’employeur</a:t>
            </a:r>
          </a:p>
          <a:p>
            <a:pPr algn="just"/>
            <a:r>
              <a:rPr lang="fr-FR" sz="2200" dirty="0"/>
              <a:t>Non-cumul avec la prise en charge obligatoire des abonnements de transports publics</a:t>
            </a:r>
          </a:p>
          <a:p>
            <a:pPr algn="just"/>
            <a:r>
              <a:rPr lang="fr-FR" sz="2200" dirty="0"/>
              <a:t>Plafond de droit commun : 600 € par an, dont 300 € maximum pour le carburant</a:t>
            </a:r>
          </a:p>
        </p:txBody>
      </p:sp>
      <p:sp>
        <p:nvSpPr>
          <p:cNvPr id="3" name="Titre 2"/>
          <p:cNvSpPr>
            <a:spLocks noGrp="1"/>
          </p:cNvSpPr>
          <p:nvPr>
            <p:ph type="title"/>
          </p:nvPr>
        </p:nvSpPr>
        <p:spPr/>
        <p:txBody>
          <a:bodyPr>
            <a:normAutofit/>
          </a:bodyPr>
          <a:lstStyle/>
          <a:p>
            <a:r>
              <a:rPr lang="fr-FR" sz="3067" dirty="0"/>
              <a:t>Prime carburant : les conditions de droit commun (hors 2026)</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Plafond carburant porté de 300 € à 600 € par an et par salarié, pour les primes versées jusqu’au 31 décembre 2026</a:t>
            </a:r>
          </a:p>
          <a:p>
            <a:pPr algn="just"/>
            <a:r>
              <a:rPr lang="fr-FR" sz="2200" dirty="0"/>
              <a:t>Condition de non-desserte par les transports collectifs suspendue : plus besoin de justifier la zone ou les horaires</a:t>
            </a:r>
          </a:p>
          <a:p>
            <a:pPr algn="just"/>
            <a:r>
              <a:rPr lang="fr-FR" sz="2200" dirty="0"/>
              <a:t>Cumul autorisé avec la prise en charge à 50 % des abonnements de transports publics</a:t>
            </a:r>
          </a:p>
          <a:p>
            <a:pPr algn="just"/>
            <a:r>
              <a:rPr lang="fr-FR" sz="2200" dirty="0"/>
              <a:t>Les autres exclusions demeurent : véhicule de fonction avec carburant, logement de fonction, transport gratuit</a:t>
            </a:r>
          </a:p>
          <a:p>
            <a:pPr algn="just"/>
            <a:r>
              <a:rPr lang="fr-FR" sz="2200" dirty="0"/>
              <a:t>Application admise dès maintenant par le BOSS (communiqué du 6 août 2026), textes réglementaires en cours de publication</a:t>
            </a:r>
          </a:p>
        </p:txBody>
      </p:sp>
      <p:sp>
        <p:nvSpPr>
          <p:cNvPr id="3" name="Titre 2"/>
          <p:cNvSpPr>
            <a:spLocks noGrp="1"/>
          </p:cNvSpPr>
          <p:nvPr>
            <p:ph type="title"/>
          </p:nvPr>
        </p:nvSpPr>
        <p:spPr/>
        <p:txBody>
          <a:bodyPr>
            <a:normAutofit/>
          </a:bodyPr>
          <a:lstStyle/>
          <a:p>
            <a:r>
              <a:rPr lang="fr-FR" dirty="0"/>
              <a:t>Prime carburant : ce qui change en 2026</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69133" cy="4145278"/>
        </p:xfrm>
        <a:graphic>
          <a:graphicData uri="http://schemas.openxmlformats.org/drawingml/2006/table">
            <a:tbl>
              <a:tblPr firstRow="1" bandRow="1">
                <a:tableStyleId>{5C22544A-7EE6-4342-B048-85BDC9FD1C3A}</a:tableStyleId>
              </a:tblPr>
              <a:tblGrid>
                <a:gridCol w="4400000"/>
                <a:gridCol w="3400000"/>
                <a:gridCol w="3469133"/>
              </a:tblGrid>
              <a:tr h="670560">
                <a:tc>
                  <a:txBody>
                    <a:bodyPr/>
                    <a:lstStyle/>
                    <a:p>
                      <a:r>
                        <a:rPr lang="fr-FR" sz="1800" b="1" dirty="0"/>
                        <a:t>Règle</a:t>
                      </a:r>
                    </a:p>
                  </a:txBody>
                  <a:tcPr marL="121920" marR="121920" marT="60960" marB="60960" anchor="ctr"/>
                </a:tc>
                <a:tc>
                  <a:txBody>
                    <a:bodyPr/>
                    <a:lstStyle/>
                    <a:p>
                      <a:pPr algn="ctr"/>
                      <a:r>
                        <a:rPr lang="fr-FR" sz="1800" b="1" dirty="0"/>
                        <a:t>Droit commun (2025, puis 2027)</a:t>
                      </a:r>
                    </a:p>
                  </a:txBody>
                  <a:tcPr marL="121920" marR="121920" marT="60960" marB="60960" anchor="ctr"/>
                </a:tc>
                <a:tc>
                  <a:txBody>
                    <a:bodyPr/>
                    <a:lstStyle/>
                    <a:p>
                      <a:pPr algn="ctr"/>
                      <a:r>
                        <a:rPr lang="fr-FR" sz="1800" b="1" dirty="0"/>
                        <a:t>Année 2026</a:t>
                      </a:r>
                    </a:p>
                  </a:txBody>
                  <a:tcPr marL="121920" marR="121920" marT="60960" marB="60960" anchor="ctr"/>
                </a:tc>
              </a:tr>
              <a:tr h="396239">
                <a:tc>
                  <a:txBody>
                    <a:bodyPr/>
                    <a:lstStyle/>
                    <a:p>
                      <a:r>
                        <a:rPr lang="fr-FR" sz="1800" dirty="0"/>
                        <a:t>Plafond carburant</a:t>
                      </a:r>
                    </a:p>
                  </a:txBody>
                  <a:tcPr marL="121920" marR="121920" marT="60960" marB="60960" anchor="ctr"/>
                </a:tc>
                <a:tc>
                  <a:txBody>
                    <a:bodyPr/>
                    <a:lstStyle/>
                    <a:p>
                      <a:pPr algn="ctr"/>
                      <a:r>
                        <a:rPr lang="fr-FR" sz="1800" dirty="0"/>
                        <a:t>300 € par an</a:t>
                      </a:r>
                    </a:p>
                  </a:txBody>
                  <a:tcPr marL="121920" marR="121920" marT="60960" marB="60960" anchor="ctr"/>
                </a:tc>
                <a:tc>
                  <a:txBody>
                    <a:bodyPr/>
                    <a:lstStyle/>
                    <a:p>
                      <a:pPr algn="ctr"/>
                      <a:r>
                        <a:rPr lang="fr-FR" sz="1800" dirty="0"/>
                        <a:t>600 € par an</a:t>
                      </a:r>
                    </a:p>
                  </a:txBody>
                  <a:tcPr marL="121920" marR="121920" marT="60960" marB="60960" anchor="ctr"/>
                </a:tc>
              </a:tr>
              <a:tr h="670560">
                <a:tc>
                  <a:txBody>
                    <a:bodyPr/>
                    <a:lstStyle/>
                    <a:p>
                      <a:r>
                        <a:rPr lang="fr-FR" sz="1800" dirty="0"/>
                        <a:t>Plafond recharge électrique, hybride rechargeable, hydrogène</a:t>
                      </a:r>
                    </a:p>
                  </a:txBody>
                  <a:tcPr marL="121920" marR="121920" marT="60960" marB="60960" anchor="ctr"/>
                </a:tc>
                <a:tc>
                  <a:txBody>
                    <a:bodyPr/>
                    <a:lstStyle/>
                    <a:p>
                      <a:pPr algn="ctr"/>
                      <a:r>
                        <a:rPr lang="fr-FR" sz="1800" dirty="0"/>
                        <a:t>600 € par an</a:t>
                      </a:r>
                    </a:p>
                  </a:txBody>
                  <a:tcPr marL="121920" marR="121920" marT="60960" marB="60960" anchor="ctr"/>
                </a:tc>
                <a:tc>
                  <a:txBody>
                    <a:bodyPr/>
                    <a:lstStyle/>
                    <a:p>
                      <a:pPr algn="ctr"/>
                      <a:r>
                        <a:rPr lang="fr-FR" sz="1800" dirty="0"/>
                        <a:t>600 € par an</a:t>
                      </a:r>
                    </a:p>
                  </a:txBody>
                  <a:tcPr marL="121920" marR="121920" marT="60960" marB="60960" anchor="ctr"/>
                </a:tc>
              </a:tr>
              <a:tr h="396239">
                <a:tc>
                  <a:txBody>
                    <a:bodyPr/>
                    <a:lstStyle/>
                    <a:p>
                      <a:r>
                        <a:rPr lang="fr-FR" sz="1800" dirty="0"/>
                        <a:t>Plafond global de la prime transport</a:t>
                      </a:r>
                    </a:p>
                  </a:txBody>
                  <a:tcPr marL="121920" marR="121920" marT="60960" marB="60960" anchor="ctr"/>
                </a:tc>
                <a:tc>
                  <a:txBody>
                    <a:bodyPr/>
                    <a:lstStyle/>
                    <a:p>
                      <a:pPr algn="ctr"/>
                      <a:r>
                        <a:rPr lang="fr-FR" sz="1800" dirty="0"/>
                        <a:t>600 € par an</a:t>
                      </a:r>
                    </a:p>
                  </a:txBody>
                  <a:tcPr marL="121920" marR="121920" marT="60960" marB="60960" anchor="ctr"/>
                </a:tc>
                <a:tc>
                  <a:txBody>
                    <a:bodyPr/>
                    <a:lstStyle/>
                    <a:p>
                      <a:pPr algn="ctr"/>
                      <a:r>
                        <a:rPr lang="fr-FR" sz="1800" dirty="0"/>
                        <a:t>600 € par an</a:t>
                      </a:r>
                    </a:p>
                  </a:txBody>
                  <a:tcPr marL="121920" marR="121920" marT="60960" marB="60960" anchor="ctr"/>
                </a:tc>
              </a:tr>
              <a:tr h="670560">
                <a:tc>
                  <a:txBody>
                    <a:bodyPr/>
                    <a:lstStyle/>
                    <a:p>
                      <a:r>
                        <a:rPr lang="fr-FR" sz="1800" dirty="0"/>
                        <a:t>Condition de non-desserte ou d’horaires particuliers</a:t>
                      </a:r>
                    </a:p>
                  </a:txBody>
                  <a:tcPr marL="121920" marR="121920" marT="60960" marB="60960" anchor="ctr"/>
                </a:tc>
                <a:tc>
                  <a:txBody>
                    <a:bodyPr/>
                    <a:lstStyle/>
                    <a:p>
                      <a:pPr algn="ctr"/>
                      <a:r>
                        <a:rPr lang="fr-FR" sz="1800" dirty="0"/>
                        <a:t>Exigée</a:t>
                      </a:r>
                    </a:p>
                  </a:txBody>
                  <a:tcPr marL="121920" marR="121920" marT="60960" marB="60960" anchor="ctr"/>
                </a:tc>
                <a:tc>
                  <a:txBody>
                    <a:bodyPr/>
                    <a:lstStyle/>
                    <a:p>
                      <a:pPr algn="ctr"/>
                      <a:r>
                        <a:rPr lang="fr-FR" sz="1800" dirty="0"/>
                        <a:t>Suspendue</a:t>
                      </a:r>
                    </a:p>
                  </a:txBody>
                  <a:tcPr marL="121920" marR="121920" marT="60960" marB="60960" anchor="ctr"/>
                </a:tc>
              </a:tr>
              <a:tr h="670560">
                <a:tc>
                  <a:txBody>
                    <a:bodyPr/>
                    <a:lstStyle/>
                    <a:p>
                      <a:r>
                        <a:rPr lang="fr-FR" sz="1800" dirty="0"/>
                        <a:t>Cumul avec les abonnements de transports publics</a:t>
                      </a:r>
                    </a:p>
                  </a:txBody>
                  <a:tcPr marL="121920" marR="121920" marT="60960" marB="60960" anchor="ctr"/>
                </a:tc>
                <a:tc>
                  <a:txBody>
                    <a:bodyPr/>
                    <a:lstStyle/>
                    <a:p>
                      <a:pPr algn="ctr"/>
                      <a:r>
                        <a:rPr lang="fr-FR" sz="1800" dirty="0"/>
                        <a:t>Interdit</a:t>
                      </a:r>
                    </a:p>
                  </a:txBody>
                  <a:tcPr marL="121920" marR="121920" marT="60960" marB="60960" anchor="ctr"/>
                </a:tc>
                <a:tc>
                  <a:txBody>
                    <a:bodyPr/>
                    <a:lstStyle/>
                    <a:p>
                      <a:pPr algn="ctr"/>
                      <a:r>
                        <a:rPr lang="fr-FR" sz="1800" dirty="0"/>
                        <a:t>Autorisé</a:t>
                      </a:r>
                    </a:p>
                  </a:txBody>
                  <a:tcPr marL="121920" marR="121920" marT="60960" marB="60960" anchor="ctr"/>
                </a:tc>
              </a:tr>
              <a:tr h="670560">
                <a:tc>
                  <a:txBody>
                    <a:bodyPr/>
                    <a:lstStyle/>
                    <a:p>
                      <a:r>
                        <a:rPr lang="fr-FR" sz="1800" dirty="0"/>
                        <a:t>Cumul avec le forfait mobilités durables</a:t>
                      </a:r>
                    </a:p>
                  </a:txBody>
                  <a:tcPr marL="121920" marR="121920" marT="60960" marB="60960" anchor="ctr"/>
                </a:tc>
                <a:tc>
                  <a:txBody>
                    <a:bodyPr/>
                    <a:lstStyle/>
                    <a:p>
                      <a:pPr algn="ctr"/>
                      <a:r>
                        <a:rPr lang="fr-FR" sz="1800" dirty="0"/>
                        <a:t>600 € au total, dont 300 € de carburant</a:t>
                      </a:r>
                    </a:p>
                  </a:txBody>
                  <a:tcPr marL="121920" marR="121920" marT="60960" marB="60960" anchor="ctr"/>
                </a:tc>
                <a:tc>
                  <a:txBody>
                    <a:bodyPr/>
                    <a:lstStyle/>
                    <a:p>
                      <a:pPr algn="ctr"/>
                      <a:r>
                        <a:rPr lang="fr-FR" sz="1800" dirty="0"/>
                        <a:t>600 € au total, carburant jusqu’à 600 €</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sz="3067" dirty="0"/>
              <a:t>Prime carburant : plafonds et conditions, droit commun et 2026</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Mise en place par accord d’entreprise ou de branche, à défaut par décision unilatérale après consultation du CSE</a:t>
            </a:r>
          </a:p>
          <a:p>
            <a:pPr algn="just"/>
            <a:r>
              <a:rPr lang="fr-FR" sz="2200" dirty="0"/>
              <a:t>Justificatifs annuels : attestation sur l’honneur du salarié, carte grise, justificatif de domicile ; conservés pour le contrôle URSSAF</a:t>
            </a:r>
          </a:p>
          <a:p>
            <a:pPr algn="just"/>
            <a:r>
              <a:rPr lang="fr-FR" sz="2200" dirty="0"/>
              <a:t>Pas de justificatif de dépense à l’euro près : le montant est forfaitaire, dans la limite exonérée</a:t>
            </a:r>
          </a:p>
          <a:p>
            <a:pPr algn="just"/>
            <a:r>
              <a:rPr lang="fr-FR" sz="2200" dirty="0"/>
              <a:t>Temps partiel : prise en charge intégrale à partir du mi-temps, au prorata en deçà</a:t>
            </a:r>
          </a:p>
          <a:p>
            <a:pPr algn="just"/>
            <a:r>
              <a:rPr lang="fr-FR" sz="2200" dirty="0"/>
              <a:t>Au-delà du plafond, ou si le salarié déduit ses frais réels : la prime devient un salaire soumis et imposable</a:t>
            </a:r>
          </a:p>
        </p:txBody>
      </p:sp>
      <p:sp>
        <p:nvSpPr>
          <p:cNvPr id="3" name="Titre 2"/>
          <p:cNvSpPr>
            <a:spLocks noGrp="1"/>
          </p:cNvSpPr>
          <p:nvPr>
            <p:ph type="title"/>
          </p:nvPr>
        </p:nvSpPr>
        <p:spPr/>
        <p:txBody>
          <a:bodyPr>
            <a:normAutofit/>
          </a:bodyPr>
          <a:lstStyle/>
          <a:p>
            <a:r>
              <a:rPr lang="fr-FR" sz="3067" dirty="0"/>
              <a:t>Prime carburant : mise en œuvre dans le dossier de paie</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Prise en charge obligatoire de 50 % du prix des abonnements de transports publics et de services publics de location de vélos</a:t>
            </a:r>
          </a:p>
          <a:p>
            <a:pPr algn="just"/>
            <a:r>
              <a:rPr lang="fr-FR" sz="2200" dirty="0"/>
              <a:t>Abonnements annuels, mensuels ou hebdomadaires, sur la base du tarif de 2e classe et du trajet le plus court</a:t>
            </a:r>
          </a:p>
          <a:p>
            <a:pPr algn="just"/>
            <a:r>
              <a:rPr lang="fr-FR" sz="2200" dirty="0"/>
              <a:t>Remboursement au plus tard le mois suivant, sur présentation du titre ou d’une attestation</a:t>
            </a:r>
          </a:p>
          <a:p>
            <a:pPr algn="just"/>
            <a:r>
              <a:rPr lang="fr-FR" sz="2200" dirty="0"/>
              <a:t>Temps partiel : prise en charge intégrale à partir du mi-temps, au prorata en deçà</a:t>
            </a:r>
          </a:p>
          <a:p>
            <a:pPr algn="just"/>
            <a:r>
              <a:rPr lang="fr-FR" sz="2200" dirty="0"/>
              <a:t>La part obligatoire de 50 % est exonérée de cotisations, de CSG-CRDS et d’impôt sur le revenu</a:t>
            </a:r>
          </a:p>
        </p:txBody>
      </p:sp>
      <p:sp>
        <p:nvSpPr>
          <p:cNvPr id="3" name="Titre 2"/>
          <p:cNvSpPr>
            <a:spLocks noGrp="1"/>
          </p:cNvSpPr>
          <p:nvPr>
            <p:ph type="title"/>
          </p:nvPr>
        </p:nvSpPr>
        <p:spPr/>
        <p:txBody>
          <a:bodyPr>
            <a:normAutofit/>
          </a:bodyPr>
          <a:lstStyle/>
          <a:p>
            <a:r>
              <a:rPr lang="fr-FR" sz="3067" dirty="0"/>
              <a:t>Les abonnements de transports publics : l’obligation de 50 %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Prise en charge facultative au-delà de 50 % : exonérée jusqu’à 75 % du prix de l’abonnement pour les années 2025 et 2026</a:t>
            </a:r>
          </a:p>
          <a:p>
            <a:pPr algn="just"/>
            <a:r>
              <a:rPr lang="fr-FR" sz="2200" dirty="0"/>
              <a:t>Prorogation par l’article 68 de la loi de finances pour 2026 (loi n° 2026-103 du 19 février 2026)</a:t>
            </a:r>
          </a:p>
          <a:p>
            <a:pPr algn="just"/>
            <a:r>
              <a:rPr lang="fr-FR" sz="2200" dirty="0"/>
              <a:t>Aucune justification d’éloignement n’est exigée pour cette part de 25 % supplémentaires</a:t>
            </a:r>
          </a:p>
          <a:p>
            <a:pPr algn="just"/>
            <a:r>
              <a:rPr lang="fr-FR" sz="2200" dirty="0"/>
              <a:t>Au-delà de 75 % : exonération seulement si l’éloignement du domicile ne résulte pas de convenances personnelles</a:t>
            </a:r>
          </a:p>
          <a:p>
            <a:pPr algn="just"/>
            <a:r>
              <a:rPr lang="fr-FR" sz="2200" dirty="0"/>
              <a:t>Cumul possible avec le FMD dans la limite globale de 900 € par an, ou du montant de la prise en charge de l’abonnement si elle est supérieure</a:t>
            </a:r>
          </a:p>
        </p:txBody>
      </p:sp>
      <p:sp>
        <p:nvSpPr>
          <p:cNvPr id="3" name="Titre 2"/>
          <p:cNvSpPr>
            <a:spLocks noGrp="1"/>
          </p:cNvSpPr>
          <p:nvPr>
            <p:ph type="title"/>
          </p:nvPr>
        </p:nvSpPr>
        <p:spPr/>
        <p:txBody>
          <a:bodyPr>
            <a:normAutofit/>
          </a:bodyPr>
          <a:lstStyle/>
          <a:p>
            <a:r>
              <a:rPr lang="fr-FR" sz="3067" dirty="0"/>
              <a:t>Abonnements de transports publics : jusqu’à 75 % exonérés en 2026</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Vélo et vélo à assistance électrique, personnel ou en location</a:t>
            </a:r>
          </a:p>
          <a:p>
            <a:pPr algn="just"/>
            <a:r>
              <a:rPr lang="fr-FR" sz="2800" dirty="0"/>
              <a:t>Covoiturage, en tant que conducteur ou passager</a:t>
            </a:r>
          </a:p>
          <a:p>
            <a:pPr algn="just"/>
            <a:r>
              <a:rPr lang="fr-FR" sz="2800" dirty="0"/>
              <a:t>Engins de déplacement personnels motorisés (trottinette, gyroroue…), personnels ou en libre-service</a:t>
            </a:r>
          </a:p>
          <a:p>
            <a:pPr algn="just"/>
            <a:r>
              <a:rPr lang="fr-FR" sz="2800" dirty="0"/>
              <a:t>Autopartage de véhicules à faibles émissions, cyclomoteurs et motos électriques en location ou libre-service</a:t>
            </a:r>
          </a:p>
          <a:p>
            <a:pPr algn="just"/>
            <a:r>
              <a:rPr lang="fr-FR" sz="2800" dirty="0"/>
              <a:t>Transports publics hors abonnement : tickets à l’unité</a:t>
            </a:r>
          </a:p>
        </p:txBody>
      </p:sp>
      <p:sp>
        <p:nvSpPr>
          <p:cNvPr id="3" name="Titre 2"/>
          <p:cNvSpPr>
            <a:spLocks noGrp="1"/>
          </p:cNvSpPr>
          <p:nvPr>
            <p:ph type="title"/>
          </p:nvPr>
        </p:nvSpPr>
        <p:spPr/>
        <p:txBody>
          <a:bodyPr>
            <a:normAutofit/>
          </a:bodyPr>
          <a:lstStyle/>
          <a:p>
            <a:r>
              <a:rPr lang="fr-FR" sz="3067" dirty="0"/>
              <a:t>Le forfait mobilités durables (FMD) : modes éligibles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69133" cy="3779520"/>
        </p:xfrm>
        <a:graphic>
          <a:graphicData uri="http://schemas.openxmlformats.org/drawingml/2006/table">
            <a:tbl>
              <a:tblPr firstRow="1" bandRow="1">
                <a:tableStyleId>{5C22544A-7EE6-4342-B048-85BDC9FD1C3A}</a:tableStyleId>
              </a:tblPr>
              <a:tblGrid>
                <a:gridCol w="5200000"/>
                <a:gridCol w="3000000"/>
                <a:gridCol w="3069133"/>
              </a:tblGrid>
              <a:tr h="426720">
                <a:tc>
                  <a:txBody>
                    <a:bodyPr/>
                    <a:lstStyle/>
                    <a:p>
                      <a:r>
                        <a:rPr lang="fr-FR" sz="2000" b="1" dirty="0"/>
                        <a:t>Situation</a:t>
                      </a:r>
                    </a:p>
                  </a:txBody>
                  <a:tcPr marL="121920" marR="121920" marT="60960" marB="60960" anchor="ctr"/>
                </a:tc>
                <a:tc>
                  <a:txBody>
                    <a:bodyPr/>
                    <a:lstStyle/>
                    <a:p>
                      <a:pPr algn="ctr"/>
                      <a:r>
                        <a:rPr lang="fr-FR" sz="2000" b="1" dirty="0"/>
                        <a:t>Plafond annuel exonéré</a:t>
                      </a:r>
                    </a:p>
                  </a:txBody>
                  <a:tcPr marL="121920" marR="121920" marT="60960" marB="60960" anchor="ctr"/>
                </a:tc>
                <a:tc>
                  <a:txBody>
                    <a:bodyPr/>
                    <a:lstStyle/>
                    <a:p>
                      <a:pPr algn="ctr"/>
                      <a:r>
                        <a:rPr lang="fr-FR" sz="2000" b="1" dirty="0"/>
                        <a:t>Base</a:t>
                      </a:r>
                    </a:p>
                  </a:txBody>
                  <a:tcPr marL="121920" marR="121920" marT="60960" marB="60960" anchor="ctr"/>
                </a:tc>
              </a:tr>
              <a:tr h="426720">
                <a:tc>
                  <a:txBody>
                    <a:bodyPr/>
                    <a:lstStyle/>
                    <a:p>
                      <a:r>
                        <a:rPr lang="fr-FR" sz="2000" dirty="0"/>
                        <a:t>FMD seul</a:t>
                      </a:r>
                    </a:p>
                  </a:txBody>
                  <a:tcPr marL="121920" marR="121920" marT="60960" marB="60960" anchor="ctr"/>
                </a:tc>
                <a:tc>
                  <a:txBody>
                    <a:bodyPr/>
                    <a:lstStyle/>
                    <a:p>
                      <a:pPr algn="ctr"/>
                      <a:r>
                        <a:rPr lang="fr-FR" sz="2000" dirty="0"/>
                        <a:t>600 €</a:t>
                      </a:r>
                    </a:p>
                  </a:txBody>
                  <a:tcPr marL="121920" marR="121920" marT="60960" marB="60960" anchor="ctr"/>
                </a:tc>
                <a:tc>
                  <a:txBody>
                    <a:bodyPr/>
                    <a:lstStyle/>
                    <a:p>
                      <a:pPr algn="ctr"/>
                      <a:r>
                        <a:rPr lang="fr-FR" sz="2000" dirty="0"/>
                        <a:t>Arrêté du 4 sept. 2025</a:t>
                      </a:r>
                    </a:p>
                  </a:txBody>
                  <a:tcPr marL="121920" marR="121920" marT="60960" marB="60960" anchor="ctr"/>
                </a:tc>
              </a:tr>
              <a:tr h="1341120">
                <a:tc>
                  <a:txBody>
                    <a:bodyPr/>
                    <a:lstStyle/>
                    <a:p>
                      <a:r>
                        <a:rPr lang="fr-FR" sz="2000" dirty="0"/>
                        <a:t>FMD + prise en charge d’un abonnement de transports publics</a:t>
                      </a:r>
                    </a:p>
                  </a:txBody>
                  <a:tcPr marL="121920" marR="121920" marT="60960" marB="60960" anchor="ctr"/>
                </a:tc>
                <a:tc>
                  <a:txBody>
                    <a:bodyPr/>
                    <a:lstStyle/>
                    <a:p>
                      <a:pPr algn="ctr"/>
                      <a:r>
                        <a:rPr lang="fr-FR" sz="2000" dirty="0"/>
                        <a:t>900 €, ou montant de la prise en charge de l’abonnement si supérieur</a:t>
                      </a:r>
                    </a:p>
                  </a:txBody>
                  <a:tcPr marL="121920" marR="121920" marT="60960" marB="60960" anchor="ctr"/>
                </a:tc>
                <a:tc>
                  <a:txBody>
                    <a:bodyPr/>
                    <a:lstStyle/>
                    <a:p>
                      <a:pPr algn="ctr"/>
                      <a:r>
                        <a:rPr lang="fr-FR" sz="2000" dirty="0"/>
                        <a:t>Art. 81, 19° ter CGI</a:t>
                      </a:r>
                    </a:p>
                  </a:txBody>
                  <a:tcPr marL="121920" marR="121920" marT="60960" marB="60960" anchor="ctr"/>
                </a:tc>
              </a:tr>
              <a:tr h="731520">
                <a:tc>
                  <a:txBody>
                    <a:bodyPr/>
                    <a:lstStyle/>
                    <a:p>
                      <a:r>
                        <a:rPr lang="fr-FR" sz="2000" dirty="0"/>
                        <a:t>FMD + prime transport (carburant ou recharge)</a:t>
                      </a:r>
                    </a:p>
                  </a:txBody>
                  <a:tcPr marL="121920" marR="121920" marT="60960" marB="60960" anchor="ctr"/>
                </a:tc>
                <a:tc>
                  <a:txBody>
                    <a:bodyPr/>
                    <a:lstStyle/>
                    <a:p>
                      <a:pPr algn="ctr"/>
                      <a:r>
                        <a:rPr lang="fr-FR" sz="2000" dirty="0"/>
                        <a:t>600 € au total</a:t>
                      </a:r>
                    </a:p>
                  </a:txBody>
                  <a:tcPr marL="121920" marR="121920" marT="60960" marB="60960" anchor="ctr"/>
                </a:tc>
                <a:tc>
                  <a:txBody>
                    <a:bodyPr/>
                    <a:lstStyle/>
                    <a:p>
                      <a:pPr algn="ctr"/>
                      <a:r>
                        <a:rPr lang="fr-FR" sz="2000" dirty="0"/>
                        <a:t>Arrêté du 4 sept. 2025</a:t>
                      </a:r>
                    </a:p>
                  </a:txBody>
                  <a:tcPr marL="121920" marR="121920" marT="60960" marB="60960" anchor="ctr"/>
                </a:tc>
              </a:tr>
              <a:tr h="426720">
                <a:tc>
                  <a:txBody>
                    <a:bodyPr/>
                    <a:lstStyle/>
                    <a:p>
                      <a:r>
                        <a:rPr lang="fr-FR" sz="2000" dirty="0"/>
                        <a:t>FMD versé par titre-mobilité</a:t>
                      </a:r>
                    </a:p>
                  </a:txBody>
                  <a:tcPr marL="121920" marR="121920" marT="60960" marB="60960" anchor="ctr"/>
                </a:tc>
                <a:tc>
                  <a:txBody>
                    <a:bodyPr/>
                    <a:lstStyle/>
                    <a:p>
                      <a:pPr algn="ctr"/>
                      <a:r>
                        <a:rPr lang="fr-FR" sz="2000" dirty="0"/>
                        <a:t>Mêmes plafonds</a:t>
                      </a:r>
                    </a:p>
                  </a:txBody>
                  <a:tcPr marL="121920" marR="121920" marT="60960" marB="60960" anchor="ctr"/>
                </a:tc>
                <a:tc>
                  <a:txBody>
                    <a:bodyPr/>
                    <a:lstStyle/>
                    <a:p>
                      <a:pPr algn="ctr"/>
                      <a:r>
                        <a:rPr lang="fr-FR" sz="2000" dirty="0"/>
                        <a:t>Art. L. 3261-5 CT</a:t>
                      </a:r>
                    </a:p>
                  </a:txBody>
                  <a:tcPr marL="121920" marR="121920" marT="60960" marB="60960" anchor="ctr"/>
                </a:tc>
              </a:tr>
              <a:tr h="426720">
                <a:tc>
                  <a:txBody>
                    <a:bodyPr/>
                    <a:lstStyle/>
                    <a:p>
                      <a:r>
                        <a:rPr lang="fr-FR" sz="2000" dirty="0"/>
                        <a:t>Agents publics, pour mémoire</a:t>
                      </a:r>
                    </a:p>
                  </a:txBody>
                  <a:tcPr marL="121920" marR="121920" marT="60960" marB="60960" anchor="ctr"/>
                </a:tc>
                <a:tc>
                  <a:txBody>
                    <a:bodyPr/>
                    <a:lstStyle/>
                    <a:p>
                      <a:pPr algn="ctr"/>
                      <a:r>
                        <a:rPr lang="fr-FR" sz="2000" dirty="0"/>
                        <a:t>300 €</a:t>
                      </a:r>
                    </a:p>
                  </a:txBody>
                  <a:tcPr marL="121920" marR="121920" marT="60960" marB="60960" anchor="ctr"/>
                </a:tc>
                <a:tc>
                  <a:txBody>
                    <a:bodyPr/>
                    <a:lstStyle/>
                    <a:p>
                      <a:pPr algn="ctr"/>
                      <a:r>
                        <a:rPr lang="fr-FR" sz="2000" dirty="0"/>
                        <a:t>Décret n° 2020-543</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sz="3067" dirty="0"/>
              <a:t>Le forfait mobilités durables : plafonds d’exonération 2026</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69133" cy="3535677"/>
        </p:xfrm>
        <a:graphic>
          <a:graphicData uri="http://schemas.openxmlformats.org/drawingml/2006/table">
            <a:tbl>
              <a:tblPr firstRow="1" bandRow="1">
                <a:tableStyleId>{5C22544A-7EE6-4342-B048-85BDC9FD1C3A}</a:tableStyleId>
              </a:tblPr>
              <a:tblGrid>
                <a:gridCol w="4600000"/>
                <a:gridCol w="2400000"/>
                <a:gridCol w="4269133"/>
              </a:tblGrid>
              <a:tr h="365759">
                <a:tc>
                  <a:txBody>
                    <a:bodyPr/>
                    <a:lstStyle/>
                    <a:p>
                      <a:r>
                        <a:rPr lang="fr-FR" sz="1600" b="1" dirty="0"/>
                        <a:t>Cumul</a:t>
                      </a:r>
                    </a:p>
                  </a:txBody>
                  <a:tcPr marL="121920" marR="121920" marT="60960" marB="60960" anchor="ctr"/>
                </a:tc>
                <a:tc>
                  <a:txBody>
                    <a:bodyPr/>
                    <a:lstStyle/>
                    <a:p>
                      <a:pPr algn="ctr"/>
                      <a:r>
                        <a:rPr lang="fr-FR" sz="1600" b="1" dirty="0"/>
                        <a:t>Possible ?</a:t>
                      </a:r>
                    </a:p>
                  </a:txBody>
                  <a:tcPr marL="121920" marR="121920" marT="60960" marB="60960" anchor="ctr"/>
                </a:tc>
                <a:tc>
                  <a:txBody>
                    <a:bodyPr/>
                    <a:lstStyle/>
                    <a:p>
                      <a:pPr algn="ctr"/>
                      <a:r>
                        <a:rPr lang="fr-FR" sz="1600" b="1" dirty="0"/>
                        <a:t>Limite d’exonération</a:t>
                      </a:r>
                    </a:p>
                  </a:txBody>
                  <a:tcPr marL="121920" marR="121920" marT="60960" marB="60960" anchor="ctr"/>
                </a:tc>
              </a:tr>
              <a:tr h="609600">
                <a:tc>
                  <a:txBody>
                    <a:bodyPr/>
                    <a:lstStyle/>
                    <a:p>
                      <a:r>
                        <a:rPr lang="fr-FR" sz="1600" dirty="0"/>
                        <a:t>Abonnement de transports publics + FMD</a:t>
                      </a:r>
                    </a:p>
                  </a:txBody>
                  <a:tcPr marL="121920" marR="121920" marT="60960" marB="60960" anchor="ctr"/>
                </a:tc>
                <a:tc>
                  <a:txBody>
                    <a:bodyPr/>
                    <a:lstStyle/>
                    <a:p>
                      <a:pPr algn="ctr"/>
                      <a:r>
                        <a:rPr lang="fr-FR" sz="1600" dirty="0"/>
                        <a:t>Oui</a:t>
                      </a:r>
                    </a:p>
                  </a:txBody>
                  <a:tcPr marL="121920" marR="121920" marT="60960" marB="60960" anchor="ctr"/>
                </a:tc>
                <a:tc>
                  <a:txBody>
                    <a:bodyPr/>
                    <a:lstStyle/>
                    <a:p>
                      <a:pPr algn="ctr"/>
                      <a:r>
                        <a:rPr lang="fr-FR" sz="1600" dirty="0"/>
                        <a:t>900 € au total, ou montant de la prise en charge de l’abonnement si supérieur</a:t>
                      </a:r>
                    </a:p>
                  </a:txBody>
                  <a:tcPr marL="121920" marR="121920" marT="60960" marB="60960" anchor="ctr"/>
                </a:tc>
              </a:tr>
              <a:tr h="609600">
                <a:tc>
                  <a:txBody>
                    <a:bodyPr/>
                    <a:lstStyle/>
                    <a:p>
                      <a:r>
                        <a:rPr lang="fr-FR" sz="1600" dirty="0"/>
                        <a:t>Abonnement de transports publics + prime carburant</a:t>
                      </a:r>
                    </a:p>
                  </a:txBody>
                  <a:tcPr marL="121920" marR="121920" marT="60960" marB="60960" anchor="ctr"/>
                </a:tc>
                <a:tc>
                  <a:txBody>
                    <a:bodyPr/>
                    <a:lstStyle/>
                    <a:p>
                      <a:pPr algn="ctr"/>
                      <a:r>
                        <a:rPr lang="fr-FR" sz="1600" dirty="0"/>
                        <a:t>Oui, en 2026 seulement</a:t>
                      </a:r>
                    </a:p>
                  </a:txBody>
                  <a:tcPr marL="121920" marR="121920" marT="60960" marB="60960" anchor="ctr"/>
                </a:tc>
                <a:tc>
                  <a:txBody>
                    <a:bodyPr/>
                    <a:lstStyle/>
                    <a:p>
                      <a:pPr algn="ctr"/>
                      <a:r>
                        <a:rPr lang="fr-FR" sz="1600" dirty="0"/>
                        <a:t>Chaque dispositif dans sa propre limite</a:t>
                      </a:r>
                    </a:p>
                  </a:txBody>
                  <a:tcPr marL="121920" marR="121920" marT="60960" marB="60960" anchor="ctr"/>
                </a:tc>
              </a:tr>
              <a:tr h="365759">
                <a:tc>
                  <a:txBody>
                    <a:bodyPr/>
                    <a:lstStyle/>
                    <a:p>
                      <a:r>
                        <a:rPr lang="fr-FR" sz="1600" dirty="0"/>
                        <a:t>FMD + prime transport</a:t>
                      </a:r>
                    </a:p>
                  </a:txBody>
                  <a:tcPr marL="121920" marR="121920" marT="60960" marB="60960" anchor="ctr"/>
                </a:tc>
                <a:tc>
                  <a:txBody>
                    <a:bodyPr/>
                    <a:lstStyle/>
                    <a:p>
                      <a:pPr algn="ctr"/>
                      <a:r>
                        <a:rPr lang="fr-FR" sz="1600" dirty="0"/>
                        <a:t>Oui</a:t>
                      </a:r>
                    </a:p>
                  </a:txBody>
                  <a:tcPr marL="121920" marR="121920" marT="60960" marB="60960" anchor="ctr"/>
                </a:tc>
                <a:tc>
                  <a:txBody>
                    <a:bodyPr/>
                    <a:lstStyle/>
                    <a:p>
                      <a:pPr algn="ctr"/>
                      <a:r>
                        <a:rPr lang="fr-FR" sz="1600" dirty="0"/>
                        <a:t>600 € au total</a:t>
                      </a:r>
                    </a:p>
                  </a:txBody>
                  <a:tcPr marL="121920" marR="121920" marT="60960" marB="60960" anchor="ctr"/>
                </a:tc>
              </a:tr>
              <a:tr h="609600">
                <a:tc>
                  <a:txBody>
                    <a:bodyPr/>
                    <a:lstStyle/>
                    <a:p>
                      <a:r>
                        <a:rPr lang="fr-FR" sz="1600" dirty="0"/>
                        <a:t>Prime transport + indemnités kilométriques domicile-travail</a:t>
                      </a:r>
                    </a:p>
                  </a:txBody>
                  <a:tcPr marL="121920" marR="121920" marT="60960" marB="60960" anchor="ctr"/>
                </a:tc>
                <a:tc>
                  <a:txBody>
                    <a:bodyPr/>
                    <a:lstStyle/>
                    <a:p>
                      <a:pPr algn="ctr"/>
                      <a:r>
                        <a:rPr lang="fr-FR" sz="1600" dirty="0"/>
                        <a:t>Non, pour les mêmes frais</a:t>
                      </a:r>
                    </a:p>
                  </a:txBody>
                  <a:tcPr marL="121920" marR="121920" marT="60960" marB="60960" anchor="ctr"/>
                </a:tc>
                <a:tc>
                  <a:txBody>
                    <a:bodyPr/>
                    <a:lstStyle/>
                    <a:p>
                      <a:pPr algn="ctr"/>
                      <a:r>
                        <a:rPr lang="fr-FR" sz="1600" dirty="0"/>
                        <a:t>Pas de double prise en charge</a:t>
                      </a:r>
                    </a:p>
                  </a:txBody>
                  <a:tcPr marL="121920" marR="121920" marT="60960" marB="60960" anchor="ctr"/>
                </a:tc>
              </a:tr>
              <a:tr h="365759">
                <a:tc>
                  <a:txBody>
                    <a:bodyPr/>
                    <a:lstStyle/>
                    <a:p>
                      <a:r>
                        <a:rPr lang="fr-FR" sz="1600" dirty="0"/>
                        <a:t>FMD + vélo mis à disposition par l’employeur</a:t>
                      </a:r>
                    </a:p>
                  </a:txBody>
                  <a:tcPr marL="121920" marR="121920" marT="60960" marB="60960" anchor="ctr"/>
                </a:tc>
                <a:tc>
                  <a:txBody>
                    <a:bodyPr/>
                    <a:lstStyle/>
                    <a:p>
                      <a:pPr algn="ctr"/>
                      <a:r>
                        <a:rPr lang="fr-FR" sz="1600" dirty="0"/>
                        <a:t>Oui</a:t>
                      </a:r>
                    </a:p>
                  </a:txBody>
                  <a:tcPr marL="121920" marR="121920" marT="60960" marB="60960" anchor="ctr"/>
                </a:tc>
                <a:tc>
                  <a:txBody>
                    <a:bodyPr/>
                    <a:lstStyle/>
                    <a:p>
                      <a:pPr algn="ctr"/>
                      <a:r>
                        <a:rPr lang="fr-FR" sz="1600" dirty="0"/>
                        <a:t>Avantage en nature du vélo neutralisé</a:t>
                      </a:r>
                    </a:p>
                  </a:txBody>
                  <a:tcPr marL="121920" marR="121920" marT="60960" marB="60960" anchor="ctr"/>
                </a:tc>
              </a:tr>
              <a:tr h="609600">
                <a:tc gridSpan="3">
                  <a:txBody>
                    <a:bodyPr/>
                    <a:lstStyle/>
                    <a:p>
                      <a:r>
                        <a:rPr lang="fr-FR" sz="1600" dirty="0"/>
                        <a:t>Toute fraction au-delà des plafonds : complément de salaire soumis à cotisations, à CSG-CRDS et à l’impôt sur le revenu</a:t>
                      </a:r>
                    </a:p>
                  </a:txBody>
                  <a:tcPr marL="121920" marR="121920" marT="60960" marB="60960" anchor="ctr"/>
                </a:tc>
                <a:tc hMerge="1">
                  <a:txBody>
                    <a:bodyPr/>
                    <a:lstStyle/>
                    <a:p>
                      <a:endParaRPr lang="fr-FR"/>
                    </a:p>
                  </a:txBody>
                  <a:tcPr/>
                </a:tc>
                <a:tc hMerge="1">
                  <a:txBody>
                    <a:bodyPr/>
                    <a:lstStyle/>
                    <a:p>
                      <a:endParaRPr lang="fr-FR"/>
                    </a:p>
                  </a:txBody>
                  <a:tcPr/>
                </a:tc>
              </a:tr>
            </a:tbl>
          </a:graphicData>
        </a:graphic>
      </p:graphicFrame>
      <p:sp>
        <p:nvSpPr>
          <p:cNvPr id="3" name="Titre 2"/>
          <p:cNvSpPr>
            <a:spLocks noGrp="1"/>
          </p:cNvSpPr>
          <p:nvPr>
            <p:ph type="title"/>
          </p:nvPr>
        </p:nvSpPr>
        <p:spPr/>
        <p:txBody>
          <a:bodyPr>
            <a:normAutofit/>
          </a:bodyPr>
          <a:lstStyle/>
          <a:p>
            <a:r>
              <a:rPr lang="fr-FR" sz="3067" dirty="0"/>
              <a:t>Les cumuls autorisés en 2026, salarié par salarié</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69133" cy="3749039"/>
        </p:xfrm>
        <a:graphic>
          <a:graphicData uri="http://schemas.openxmlformats.org/drawingml/2006/table">
            <a:tbl>
              <a:tblPr firstRow="1" bandRow="1">
                <a:tableStyleId>{5C22544A-7EE6-4342-B048-85BDC9FD1C3A}</a:tableStyleId>
              </a:tblPr>
              <a:tblGrid>
                <a:gridCol w="5000000"/>
                <a:gridCol w="3200000"/>
                <a:gridCol w="3069133"/>
              </a:tblGrid>
              <a:tr h="396239">
                <a:tc>
                  <a:txBody>
                    <a:bodyPr/>
                    <a:lstStyle/>
                    <a:p>
                      <a:r>
                        <a:rPr lang="fr-FR" sz="1800" b="1" dirty="0"/>
                        <a:t>Situation du salarié (montants annuels)</a:t>
                      </a:r>
                    </a:p>
                  </a:txBody>
                  <a:tcPr marL="121920" marR="121920" marT="60960" marB="60960" anchor="ctr"/>
                </a:tc>
                <a:tc>
                  <a:txBody>
                    <a:bodyPr/>
                    <a:lstStyle/>
                    <a:p>
                      <a:pPr algn="ctr"/>
                      <a:r>
                        <a:rPr lang="fr-FR" sz="1800" b="1" dirty="0"/>
                        <a:t>Exonéré</a:t>
                      </a:r>
                    </a:p>
                  </a:txBody>
                  <a:tcPr marL="121920" marR="121920" marT="60960" marB="60960" anchor="ctr"/>
                </a:tc>
                <a:tc>
                  <a:txBody>
                    <a:bodyPr/>
                    <a:lstStyle/>
                    <a:p>
                      <a:pPr algn="ctr"/>
                      <a:r>
                        <a:rPr lang="fr-FR" sz="1800" b="1" dirty="0"/>
                        <a:t>Soumis</a:t>
                      </a:r>
                    </a:p>
                  </a:txBody>
                  <a:tcPr marL="121920" marR="121920" marT="60960" marB="60960" anchor="ctr"/>
                </a:tc>
              </a:tr>
              <a:tr h="670560">
                <a:tc>
                  <a:txBody>
                    <a:bodyPr/>
                    <a:lstStyle/>
                    <a:p>
                      <a:r>
                        <a:rPr lang="fr-FR" sz="1800" dirty="0"/>
                        <a:t>Zone rurale, véhicule diesel, prime carburant de 50 € par mois (600 €)</a:t>
                      </a:r>
                    </a:p>
                  </a:txBody>
                  <a:tcPr marL="121920" marR="121920" marT="60960" marB="60960" anchor="ctr"/>
                </a:tc>
                <a:tc>
                  <a:txBody>
                    <a:bodyPr/>
                    <a:lstStyle/>
                    <a:p>
                      <a:pPr algn="ctr"/>
                      <a:r>
                        <a:rPr lang="fr-FR" sz="1800" dirty="0"/>
                        <a:t>600 € en 2026 (300 € en 2025)</a:t>
                      </a:r>
                    </a:p>
                  </a:txBody>
                  <a:tcPr marL="121920" marR="121920" marT="60960" marB="60960" anchor="ctr"/>
                </a:tc>
                <a:tc>
                  <a:txBody>
                    <a:bodyPr/>
                    <a:lstStyle/>
                    <a:p>
                      <a:pPr algn="ctr"/>
                      <a:r>
                        <a:rPr lang="fr-FR" sz="1800" dirty="0"/>
                        <a:t>0 € en 2026 (300 € en 2025)</a:t>
                      </a:r>
                    </a:p>
                  </a:txBody>
                  <a:tcPr marL="121920" marR="121920" marT="60960" marB="60960" anchor="ctr"/>
                </a:tc>
              </a:tr>
              <a:tr h="670560">
                <a:tc>
                  <a:txBody>
                    <a:bodyPr/>
                    <a:lstStyle/>
                    <a:p>
                      <a:r>
                        <a:rPr lang="fr-FR" sz="1800" dirty="0"/>
                        <a:t>Abonnement TER de 1 200 €, pris en charge à 75 % (900 €)</a:t>
                      </a:r>
                    </a:p>
                  </a:txBody>
                  <a:tcPr marL="121920" marR="121920" marT="60960" marB="60960" anchor="ctr"/>
                </a:tc>
                <a:tc>
                  <a:txBody>
                    <a:bodyPr/>
                    <a:lstStyle/>
                    <a:p>
                      <a:pPr algn="ctr"/>
                      <a:r>
                        <a:rPr lang="fr-FR" sz="1800" dirty="0"/>
                        <a:t>900 €</a:t>
                      </a:r>
                    </a:p>
                  </a:txBody>
                  <a:tcPr marL="121920" marR="121920" marT="60960" marB="60960" anchor="ctr"/>
                </a:tc>
                <a:tc>
                  <a:txBody>
                    <a:bodyPr/>
                    <a:lstStyle/>
                    <a:p>
                      <a:pPr algn="ctr"/>
                      <a:r>
                        <a:rPr lang="fr-FR" sz="1800" dirty="0"/>
                        <a:t>0 €</a:t>
                      </a:r>
                    </a:p>
                  </a:txBody>
                  <a:tcPr marL="121920" marR="121920" marT="60960" marB="60960" anchor="ctr"/>
                </a:tc>
              </a:tr>
              <a:tr h="670560">
                <a:tc>
                  <a:txBody>
                    <a:bodyPr/>
                    <a:lstStyle/>
                    <a:p>
                      <a:r>
                        <a:rPr lang="fr-FR" sz="1800" dirty="0"/>
                        <a:t>Vélo : FMD de 500 € + abonnement de 1 000 € pris en charge à 50 % (500 €)</a:t>
                      </a:r>
                    </a:p>
                  </a:txBody>
                  <a:tcPr marL="121920" marR="121920" marT="60960" marB="60960" anchor="ctr"/>
                </a:tc>
                <a:tc>
                  <a:txBody>
                    <a:bodyPr/>
                    <a:lstStyle/>
                    <a:p>
                      <a:pPr algn="ctr"/>
                      <a:r>
                        <a:rPr lang="fr-FR" sz="1800" dirty="0"/>
                        <a:t>900 €</a:t>
                      </a:r>
                    </a:p>
                  </a:txBody>
                  <a:tcPr marL="121920" marR="121920" marT="60960" marB="60960" anchor="ctr"/>
                </a:tc>
                <a:tc>
                  <a:txBody>
                    <a:bodyPr/>
                    <a:lstStyle/>
                    <a:p>
                      <a:pPr algn="ctr"/>
                      <a:r>
                        <a:rPr lang="fr-FR" sz="1800" dirty="0"/>
                        <a:t>100 €</a:t>
                      </a:r>
                    </a:p>
                  </a:txBody>
                  <a:tcPr marL="121920" marR="121920" marT="60960" marB="60960" anchor="ctr"/>
                </a:tc>
              </a:tr>
              <a:tr h="670560">
                <a:tc>
                  <a:txBody>
                    <a:bodyPr/>
                    <a:lstStyle/>
                    <a:p>
                      <a:r>
                        <a:rPr lang="fr-FR" sz="1800" dirty="0"/>
                        <a:t>Covoiturage : FMD de 200 € + prime carburant de 500 €</a:t>
                      </a:r>
                    </a:p>
                  </a:txBody>
                  <a:tcPr marL="121920" marR="121920" marT="60960" marB="60960" anchor="ctr"/>
                </a:tc>
                <a:tc>
                  <a:txBody>
                    <a:bodyPr/>
                    <a:lstStyle/>
                    <a:p>
                      <a:pPr algn="ctr"/>
                      <a:r>
                        <a:rPr lang="fr-FR" sz="1800" dirty="0"/>
                        <a:t>600 €</a:t>
                      </a:r>
                    </a:p>
                  </a:txBody>
                  <a:tcPr marL="121920" marR="121920" marT="60960" marB="60960" anchor="ctr"/>
                </a:tc>
                <a:tc>
                  <a:txBody>
                    <a:bodyPr/>
                    <a:lstStyle/>
                    <a:p>
                      <a:pPr algn="ctr"/>
                      <a:r>
                        <a:rPr lang="fr-FR" sz="1800" dirty="0"/>
                        <a:t>100 €</a:t>
                      </a:r>
                    </a:p>
                  </a:txBody>
                  <a:tcPr marL="121920" marR="121920" marT="60960" marB="60960" anchor="ctr"/>
                </a:tc>
              </a:tr>
              <a:tr h="670560">
                <a:tc>
                  <a:txBody>
                    <a:bodyPr/>
                    <a:lstStyle/>
                    <a:p>
                      <a:r>
                        <a:rPr lang="fr-FR" sz="1800" dirty="0"/>
                        <a:t>Véhicule de fonction avec carburant payé par l’employeur, prime carburant de 300 €</a:t>
                      </a:r>
                    </a:p>
                  </a:txBody>
                  <a:tcPr marL="121920" marR="121920" marT="60960" marB="60960" anchor="ctr"/>
                </a:tc>
                <a:tc>
                  <a:txBody>
                    <a:bodyPr/>
                    <a:lstStyle/>
                    <a:p>
                      <a:pPr algn="ctr"/>
                      <a:r>
                        <a:rPr lang="fr-FR" sz="1800" dirty="0"/>
                        <a:t>0 €</a:t>
                      </a:r>
                    </a:p>
                  </a:txBody>
                  <a:tcPr marL="121920" marR="121920" marT="60960" marB="60960" anchor="ctr"/>
                </a:tc>
                <a:tc>
                  <a:txBody>
                    <a:bodyPr/>
                    <a:lstStyle/>
                    <a:p>
                      <a:pPr algn="ctr"/>
                      <a:r>
                        <a:rPr lang="fr-FR" sz="1800" dirty="0"/>
                        <a:t>300 €</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sz="3067" dirty="0"/>
              <a:t>Exemples chiffrés : ce qui est exonéré, ce qui est soumis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Régime des frais professionnels : l’employeur rembourse l’usage du véhicule personnel, sur justificatifs</a:t>
            </a:r>
          </a:p>
          <a:p>
            <a:pPr algn="just"/>
            <a:r>
              <a:rPr lang="fr-FR" sz="2400" dirty="0"/>
              <a:t>Exonérées si le salarié est contraint d’utiliser son véhicule : pas de transports collectifs ou horaires incompatibles</a:t>
            </a:r>
          </a:p>
          <a:p>
            <a:pPr algn="just"/>
            <a:r>
              <a:rPr lang="fr-FR" sz="2400" dirty="0"/>
              <a:t>L’éloignement du domicile ne doit pas résulter de convenances personnelles</a:t>
            </a:r>
          </a:p>
          <a:p>
            <a:pPr algn="just"/>
            <a:r>
              <a:rPr lang="fr-FR" sz="2400" dirty="0"/>
              <a:t>Dans la limite du barème kilométrique fiscal, inchangé en 2026 ; majoration de 20 % pour les véhicules électriques</a:t>
            </a:r>
          </a:p>
          <a:p>
            <a:pPr algn="just"/>
            <a:r>
              <a:rPr lang="fr-FR" sz="2400" dirty="0"/>
              <a:t>Pas de cumul avec la prime carburant pour les mêmes frais : choisir l’un ou l’autre</a:t>
            </a:r>
          </a:p>
        </p:txBody>
      </p:sp>
      <p:sp>
        <p:nvSpPr>
          <p:cNvPr id="3" name="Titre 2"/>
          <p:cNvSpPr>
            <a:spLocks noGrp="1"/>
          </p:cNvSpPr>
          <p:nvPr>
            <p:ph type="title"/>
          </p:nvPr>
        </p:nvSpPr>
        <p:spPr/>
        <p:txBody>
          <a:bodyPr>
            <a:normAutofit/>
          </a:bodyPr>
          <a:lstStyle/>
          <a:p>
            <a:r>
              <a:rPr lang="fr-FR" sz="3067" dirty="0"/>
              <a:t>Les indemnités kilométriques domicile-travail : un régime distinct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Vélo mis à disposition du salarié : avantage en nature neutralisé, cumulable avec le FMD (BOSS, opposable depuis le 1er juin 2026)</a:t>
            </a:r>
          </a:p>
          <a:p>
            <a:pPr algn="just"/>
            <a:r>
              <a:rPr lang="fr-FR" sz="2200" dirty="0"/>
              <a:t>Véhicule 100 % électrique de fonction : abattement de 70 % sur l’évaluation forfaitaire, plafonné à 4 641,60 € en 2026, jusqu’au 31 décembre 2027</a:t>
            </a:r>
          </a:p>
          <a:p>
            <a:pPr algn="just"/>
            <a:r>
              <a:rPr lang="fr-FR" sz="2200" dirty="0"/>
              <a:t>Électricité de recharge payée par l’employeur : exclue de l’avantage en nature jusqu’au 31 décembre 2027</a:t>
            </a:r>
          </a:p>
          <a:p>
            <a:pPr algn="just"/>
            <a:r>
              <a:rPr lang="fr-FR" sz="2200" dirty="0"/>
              <a:t>Borne installée au domicile et restituée : pas d’avantage en nature ; non restituée : 50 % des dépenses, plafonné à 1 057,10 € en 2026</a:t>
            </a:r>
          </a:p>
          <a:p>
            <a:pPr algn="just"/>
            <a:r>
              <a:rPr lang="fr-FR" sz="2200" dirty="0"/>
              <a:t>Réduction d’impôt sur les sociétés de 25 % pour les flottes de vélos, jusqu’au 31 décembre 2027</a:t>
            </a:r>
          </a:p>
        </p:txBody>
      </p:sp>
      <p:sp>
        <p:nvSpPr>
          <p:cNvPr id="3" name="Titre 2"/>
          <p:cNvSpPr>
            <a:spLocks noGrp="1"/>
          </p:cNvSpPr>
          <p:nvPr>
            <p:ph type="title"/>
          </p:nvPr>
        </p:nvSpPr>
        <p:spPr/>
        <p:txBody>
          <a:bodyPr>
            <a:normAutofit/>
          </a:bodyPr>
          <a:lstStyle/>
          <a:p>
            <a:r>
              <a:rPr lang="fr-FR" sz="3067" dirty="0"/>
              <a:t>Autres dispositifs liés à la mobilité : les avantages en nature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Aide forfaitaire de 100 € par véhicule, versée par l’État et non par l’employeur ; montant doublé le 21 mai 2026</a:t>
            </a:r>
          </a:p>
          <a:p>
            <a:pPr algn="just"/>
            <a:r>
              <a:rPr lang="fr-FR" sz="2400" dirty="0"/>
              <a:t>Salariés et indépendants utilisant un véhicule thermique ou hybride non rechargeable pour travailler</a:t>
            </a:r>
          </a:p>
          <a:p>
            <a:pPr algn="just"/>
            <a:r>
              <a:rPr lang="fr-FR" sz="2400" dirty="0"/>
              <a:t>Revenu fiscal de référence 2024 inférieur ou égal à 16 880 € par part</a:t>
            </a:r>
          </a:p>
          <a:p>
            <a:pPr algn="just"/>
            <a:r>
              <a:rPr lang="fr-FR" sz="2400" dirty="0"/>
              <a:t>Plus de 15 km par trajet domicile-travail, ou plus de 8 000 km professionnels par an</a:t>
            </a:r>
          </a:p>
          <a:p>
            <a:pPr algn="just"/>
            <a:r>
              <a:rPr lang="fr-FR" sz="2400" dirty="0"/>
              <a:t>Demande déclarative sur impots.gouv.fr, guichet prolongé jusqu’au 30 septembre 2026</a:t>
            </a:r>
          </a:p>
        </p:txBody>
      </p:sp>
      <p:sp>
        <p:nvSpPr>
          <p:cNvPr id="3" name="Titre 2"/>
          <p:cNvSpPr>
            <a:spLocks noGrp="1"/>
          </p:cNvSpPr>
          <p:nvPr>
            <p:ph type="title"/>
          </p:nvPr>
        </p:nvSpPr>
        <p:spPr/>
        <p:txBody>
          <a:bodyPr>
            <a:normAutofit/>
          </a:bodyPr>
          <a:lstStyle/>
          <a:p>
            <a:r>
              <a:rPr lang="fr-FR" sz="3067" dirty="0"/>
              <a:t>L’aide de l’État aux travailleurs « grands rouleurs » (hors paie)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69133" cy="4023359"/>
        </p:xfrm>
        <a:graphic>
          <a:graphicData uri="http://schemas.openxmlformats.org/drawingml/2006/table">
            <a:tbl>
              <a:tblPr firstRow="1" bandRow="1">
                <a:tableStyleId>{5C22544A-7EE6-4342-B048-85BDC9FD1C3A}</a:tableStyleId>
              </a:tblPr>
              <a:tblGrid>
                <a:gridCol w="3900000"/>
                <a:gridCol w="4300000"/>
                <a:gridCol w="3069133"/>
              </a:tblGrid>
              <a:tr h="365759">
                <a:tc>
                  <a:txBody>
                    <a:bodyPr/>
                    <a:lstStyle/>
                    <a:p>
                      <a:r>
                        <a:rPr lang="fr-FR" sz="1600" b="1" dirty="0"/>
                        <a:t>Dispositif</a:t>
                      </a:r>
                    </a:p>
                  </a:txBody>
                  <a:tcPr marL="121920" marR="121920" marT="60960" marB="60960" anchor="ctr"/>
                </a:tc>
                <a:tc>
                  <a:txBody>
                    <a:bodyPr/>
                    <a:lstStyle/>
                    <a:p>
                      <a:pPr algn="ctr"/>
                      <a:r>
                        <a:rPr lang="fr-FR" sz="1600" b="1" dirty="0"/>
                        <a:t>Plafond d’exonération 2026</a:t>
                      </a:r>
                    </a:p>
                  </a:txBody>
                  <a:tcPr marL="121920" marR="121920" marT="60960" marB="60960" anchor="ctr"/>
                </a:tc>
                <a:tc>
                  <a:txBody>
                    <a:bodyPr/>
                    <a:lstStyle/>
                    <a:p>
                      <a:pPr algn="ctr"/>
                      <a:r>
                        <a:rPr lang="fr-FR" sz="1600" b="1" dirty="0"/>
                        <a:t>Cumul principal</a:t>
                      </a:r>
                    </a:p>
                  </a:txBody>
                  <a:tcPr marL="121920" marR="121920" marT="60960" marB="60960" anchor="ctr"/>
                </a:tc>
              </a:tr>
              <a:tr h="609600">
                <a:tc>
                  <a:txBody>
                    <a:bodyPr/>
                    <a:lstStyle/>
                    <a:p>
                      <a:r>
                        <a:rPr lang="fr-FR" sz="1600" dirty="0"/>
                        <a:t>Abonnement de transports publics</a:t>
                      </a:r>
                    </a:p>
                  </a:txBody>
                  <a:tcPr marL="121920" marR="121920" marT="60960" marB="60960" anchor="ctr"/>
                </a:tc>
                <a:tc>
                  <a:txBody>
                    <a:bodyPr/>
                    <a:lstStyle/>
                    <a:p>
                      <a:pPr algn="ctr"/>
                      <a:r>
                        <a:rPr lang="fr-FR" sz="1600" dirty="0"/>
                        <a:t>50 % obligatoire exonéré ; jusqu’à 75 % exonéré en 2025 et 2026</a:t>
                      </a:r>
                    </a:p>
                  </a:txBody>
                  <a:tcPr marL="121920" marR="121920" marT="60960" marB="60960" anchor="ctr"/>
                </a:tc>
                <a:tc>
                  <a:txBody>
                    <a:bodyPr/>
                    <a:lstStyle/>
                    <a:p>
                      <a:pPr algn="ctr"/>
                      <a:r>
                        <a:rPr lang="fr-FR" sz="1600" dirty="0"/>
                        <a:t>FMD : 900 € au total</a:t>
                      </a:r>
                    </a:p>
                  </a:txBody>
                  <a:tcPr marL="121920" marR="121920" marT="60960" marB="60960" anchor="ctr"/>
                </a:tc>
              </a:tr>
              <a:tr h="609600">
                <a:tc>
                  <a:txBody>
                    <a:bodyPr/>
                    <a:lstStyle/>
                    <a:p>
                      <a:r>
                        <a:rPr lang="fr-FR" sz="1600" dirty="0"/>
                        <a:t>Prime carburant</a:t>
                      </a:r>
                    </a:p>
                  </a:txBody>
                  <a:tcPr marL="121920" marR="121920" marT="60960" marB="60960" anchor="ctr"/>
                </a:tc>
                <a:tc>
                  <a:txBody>
                    <a:bodyPr/>
                    <a:lstStyle/>
                    <a:p>
                      <a:pPr algn="ctr"/>
                      <a:r>
                        <a:rPr lang="fr-FR" sz="1600" dirty="0"/>
                        <a:t>600 € par an (300 € hors 2026)</a:t>
                      </a:r>
                    </a:p>
                  </a:txBody>
                  <a:tcPr marL="121920" marR="121920" marT="60960" marB="60960" anchor="ctr"/>
                </a:tc>
                <a:tc>
                  <a:txBody>
                    <a:bodyPr/>
                    <a:lstStyle/>
                    <a:p>
                      <a:pPr algn="ctr"/>
                      <a:r>
                        <a:rPr lang="fr-FR" sz="1600" dirty="0"/>
                        <a:t>FMD : 600 € au total ; abonnement : oui en 2026</a:t>
                      </a:r>
                    </a:p>
                  </a:txBody>
                  <a:tcPr marL="121920" marR="121920" marT="60960" marB="60960" anchor="ctr"/>
                </a:tc>
              </a:tr>
              <a:tr h="609600">
                <a:tc>
                  <a:txBody>
                    <a:bodyPr/>
                    <a:lstStyle/>
                    <a:p>
                      <a:r>
                        <a:rPr lang="fr-FR" sz="1600" dirty="0"/>
                        <a:t>Prime recharge électrique, hybride rechargeable, hydrogène</a:t>
                      </a:r>
                    </a:p>
                  </a:txBody>
                  <a:tcPr marL="121920" marR="121920" marT="60960" marB="60960" anchor="ctr"/>
                </a:tc>
                <a:tc>
                  <a:txBody>
                    <a:bodyPr/>
                    <a:lstStyle/>
                    <a:p>
                      <a:pPr algn="ctr"/>
                      <a:r>
                        <a:rPr lang="fr-FR" sz="1600" dirty="0"/>
                        <a:t>600 € par an</a:t>
                      </a:r>
                    </a:p>
                  </a:txBody>
                  <a:tcPr marL="121920" marR="121920" marT="60960" marB="60960" anchor="ctr"/>
                </a:tc>
                <a:tc>
                  <a:txBody>
                    <a:bodyPr/>
                    <a:lstStyle/>
                    <a:p>
                      <a:pPr algn="ctr"/>
                      <a:r>
                        <a:rPr lang="fr-FR" sz="1600" dirty="0"/>
                        <a:t>FMD : 600 € au total</a:t>
                      </a:r>
                    </a:p>
                  </a:txBody>
                  <a:tcPr marL="121920" marR="121920" marT="60960" marB="60960" anchor="ctr"/>
                </a:tc>
              </a:tr>
              <a:tr h="609600">
                <a:tc>
                  <a:txBody>
                    <a:bodyPr/>
                    <a:lstStyle/>
                    <a:p>
                      <a:r>
                        <a:rPr lang="fr-FR" sz="1600" dirty="0"/>
                        <a:t>Forfait mobilités durables</a:t>
                      </a:r>
                    </a:p>
                  </a:txBody>
                  <a:tcPr marL="121920" marR="121920" marT="60960" marB="60960" anchor="ctr"/>
                </a:tc>
                <a:tc>
                  <a:txBody>
                    <a:bodyPr/>
                    <a:lstStyle/>
                    <a:p>
                      <a:pPr algn="ctr"/>
                      <a:r>
                        <a:rPr lang="fr-FR" sz="1600" dirty="0"/>
                        <a:t>600 € par an ; 900 € avec un abonnement</a:t>
                      </a:r>
                    </a:p>
                  </a:txBody>
                  <a:tcPr marL="121920" marR="121920" marT="60960" marB="60960" anchor="ctr"/>
                </a:tc>
                <a:tc>
                  <a:txBody>
                    <a:bodyPr/>
                    <a:lstStyle/>
                    <a:p>
                      <a:pPr algn="ctr"/>
                      <a:r>
                        <a:rPr lang="fr-FR" sz="1600" dirty="0"/>
                        <a:t>Prime transport : 600 € au total</a:t>
                      </a:r>
                    </a:p>
                  </a:txBody>
                  <a:tcPr marL="121920" marR="121920" marT="60960" marB="60960" anchor="ctr"/>
                </a:tc>
              </a:tr>
              <a:tr h="609600">
                <a:tc>
                  <a:txBody>
                    <a:bodyPr/>
                    <a:lstStyle/>
                    <a:p>
                      <a:r>
                        <a:rPr lang="fr-FR" sz="1600" dirty="0"/>
                        <a:t>Indemnités kilométriques domicile-travail</a:t>
                      </a:r>
                    </a:p>
                  </a:txBody>
                  <a:tcPr marL="121920" marR="121920" marT="60960" marB="60960" anchor="ctr"/>
                </a:tc>
                <a:tc>
                  <a:txBody>
                    <a:bodyPr/>
                    <a:lstStyle/>
                    <a:p>
                      <a:pPr algn="ctr"/>
                      <a:r>
                        <a:rPr lang="fr-FR" sz="1600" dirty="0"/>
                        <a:t>Barème kilométrique fiscal, sous condition d’usage contraint</a:t>
                      </a:r>
                    </a:p>
                  </a:txBody>
                  <a:tcPr marL="121920" marR="121920" marT="60960" marB="60960" anchor="ctr"/>
                </a:tc>
                <a:tc>
                  <a:txBody>
                    <a:bodyPr/>
                    <a:lstStyle/>
                    <a:p>
                      <a:pPr algn="ctr"/>
                      <a:r>
                        <a:rPr lang="fr-FR" sz="1600" dirty="0"/>
                        <a:t>Pas avec la prime carburant</a:t>
                      </a:r>
                    </a:p>
                  </a:txBody>
                  <a:tcPr marL="121920" marR="121920" marT="60960" marB="60960" anchor="ctr"/>
                </a:tc>
              </a:tr>
              <a:tr h="609600">
                <a:tc>
                  <a:txBody>
                    <a:bodyPr/>
                    <a:lstStyle/>
                    <a:p>
                      <a:r>
                        <a:rPr lang="fr-FR" sz="1600" dirty="0"/>
                        <a:t>Aide de l’État « grands rouleurs »</a:t>
                      </a:r>
                    </a:p>
                  </a:txBody>
                  <a:tcPr marL="121920" marR="121920" marT="60960" marB="60960" anchor="ctr"/>
                </a:tc>
                <a:tc>
                  <a:txBody>
                    <a:bodyPr/>
                    <a:lstStyle/>
                    <a:p>
                      <a:pPr algn="ctr"/>
                      <a:r>
                        <a:rPr lang="fr-FR" sz="1600" dirty="0"/>
                        <a:t>100 € par véhicule, sous conditions de ressources</a:t>
                      </a:r>
                    </a:p>
                  </a:txBody>
                  <a:tcPr marL="121920" marR="121920" marT="60960" marB="60960" anchor="ctr"/>
                </a:tc>
                <a:tc>
                  <a:txBody>
                    <a:bodyPr/>
                    <a:lstStyle/>
                    <a:p>
                      <a:pPr algn="ctr"/>
                      <a:r>
                        <a:rPr lang="fr-FR" sz="1600" dirty="0"/>
                        <a:t>Cumulable, hors paie</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dirty="0"/>
              <a:t>Synthèse : les plafonds d’exonération 2026</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Formaliser la mise en place : accord ou décision unilatérale après consultation du CSE, mêmes conditions pour tous</a:t>
            </a:r>
          </a:p>
          <a:p>
            <a:pPr algn="just"/>
            <a:r>
              <a:rPr lang="fr-FR" sz="2200" dirty="0"/>
              <a:t>Collecter chaque année les attestations sur l’honneur et les justificatifs, les archiver dans le dossier</a:t>
            </a:r>
          </a:p>
          <a:p>
            <a:pPr algn="just"/>
            <a:r>
              <a:rPr lang="fr-FR" sz="2200" dirty="0"/>
              <a:t>Tenir un état de suivi des cumuls par salarié : abonnement, FMD, prime transport, fraction soumise</a:t>
            </a:r>
          </a:p>
          <a:p>
            <a:pPr algn="just"/>
            <a:r>
              <a:rPr lang="fr-FR" sz="2200" dirty="0"/>
              <a:t>Régulariser les primes versées depuis janvier 2026 au nouveau plafond de 600 €</a:t>
            </a:r>
          </a:p>
          <a:p>
            <a:pPr algn="just"/>
            <a:r>
              <a:rPr lang="fr-FR" sz="2200" dirty="0"/>
              <a:t>Anticiper le 1er janvier 2027 : retour à 300 € et aux conditions de droit commun, informer les clients dès le dernier trimestre 2026</a:t>
            </a:r>
          </a:p>
        </p:txBody>
      </p:sp>
      <p:sp>
        <p:nvSpPr>
          <p:cNvPr id="3" name="Titre 2"/>
          <p:cNvSpPr>
            <a:spLocks noGrp="1"/>
          </p:cNvSpPr>
          <p:nvPr>
            <p:ph type="title"/>
          </p:nvPr>
        </p:nvSpPr>
        <p:spPr/>
        <p:txBody>
          <a:bodyPr>
            <a:normAutofit/>
          </a:bodyPr>
          <a:lstStyle/>
          <a:p>
            <a:r>
              <a:rPr lang="fr-FR" dirty="0"/>
              <a:t>Points de vigilance 2026 et check-list cabinet</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1. En 2026, un salarié qui habite en centre-ville desservi par le métro peut recevoir une prime carburant exonérée</a:t>
            </a:r>
          </a:p>
          <a:p>
            <a:pPr algn="just"/>
            <a:r>
              <a:rPr lang="fr-FR" sz="2200" dirty="0"/>
              <a:t>2. Un salarié peut cumuler 600 € de prime carburant et 300 € de FMD en franchise totale</a:t>
            </a:r>
          </a:p>
          <a:p>
            <a:pPr algn="just"/>
            <a:r>
              <a:rPr lang="fr-FR" sz="2200" dirty="0"/>
              <a:t>3. L’employeur qui prend en charge 75 % d’un abonnement de train doit justifier l’éloignement du salarié</a:t>
            </a:r>
          </a:p>
          <a:p>
            <a:pPr algn="just"/>
            <a:r>
              <a:rPr lang="fr-FR" sz="2200" dirty="0"/>
              <a:t>4. Le plafond de 600 € s’apprécie tous employeurs confondus pour un salarié multi-employeurs</a:t>
            </a:r>
          </a:p>
          <a:p>
            <a:pPr algn="just"/>
            <a:r>
              <a:rPr lang="fr-FR" sz="2200" dirty="0"/>
              <a:t>5. Un salarié disposant d’un véhicule de fonction avec carburant payé peut recevoir la prime carburant exonérée</a:t>
            </a:r>
          </a:p>
        </p:txBody>
      </p:sp>
      <p:sp>
        <p:nvSpPr>
          <p:cNvPr id="3" name="Titre 2"/>
          <p:cNvSpPr>
            <a:spLocks noGrp="1"/>
          </p:cNvSpPr>
          <p:nvPr>
            <p:ph type="title"/>
          </p:nvPr>
        </p:nvSpPr>
        <p:spPr/>
        <p:txBody>
          <a:bodyPr>
            <a:normAutofit/>
          </a:bodyPr>
          <a:lstStyle/>
          <a:p>
            <a:r>
              <a:rPr lang="fr-FR" dirty="0"/>
              <a:t>Exercice : vrai ou faux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Code du travail : art. L. 3261-1 à L. 3261-5, R. 3261-1 à R. 3261-15 ; CGI : art. 81, 19° ter</a:t>
            </a:r>
          </a:p>
          <a:p>
            <a:pPr algn="just"/>
            <a:r>
              <a:rPr lang="fr-FR" sz="2200" dirty="0"/>
              <a:t>Arrêté du 4 septembre 2025 relatif aux frais professionnels, et ses textes modificatifs pour 2026</a:t>
            </a:r>
          </a:p>
          <a:p>
            <a:pPr algn="just"/>
            <a:r>
              <a:rPr lang="fr-FR" sz="2200" dirty="0"/>
              <a:t>Loi de finances pour 2026, n° 2026-103 du 19 février 2026, art. 68 (abonnements de transports publics)</a:t>
            </a:r>
          </a:p>
          <a:p>
            <a:pPr algn="just"/>
            <a:r>
              <a:rPr lang="fr-FR" sz="2200" dirty="0"/>
              <a:t>BOSS, rubrique Frais professionnels, chapitre Frais de transport domicile-lieu de travail ; communiqué du 6 août 2026</a:t>
            </a:r>
          </a:p>
          <a:p>
            <a:pPr algn="just"/>
            <a:r>
              <a:rPr lang="fr-FR" sz="2200" dirty="0"/>
              <a:t>urssaf.fr, actualité « Prime de carburant : mesures applicables en 2026 » ; impots.gouv.fr pour l’aide « grands rouleurs »</a:t>
            </a:r>
          </a:p>
        </p:txBody>
      </p:sp>
      <p:sp>
        <p:nvSpPr>
          <p:cNvPr id="3" name="Titre 2"/>
          <p:cNvSpPr>
            <a:spLocks noGrp="1"/>
          </p:cNvSpPr>
          <p:nvPr>
            <p:ph type="title"/>
          </p:nvPr>
        </p:nvSpPr>
        <p:spPr/>
        <p:txBody>
          <a:bodyPr>
            <a:normAutofit/>
          </a:bodyPr>
          <a:lstStyle/>
          <a:p>
            <a:r>
              <a:rPr lang="fr-FR" dirty="0"/>
              <a:t>Sources et textes de référence</a:t>
            </a:r>
          </a:p>
        </p:txBody>
      </p:sp>
    </p:spTree>
  </p:cSld>
  <p:clrMapOvr>
    <a:masterClrMapping/>
  </p:clrMapOvr>
</p:sld>
</file>

<file path=ppt/theme/theme1.xml><?xml version="1.0" encoding="utf-8"?>
<a:theme xmlns:a="http://schemas.openxmlformats.org/drawingml/2006/main" name="Personnalisé">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_72342536_TF10081922_Win32" id="{7BC52F11-DA02-48DC-8184-F5C159ED06F7}" vid="{67B1E8DC-E01C-42C6-94A3-40EB0BB60D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a774a2b-bdf9-4966-8a34-a8cc9bbcc689" xsi:nil="true"/>
    <lcf76f155ced4ddcb4097134ff3c332f xmlns="7be4420d-3530-4f80-a479-62b9a272b2b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4B10C6517D904B99912CD8D7E2C458" ma:contentTypeVersion="15" ma:contentTypeDescription="Crée un document." ma:contentTypeScope="" ma:versionID="e1cad357db00acc9fda58d3b7f94e267">
  <xsd:schema xmlns:xsd="http://www.w3.org/2001/XMLSchema" xmlns:xs="http://www.w3.org/2001/XMLSchema" xmlns:p="http://schemas.microsoft.com/office/2006/metadata/properties" xmlns:ns2="7be4420d-3530-4f80-a479-62b9a272b2b5" xmlns:ns3="4a774a2b-bdf9-4966-8a34-a8cc9bbcc689" targetNamespace="http://schemas.microsoft.com/office/2006/metadata/properties" ma:root="true" ma:fieldsID="e795a42cd59ecba587f8b9af401b3372" ns2:_="" ns3:_="">
    <xsd:import namespace="7be4420d-3530-4f80-a479-62b9a272b2b5"/>
    <xsd:import namespace="4a774a2b-bdf9-4966-8a34-a8cc9bbcc6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e4420d-3530-4f80-a479-62b9a272b2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5770225b-ab96-42e6-9610-3b2afa84431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774a2b-bdf9-4966-8a34-a8cc9bbcc6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110c81-1dd9-444e-a9e5-53b44b62586c}" ma:internalName="TaxCatchAll" ma:showField="CatchAllData" ma:web="4a774a2b-bdf9-4966-8a34-a8cc9bbcc689">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349358-775F-4CF9-9AE6-33A7901637E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B8FC0E5-78D4-4876-86AB-BD26F2374D61}"/>
</file>

<file path=customXml/itemProps3.xml><?xml version="1.0" encoding="utf-8"?>
<ds:datastoreItem xmlns:ds="http://schemas.openxmlformats.org/officeDocument/2006/customXml" ds:itemID="{FB2D96AF-4C9E-4DD0-A165-CD22BB87D09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{54908CF3-EE35-43F1-A75C-9B9358EDB6ED}TF96423eb0-8e02-4a99-b83b-bc60d19202d587b10bba_win32-6f1b4b62d9a7</Template>
  <TotalTime>11</TotalTime>
  <Words>11175</Words>
  <Application>Microsoft Office PowerPoint</Application>
  <PresentationFormat>Grand écran</PresentationFormat>
  <Paragraphs>946</Paragraphs>
  <Slides>124</Slides>
  <Notes>124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124</vt:i4>
      </vt:variant>
    </vt:vector>
  </HeadingPairs>
  <TitlesOfParts>
    <vt:vector size="134" baseType="lpstr">
      <vt:lpstr>ＭＳ Ｐゴシック</vt:lpstr>
      <vt:lpstr>Aptos</vt:lpstr>
      <vt:lpstr>Arial</vt:lpstr>
      <vt:lpstr>Calibri</vt:lpstr>
      <vt:lpstr>Quire Sans Pro Light</vt:lpstr>
      <vt:lpstr>Tisa Offc Serif Pro</vt:lpstr>
      <vt:lpstr>Webdings</vt:lpstr>
      <vt:lpstr>Wingdings</vt:lpstr>
      <vt:lpstr>Wingdings 3</vt:lpstr>
      <vt:lpstr>Personnalisé</vt:lpstr>
      <vt:lpstr>LES ESSENTIELS DU BTP</vt:lpstr>
      <vt:lpstr>Présentation PowerPoint</vt:lpstr>
      <vt:lpstr>Séquence 1 </vt:lpstr>
      <vt:lpstr>Les 3 niveaux de hiérarchie du code  de travail</vt:lpstr>
      <vt:lpstr>La négociation d’entreprise et la CCN</vt:lpstr>
      <vt:lpstr>Les particularités des conventions collectives du BTP (1)</vt:lpstr>
      <vt:lpstr>Les particularités des conventions collectives du Btp (2)</vt:lpstr>
      <vt:lpstr>avertissement</vt:lpstr>
      <vt:lpstr>Les particularités des conventions collectives du Btp (3)</vt:lpstr>
      <vt:lpstr>Conventions collectives BTP</vt:lpstr>
      <vt:lpstr>Conventions collectives : Information des salariés</vt:lpstr>
      <vt:lpstr>Séquence 2 </vt:lpstr>
      <vt:lpstr>L’embauche : Les obligations dans un contexte de responsabilité de l’employeur</vt:lpstr>
      <vt:lpstr>L’embauche : Mesures pour assurer la santé et la sécurité des salariés</vt:lpstr>
      <vt:lpstr>L’embauche : les risques</vt:lpstr>
      <vt:lpstr>L’embauche : Pénibilité  </vt:lpstr>
      <vt:lpstr>L’embauche : La période d’essai</vt:lpstr>
      <vt:lpstr>L’embauche : CDD </vt:lpstr>
      <vt:lpstr>L’embauche : Le contrat de travail </vt:lpstr>
      <vt:lpstr>L’embauche : Forfait jours </vt:lpstr>
      <vt:lpstr>L’embauche : Exercice</vt:lpstr>
      <vt:lpstr>Séquence 3 </vt:lpstr>
      <vt:lpstr>Présentation PowerPoint</vt:lpstr>
      <vt:lpstr>Le brut : classification et rémunération (1)</vt:lpstr>
      <vt:lpstr>Le brut : classification et rémunération (2)</vt:lpstr>
      <vt:lpstr>Le brut : Rémunération minimum conventionnelle </vt:lpstr>
      <vt:lpstr>Le brut : Les heures</vt:lpstr>
      <vt:lpstr>Le brut : Les heures supplémentaires (1)</vt:lpstr>
      <vt:lpstr>Le brut : Les heures supplémentaires (2)</vt:lpstr>
      <vt:lpstr>Le travail de nuit </vt:lpstr>
      <vt:lpstr>Le travail  des jours fériés (ouvriers)</vt:lpstr>
      <vt:lpstr>Les apprentis (1)</vt:lpstr>
      <vt:lpstr>Les apprentis (2)</vt:lpstr>
      <vt:lpstr>Les apprentis (3)</vt:lpstr>
      <vt:lpstr>Le brut : Les primes </vt:lpstr>
      <vt:lpstr>Les trajets</vt:lpstr>
      <vt:lpstr>Le temps de travail effectif et les temps de trajet</vt:lpstr>
      <vt:lpstr>Le brut : les temps de trajet (1)</vt:lpstr>
      <vt:lpstr>Le brut : les temps de trajet (2)</vt:lpstr>
      <vt:lpstr>Le brut : les temps de trajet (3)</vt:lpstr>
      <vt:lpstr>Le brut et l’indemnité de trajet SELON LA CONVENTION COLLECTIVE</vt:lpstr>
      <vt:lpstr>Le brut et l’indemnité de trajet POSITION DE LA COUR DE CASSATION</vt:lpstr>
      <vt:lpstr>Le brut, l’indemnité de trajet et l'URSSAF</vt:lpstr>
      <vt:lpstr>Séquence 4  </vt:lpstr>
      <vt:lpstr>Présentation PowerPoint</vt:lpstr>
      <vt:lpstr>Avec le BOSS disparition des frais d’entreprise</vt:lpstr>
      <vt:lpstr>Les frais professionnels et de déplacement :  Les grands déplacements (1)</vt:lpstr>
      <vt:lpstr>Les frais professionnels et de déplacement :  Les grands déplacements (2)</vt:lpstr>
      <vt:lpstr>Les frais de grands déplacements et  La déduction forfaitaire spécifique</vt:lpstr>
      <vt:lpstr>Les frais professionnels et de déplacement : Les voyages </vt:lpstr>
      <vt:lpstr>Avant de traiter les petits déplacements </vt:lpstr>
      <vt:lpstr>Les frais professionnels et de déplacements :  Autres frais professionnels </vt:lpstr>
      <vt:lpstr>Les frais professionnels :  Indemnités de petits déplacements (1)</vt:lpstr>
      <vt:lpstr>Les frais professionnels :  Indemnités de petits déplacements (2)</vt:lpstr>
      <vt:lpstr>Les frais professionnels :  La déduction forfaitaire spécifique</vt:lpstr>
      <vt:lpstr>Les frais professionnels : le brut et La déduction forfaitaire spécifique</vt:lpstr>
      <vt:lpstr>Les frais professionnels : La déduction forfaitaire spécifique et le calcul du net imposable</vt:lpstr>
      <vt:lpstr>Séquence 5  </vt:lpstr>
      <vt:lpstr>Présentation PowerPoint</vt:lpstr>
      <vt:lpstr>Les cotisations : versées à l’URSSAF</vt:lpstr>
      <vt:lpstr>Les cotisations : versées à l’URSSAF</vt:lpstr>
      <vt:lpstr>Les cotisations : versées à l’URSSAF</vt:lpstr>
      <vt:lpstr>Les cotisations : versées à l’URSSAF</vt:lpstr>
      <vt:lpstr>Les cotisations : versées à l’URSSAF</vt:lpstr>
      <vt:lpstr>URSSAF : la réduction générale des cotisations patronales sur les bas salaires (ex réduction Fillon) </vt:lpstr>
      <vt:lpstr>URSSAF : la réduction générale des cotisations patronales sur les bas salaires (ex réduction Fillon) </vt:lpstr>
      <vt:lpstr>réduction du plafond SS dans le BTP(1)</vt:lpstr>
      <vt:lpstr>réduction du plafond SS dans le BTP(2)</vt:lpstr>
      <vt:lpstr>Les cotisations : Les autres cotisations </vt:lpstr>
      <vt:lpstr>Cotisations retraite (ETAM)</vt:lpstr>
      <vt:lpstr>BTp ET FORMATION CONTINUE</vt:lpstr>
      <vt:lpstr>Garanties prévoyance PRO-BTP </vt:lpstr>
      <vt:lpstr>Mutuelle santé </vt:lpstr>
      <vt:lpstr>Caisse congés payés et cotisation syndicale</vt:lpstr>
      <vt:lpstr>Impact du secteur sur les bases fiscales </vt:lpstr>
      <vt:lpstr>LE BULLETIN DE PAYE </vt:lpstr>
      <vt:lpstr>Séquence 6 </vt:lpstr>
      <vt:lpstr>Présentation PowerPoint</vt:lpstr>
      <vt:lpstr>Les évènements courants : Maternité </vt:lpstr>
      <vt:lpstr>Les évènements courants : maladie (1)</vt:lpstr>
      <vt:lpstr>Les évènements courants : maladie (2) </vt:lpstr>
      <vt:lpstr>Les évènements courants : maladie et contrat incapacité de travail</vt:lpstr>
      <vt:lpstr>Les évènements courants : maladie et indemnités  (- 90 jours) versées par PRO-BTP aux ouvriers du bâtiment </vt:lpstr>
      <vt:lpstr>Les évènements courants : maladie et indemnités  (- 90 jours) versées par PRO-BTP aux ouvriers des travaux publics </vt:lpstr>
      <vt:lpstr>Les évènements courants : maladie et indemnités (+ 90 jours) versées par PRO-BTP aux ouvriers (1) </vt:lpstr>
      <vt:lpstr>Les évènements courants : maladie et indemnités (+ 90 jours) versées par PRO-BTP aux ouvriers (2) </vt:lpstr>
      <vt:lpstr>Les évènements courants : Les congés payés</vt:lpstr>
      <vt:lpstr>Les congés payés et le plafond SS </vt:lpstr>
      <vt:lpstr>Les congés payés et un jour férié</vt:lpstr>
      <vt:lpstr>Les évènements courants : Les indemnités</vt:lpstr>
      <vt:lpstr>Les évènements courants : Congés payés  Particularités Etam/cadres</vt:lpstr>
      <vt:lpstr>Les évènements courants : Les intempéries</vt:lpstr>
      <vt:lpstr>Les évènements courants : Les intempéries</vt:lpstr>
      <vt:lpstr>Les intempéries</vt:lpstr>
      <vt:lpstr>Séquence 7</vt:lpstr>
      <vt:lpstr>Présentation PowerPoint</vt:lpstr>
      <vt:lpstr>CDD : renouvellement, transformation en CDI</vt:lpstr>
      <vt:lpstr>Fin de contrat : documents à remettre</vt:lpstr>
      <vt:lpstr>La Rupture : Préavis</vt:lpstr>
      <vt:lpstr>La Rupture : Licenciement (1)</vt:lpstr>
      <vt:lpstr>La Rupture : Licenciement (2)</vt:lpstr>
      <vt:lpstr>La Rupture : Licenciement (3)</vt:lpstr>
      <vt:lpstr>Départ en retraite : visite médicale</vt:lpstr>
      <vt:lpstr>La Rupture : Indemnités de départ  à la retraite (1)</vt:lpstr>
      <vt:lpstr>La Rupture : Indemnités de départ  à la retraite (2)</vt:lpstr>
      <vt:lpstr>La Rupture : Indemnités de mise  à la retraite (1) </vt:lpstr>
      <vt:lpstr>La Rupture : Indemnités de mise  à la retraite (2)</vt:lpstr>
      <vt:lpstr>La Rupture : Indemnités de mise  à la retraite (2)</vt:lpstr>
      <vt:lpstr>Que retenir : points principaux pouvant être modifiés par accord d’entreprise</vt:lpstr>
      <vt:lpstr>Que retenir des conventions collectives des ouvriers du Bâtiment - 07/03/2018 (1)</vt:lpstr>
      <vt:lpstr>Que retenir des conventions collectives des ouvriers du Bâtiment - 07/03/2018 (2)</vt:lpstr>
      <vt:lpstr>Que retenir des conventions collectives des ouvriers du Bâtiment - 07/03/2018 (3)</vt:lpstr>
      <vt:lpstr>Ordre du jour</vt:lpstr>
      <vt:lpstr>La puissance de la communication</vt:lpstr>
      <vt:lpstr>Surmontez la nervosité</vt:lpstr>
      <vt:lpstr>Suscitez l’intérêt du public</vt:lpstr>
      <vt:lpstr>Sélection d’aides visuelles</vt:lpstr>
      <vt:lpstr>Techniques de discours efficaces</vt:lpstr>
      <vt:lpstr>Navigation dans les sessions de Q&amp;R</vt:lpstr>
      <vt:lpstr>Impact du discours</vt:lpstr>
      <vt:lpstr>Discours dynamique</vt:lpstr>
      <vt:lpstr>Derniers conseils et points importants à retenir</vt:lpstr>
      <vt:lpstr>Mesures d’engagement du discours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Florence Rendu</dc:creator>
  <cp:lastModifiedBy>Florence Rendu</cp:lastModifiedBy>
  <cp:revision>1</cp:revision>
  <dcterms:created xsi:type="dcterms:W3CDTF">2025-09-16T06:35:21Z</dcterms:created>
  <dcterms:modified xsi:type="dcterms:W3CDTF">2026-09-06T17:22:48Z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0x0101008E4B10C6517D904B99912CD8D7E2C458</vt:lpwstr>
  </property>
</Properties>
</file>