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Accueil des participants. Tour de table rapide : logiciel de paie utilisé, secteurs des dossiers, attentes particulières (les noter au paperboard pour y revenir en fin de journée).
Annoncer le rythme : 6 séquences, un cas pratique par séquence, un quiz par séquence et un quiz final par équipes. Les points sont comptés : l'équipe gagnante est désignée à 16h30.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troisième objectif : l'épargne salariale est le fil rouge de l'après-midi parce que 2026 est une année charnière (fin du régime renforcé de la PPV au 31 décembre, obligation de partage de la valeur dans les entreprises de 11 à 49 salariés, projet de déblocage exceptionnel).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 de formation effective : 6 heures (hors pauses et déjeuner). Le programme est indicatif : la séquence 5 est la plus longue (1h20), ne pas la compresser.
Chaque séquence se termine par un quiz de 3 à 5 questions : compter les points par équipe.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d'échauffement en équipes, réponses à main levée. Ne pas commenter longuement : chaque affirmation sera reprise dans la journée. Noter au tableau les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commentées. Quiz d'échauffement en équipes, réponses à main levée. Ne pas commenter longuement : chaque affirmation sera reprise dans la journée. Noter au tableau les scores.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1 : 09h20 – 10h15.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Urssaf.fr « Le Smic et le minimum garanti augmentent au 1er juin 2026 » ; Prism'emploi ; Centre Inffo. SMIC net indicatif hors mutuelle et prélèvement à la source.
Question à poser : « Qui a dû corriger des salaires en juin ? » Enchaîner sur les effets en cascade.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tableau est le cœur de la séquence : chaque ligne est un point de contrôle du bulletin de juin.
Assiette du SMIC : exclure les majorations d'heures supplémentaires, la prime d'ancienneté, les primes d'assiduité non liées au travail effectué, les remboursements de frais et les sommes versées au titre de l'épargne salariale.
Sources : compta-online (apprentis, seuil 933,51 €) ; Éditions Tissot et LégiSocial (activité partielle 1er juin 2026) ; LégiSocial « Revalorisation des IJSS maladie au 1er juillet 2026 » ; MaPaye (gel du SMIC RGDU, décret du 12 juin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 pas refaire tout le cours sur la RGDU : l'objectif est de lever le doute sur le SMIC de référence après la revalorisation de juin. Le logiciel de paie doit conserver le SMIC du 1er janvier pour la RGDU alors qu'il applique le nouveau SMIC pour le salaire, les apprentis et l'activité partielle.
Sources : Urssaf.fr « Point sur l'application de la RGDU en 2026 » ; linc.fr ; MaPaye (décret du 12 juin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travailler en binômes 12 minutes, restitution 8 minutes. Barème de rémunération des apprentis (contrats conclus depuis 2019) : 21-25 ans, 2e année = 61 % du SMIC.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de vigilance sur la question 3 : l'indemnité d'activité partielle est un revenu de remplacement (CSG 6,2 %, CRDS 0,5 % après abattement de 1,75 %), pas un salaire. Elle est exonérée de cotisations.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par équipes, 30 secondes par question. Compter 1 point par bonne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commentées. Quiz par équipes, 30 secondes par question. Compter 1 point par bonne réponse.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2 : 10h30 – 11h20.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ameli.fr (assurés et entreprises), Code du travail numérique, décrets du 30 mai 2026 sur Légifrance, LégiSocial « Comment déclarer le nouveau congé supplémentaire de naissance en DSN ».
L'entrée en vigueur juridique était le 1er juin 2026 ; la mise en œuvre opérationnelle par l'Assurance maladie a été fixée au 1er juillet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ameli.fr « Congé supplémentaire de naissance : vos indemnités journalières » ; net-entreprises fiche DSN « Congé supplémentaire de naissance en DSN » ; Éditions Tissot « Congé supplémentaire de naissance : les réponses d'Ameli ».
Point d'attention : la position sur l'acquisition des congés payés n'était pas encore commentée par le BOSS au 12 septembre 2026. Le réflexe prudent est l'assimilation à du travail effectif, comme pour le congé de paternité.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ameli.fr « Arrêts de travail pour maladie : ce qui change au 1er septembre 2026 » ; Code du travail numérique ; LégiSocial « Loi contre les fraudes sociales et fiscales : les principales mesures RH et paie ».
Question fréquente : un arrêt de 45 jours prescrit le 5 septembre est-il valable ? Oui si le médecin a justifié la durée ; sinon la CPAM peut réduire ou refuser l'indemnisation.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compta-online « Calcul des IJSS maladie 2026 » ; LégiSocial ; LégiFiscal « Budget 2027 : Sébastien Lecornu esquisse un PLF 2027 ».
Le plafond de 1,4 SMIC s'applique aux arrêts maladie ; les IJ maternité, paternité et AT/MP conservent leurs propres plafonds.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Service-public.fr « Des changements dans les bonifications de retraite liées aux enfants » ; L'Assurance retraite ; Previssima et altis-conseil (tableau des générations) ; LégiSocial (CVE).
Rappeler que la suspension ne modifie pas les cotisations : seuls les âges et durées changent.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point par bonne réponse. Reprendre le score cumulé avant de passer à la séquence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commentées. 1 point par bonne réponse. Reprendre le score cumulé avant de passer à la séquence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3 : 11h20 – 12h15.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Service-public Entreprendre « Versement mobilité : les taux évoluent au 1er juillet 2026 » ; LégiSocial « Le taux de la cotisation AGS reste fixé à 0,25 % au 1er juillet 2026 » ; Urssaf.fr « Bonus-malus : évolutions au 1er mars 2026 » ; Éditions Tissot (déduction forfaitaire heures supplémentaires) ; Village de la justice (prime carburant 2026) ; Pluxee (titres-restaurant).
Le versement mobilité ne change en principe qu'au 1er janvier et au 1er juillet : la création d'un nouveau ressort (Poher Communauté) explique la date du 1er septembre.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economie.gouv.fr « Comment gérer votre taux de prélèvement à la source » ; Actualités Paie « PAS : nouveau taux au 1er septembre 2026 » ; net-entreprises « Participation / intéressement : modalités d'application du PAS en PASRAU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 légale : art. L. 133-5-3-1 CSS (LFSS 2020) et décret d'application de 2023. Sources : Sage Advice « DSN de substitution 2026 », Lefebvre Dalloz Compétences « L'Urssaf précise ses modalités d'application », Rydge « Ce qui est acté pour 2026 ».
Message clé : ce n'est pas l'Urssaf qui « refait la paie », c'est le déclarant qui a laissé passer deux mois sans réagir.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LégiSocial « Loi contre les fraudes sociales et fiscales : les principales mesures RH et paie » ; Service-public Entreprendre « Mise en place d'une procédure de flagrance sociale » ; CMS Francis Lefebvre ; economie.gouv.fr.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LégiSocial « Prud'hommes, Urssaf, médiation : les nouveautés au 1er octobre 2026 » ; réseaux d'expertise comptable (Dexeris, Exaudis) « Procédures sociales : nouvelles mesures de simplification » ; cabinet Kohen (exécution forcée des créances sociales).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Restitution en plénière. Pour la question 3, faire le lien avec la séquence 4 (attestation sur l'honneur télétravail) et les barèmes BOSS 2026 : 2,70 € par jour de télétravail dans la limite de 59,40 € par mois.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Sage Advice (DSN de substitution) ; LégiSocial « Réduction loi TEPA 2026 » ; Pluxee et juritravail (titres-restaurant et télétravail) ; Service-public « Remboursement des frais de télétravail : quel barème en 2026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Dernier quiz de la matinée. Annoncer le score des équipes avant le déjeuner.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commentées. Dernier quiz de la matinée. Annoncer le score des équipes avant le déjeuner.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4 : 13h30 – 14h30. Réveiller la salle avec la question : « Quel arrêt de l'été vous a le plus surpris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LégiSocial « Heures supplémentaires : l'interdiction ne suffit pas si le travail l'impose » ; Légifrance (arrêts du 3 juin, 25 juin et 1er juillet 2026) ; Lefebvre Dalloz La Quotidienne du 31 août 2026 (rupture conventionnelle) et du 3 septembre 2026 (apparence physique) ; Asfelia (annualisation).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Légifrance JURITEXT000054218385 ; Asfelia « Maladie en période de haute activité : la Cour de cassation fixe la méthode de calcul » ; Sancy Avocats et ANDRH (revirement du 10 septembre 2025 sur les congés payés).
Nuance : l'absence pour maladie n'ouvre pas droit à majoration, mais elle ne doit pas non plus pénaliser le salarié.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Urssaf.fr « Les indemnités de rupture conventionnelle » ; LégiSocial et culture-rh « Indemnités de rupture : régime social et fiscal 2026 » ; Lefebvre Dalloz (arrêt du 1er juillet 2026, n° 25-14.861).
Salarié en droit de liquider une pension de retraite : régime social identique (exonération dans les mêmes limites et contribution de 40 % sur la part exonérée) mais indemnité imposable dès le 1er euro.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Indemnité légale pour mémoire : 1/4 de mois par année jusqu'à 10 ans, soit 8 × 900 = 7 200 €. Faire chiffrer en binômes.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Coût total employeur de la rupture : 15 000 + 6 000 = 21 000 € hors préavis. Faire remarquer l'effet de la hausse de 30 à 40 % : 1 500 € de plus qu'en 2025 sur ce seul dossier.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document remis « Canicule : le ministère du travail rappelle les conditions de recours à l'activité partielle » (Lefebvre Dalloz, 6 juillet 2026) ; Éditions Tissot et LégiSocial (montants au 1er juin 2026, gel des planchers) ; compta-online « Comment évolue l'activité partielle en 2026 ».
Régime social de l'indemnité : revenu de remplacement, CSG 6,2 % et CRDS 0,5 % après abattement de 1,75 %, avec écrêtement au SMIC 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remis : « Attestation sur l'honneur du salarié en situation de télétravail » (modèle Word). Le distribuer et le commenter ligne par ligne ; proposer aux participants de l'adapter à leurs clients.
Sources barèmes : Service-public « Remboursement des frais de télétravail : quel barème en 2026 ? » ; LégiSocial « Évaluation des frais engagés par le salarié en télétravail 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remis : « Exiger un brushing pour travailler est discriminatoire » (Lefebvre Dalloz, 3 septembre 2026).
Élargir aux tenues vestimentaires : une exigence de présentation doit être justifiée par la tâche à accomplir et proportionnée au but recherché (art. L. 1121-1).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après ce quiz (14h30 – 14h45).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commentées. Pause après ce quiz (14h30 – 14h45).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5 : 14h45 – 16h05. C'est la séquence « rappel de dispositif » demandée : prendre le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citer les dispositifs présents chez les clients des participants. Rappeler que l'épargne salariale n'est pas un salaire : elle n'entre ni dans l'assiette des cotisations ni dans le SMIC, mais elle est soumise à CSG-CRDS et, selon les cas, au forfait social.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Code du travail art. L. 3322-1 et suivants, L. 3324-5, D. 3324-10 ; LégiFiscal « Participation des salariés : fiscalité et forfait social 2026 » ; Dougs et Legalstart (forfait social).
Rappeler l'accord de participation : négocié avec les délégués syndicaux ou le CSE, ou ratifié aux 2/3 du personnel ; déposé sur TéléAccords.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Code du travail art. L. 3312-1 et suivants ; Eres et Esancia (plafonds 2026) ; travail-industrie « Intéressement 2026 ».
Piège classique : un intéressement qui reproduit l'organigramme des salaires ou qui est garanti dans son montant perd le caractère aléatoire et collectif ; l'Urssaf le requalifie en salaire.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Esancia « Épargne collective entreprise 2026 : PEE, PERECO, PPV et abondement » ; Gomez Thomas « Épargne salariale 2026 : PEE, PERECO, plafonds » ; Voltaire Avocats (nouveaux cas de déblocage).
PASS 2026 : 48 060 €. Vérifier chaque année les plafonds d'abondement.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Urssaf.fr « La prime de partage de la valeur » ; Sancy Avocats « PPV : le guide employeur 2026 » ; Eurex « Partage de la valeur PME 2026 » ; net-entreprises « Déclarer la prime de partage de la valeur ».
Exemple à donner : 1 000 € versés en décembre 2026 à un salarié à 2 SMIC dans une entreprise de 30 salariés arrivent nets ; la même prime en janvier 2027 perd 97 € de CSG-CRDS et devient imposable.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Code du travail numérique « Partage de la valeur : nouvelle obligation pour les entreprises de 11 à moins de 50 salariés » ; loi n° 2023-1107 du 29 novembre 2023 ; EY Société d'Avocats ; KPMG Avocats.
Question aux participants : combien de dossiers du cabinet sont dans le champ des 11-49 ? Proposer un contrôle systématique à la clôture (bénéfice net fiscal ÷ chiffre d'affaires).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LégiSocial « Déblocage de l'épargne salariale 2026 : le Sénat adopte la proposition de loi en première lecture » ; dossier législatif Assemblée nationale DLR5L17N53699 ; Barthélémy Avocats ; Gerep.
Vérifier le jour de l'animation si la loi a été promulguée : si oui, mettre à jour la diapositive avec la date et la fin de la fenêtre.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net-entreprises (fiches PPV et PASRAU) ; Urssaf.fr (forfait social) ; nexco-expertise « PPV 2026 : montant, plafonds, RGDU ».
Astuce : demander au teneur de compte le fichier des affectations avant la paie de versement pour éviter les régularisations de CSG.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Prévoir 15 minutes de travail en sous-groupes et 10 minutes de restitution. SMIC de référence pour le seuil de 3 SMIC : 2 400 € correspond à environ 1,3 SMIC.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remarquer que la PPV 2026 est intégrée dans la rémunération retenue pour la RGDU : 1 500 € × 32 salariés réduisent la réduction annuelle de l'entreprise.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le plus long de la journée : 5 questions, 2 points chacune.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commentées. Quiz le plus long de la journée : 5 questions, 2 points chacune.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6 : 16h05 – 16h30.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s-paie newsletter septembre 2026 (SOLTéA) ; bpw.fr et Dairia Avocats (transparence salariale) ; Éditions Tissot « Simplification du bulletin de paie : mesure repoussée au 1er janvier 2027 » ; LégiSocial (fiches DSN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bpw.fr « Transparence salariale : ce que le projet de loi de 2026 change en France » ; Dairia Avocats « Projet de loi transparence salariale » ; Payfit « Transparence des salaires : les obligations en 2026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Quiz final par équipes : 2 points par bonne réponse. Cumuler avec les scores de la journée et désigner l'équipe gagnante.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Réponses commentées. Quiz final par équipes : 2 points par bonne réponse. Cumuler avec les scores de la journée et désigner l'équipe gagnante.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la check-list de paramétrage de rentrée (support de cours, annexe). Revenir sur les attentes notées le matin et vérifier qu'elles ont été traitées.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liens complets figurent dans le livret de l'animateur (support/ACTUALITE_PAIE_JUIN_SEPTEMBRE_2026.md). Vérifier les textes postérieurs au 12 septembre 2026 avant chaque animation.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Distribuer le questionnaire d'évaluation. Rappeler que le support est mis à jour à chaque texte nouveau et qu'une version actualisée sera envoyée après la publication de la LFSS 2027.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435369"/>
        </a:solidFill>
      </p:bgPr>
    </p:bg>
    <p:spTree>
      <p:nvGrpSpPr>
        <p:cNvPr id="1" name=""/>
        <p:cNvGrpSpPr/>
        <p:nvPr/>
      </p:nvGrpSpPr>
      <p:grpSpPr>
        <a:xfrm>
          <a:off x="0" y="0"/>
          <a:ext cx="0" cy="0"/>
          <a:chOff x="0" y="0"/>
          <a:chExt cx="0" cy="0"/>
        </a:xfrm>
      </p:grpSpPr>
      <p:sp>
        <p:nvSpPr>
          <p:cNvPr id="2" name="Shape 0"/>
          <p:cNvSpPr/>
          <p:nvPr/>
        </p:nvSpPr>
        <p:spPr>
          <a:xfrm>
            <a:off x="8412480" y="-1463040"/>
            <a:ext cx="5120640" cy="5120640"/>
          </a:xfrm>
          <a:prstGeom prst="ellipse">
            <a:avLst/>
          </a:prstGeom>
          <a:solidFill>
            <a:srgbClr val="8C3A27"/>
          </a:solidFill>
          <a:ln w="12700">
            <a:solidFill>
              <a:srgbClr val="8C3A27"/>
            </a:solidFill>
            <a:prstDash val="solid"/>
          </a:ln>
        </p:spPr>
      </p:sp>
      <p:sp>
        <p:nvSpPr>
          <p:cNvPr id="3" name="Shape 1"/>
          <p:cNvSpPr/>
          <p:nvPr/>
        </p:nvSpPr>
        <p:spPr>
          <a:xfrm>
            <a:off x="10241280" y="2926080"/>
            <a:ext cx="3108960" cy="3108960"/>
          </a:xfrm>
          <a:prstGeom prst="ellipse">
            <a:avLst/>
          </a:prstGeom>
          <a:solidFill>
            <a:srgbClr val="D9A390"/>
          </a:solidFill>
          <a:ln w="12700">
            <a:solidFill>
              <a:srgbClr val="D9A390"/>
            </a:solidFill>
            <a:prstDash val="solid"/>
          </a:ln>
        </p:spPr>
      </p:sp>
      <p:sp>
        <p:nvSpPr>
          <p:cNvPr id="4" name="Shape 2"/>
          <p:cNvSpPr/>
          <p:nvPr/>
        </p:nvSpPr>
        <p:spPr>
          <a:xfrm>
            <a:off x="-822960" y="5120640"/>
            <a:ext cx="2377440" cy="2377440"/>
          </a:xfrm>
          <a:prstGeom prst="ellipse">
            <a:avLst/>
          </a:prstGeom>
          <a:solidFill>
            <a:srgbClr val="2F3B4C"/>
          </a:solidFill>
          <a:ln w="12700">
            <a:solidFill>
              <a:srgbClr val="2F3B4C"/>
            </a:solidFill>
            <a:prstDash val="solid"/>
          </a:ln>
        </p:spPr>
      </p:sp>
      <p:sp>
        <p:nvSpPr>
          <p:cNvPr id="5" name="Text 3"/>
          <p:cNvSpPr txBox="1"/>
          <p:nvPr/>
        </p:nvSpPr>
        <p:spPr>
          <a:xfrm>
            <a:off x="548640" y="1371600"/>
            <a:ext cx="7680960" cy="21945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Actualité paie</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juin – septembre 2026</a:t>
            </a:r>
            <a:endParaRPr lang="en-US" sz="4400" dirty="0"/>
          </a:p>
        </p:txBody>
      </p:sp>
      <p:sp>
        <p:nvSpPr>
          <p:cNvPr id="6" name="Text 4"/>
          <p:cNvSpPr txBox="1"/>
          <p:nvPr/>
        </p:nvSpPr>
        <p:spPr>
          <a:xfrm>
            <a:off x="548640" y="3703320"/>
            <a:ext cx="7680960" cy="548640"/>
          </a:xfrm>
          <a:prstGeom prst="rect">
            <a:avLst/>
          </a:prstGeom>
          <a:noFill/>
          <a:ln/>
        </p:spPr>
        <p:txBody>
          <a:bodyPr wrap="square" lIns="0" tIns="0" rIns="0" bIns="0" rtlCol="0" anchor="ctr"/>
          <a:lstStyle/>
          <a:p>
            <a:pPr indent="0" marL="0">
              <a:buNone/>
            </a:pPr>
            <a:r>
              <a:rPr lang="en-US" sz="2200" dirty="0">
                <a:solidFill>
                  <a:srgbClr val="F2E5D8"/>
                </a:solidFill>
                <a:latin typeface="Calibri" pitchFamily="34" charset="0"/>
                <a:ea typeface="Calibri" pitchFamily="34" charset="-122"/>
                <a:cs typeface="Calibri" pitchFamily="34" charset="-120"/>
              </a:rPr>
              <a:t>Journée de formation des gestionnaires de paie</a:t>
            </a:r>
            <a:endParaRPr lang="en-US" sz="2200" dirty="0"/>
          </a:p>
        </p:txBody>
      </p:sp>
      <p:sp>
        <p:nvSpPr>
          <p:cNvPr id="7" name="Text 5"/>
          <p:cNvSpPr txBox="1"/>
          <p:nvPr/>
        </p:nvSpPr>
        <p:spPr>
          <a:xfrm>
            <a:off x="548640" y="4343400"/>
            <a:ext cx="7680960" cy="822960"/>
          </a:xfrm>
          <a:prstGeom prst="rect">
            <a:avLst/>
          </a:prstGeom>
          <a:noFill/>
          <a:ln/>
        </p:spPr>
        <p:txBody>
          <a:bodyPr wrap="square" lIns="0" tIns="0" rIns="0" bIns="0" rtlCol="0" anchor="ctr"/>
          <a:lstStyle/>
          <a:p>
            <a:pPr indent="0" marL="0">
              <a:buNone/>
            </a:pPr>
            <a:r>
              <a:rPr lang="en-US" sz="1400" dirty="0">
                <a:solidFill>
                  <a:srgbClr val="D9A390"/>
                </a:solidFill>
                <a:latin typeface="Calibri" pitchFamily="34" charset="0"/>
                <a:ea typeface="Calibri" pitchFamily="34" charset="-122"/>
                <a:cs typeface="Calibri" pitchFamily="34" charset="-120"/>
              </a:rPr>
              <a:t>Actualité, rappels de dispositifs et épargne salariale · 6 heures · cas pratiques et quiz</a:t>
            </a:r>
            <a:endParaRPr lang="en-US" sz="1400" dirty="0"/>
          </a:p>
        </p:txBody>
      </p:sp>
      <p:sp>
        <p:nvSpPr>
          <p:cNvPr id="8" name="Text 6"/>
          <p:cNvSpPr txBox="1"/>
          <p:nvPr/>
        </p:nvSpPr>
        <p:spPr>
          <a:xfrm>
            <a:off x="548640" y="5669280"/>
            <a:ext cx="5486400" cy="365760"/>
          </a:xfrm>
          <a:prstGeom prst="rect">
            <a:avLst/>
          </a:prstGeom>
          <a:noFill/>
          <a:ln/>
        </p:spPr>
        <p:txBody>
          <a:bodyPr wrap="square" lIns="0" tIns="0" rIns="0" bIns="0" rtlCol="0" anchor="ctr"/>
          <a:lstStyle/>
          <a:p>
            <a:pPr indent="0" marL="0">
              <a:buNone/>
            </a:pPr>
            <a:r>
              <a:rPr lang="en-US" sz="1200" i="1" dirty="0">
                <a:solidFill>
                  <a:srgbClr val="F0C8BC"/>
                </a:solidFill>
                <a:latin typeface="Calibri" pitchFamily="34" charset="0"/>
                <a:ea typeface="Calibri" pitchFamily="34" charset="-122"/>
                <a:cs typeface="Calibri" pitchFamily="34" charset="-120"/>
              </a:rPr>
              <a:t>Situation au 12 septembre 2026</a:t>
            </a:r>
            <a:endParaRPr lang="en-US" sz="1200" dirty="0"/>
          </a:p>
        </p:txBody>
      </p:sp>
      <p:sp>
        <p:nvSpPr>
          <p:cNvPr id="9" name="Text 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D9A390"/>
                </a:solidFill>
                <a:latin typeface="Calibri" pitchFamily="34" charset="0"/>
                <a:ea typeface="Calibri" pitchFamily="34" charset="-122"/>
                <a:cs typeface="Calibri" pitchFamily="34" charset="-120"/>
              </a:rPr>
              <a:t>Actualité paie · juin – septembre 2026</a:t>
            </a:r>
            <a:endParaRPr lang="en-US" sz="9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D9A390"/>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Les objectifs de la journée</a:t>
            </a:r>
            <a:endParaRPr lang="en-US" sz="2800" dirty="0"/>
          </a:p>
        </p:txBody>
      </p:sp>
      <p:sp>
        <p:nvSpPr>
          <p:cNvPr id="3" name="Shape 1"/>
          <p:cNvSpPr/>
          <p:nvPr/>
        </p:nvSpPr>
        <p:spPr>
          <a:xfrm>
            <a:off x="548640" y="1325880"/>
            <a:ext cx="3515258" cy="4434840"/>
          </a:xfrm>
          <a:prstGeom prst="roundRect">
            <a:avLst>
              <a:gd name="adj" fmla="val 3902"/>
            </a:avLst>
          </a:prstGeom>
          <a:solidFill>
            <a:srgbClr val="FFF6F4"/>
          </a:solidFill>
          <a:ln w="12700">
            <a:solidFill>
              <a:srgbClr val="FFF6F4"/>
            </a:solidFill>
            <a:prstDash val="solid"/>
          </a:ln>
        </p:spPr>
      </p:sp>
      <p:sp>
        <p:nvSpPr>
          <p:cNvPr id="4" name="Shape 2"/>
          <p:cNvSpPr/>
          <p:nvPr/>
        </p:nvSpPr>
        <p:spPr>
          <a:xfrm>
            <a:off x="777240" y="1554480"/>
            <a:ext cx="420624" cy="420624"/>
          </a:xfrm>
          <a:prstGeom prst="ellipse">
            <a:avLst/>
          </a:prstGeom>
          <a:solidFill>
            <a:srgbClr val="8C3A27"/>
          </a:solidFill>
          <a:ln w="12700">
            <a:solidFill>
              <a:srgbClr val="8C3A27"/>
            </a:solidFill>
            <a:prstDash val="solid"/>
          </a:ln>
        </p:spPr>
      </p:sp>
      <p:sp>
        <p:nvSpPr>
          <p:cNvPr id="5" name="Text 3"/>
          <p:cNvSpPr txBox="1"/>
          <p:nvPr/>
        </p:nvSpPr>
        <p:spPr>
          <a:xfrm>
            <a:off x="777240"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325880"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Actualiser</a:t>
            </a:r>
            <a:endParaRPr lang="en-US" sz="1500" dirty="0"/>
          </a:p>
        </p:txBody>
      </p:sp>
      <p:sp>
        <p:nvSpPr>
          <p:cNvPr id="7" name="Text 5"/>
          <p:cNvSpPr txBox="1"/>
          <p:nvPr/>
        </p:nvSpPr>
        <p:spPr>
          <a:xfrm>
            <a:off x="777240" y="2103120"/>
            <a:ext cx="3058058" cy="3520440"/>
          </a:xfrm>
          <a:prstGeom prst="rect">
            <a:avLst/>
          </a:prstGeom>
          <a:noFill/>
          <a:ln/>
        </p:spPr>
        <p:txBody>
          <a:bodyPr wrap="square" lIns="0" tIns="0" rIns="0" bIns="0" rtlCol="0" anchor="t"/>
          <a:lstStyle/>
          <a:p>
            <a:pPr indent="0" marL="0">
              <a:lnSpc>
                <a:spcPct val="105000"/>
              </a:lnSpc>
              <a:buNone/>
            </a:pPr>
            <a:r>
              <a:rPr lang="en-US" sz="1700" dirty="0">
                <a:solidFill>
                  <a:srgbClr val="2B2B2B"/>
                </a:solidFill>
                <a:latin typeface="Calibri" pitchFamily="34" charset="0"/>
                <a:ea typeface="Calibri" pitchFamily="34" charset="-122"/>
                <a:cs typeface="Calibri" pitchFamily="34" charset="-120"/>
              </a:rPr>
              <a:t>Intégrer en paie toutes les mesures entrées en vigueur ou publiées entre le 1er juin et le 12 septembre 2026 : SMIC, congé de naissance, arrêts de travail, retraite, DSN, jurisprudence.</a:t>
            </a:r>
            <a:endParaRPr lang="en-US" sz="1700" dirty="0"/>
          </a:p>
        </p:txBody>
      </p:sp>
      <p:sp>
        <p:nvSpPr>
          <p:cNvPr id="8" name="Shape 6"/>
          <p:cNvSpPr/>
          <p:nvPr/>
        </p:nvSpPr>
        <p:spPr>
          <a:xfrm>
            <a:off x="4338218" y="1325880"/>
            <a:ext cx="3515258" cy="4434840"/>
          </a:xfrm>
          <a:prstGeom prst="roundRect">
            <a:avLst>
              <a:gd name="adj" fmla="val 3902"/>
            </a:avLst>
          </a:prstGeom>
          <a:solidFill>
            <a:srgbClr val="FFF6F4"/>
          </a:solidFill>
          <a:ln w="12700">
            <a:solidFill>
              <a:srgbClr val="FFF6F4"/>
            </a:solidFill>
            <a:prstDash val="solid"/>
          </a:ln>
        </p:spPr>
      </p:sp>
      <p:sp>
        <p:nvSpPr>
          <p:cNvPr id="9" name="Shape 7"/>
          <p:cNvSpPr/>
          <p:nvPr/>
        </p:nvSpPr>
        <p:spPr>
          <a:xfrm>
            <a:off x="4566818" y="1554480"/>
            <a:ext cx="420624" cy="420624"/>
          </a:xfrm>
          <a:prstGeom prst="ellipse">
            <a:avLst/>
          </a:prstGeom>
          <a:solidFill>
            <a:srgbClr val="8C3A27"/>
          </a:solidFill>
          <a:ln w="12700">
            <a:solidFill>
              <a:srgbClr val="8C3A27"/>
            </a:solidFill>
            <a:prstDash val="solid"/>
          </a:ln>
        </p:spPr>
      </p:sp>
      <p:sp>
        <p:nvSpPr>
          <p:cNvPr id="10" name="Text 8"/>
          <p:cNvSpPr txBox="1"/>
          <p:nvPr/>
        </p:nvSpPr>
        <p:spPr>
          <a:xfrm>
            <a:off x="4566818"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5115458"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Sécuriser</a:t>
            </a:r>
            <a:endParaRPr lang="en-US" sz="1500" dirty="0"/>
          </a:p>
        </p:txBody>
      </p:sp>
      <p:sp>
        <p:nvSpPr>
          <p:cNvPr id="12" name="Text 10"/>
          <p:cNvSpPr txBox="1"/>
          <p:nvPr/>
        </p:nvSpPr>
        <p:spPr>
          <a:xfrm>
            <a:off x="4566818" y="2103120"/>
            <a:ext cx="3058058" cy="3520440"/>
          </a:xfrm>
          <a:prstGeom prst="rect">
            <a:avLst/>
          </a:prstGeom>
          <a:noFill/>
          <a:ln/>
        </p:spPr>
        <p:txBody>
          <a:bodyPr wrap="square" lIns="0" tIns="0" rIns="0" bIns="0" rtlCol="0" anchor="t"/>
          <a:lstStyle/>
          <a:p>
            <a:pPr indent="0" marL="0">
              <a:lnSpc>
                <a:spcPct val="105000"/>
              </a:lnSpc>
              <a:buNone/>
            </a:pPr>
            <a:r>
              <a:rPr lang="en-US" sz="1700" dirty="0">
                <a:solidFill>
                  <a:srgbClr val="2B2B2B"/>
                </a:solidFill>
                <a:latin typeface="Calibri" pitchFamily="34" charset="0"/>
                <a:ea typeface="Calibri" pitchFamily="34" charset="-122"/>
                <a:cs typeface="Calibri" pitchFamily="34" charset="-120"/>
              </a:rPr>
              <a:t>Réviser les dispositifs qui génèrent le plus d'erreurs : activité partielle, rupture conventionnelle, IJSS et maintien de salaire, heures supplémentaires, télétravail.</a:t>
            </a:r>
            <a:endParaRPr lang="en-US" sz="1700" dirty="0"/>
          </a:p>
        </p:txBody>
      </p:sp>
      <p:sp>
        <p:nvSpPr>
          <p:cNvPr id="13" name="Shape 11"/>
          <p:cNvSpPr/>
          <p:nvPr/>
        </p:nvSpPr>
        <p:spPr>
          <a:xfrm>
            <a:off x="8127797" y="1325880"/>
            <a:ext cx="3515258" cy="4434840"/>
          </a:xfrm>
          <a:prstGeom prst="roundRect">
            <a:avLst>
              <a:gd name="adj" fmla="val 3902"/>
            </a:avLst>
          </a:prstGeom>
          <a:solidFill>
            <a:srgbClr val="FFF6F4"/>
          </a:solidFill>
          <a:ln w="12700">
            <a:solidFill>
              <a:srgbClr val="FFF6F4"/>
            </a:solidFill>
            <a:prstDash val="solid"/>
          </a:ln>
        </p:spPr>
      </p:sp>
      <p:sp>
        <p:nvSpPr>
          <p:cNvPr id="14" name="Shape 12"/>
          <p:cNvSpPr/>
          <p:nvPr/>
        </p:nvSpPr>
        <p:spPr>
          <a:xfrm>
            <a:off x="8356397" y="1554480"/>
            <a:ext cx="420624" cy="420624"/>
          </a:xfrm>
          <a:prstGeom prst="ellipse">
            <a:avLst/>
          </a:prstGeom>
          <a:solidFill>
            <a:srgbClr val="8C3A27"/>
          </a:solidFill>
          <a:ln w="12700">
            <a:solidFill>
              <a:srgbClr val="8C3A27"/>
            </a:solidFill>
            <a:prstDash val="solid"/>
          </a:ln>
        </p:spPr>
      </p:sp>
      <p:sp>
        <p:nvSpPr>
          <p:cNvPr id="15" name="Text 13"/>
          <p:cNvSpPr txBox="1"/>
          <p:nvPr/>
        </p:nvSpPr>
        <p:spPr>
          <a:xfrm>
            <a:off x="8356397"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8905037"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Maîtriser l'épargne salariale</a:t>
            </a:r>
            <a:endParaRPr lang="en-US" sz="1500" dirty="0"/>
          </a:p>
        </p:txBody>
      </p:sp>
      <p:sp>
        <p:nvSpPr>
          <p:cNvPr id="17" name="Text 15"/>
          <p:cNvSpPr txBox="1"/>
          <p:nvPr/>
        </p:nvSpPr>
        <p:spPr>
          <a:xfrm>
            <a:off x="8356397" y="2103120"/>
            <a:ext cx="3058058" cy="3520440"/>
          </a:xfrm>
          <a:prstGeom prst="rect">
            <a:avLst/>
          </a:prstGeom>
          <a:noFill/>
          <a:ln/>
        </p:spPr>
        <p:txBody>
          <a:bodyPr wrap="square" lIns="0" tIns="0" rIns="0" bIns="0" rtlCol="0" anchor="t"/>
          <a:lstStyle/>
          <a:p>
            <a:pPr indent="0" marL="0">
              <a:lnSpc>
                <a:spcPct val="105000"/>
              </a:lnSpc>
              <a:buNone/>
            </a:pPr>
            <a:r>
              <a:rPr lang="en-US" sz="1700" dirty="0">
                <a:solidFill>
                  <a:srgbClr val="2B2B2B"/>
                </a:solidFill>
                <a:latin typeface="Calibri" pitchFamily="34" charset="0"/>
                <a:ea typeface="Calibri" pitchFamily="34" charset="-122"/>
                <a:cs typeface="Calibri" pitchFamily="34" charset="-120"/>
              </a:rPr>
              <a:t>Participation, intéressement, PEE, PERECO, abondement, PPV : règles, plafonds 2026, régime social et fiscal, traduction en paie et en DSN, calendrier 2027.</a:t>
            </a:r>
            <a:endParaRPr lang="en-US" sz="1700" dirty="0"/>
          </a:p>
        </p:txBody>
      </p:sp>
      <p:sp>
        <p:nvSpPr>
          <p:cNvPr id="18" name="Text 16"/>
          <p:cNvSpPr txBox="1"/>
          <p:nvPr/>
        </p:nvSpPr>
        <p:spPr>
          <a:xfrm>
            <a:off x="548640" y="5870448"/>
            <a:ext cx="11094415" cy="411480"/>
          </a:xfrm>
          <a:prstGeom prst="rect">
            <a:avLst/>
          </a:prstGeom>
          <a:noFill/>
          <a:ln/>
        </p:spPr>
        <p:txBody>
          <a:bodyPr wrap="square" lIns="0" tIns="0" rIns="0" bIns="0" rtlCol="0" anchor="ctr"/>
          <a:lstStyle/>
          <a:p>
            <a:pPr indent="0" marL="0">
              <a:buNone/>
            </a:pPr>
            <a:r>
              <a:rPr lang="en-US" sz="1300" i="1" dirty="0">
                <a:solidFill>
                  <a:srgbClr val="8C3A27"/>
                </a:solidFill>
                <a:latin typeface="Calibri" pitchFamily="34" charset="0"/>
                <a:ea typeface="Calibri" pitchFamily="34" charset="-122"/>
                <a:cs typeface="Calibri" pitchFamily="34" charset="-120"/>
              </a:rPr>
              <a:t>À la fin de la journée, chaque participant repart avec une check-list de paramétrage de rentrée.</a:t>
            </a:r>
            <a:endParaRPr lang="en-US" sz="1300" dirty="0"/>
          </a:p>
        </p:txBody>
      </p:sp>
      <p:sp>
        <p:nvSpPr>
          <p:cNvPr id="19" name="Text 1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0" name="Text 1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Le programme</a:t>
            </a:r>
            <a:endParaRPr lang="en-US" sz="2800" dirty="0"/>
          </a:p>
        </p:txBody>
      </p:sp>
      <p:sp>
        <p:nvSpPr>
          <p:cNvPr id="3" name="Shape 1"/>
          <p:cNvSpPr/>
          <p:nvPr/>
        </p:nvSpPr>
        <p:spPr>
          <a:xfrm>
            <a:off x="1847088" y="1508760"/>
            <a:ext cx="0" cy="4297680"/>
          </a:xfrm>
          <a:prstGeom prst="line">
            <a:avLst/>
          </a:prstGeom>
          <a:noFill/>
          <a:ln w="25400">
            <a:solidFill>
              <a:srgbClr val="F0C8BC"/>
            </a:solidFill>
            <a:prstDash val="solid"/>
          </a:ln>
        </p:spPr>
      </p:sp>
      <p:sp>
        <p:nvSpPr>
          <p:cNvPr id="4" name="Text 2"/>
          <p:cNvSpPr txBox="1"/>
          <p:nvPr/>
        </p:nvSpPr>
        <p:spPr>
          <a:xfrm>
            <a:off x="548640" y="1325880"/>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09h00</a:t>
            </a:r>
            <a:endParaRPr lang="en-US" sz="1600" dirty="0"/>
          </a:p>
        </p:txBody>
      </p:sp>
      <p:sp>
        <p:nvSpPr>
          <p:cNvPr id="5" name="Shape 3"/>
          <p:cNvSpPr/>
          <p:nvPr/>
        </p:nvSpPr>
        <p:spPr>
          <a:xfrm>
            <a:off x="1737360" y="1431036"/>
            <a:ext cx="219456" cy="219456"/>
          </a:xfrm>
          <a:prstGeom prst="ellipse">
            <a:avLst/>
          </a:prstGeom>
          <a:solidFill>
            <a:srgbClr val="8C3A27"/>
          </a:solidFill>
          <a:ln w="19050">
            <a:solidFill>
              <a:srgbClr val="FFFFFF"/>
            </a:solidFill>
            <a:prstDash val="solid"/>
          </a:ln>
        </p:spPr>
      </p:sp>
      <p:sp>
        <p:nvSpPr>
          <p:cNvPr id="6" name="Text 4"/>
          <p:cNvSpPr txBox="1"/>
          <p:nvPr/>
        </p:nvSpPr>
        <p:spPr>
          <a:xfrm>
            <a:off x="2194560" y="1325880"/>
            <a:ext cx="9144000" cy="42976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Accueil et quiz d'ouverture</a:t>
            </a:r>
            <a:endParaRPr lang="en-US" sz="1600" dirty="0"/>
          </a:p>
        </p:txBody>
      </p:sp>
      <p:sp>
        <p:nvSpPr>
          <p:cNvPr id="7" name="Text 5"/>
          <p:cNvSpPr txBox="1"/>
          <p:nvPr/>
        </p:nvSpPr>
        <p:spPr>
          <a:xfrm>
            <a:off x="548640" y="1755648"/>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09h20</a:t>
            </a:r>
            <a:endParaRPr lang="en-US" sz="1600" dirty="0"/>
          </a:p>
        </p:txBody>
      </p:sp>
      <p:sp>
        <p:nvSpPr>
          <p:cNvPr id="8" name="Shape 6"/>
          <p:cNvSpPr/>
          <p:nvPr/>
        </p:nvSpPr>
        <p:spPr>
          <a:xfrm>
            <a:off x="1737360" y="1860804"/>
            <a:ext cx="219456" cy="219456"/>
          </a:xfrm>
          <a:prstGeom prst="ellipse">
            <a:avLst/>
          </a:prstGeom>
          <a:solidFill>
            <a:srgbClr val="8C3A27"/>
          </a:solidFill>
          <a:ln w="19050">
            <a:solidFill>
              <a:srgbClr val="FFFFFF"/>
            </a:solidFill>
            <a:prstDash val="solid"/>
          </a:ln>
        </p:spPr>
      </p:sp>
      <p:sp>
        <p:nvSpPr>
          <p:cNvPr id="9" name="Text 7"/>
          <p:cNvSpPr txBox="1"/>
          <p:nvPr/>
        </p:nvSpPr>
        <p:spPr>
          <a:xfrm>
            <a:off x="2194560" y="1755648"/>
            <a:ext cx="9144000" cy="42976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Séquence 1 – Le SMIC de juin et ses effets en cascade</a:t>
            </a:r>
            <a:endParaRPr lang="en-US" sz="1600" dirty="0"/>
          </a:p>
        </p:txBody>
      </p:sp>
      <p:sp>
        <p:nvSpPr>
          <p:cNvPr id="10" name="Text 8"/>
          <p:cNvSpPr txBox="1"/>
          <p:nvPr/>
        </p:nvSpPr>
        <p:spPr>
          <a:xfrm>
            <a:off x="548640" y="2185416"/>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10h15</a:t>
            </a:r>
            <a:endParaRPr lang="en-US" sz="1600" dirty="0"/>
          </a:p>
        </p:txBody>
      </p:sp>
      <p:sp>
        <p:nvSpPr>
          <p:cNvPr id="11" name="Shape 9"/>
          <p:cNvSpPr/>
          <p:nvPr/>
        </p:nvSpPr>
        <p:spPr>
          <a:xfrm>
            <a:off x="1737360" y="2290572"/>
            <a:ext cx="219456" cy="219456"/>
          </a:xfrm>
          <a:prstGeom prst="ellipse">
            <a:avLst/>
          </a:prstGeom>
          <a:solidFill>
            <a:srgbClr val="D9A390"/>
          </a:solidFill>
          <a:ln w="19050">
            <a:solidFill>
              <a:srgbClr val="FFFFFF"/>
            </a:solidFill>
            <a:prstDash val="solid"/>
          </a:ln>
        </p:spPr>
      </p:sp>
      <p:sp>
        <p:nvSpPr>
          <p:cNvPr id="12" name="Text 10"/>
          <p:cNvSpPr txBox="1"/>
          <p:nvPr/>
        </p:nvSpPr>
        <p:spPr>
          <a:xfrm>
            <a:off x="2194560" y="2185416"/>
            <a:ext cx="9144000" cy="429768"/>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Pause</a:t>
            </a:r>
            <a:endParaRPr lang="en-US" sz="1400" dirty="0"/>
          </a:p>
        </p:txBody>
      </p:sp>
      <p:sp>
        <p:nvSpPr>
          <p:cNvPr id="13" name="Text 11"/>
          <p:cNvSpPr txBox="1"/>
          <p:nvPr/>
        </p:nvSpPr>
        <p:spPr>
          <a:xfrm>
            <a:off x="548640" y="2615184"/>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10h30</a:t>
            </a:r>
            <a:endParaRPr lang="en-US" sz="1600" dirty="0"/>
          </a:p>
        </p:txBody>
      </p:sp>
      <p:sp>
        <p:nvSpPr>
          <p:cNvPr id="14" name="Shape 12"/>
          <p:cNvSpPr/>
          <p:nvPr/>
        </p:nvSpPr>
        <p:spPr>
          <a:xfrm>
            <a:off x="1737360" y="2720340"/>
            <a:ext cx="219456" cy="219456"/>
          </a:xfrm>
          <a:prstGeom prst="ellipse">
            <a:avLst/>
          </a:prstGeom>
          <a:solidFill>
            <a:srgbClr val="8C3A27"/>
          </a:solidFill>
          <a:ln w="19050">
            <a:solidFill>
              <a:srgbClr val="FFFFFF"/>
            </a:solidFill>
            <a:prstDash val="solid"/>
          </a:ln>
        </p:spPr>
      </p:sp>
      <p:sp>
        <p:nvSpPr>
          <p:cNvPr id="15" name="Text 13"/>
          <p:cNvSpPr txBox="1"/>
          <p:nvPr/>
        </p:nvSpPr>
        <p:spPr>
          <a:xfrm>
            <a:off x="2194560" y="2615184"/>
            <a:ext cx="9144000" cy="42976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Séquence 2 – Absences, famille, retraite : ce qui change</a:t>
            </a:r>
            <a:endParaRPr lang="en-US" sz="1600" dirty="0"/>
          </a:p>
        </p:txBody>
      </p:sp>
      <p:sp>
        <p:nvSpPr>
          <p:cNvPr id="16" name="Text 14"/>
          <p:cNvSpPr txBox="1"/>
          <p:nvPr/>
        </p:nvSpPr>
        <p:spPr>
          <a:xfrm>
            <a:off x="548640" y="3044952"/>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11h20</a:t>
            </a:r>
            <a:endParaRPr lang="en-US" sz="1600" dirty="0"/>
          </a:p>
        </p:txBody>
      </p:sp>
      <p:sp>
        <p:nvSpPr>
          <p:cNvPr id="17" name="Shape 15"/>
          <p:cNvSpPr/>
          <p:nvPr/>
        </p:nvSpPr>
        <p:spPr>
          <a:xfrm>
            <a:off x="1737360" y="3150108"/>
            <a:ext cx="219456" cy="219456"/>
          </a:xfrm>
          <a:prstGeom prst="ellipse">
            <a:avLst/>
          </a:prstGeom>
          <a:solidFill>
            <a:srgbClr val="8C3A27"/>
          </a:solidFill>
          <a:ln w="19050">
            <a:solidFill>
              <a:srgbClr val="FFFFFF"/>
            </a:solidFill>
            <a:prstDash val="solid"/>
          </a:ln>
        </p:spPr>
      </p:sp>
      <p:sp>
        <p:nvSpPr>
          <p:cNvPr id="18" name="Text 16"/>
          <p:cNvSpPr txBox="1"/>
          <p:nvPr/>
        </p:nvSpPr>
        <p:spPr>
          <a:xfrm>
            <a:off x="2194560" y="3044952"/>
            <a:ext cx="9144000" cy="42976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Séquence 3 – Cotisations, DSN et contrôle : la rentrée</a:t>
            </a:r>
            <a:endParaRPr lang="en-US" sz="1600" dirty="0"/>
          </a:p>
        </p:txBody>
      </p:sp>
      <p:sp>
        <p:nvSpPr>
          <p:cNvPr id="19" name="Text 17"/>
          <p:cNvSpPr txBox="1"/>
          <p:nvPr/>
        </p:nvSpPr>
        <p:spPr>
          <a:xfrm>
            <a:off x="548640" y="3474720"/>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12h15</a:t>
            </a:r>
            <a:endParaRPr lang="en-US" sz="1600" dirty="0"/>
          </a:p>
        </p:txBody>
      </p:sp>
      <p:sp>
        <p:nvSpPr>
          <p:cNvPr id="20" name="Shape 18"/>
          <p:cNvSpPr/>
          <p:nvPr/>
        </p:nvSpPr>
        <p:spPr>
          <a:xfrm>
            <a:off x="1737360" y="3579876"/>
            <a:ext cx="219456" cy="219456"/>
          </a:xfrm>
          <a:prstGeom prst="ellipse">
            <a:avLst/>
          </a:prstGeom>
          <a:solidFill>
            <a:srgbClr val="D9A390"/>
          </a:solidFill>
          <a:ln w="19050">
            <a:solidFill>
              <a:srgbClr val="FFFFFF"/>
            </a:solidFill>
            <a:prstDash val="solid"/>
          </a:ln>
        </p:spPr>
      </p:sp>
      <p:sp>
        <p:nvSpPr>
          <p:cNvPr id="21" name="Text 19"/>
          <p:cNvSpPr txBox="1"/>
          <p:nvPr/>
        </p:nvSpPr>
        <p:spPr>
          <a:xfrm>
            <a:off x="2194560" y="3474720"/>
            <a:ext cx="9144000" cy="429768"/>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Déjeuner</a:t>
            </a:r>
            <a:endParaRPr lang="en-US" sz="1400" dirty="0"/>
          </a:p>
        </p:txBody>
      </p:sp>
      <p:sp>
        <p:nvSpPr>
          <p:cNvPr id="22" name="Text 20"/>
          <p:cNvSpPr txBox="1"/>
          <p:nvPr/>
        </p:nvSpPr>
        <p:spPr>
          <a:xfrm>
            <a:off x="548640" y="3904488"/>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13h30</a:t>
            </a:r>
            <a:endParaRPr lang="en-US" sz="1600" dirty="0"/>
          </a:p>
        </p:txBody>
      </p:sp>
      <p:sp>
        <p:nvSpPr>
          <p:cNvPr id="23" name="Shape 21"/>
          <p:cNvSpPr/>
          <p:nvPr/>
        </p:nvSpPr>
        <p:spPr>
          <a:xfrm>
            <a:off x="1737360" y="4009644"/>
            <a:ext cx="219456" cy="219456"/>
          </a:xfrm>
          <a:prstGeom prst="ellipse">
            <a:avLst/>
          </a:prstGeom>
          <a:solidFill>
            <a:srgbClr val="8C3A27"/>
          </a:solidFill>
          <a:ln w="19050">
            <a:solidFill>
              <a:srgbClr val="FFFFFF"/>
            </a:solidFill>
            <a:prstDash val="solid"/>
          </a:ln>
        </p:spPr>
      </p:sp>
      <p:sp>
        <p:nvSpPr>
          <p:cNvPr id="24" name="Text 22"/>
          <p:cNvSpPr txBox="1"/>
          <p:nvPr/>
        </p:nvSpPr>
        <p:spPr>
          <a:xfrm>
            <a:off x="2194560" y="3904488"/>
            <a:ext cx="9144000" cy="42976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Séquence 4 – L'été des juges : jurisprudence et ruptures</a:t>
            </a:r>
            <a:endParaRPr lang="en-US" sz="1600" dirty="0"/>
          </a:p>
        </p:txBody>
      </p:sp>
      <p:sp>
        <p:nvSpPr>
          <p:cNvPr id="25" name="Text 23"/>
          <p:cNvSpPr txBox="1"/>
          <p:nvPr/>
        </p:nvSpPr>
        <p:spPr>
          <a:xfrm>
            <a:off x="548640" y="4334256"/>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14h30</a:t>
            </a:r>
            <a:endParaRPr lang="en-US" sz="1600" dirty="0"/>
          </a:p>
        </p:txBody>
      </p:sp>
      <p:sp>
        <p:nvSpPr>
          <p:cNvPr id="26" name="Shape 24"/>
          <p:cNvSpPr/>
          <p:nvPr/>
        </p:nvSpPr>
        <p:spPr>
          <a:xfrm>
            <a:off x="1737360" y="4439412"/>
            <a:ext cx="219456" cy="219456"/>
          </a:xfrm>
          <a:prstGeom prst="ellipse">
            <a:avLst/>
          </a:prstGeom>
          <a:solidFill>
            <a:srgbClr val="D9A390"/>
          </a:solidFill>
          <a:ln w="19050">
            <a:solidFill>
              <a:srgbClr val="FFFFFF"/>
            </a:solidFill>
            <a:prstDash val="solid"/>
          </a:ln>
        </p:spPr>
      </p:sp>
      <p:sp>
        <p:nvSpPr>
          <p:cNvPr id="27" name="Text 25"/>
          <p:cNvSpPr txBox="1"/>
          <p:nvPr/>
        </p:nvSpPr>
        <p:spPr>
          <a:xfrm>
            <a:off x="2194560" y="4334256"/>
            <a:ext cx="9144000" cy="429768"/>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Pause</a:t>
            </a:r>
            <a:endParaRPr lang="en-US" sz="1400" dirty="0"/>
          </a:p>
        </p:txBody>
      </p:sp>
      <p:sp>
        <p:nvSpPr>
          <p:cNvPr id="28" name="Text 26"/>
          <p:cNvSpPr txBox="1"/>
          <p:nvPr/>
        </p:nvSpPr>
        <p:spPr>
          <a:xfrm>
            <a:off x="548640" y="4764024"/>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14h45</a:t>
            </a:r>
            <a:endParaRPr lang="en-US" sz="1600" dirty="0"/>
          </a:p>
        </p:txBody>
      </p:sp>
      <p:sp>
        <p:nvSpPr>
          <p:cNvPr id="29" name="Shape 27"/>
          <p:cNvSpPr/>
          <p:nvPr/>
        </p:nvSpPr>
        <p:spPr>
          <a:xfrm>
            <a:off x="1737360" y="4869180"/>
            <a:ext cx="219456" cy="219456"/>
          </a:xfrm>
          <a:prstGeom prst="ellipse">
            <a:avLst/>
          </a:prstGeom>
          <a:solidFill>
            <a:srgbClr val="8C3A27"/>
          </a:solidFill>
          <a:ln w="19050">
            <a:solidFill>
              <a:srgbClr val="FFFFFF"/>
            </a:solidFill>
            <a:prstDash val="solid"/>
          </a:ln>
        </p:spPr>
      </p:sp>
      <p:sp>
        <p:nvSpPr>
          <p:cNvPr id="30" name="Text 28"/>
          <p:cNvSpPr txBox="1"/>
          <p:nvPr/>
        </p:nvSpPr>
        <p:spPr>
          <a:xfrm>
            <a:off x="2194560" y="4764024"/>
            <a:ext cx="9144000" cy="42976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Séquence 5 – L'épargne salariale de A à Z</a:t>
            </a:r>
            <a:endParaRPr lang="en-US" sz="1600" dirty="0"/>
          </a:p>
        </p:txBody>
      </p:sp>
      <p:sp>
        <p:nvSpPr>
          <p:cNvPr id="31" name="Text 29"/>
          <p:cNvSpPr txBox="1"/>
          <p:nvPr/>
        </p:nvSpPr>
        <p:spPr>
          <a:xfrm>
            <a:off x="548640" y="5193792"/>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16h05</a:t>
            </a:r>
            <a:endParaRPr lang="en-US" sz="1600" dirty="0"/>
          </a:p>
        </p:txBody>
      </p:sp>
      <p:sp>
        <p:nvSpPr>
          <p:cNvPr id="32" name="Shape 30"/>
          <p:cNvSpPr/>
          <p:nvPr/>
        </p:nvSpPr>
        <p:spPr>
          <a:xfrm>
            <a:off x="1737360" y="5298948"/>
            <a:ext cx="219456" cy="219456"/>
          </a:xfrm>
          <a:prstGeom prst="ellipse">
            <a:avLst/>
          </a:prstGeom>
          <a:solidFill>
            <a:srgbClr val="8C3A27"/>
          </a:solidFill>
          <a:ln w="19050">
            <a:solidFill>
              <a:srgbClr val="FFFFFF"/>
            </a:solidFill>
            <a:prstDash val="solid"/>
          </a:ln>
        </p:spPr>
      </p:sp>
      <p:sp>
        <p:nvSpPr>
          <p:cNvPr id="33" name="Text 31"/>
          <p:cNvSpPr txBox="1"/>
          <p:nvPr/>
        </p:nvSpPr>
        <p:spPr>
          <a:xfrm>
            <a:off x="2194560" y="5193792"/>
            <a:ext cx="9144000" cy="429768"/>
          </a:xfrm>
          <a:prstGeom prst="rect">
            <a:avLst/>
          </a:prstGeom>
          <a:noFill/>
          <a:ln/>
        </p:spPr>
        <p:txBody>
          <a:bodyPr wrap="square" lIns="0" tIns="0" rIns="0" bIns="0" rtlCol="0" anchor="ctr"/>
          <a:lstStyle/>
          <a:p>
            <a:pPr indent="0" marL="0">
              <a:buNone/>
            </a:pPr>
            <a:r>
              <a:rPr lang="en-US" sz="1600" dirty="0">
                <a:solidFill>
                  <a:srgbClr val="2B2B2B"/>
                </a:solidFill>
                <a:latin typeface="Calibri" pitchFamily="34" charset="0"/>
                <a:ea typeface="Calibri" pitchFamily="34" charset="-122"/>
                <a:cs typeface="Calibri" pitchFamily="34" charset="-120"/>
              </a:rPr>
              <a:t>Séquence 6 – Agenda de rentrée, quiz final et évaluation</a:t>
            </a:r>
            <a:endParaRPr lang="en-US" sz="1600" dirty="0"/>
          </a:p>
        </p:txBody>
      </p:sp>
      <p:sp>
        <p:nvSpPr>
          <p:cNvPr id="34" name="Text 32"/>
          <p:cNvSpPr txBox="1"/>
          <p:nvPr/>
        </p:nvSpPr>
        <p:spPr>
          <a:xfrm>
            <a:off x="548640" y="5623560"/>
            <a:ext cx="1097280" cy="429768"/>
          </a:xfrm>
          <a:prstGeom prst="rect">
            <a:avLst/>
          </a:prstGeom>
          <a:noFill/>
          <a:ln/>
        </p:spPr>
        <p:txBody>
          <a:bodyPr wrap="square" lIns="0" tIns="0" rIns="0" bIns="0" rtlCol="0" anchor="ctr"/>
          <a:lstStyle/>
          <a:p>
            <a:pPr indent="0" marL="0">
              <a:buNone/>
            </a:pPr>
            <a:r>
              <a:rPr lang="en-US" sz="1600" b="1" dirty="0">
                <a:solidFill>
                  <a:srgbClr val="435369"/>
                </a:solidFill>
                <a:latin typeface="Cambria" pitchFamily="34" charset="0"/>
                <a:ea typeface="Cambria" pitchFamily="34" charset="-122"/>
                <a:cs typeface="Cambria" pitchFamily="34" charset="-120"/>
              </a:rPr>
              <a:t>16h30</a:t>
            </a:r>
            <a:endParaRPr lang="en-US" sz="1600" dirty="0"/>
          </a:p>
        </p:txBody>
      </p:sp>
      <p:sp>
        <p:nvSpPr>
          <p:cNvPr id="35" name="Shape 33"/>
          <p:cNvSpPr/>
          <p:nvPr/>
        </p:nvSpPr>
        <p:spPr>
          <a:xfrm>
            <a:off x="1737360" y="5728716"/>
            <a:ext cx="219456" cy="219456"/>
          </a:xfrm>
          <a:prstGeom prst="ellipse">
            <a:avLst/>
          </a:prstGeom>
          <a:solidFill>
            <a:srgbClr val="D9A390"/>
          </a:solidFill>
          <a:ln w="19050">
            <a:solidFill>
              <a:srgbClr val="FFFFFF"/>
            </a:solidFill>
            <a:prstDash val="solid"/>
          </a:ln>
        </p:spPr>
      </p:sp>
      <p:sp>
        <p:nvSpPr>
          <p:cNvPr id="36" name="Text 34"/>
          <p:cNvSpPr txBox="1"/>
          <p:nvPr/>
        </p:nvSpPr>
        <p:spPr>
          <a:xfrm>
            <a:off x="2194560" y="5623560"/>
            <a:ext cx="9144000" cy="429768"/>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Fin de la journée</a:t>
            </a:r>
            <a:endParaRPr lang="en-US" sz="1400" dirty="0"/>
          </a:p>
        </p:txBody>
      </p:sp>
      <p:sp>
        <p:nvSpPr>
          <p:cNvPr id="37" name="Text 3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38" name="Text 3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5D8"/>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Quiz d'ouverture : vrai ou faux ?</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QUIZ</a:t>
            </a:r>
            <a:endParaRPr lang="en-US" sz="1000" dirty="0"/>
          </a:p>
        </p:txBody>
      </p:sp>
      <p:sp>
        <p:nvSpPr>
          <p:cNvPr id="5" name="Shape 3"/>
          <p:cNvSpPr/>
          <p:nvPr/>
        </p:nvSpPr>
        <p:spPr>
          <a:xfrm>
            <a:off x="548640" y="1325880"/>
            <a:ext cx="9311335" cy="914400"/>
          </a:xfrm>
          <a:prstGeom prst="roundRect">
            <a:avLst>
              <a:gd name="adj" fmla="val 8000"/>
            </a:avLst>
          </a:prstGeom>
          <a:solidFill>
            <a:srgbClr val="FFFFFF"/>
          </a:solidFill>
          <a:ln w="12700">
            <a:solidFill>
              <a:srgbClr val="FFFFFF"/>
            </a:solidFill>
            <a:prstDash val="solid"/>
          </a:ln>
        </p:spPr>
      </p:sp>
      <p:sp>
        <p:nvSpPr>
          <p:cNvPr id="6" name="Shape 4"/>
          <p:cNvSpPr/>
          <p:nvPr/>
        </p:nvSpPr>
        <p:spPr>
          <a:xfrm>
            <a:off x="658368" y="1609344"/>
            <a:ext cx="347472" cy="347472"/>
          </a:xfrm>
          <a:prstGeom prst="ellipse">
            <a:avLst/>
          </a:prstGeom>
          <a:solidFill>
            <a:srgbClr val="8C3A27"/>
          </a:solidFill>
          <a:ln w="12700">
            <a:solidFill>
              <a:srgbClr val="8C3A27"/>
            </a:solidFill>
            <a:prstDash val="solid"/>
          </a:ln>
        </p:spPr>
      </p:sp>
      <p:sp>
        <p:nvSpPr>
          <p:cNvPr id="7" name="Text 5"/>
          <p:cNvSpPr txBox="1"/>
          <p:nvPr/>
        </p:nvSpPr>
        <p:spPr>
          <a:xfrm>
            <a:off x="658368" y="16093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Text 6"/>
          <p:cNvSpPr txBox="1"/>
          <p:nvPr/>
        </p:nvSpPr>
        <p:spPr>
          <a:xfrm>
            <a:off x="1115568" y="1325880"/>
            <a:ext cx="8671255" cy="9144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Le SMIC horaire brut est de 12,31 € depuis le 1er juin 2026.</a:t>
            </a:r>
            <a:endParaRPr lang="en-US" sz="1400" dirty="0"/>
          </a:p>
        </p:txBody>
      </p:sp>
      <p:sp>
        <p:nvSpPr>
          <p:cNvPr id="9" name="Shape 7"/>
          <p:cNvSpPr/>
          <p:nvPr/>
        </p:nvSpPr>
        <p:spPr>
          <a:xfrm>
            <a:off x="9997135" y="1380744"/>
            <a:ext cx="777240" cy="804672"/>
          </a:xfrm>
          <a:prstGeom prst="roundRect">
            <a:avLst>
              <a:gd name="adj" fmla="val 9412"/>
            </a:avLst>
          </a:prstGeom>
          <a:solidFill>
            <a:srgbClr val="FFF6F4"/>
          </a:solidFill>
          <a:ln w="9525">
            <a:solidFill>
              <a:srgbClr val="F0C8BC"/>
            </a:solidFill>
            <a:prstDash val="solid"/>
          </a:ln>
        </p:spPr>
      </p:sp>
      <p:sp>
        <p:nvSpPr>
          <p:cNvPr id="10" name="Text 8"/>
          <p:cNvSpPr txBox="1"/>
          <p:nvPr/>
        </p:nvSpPr>
        <p:spPr>
          <a:xfrm>
            <a:off x="9997135" y="1380744"/>
            <a:ext cx="777240" cy="80467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11" name="Shape 9"/>
          <p:cNvSpPr/>
          <p:nvPr/>
        </p:nvSpPr>
        <p:spPr>
          <a:xfrm>
            <a:off x="10838383" y="1380744"/>
            <a:ext cx="777240" cy="804672"/>
          </a:xfrm>
          <a:prstGeom prst="roundRect">
            <a:avLst>
              <a:gd name="adj" fmla="val 9412"/>
            </a:avLst>
          </a:prstGeom>
          <a:solidFill>
            <a:srgbClr val="FFF6F4"/>
          </a:solidFill>
          <a:ln w="9525">
            <a:solidFill>
              <a:srgbClr val="F0C8BC"/>
            </a:solidFill>
            <a:prstDash val="solid"/>
          </a:ln>
        </p:spPr>
      </p:sp>
      <p:sp>
        <p:nvSpPr>
          <p:cNvPr id="12" name="Text 10"/>
          <p:cNvSpPr txBox="1"/>
          <p:nvPr/>
        </p:nvSpPr>
        <p:spPr>
          <a:xfrm>
            <a:off x="10838383" y="1380744"/>
            <a:ext cx="777240" cy="80467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13" name="Shape 11"/>
          <p:cNvSpPr/>
          <p:nvPr/>
        </p:nvSpPr>
        <p:spPr>
          <a:xfrm>
            <a:off x="548640" y="2331720"/>
            <a:ext cx="9311335" cy="914400"/>
          </a:xfrm>
          <a:prstGeom prst="roundRect">
            <a:avLst>
              <a:gd name="adj" fmla="val 8000"/>
            </a:avLst>
          </a:prstGeom>
          <a:solidFill>
            <a:srgbClr val="FFFFFF"/>
          </a:solidFill>
          <a:ln w="12700">
            <a:solidFill>
              <a:srgbClr val="FFFFFF"/>
            </a:solidFill>
            <a:prstDash val="solid"/>
          </a:ln>
        </p:spPr>
      </p:sp>
      <p:sp>
        <p:nvSpPr>
          <p:cNvPr id="14" name="Shape 12"/>
          <p:cNvSpPr/>
          <p:nvPr/>
        </p:nvSpPr>
        <p:spPr>
          <a:xfrm>
            <a:off x="658368" y="2615184"/>
            <a:ext cx="347472" cy="347472"/>
          </a:xfrm>
          <a:prstGeom prst="ellipse">
            <a:avLst/>
          </a:prstGeom>
          <a:solidFill>
            <a:srgbClr val="8C3A27"/>
          </a:solidFill>
          <a:ln w="12700">
            <a:solidFill>
              <a:srgbClr val="8C3A27"/>
            </a:solidFill>
            <a:prstDash val="solid"/>
          </a:ln>
        </p:spPr>
      </p:sp>
      <p:sp>
        <p:nvSpPr>
          <p:cNvPr id="15" name="Text 13"/>
          <p:cNvSpPr txBox="1"/>
          <p:nvPr/>
        </p:nvSpPr>
        <p:spPr>
          <a:xfrm>
            <a:off x="658368" y="261518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6" name="Text 14"/>
          <p:cNvSpPr txBox="1"/>
          <p:nvPr/>
        </p:nvSpPr>
        <p:spPr>
          <a:xfrm>
            <a:off x="1115568" y="2331720"/>
            <a:ext cx="8671255" cy="9144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La hausse du SMIC de juin a relevé le plancher de l'allocation d'activité partielle remboursée à l'employeur.</a:t>
            </a:r>
            <a:endParaRPr lang="en-US" sz="1400" dirty="0"/>
          </a:p>
        </p:txBody>
      </p:sp>
      <p:sp>
        <p:nvSpPr>
          <p:cNvPr id="17" name="Shape 15"/>
          <p:cNvSpPr/>
          <p:nvPr/>
        </p:nvSpPr>
        <p:spPr>
          <a:xfrm>
            <a:off x="9997135" y="2386584"/>
            <a:ext cx="777240" cy="804672"/>
          </a:xfrm>
          <a:prstGeom prst="roundRect">
            <a:avLst>
              <a:gd name="adj" fmla="val 9412"/>
            </a:avLst>
          </a:prstGeom>
          <a:solidFill>
            <a:srgbClr val="FFF6F4"/>
          </a:solidFill>
          <a:ln w="9525">
            <a:solidFill>
              <a:srgbClr val="F0C8BC"/>
            </a:solidFill>
            <a:prstDash val="solid"/>
          </a:ln>
        </p:spPr>
      </p:sp>
      <p:sp>
        <p:nvSpPr>
          <p:cNvPr id="18" name="Text 16"/>
          <p:cNvSpPr txBox="1"/>
          <p:nvPr/>
        </p:nvSpPr>
        <p:spPr>
          <a:xfrm>
            <a:off x="9997135" y="2386584"/>
            <a:ext cx="777240" cy="80467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19" name="Shape 17"/>
          <p:cNvSpPr/>
          <p:nvPr/>
        </p:nvSpPr>
        <p:spPr>
          <a:xfrm>
            <a:off x="10838383" y="2386584"/>
            <a:ext cx="777240" cy="804672"/>
          </a:xfrm>
          <a:prstGeom prst="roundRect">
            <a:avLst>
              <a:gd name="adj" fmla="val 9412"/>
            </a:avLst>
          </a:prstGeom>
          <a:solidFill>
            <a:srgbClr val="FFF6F4"/>
          </a:solidFill>
          <a:ln w="9525">
            <a:solidFill>
              <a:srgbClr val="F0C8BC"/>
            </a:solidFill>
            <a:prstDash val="solid"/>
          </a:ln>
        </p:spPr>
      </p:sp>
      <p:sp>
        <p:nvSpPr>
          <p:cNvPr id="20" name="Text 18"/>
          <p:cNvSpPr txBox="1"/>
          <p:nvPr/>
        </p:nvSpPr>
        <p:spPr>
          <a:xfrm>
            <a:off x="10838383" y="2386584"/>
            <a:ext cx="777240" cy="80467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21" name="Shape 19"/>
          <p:cNvSpPr/>
          <p:nvPr/>
        </p:nvSpPr>
        <p:spPr>
          <a:xfrm>
            <a:off x="548640" y="3337560"/>
            <a:ext cx="9311335" cy="914400"/>
          </a:xfrm>
          <a:prstGeom prst="roundRect">
            <a:avLst>
              <a:gd name="adj" fmla="val 8000"/>
            </a:avLst>
          </a:prstGeom>
          <a:solidFill>
            <a:srgbClr val="FFFFFF"/>
          </a:solidFill>
          <a:ln w="12700">
            <a:solidFill>
              <a:srgbClr val="FFFFFF"/>
            </a:solidFill>
            <a:prstDash val="solid"/>
          </a:ln>
        </p:spPr>
      </p:sp>
      <p:sp>
        <p:nvSpPr>
          <p:cNvPr id="22" name="Shape 20"/>
          <p:cNvSpPr/>
          <p:nvPr/>
        </p:nvSpPr>
        <p:spPr>
          <a:xfrm>
            <a:off x="658368" y="3621024"/>
            <a:ext cx="347472" cy="347472"/>
          </a:xfrm>
          <a:prstGeom prst="ellipse">
            <a:avLst/>
          </a:prstGeom>
          <a:solidFill>
            <a:srgbClr val="8C3A27"/>
          </a:solidFill>
          <a:ln w="12700">
            <a:solidFill>
              <a:srgbClr val="8C3A27"/>
            </a:solidFill>
            <a:prstDash val="solid"/>
          </a:ln>
        </p:spPr>
      </p:sp>
      <p:sp>
        <p:nvSpPr>
          <p:cNvPr id="23" name="Text 21"/>
          <p:cNvSpPr txBox="1"/>
          <p:nvPr/>
        </p:nvSpPr>
        <p:spPr>
          <a:xfrm>
            <a:off x="658368" y="36210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4" name="Text 22"/>
          <p:cNvSpPr txBox="1"/>
          <p:nvPr/>
        </p:nvSpPr>
        <p:spPr>
          <a:xfrm>
            <a:off x="1115568" y="3337560"/>
            <a:ext cx="8671255" cy="9144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La contribution patronale sur l'indemnité de rupture conventionnelle est de 30 %.</a:t>
            </a:r>
            <a:endParaRPr lang="en-US" sz="1400" dirty="0"/>
          </a:p>
        </p:txBody>
      </p:sp>
      <p:sp>
        <p:nvSpPr>
          <p:cNvPr id="25" name="Shape 23"/>
          <p:cNvSpPr/>
          <p:nvPr/>
        </p:nvSpPr>
        <p:spPr>
          <a:xfrm>
            <a:off x="9997135" y="3392424"/>
            <a:ext cx="777240" cy="804672"/>
          </a:xfrm>
          <a:prstGeom prst="roundRect">
            <a:avLst>
              <a:gd name="adj" fmla="val 9412"/>
            </a:avLst>
          </a:prstGeom>
          <a:solidFill>
            <a:srgbClr val="FFF6F4"/>
          </a:solidFill>
          <a:ln w="9525">
            <a:solidFill>
              <a:srgbClr val="F0C8BC"/>
            </a:solidFill>
            <a:prstDash val="solid"/>
          </a:ln>
        </p:spPr>
      </p:sp>
      <p:sp>
        <p:nvSpPr>
          <p:cNvPr id="26" name="Text 24"/>
          <p:cNvSpPr txBox="1"/>
          <p:nvPr/>
        </p:nvSpPr>
        <p:spPr>
          <a:xfrm>
            <a:off x="9997135" y="3392424"/>
            <a:ext cx="777240" cy="80467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27" name="Shape 25"/>
          <p:cNvSpPr/>
          <p:nvPr/>
        </p:nvSpPr>
        <p:spPr>
          <a:xfrm>
            <a:off x="10838383" y="3392424"/>
            <a:ext cx="777240" cy="804672"/>
          </a:xfrm>
          <a:prstGeom prst="roundRect">
            <a:avLst>
              <a:gd name="adj" fmla="val 9412"/>
            </a:avLst>
          </a:prstGeom>
          <a:solidFill>
            <a:srgbClr val="FFF6F4"/>
          </a:solidFill>
          <a:ln w="9525">
            <a:solidFill>
              <a:srgbClr val="F0C8BC"/>
            </a:solidFill>
            <a:prstDash val="solid"/>
          </a:ln>
        </p:spPr>
      </p:sp>
      <p:sp>
        <p:nvSpPr>
          <p:cNvPr id="28" name="Text 26"/>
          <p:cNvSpPr txBox="1"/>
          <p:nvPr/>
        </p:nvSpPr>
        <p:spPr>
          <a:xfrm>
            <a:off x="10838383" y="3392424"/>
            <a:ext cx="777240" cy="80467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29" name="Shape 27"/>
          <p:cNvSpPr/>
          <p:nvPr/>
        </p:nvSpPr>
        <p:spPr>
          <a:xfrm>
            <a:off x="548640" y="4343400"/>
            <a:ext cx="9311335" cy="914400"/>
          </a:xfrm>
          <a:prstGeom prst="roundRect">
            <a:avLst>
              <a:gd name="adj" fmla="val 8000"/>
            </a:avLst>
          </a:prstGeom>
          <a:solidFill>
            <a:srgbClr val="FFFFFF"/>
          </a:solidFill>
          <a:ln w="12700">
            <a:solidFill>
              <a:srgbClr val="FFFFFF"/>
            </a:solidFill>
            <a:prstDash val="solid"/>
          </a:ln>
        </p:spPr>
      </p:sp>
      <p:sp>
        <p:nvSpPr>
          <p:cNvPr id="30" name="Shape 28"/>
          <p:cNvSpPr/>
          <p:nvPr/>
        </p:nvSpPr>
        <p:spPr>
          <a:xfrm>
            <a:off x="658368" y="4626864"/>
            <a:ext cx="347472" cy="347472"/>
          </a:xfrm>
          <a:prstGeom prst="ellipse">
            <a:avLst/>
          </a:prstGeom>
          <a:solidFill>
            <a:srgbClr val="8C3A27"/>
          </a:solidFill>
          <a:ln w="12700">
            <a:solidFill>
              <a:srgbClr val="8C3A27"/>
            </a:solidFill>
            <a:prstDash val="solid"/>
          </a:ln>
        </p:spPr>
      </p:sp>
      <p:sp>
        <p:nvSpPr>
          <p:cNvPr id="31" name="Text 29"/>
          <p:cNvSpPr txBox="1"/>
          <p:nvPr/>
        </p:nvSpPr>
        <p:spPr>
          <a:xfrm>
            <a:off x="658368" y="46268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32" name="Text 30"/>
          <p:cNvSpPr txBox="1"/>
          <p:nvPr/>
        </p:nvSpPr>
        <p:spPr>
          <a:xfrm>
            <a:off x="1115568" y="4343400"/>
            <a:ext cx="8671255" cy="9144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Un salarié en télétravail a droit aux titres-restaurant dans les mêmes conditions que ses collègues sur site.</a:t>
            </a:r>
            <a:endParaRPr lang="en-US" sz="1400" dirty="0"/>
          </a:p>
        </p:txBody>
      </p:sp>
      <p:sp>
        <p:nvSpPr>
          <p:cNvPr id="33" name="Shape 31"/>
          <p:cNvSpPr/>
          <p:nvPr/>
        </p:nvSpPr>
        <p:spPr>
          <a:xfrm>
            <a:off x="9997135" y="4398264"/>
            <a:ext cx="777240" cy="804672"/>
          </a:xfrm>
          <a:prstGeom prst="roundRect">
            <a:avLst>
              <a:gd name="adj" fmla="val 9412"/>
            </a:avLst>
          </a:prstGeom>
          <a:solidFill>
            <a:srgbClr val="FFF6F4"/>
          </a:solidFill>
          <a:ln w="9525">
            <a:solidFill>
              <a:srgbClr val="F0C8BC"/>
            </a:solidFill>
            <a:prstDash val="solid"/>
          </a:ln>
        </p:spPr>
      </p:sp>
      <p:sp>
        <p:nvSpPr>
          <p:cNvPr id="34" name="Text 32"/>
          <p:cNvSpPr txBox="1"/>
          <p:nvPr/>
        </p:nvSpPr>
        <p:spPr>
          <a:xfrm>
            <a:off x="9997135" y="4398264"/>
            <a:ext cx="777240" cy="80467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35" name="Shape 33"/>
          <p:cNvSpPr/>
          <p:nvPr/>
        </p:nvSpPr>
        <p:spPr>
          <a:xfrm>
            <a:off x="10838383" y="4398264"/>
            <a:ext cx="777240" cy="804672"/>
          </a:xfrm>
          <a:prstGeom prst="roundRect">
            <a:avLst>
              <a:gd name="adj" fmla="val 9412"/>
            </a:avLst>
          </a:prstGeom>
          <a:solidFill>
            <a:srgbClr val="FFF6F4"/>
          </a:solidFill>
          <a:ln w="9525">
            <a:solidFill>
              <a:srgbClr val="F0C8BC"/>
            </a:solidFill>
            <a:prstDash val="solid"/>
          </a:ln>
        </p:spPr>
      </p:sp>
      <p:sp>
        <p:nvSpPr>
          <p:cNvPr id="36" name="Text 34"/>
          <p:cNvSpPr txBox="1"/>
          <p:nvPr/>
        </p:nvSpPr>
        <p:spPr>
          <a:xfrm>
            <a:off x="10838383" y="4398264"/>
            <a:ext cx="777240" cy="80467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37" name="Shape 35"/>
          <p:cNvSpPr/>
          <p:nvPr/>
        </p:nvSpPr>
        <p:spPr>
          <a:xfrm>
            <a:off x="548640" y="5349240"/>
            <a:ext cx="9311335" cy="914400"/>
          </a:xfrm>
          <a:prstGeom prst="roundRect">
            <a:avLst>
              <a:gd name="adj" fmla="val 8000"/>
            </a:avLst>
          </a:prstGeom>
          <a:solidFill>
            <a:srgbClr val="FFFFFF"/>
          </a:solidFill>
          <a:ln w="12700">
            <a:solidFill>
              <a:srgbClr val="FFFFFF"/>
            </a:solidFill>
            <a:prstDash val="solid"/>
          </a:ln>
        </p:spPr>
      </p:sp>
      <p:sp>
        <p:nvSpPr>
          <p:cNvPr id="38" name="Shape 36"/>
          <p:cNvSpPr/>
          <p:nvPr/>
        </p:nvSpPr>
        <p:spPr>
          <a:xfrm>
            <a:off x="658368" y="5632704"/>
            <a:ext cx="347472" cy="347472"/>
          </a:xfrm>
          <a:prstGeom prst="ellipse">
            <a:avLst/>
          </a:prstGeom>
          <a:solidFill>
            <a:srgbClr val="8C3A27"/>
          </a:solidFill>
          <a:ln w="12700">
            <a:solidFill>
              <a:srgbClr val="8C3A27"/>
            </a:solidFill>
            <a:prstDash val="solid"/>
          </a:ln>
        </p:spPr>
      </p:sp>
      <p:sp>
        <p:nvSpPr>
          <p:cNvPr id="39" name="Text 37"/>
          <p:cNvSpPr txBox="1"/>
          <p:nvPr/>
        </p:nvSpPr>
        <p:spPr>
          <a:xfrm>
            <a:off x="658368" y="56327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40" name="Text 38"/>
          <p:cNvSpPr txBox="1"/>
          <p:nvPr/>
        </p:nvSpPr>
        <p:spPr>
          <a:xfrm>
            <a:off x="1115568" y="5349240"/>
            <a:ext cx="8671255" cy="91440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Une PPV versée en 2026 par une entreprise de 40 salariés à un salarié payé 2 SMIC est exonérée d'impôt sur le revenu.</a:t>
            </a:r>
            <a:endParaRPr lang="en-US" sz="1400" dirty="0"/>
          </a:p>
        </p:txBody>
      </p:sp>
      <p:sp>
        <p:nvSpPr>
          <p:cNvPr id="41" name="Shape 39"/>
          <p:cNvSpPr/>
          <p:nvPr/>
        </p:nvSpPr>
        <p:spPr>
          <a:xfrm>
            <a:off x="9997135" y="5404104"/>
            <a:ext cx="777240" cy="804672"/>
          </a:xfrm>
          <a:prstGeom prst="roundRect">
            <a:avLst>
              <a:gd name="adj" fmla="val 9412"/>
            </a:avLst>
          </a:prstGeom>
          <a:solidFill>
            <a:srgbClr val="FFF6F4"/>
          </a:solidFill>
          <a:ln w="9525">
            <a:solidFill>
              <a:srgbClr val="F0C8BC"/>
            </a:solidFill>
            <a:prstDash val="solid"/>
          </a:ln>
        </p:spPr>
      </p:sp>
      <p:sp>
        <p:nvSpPr>
          <p:cNvPr id="42" name="Text 40"/>
          <p:cNvSpPr txBox="1"/>
          <p:nvPr/>
        </p:nvSpPr>
        <p:spPr>
          <a:xfrm>
            <a:off x="9997135" y="5404104"/>
            <a:ext cx="777240" cy="80467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43" name="Shape 41"/>
          <p:cNvSpPr/>
          <p:nvPr/>
        </p:nvSpPr>
        <p:spPr>
          <a:xfrm>
            <a:off x="10838383" y="5404104"/>
            <a:ext cx="777240" cy="804672"/>
          </a:xfrm>
          <a:prstGeom prst="roundRect">
            <a:avLst>
              <a:gd name="adj" fmla="val 9412"/>
            </a:avLst>
          </a:prstGeom>
          <a:solidFill>
            <a:srgbClr val="FFF6F4"/>
          </a:solidFill>
          <a:ln w="9525">
            <a:solidFill>
              <a:srgbClr val="F0C8BC"/>
            </a:solidFill>
            <a:prstDash val="solid"/>
          </a:ln>
        </p:spPr>
      </p:sp>
      <p:sp>
        <p:nvSpPr>
          <p:cNvPr id="44" name="Text 42"/>
          <p:cNvSpPr txBox="1"/>
          <p:nvPr/>
        </p:nvSpPr>
        <p:spPr>
          <a:xfrm>
            <a:off x="10838383" y="5404104"/>
            <a:ext cx="777240" cy="80467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45" name="Text 4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46" name="Text 4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Réponses : quiz d'ouverture</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RÉPONSES</a:t>
            </a:r>
            <a:endParaRPr lang="en-US" sz="1000" dirty="0"/>
          </a:p>
        </p:txBody>
      </p:sp>
      <p:sp>
        <p:nvSpPr>
          <p:cNvPr id="5" name="Shape 3"/>
          <p:cNvSpPr/>
          <p:nvPr/>
        </p:nvSpPr>
        <p:spPr>
          <a:xfrm>
            <a:off x="548640" y="1325880"/>
            <a:ext cx="11094415" cy="914400"/>
          </a:xfrm>
          <a:prstGeom prst="roundRect">
            <a:avLst>
              <a:gd name="adj" fmla="val 8000"/>
            </a:avLst>
          </a:prstGeom>
          <a:solidFill>
            <a:srgbClr val="FFF6F4"/>
          </a:solidFill>
          <a:ln w="12700">
            <a:solidFill>
              <a:srgbClr val="FFF6F4"/>
            </a:solidFill>
            <a:prstDash val="solid"/>
          </a:ln>
        </p:spPr>
      </p:sp>
      <p:sp>
        <p:nvSpPr>
          <p:cNvPr id="6" name="Shape 4"/>
          <p:cNvSpPr/>
          <p:nvPr/>
        </p:nvSpPr>
        <p:spPr>
          <a:xfrm>
            <a:off x="658368" y="1609344"/>
            <a:ext cx="347472" cy="347472"/>
          </a:xfrm>
          <a:prstGeom prst="ellipse">
            <a:avLst/>
          </a:prstGeom>
          <a:solidFill>
            <a:srgbClr val="8C3A27"/>
          </a:solidFill>
          <a:ln w="12700">
            <a:solidFill>
              <a:srgbClr val="8C3A27"/>
            </a:solidFill>
            <a:prstDash val="solid"/>
          </a:ln>
        </p:spPr>
      </p:sp>
      <p:sp>
        <p:nvSpPr>
          <p:cNvPr id="7" name="Text 5"/>
          <p:cNvSpPr txBox="1"/>
          <p:nvPr/>
        </p:nvSpPr>
        <p:spPr>
          <a:xfrm>
            <a:off x="658368" y="16093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Shape 6"/>
          <p:cNvSpPr/>
          <p:nvPr/>
        </p:nvSpPr>
        <p:spPr>
          <a:xfrm>
            <a:off x="1115568" y="1399032"/>
            <a:ext cx="777240" cy="768096"/>
          </a:xfrm>
          <a:prstGeom prst="roundRect">
            <a:avLst>
              <a:gd name="adj" fmla="val 9524"/>
            </a:avLst>
          </a:prstGeom>
          <a:solidFill>
            <a:srgbClr val="183F1E"/>
          </a:solidFill>
          <a:ln w="12700">
            <a:solidFill>
              <a:srgbClr val="183F1E"/>
            </a:solidFill>
            <a:prstDash val="solid"/>
          </a:ln>
        </p:spPr>
      </p:sp>
      <p:sp>
        <p:nvSpPr>
          <p:cNvPr id="9" name="Text 7"/>
          <p:cNvSpPr txBox="1"/>
          <p:nvPr/>
        </p:nvSpPr>
        <p:spPr>
          <a:xfrm>
            <a:off x="1115568" y="1399032"/>
            <a:ext cx="777240" cy="7680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VRAI</a:t>
            </a:r>
            <a:endParaRPr lang="en-US" sz="1100" dirty="0"/>
          </a:p>
        </p:txBody>
      </p:sp>
      <p:sp>
        <p:nvSpPr>
          <p:cNvPr id="10" name="Text 8"/>
          <p:cNvSpPr txBox="1"/>
          <p:nvPr/>
        </p:nvSpPr>
        <p:spPr>
          <a:xfrm>
            <a:off x="2057400" y="1325880"/>
            <a:ext cx="9448495" cy="9144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Revalorisation automatique de 2,41 % (arrêté du 22 mai 2026) : 12,31 € de l'heure, 1 867,02 € par mois pour 151,67 h.</a:t>
            </a:r>
            <a:endParaRPr lang="en-US" sz="1300" dirty="0"/>
          </a:p>
        </p:txBody>
      </p:sp>
      <p:sp>
        <p:nvSpPr>
          <p:cNvPr id="11" name="Shape 9"/>
          <p:cNvSpPr/>
          <p:nvPr/>
        </p:nvSpPr>
        <p:spPr>
          <a:xfrm>
            <a:off x="548640" y="2331720"/>
            <a:ext cx="11094415" cy="914400"/>
          </a:xfrm>
          <a:prstGeom prst="roundRect">
            <a:avLst>
              <a:gd name="adj" fmla="val 8000"/>
            </a:avLst>
          </a:prstGeom>
          <a:solidFill>
            <a:srgbClr val="FFF6F4"/>
          </a:solidFill>
          <a:ln w="12700">
            <a:solidFill>
              <a:srgbClr val="FFF6F4"/>
            </a:solidFill>
            <a:prstDash val="solid"/>
          </a:ln>
        </p:spPr>
      </p:sp>
      <p:sp>
        <p:nvSpPr>
          <p:cNvPr id="12" name="Shape 10"/>
          <p:cNvSpPr/>
          <p:nvPr/>
        </p:nvSpPr>
        <p:spPr>
          <a:xfrm>
            <a:off x="658368" y="2615184"/>
            <a:ext cx="347472" cy="347472"/>
          </a:xfrm>
          <a:prstGeom prst="ellipse">
            <a:avLst/>
          </a:prstGeom>
          <a:solidFill>
            <a:srgbClr val="8C3A27"/>
          </a:solidFill>
          <a:ln w="12700">
            <a:solidFill>
              <a:srgbClr val="8C3A27"/>
            </a:solidFill>
            <a:prstDash val="solid"/>
          </a:ln>
        </p:spPr>
      </p:sp>
      <p:sp>
        <p:nvSpPr>
          <p:cNvPr id="13" name="Text 11"/>
          <p:cNvSpPr txBox="1"/>
          <p:nvPr/>
        </p:nvSpPr>
        <p:spPr>
          <a:xfrm>
            <a:off x="658368" y="261518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4" name="Shape 12"/>
          <p:cNvSpPr/>
          <p:nvPr/>
        </p:nvSpPr>
        <p:spPr>
          <a:xfrm>
            <a:off x="1115568" y="2404872"/>
            <a:ext cx="777240" cy="768096"/>
          </a:xfrm>
          <a:prstGeom prst="roundRect">
            <a:avLst>
              <a:gd name="adj" fmla="val 9524"/>
            </a:avLst>
          </a:prstGeom>
          <a:solidFill>
            <a:srgbClr val="8C3A27"/>
          </a:solidFill>
          <a:ln w="12700">
            <a:solidFill>
              <a:srgbClr val="8C3A27"/>
            </a:solidFill>
            <a:prstDash val="solid"/>
          </a:ln>
        </p:spPr>
      </p:sp>
      <p:sp>
        <p:nvSpPr>
          <p:cNvPr id="15" name="Text 13"/>
          <p:cNvSpPr txBox="1"/>
          <p:nvPr/>
        </p:nvSpPr>
        <p:spPr>
          <a:xfrm>
            <a:off x="1115568" y="2404872"/>
            <a:ext cx="777240" cy="7680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FAUX</a:t>
            </a:r>
            <a:endParaRPr lang="en-US" sz="1100" dirty="0"/>
          </a:p>
        </p:txBody>
      </p:sp>
      <p:sp>
        <p:nvSpPr>
          <p:cNvPr id="16" name="Text 14"/>
          <p:cNvSpPr txBox="1"/>
          <p:nvPr/>
        </p:nvSpPr>
        <p:spPr>
          <a:xfrm>
            <a:off x="2057400" y="2331720"/>
            <a:ext cx="9448495" cy="9144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Le plancher de l'allocation reste gelé à 8,57 € (9,52 € en APLD). Seul le plancher de l'indemnité versée au salarié suit le SMIC net (9,74 €).</a:t>
            </a:r>
            <a:endParaRPr lang="en-US" sz="1300" dirty="0"/>
          </a:p>
        </p:txBody>
      </p:sp>
      <p:sp>
        <p:nvSpPr>
          <p:cNvPr id="17" name="Shape 15"/>
          <p:cNvSpPr/>
          <p:nvPr/>
        </p:nvSpPr>
        <p:spPr>
          <a:xfrm>
            <a:off x="548640" y="3337560"/>
            <a:ext cx="11094415" cy="914400"/>
          </a:xfrm>
          <a:prstGeom prst="roundRect">
            <a:avLst>
              <a:gd name="adj" fmla="val 8000"/>
            </a:avLst>
          </a:prstGeom>
          <a:solidFill>
            <a:srgbClr val="FFF6F4"/>
          </a:solidFill>
          <a:ln w="12700">
            <a:solidFill>
              <a:srgbClr val="FFF6F4"/>
            </a:solidFill>
            <a:prstDash val="solid"/>
          </a:ln>
        </p:spPr>
      </p:sp>
      <p:sp>
        <p:nvSpPr>
          <p:cNvPr id="18" name="Shape 16"/>
          <p:cNvSpPr/>
          <p:nvPr/>
        </p:nvSpPr>
        <p:spPr>
          <a:xfrm>
            <a:off x="658368" y="3621024"/>
            <a:ext cx="347472" cy="347472"/>
          </a:xfrm>
          <a:prstGeom prst="ellipse">
            <a:avLst/>
          </a:prstGeom>
          <a:solidFill>
            <a:srgbClr val="8C3A27"/>
          </a:solidFill>
          <a:ln w="12700">
            <a:solidFill>
              <a:srgbClr val="8C3A27"/>
            </a:solidFill>
            <a:prstDash val="solid"/>
          </a:ln>
        </p:spPr>
      </p:sp>
      <p:sp>
        <p:nvSpPr>
          <p:cNvPr id="19" name="Text 17"/>
          <p:cNvSpPr txBox="1"/>
          <p:nvPr/>
        </p:nvSpPr>
        <p:spPr>
          <a:xfrm>
            <a:off x="658368" y="36210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Shape 18"/>
          <p:cNvSpPr/>
          <p:nvPr/>
        </p:nvSpPr>
        <p:spPr>
          <a:xfrm>
            <a:off x="1115568" y="3410712"/>
            <a:ext cx="777240" cy="768096"/>
          </a:xfrm>
          <a:prstGeom prst="roundRect">
            <a:avLst>
              <a:gd name="adj" fmla="val 9524"/>
            </a:avLst>
          </a:prstGeom>
          <a:solidFill>
            <a:srgbClr val="8C3A27"/>
          </a:solidFill>
          <a:ln w="12700">
            <a:solidFill>
              <a:srgbClr val="8C3A27"/>
            </a:solidFill>
            <a:prstDash val="solid"/>
          </a:ln>
        </p:spPr>
      </p:sp>
      <p:sp>
        <p:nvSpPr>
          <p:cNvPr id="21" name="Text 19"/>
          <p:cNvSpPr txBox="1"/>
          <p:nvPr/>
        </p:nvSpPr>
        <p:spPr>
          <a:xfrm>
            <a:off x="1115568" y="3410712"/>
            <a:ext cx="777240" cy="7680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FAUX</a:t>
            </a:r>
            <a:endParaRPr lang="en-US" sz="1100" dirty="0"/>
          </a:p>
        </p:txBody>
      </p:sp>
      <p:sp>
        <p:nvSpPr>
          <p:cNvPr id="22" name="Text 20"/>
          <p:cNvSpPr txBox="1"/>
          <p:nvPr/>
        </p:nvSpPr>
        <p:spPr>
          <a:xfrm>
            <a:off x="2057400" y="3337560"/>
            <a:ext cx="9448495" cy="9144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Elle est passée à 40 % pour les ruptures intervenues depuis le 1er janvier 2026 (LFSS 2026).</a:t>
            </a:r>
            <a:endParaRPr lang="en-US" sz="1300" dirty="0"/>
          </a:p>
        </p:txBody>
      </p:sp>
      <p:sp>
        <p:nvSpPr>
          <p:cNvPr id="23" name="Shape 21"/>
          <p:cNvSpPr/>
          <p:nvPr/>
        </p:nvSpPr>
        <p:spPr>
          <a:xfrm>
            <a:off x="548640" y="4343400"/>
            <a:ext cx="11094415" cy="914400"/>
          </a:xfrm>
          <a:prstGeom prst="roundRect">
            <a:avLst>
              <a:gd name="adj" fmla="val 8000"/>
            </a:avLst>
          </a:prstGeom>
          <a:solidFill>
            <a:srgbClr val="FFF6F4"/>
          </a:solidFill>
          <a:ln w="12700">
            <a:solidFill>
              <a:srgbClr val="FFF6F4"/>
            </a:solidFill>
            <a:prstDash val="solid"/>
          </a:ln>
        </p:spPr>
      </p:sp>
      <p:sp>
        <p:nvSpPr>
          <p:cNvPr id="24" name="Shape 22"/>
          <p:cNvSpPr/>
          <p:nvPr/>
        </p:nvSpPr>
        <p:spPr>
          <a:xfrm>
            <a:off x="658368" y="4626864"/>
            <a:ext cx="347472" cy="347472"/>
          </a:xfrm>
          <a:prstGeom prst="ellipse">
            <a:avLst/>
          </a:prstGeom>
          <a:solidFill>
            <a:srgbClr val="8C3A27"/>
          </a:solidFill>
          <a:ln w="12700">
            <a:solidFill>
              <a:srgbClr val="8C3A27"/>
            </a:solidFill>
            <a:prstDash val="solid"/>
          </a:ln>
        </p:spPr>
      </p:sp>
      <p:sp>
        <p:nvSpPr>
          <p:cNvPr id="25" name="Text 23"/>
          <p:cNvSpPr txBox="1"/>
          <p:nvPr/>
        </p:nvSpPr>
        <p:spPr>
          <a:xfrm>
            <a:off x="658368" y="46268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6" name="Shape 24"/>
          <p:cNvSpPr/>
          <p:nvPr/>
        </p:nvSpPr>
        <p:spPr>
          <a:xfrm>
            <a:off x="1115568" y="4416552"/>
            <a:ext cx="777240" cy="768096"/>
          </a:xfrm>
          <a:prstGeom prst="roundRect">
            <a:avLst>
              <a:gd name="adj" fmla="val 9524"/>
            </a:avLst>
          </a:prstGeom>
          <a:solidFill>
            <a:srgbClr val="183F1E"/>
          </a:solidFill>
          <a:ln w="12700">
            <a:solidFill>
              <a:srgbClr val="183F1E"/>
            </a:solidFill>
            <a:prstDash val="solid"/>
          </a:ln>
        </p:spPr>
      </p:sp>
      <p:sp>
        <p:nvSpPr>
          <p:cNvPr id="27" name="Text 25"/>
          <p:cNvSpPr txBox="1"/>
          <p:nvPr/>
        </p:nvSpPr>
        <p:spPr>
          <a:xfrm>
            <a:off x="1115568" y="4416552"/>
            <a:ext cx="777240" cy="7680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VRAI</a:t>
            </a:r>
            <a:endParaRPr lang="en-US" sz="1100" dirty="0"/>
          </a:p>
        </p:txBody>
      </p:sp>
      <p:sp>
        <p:nvSpPr>
          <p:cNvPr id="28" name="Text 26"/>
          <p:cNvSpPr txBox="1"/>
          <p:nvPr/>
        </p:nvSpPr>
        <p:spPr>
          <a:xfrm>
            <a:off x="2057400" y="4343400"/>
            <a:ext cx="9448495" cy="9144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Cass. soc. 8 octobre 2025 : les télétravailleurs bénéficient des mêmes droits, dès lors que la journée comprend une pause repas.</a:t>
            </a:r>
            <a:endParaRPr lang="en-US" sz="1300" dirty="0"/>
          </a:p>
        </p:txBody>
      </p:sp>
      <p:sp>
        <p:nvSpPr>
          <p:cNvPr id="29" name="Shape 27"/>
          <p:cNvSpPr/>
          <p:nvPr/>
        </p:nvSpPr>
        <p:spPr>
          <a:xfrm>
            <a:off x="548640" y="5349240"/>
            <a:ext cx="11094415" cy="914400"/>
          </a:xfrm>
          <a:prstGeom prst="roundRect">
            <a:avLst>
              <a:gd name="adj" fmla="val 8000"/>
            </a:avLst>
          </a:prstGeom>
          <a:solidFill>
            <a:srgbClr val="FFF6F4"/>
          </a:solidFill>
          <a:ln w="12700">
            <a:solidFill>
              <a:srgbClr val="FFF6F4"/>
            </a:solidFill>
            <a:prstDash val="solid"/>
          </a:ln>
        </p:spPr>
      </p:sp>
      <p:sp>
        <p:nvSpPr>
          <p:cNvPr id="30" name="Shape 28"/>
          <p:cNvSpPr/>
          <p:nvPr/>
        </p:nvSpPr>
        <p:spPr>
          <a:xfrm>
            <a:off x="658368" y="5632704"/>
            <a:ext cx="347472" cy="347472"/>
          </a:xfrm>
          <a:prstGeom prst="ellipse">
            <a:avLst/>
          </a:prstGeom>
          <a:solidFill>
            <a:srgbClr val="8C3A27"/>
          </a:solidFill>
          <a:ln w="12700">
            <a:solidFill>
              <a:srgbClr val="8C3A27"/>
            </a:solidFill>
            <a:prstDash val="solid"/>
          </a:ln>
        </p:spPr>
      </p:sp>
      <p:sp>
        <p:nvSpPr>
          <p:cNvPr id="31" name="Text 29"/>
          <p:cNvSpPr txBox="1"/>
          <p:nvPr/>
        </p:nvSpPr>
        <p:spPr>
          <a:xfrm>
            <a:off x="658368" y="56327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32" name="Shape 30"/>
          <p:cNvSpPr/>
          <p:nvPr/>
        </p:nvSpPr>
        <p:spPr>
          <a:xfrm>
            <a:off x="1115568" y="5422392"/>
            <a:ext cx="777240" cy="768096"/>
          </a:xfrm>
          <a:prstGeom prst="roundRect">
            <a:avLst>
              <a:gd name="adj" fmla="val 9524"/>
            </a:avLst>
          </a:prstGeom>
          <a:solidFill>
            <a:srgbClr val="183F1E"/>
          </a:solidFill>
          <a:ln w="12700">
            <a:solidFill>
              <a:srgbClr val="183F1E"/>
            </a:solidFill>
            <a:prstDash val="solid"/>
          </a:ln>
        </p:spPr>
      </p:sp>
      <p:sp>
        <p:nvSpPr>
          <p:cNvPr id="33" name="Text 31"/>
          <p:cNvSpPr txBox="1"/>
          <p:nvPr/>
        </p:nvSpPr>
        <p:spPr>
          <a:xfrm>
            <a:off x="1115568" y="5422392"/>
            <a:ext cx="777240" cy="7680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VRAI</a:t>
            </a:r>
            <a:endParaRPr lang="en-US" sz="1100" dirty="0"/>
          </a:p>
        </p:txBody>
      </p:sp>
      <p:sp>
        <p:nvSpPr>
          <p:cNvPr id="34" name="Text 32"/>
          <p:cNvSpPr txBox="1"/>
          <p:nvPr/>
        </p:nvSpPr>
        <p:spPr>
          <a:xfrm>
            <a:off x="2057400" y="5349240"/>
            <a:ext cx="9448495" cy="91440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Régime renforcé des entreprises de moins de 50 salariés (rémunération &lt; 3 SMIC) : exonération de CSG-CRDS et d'IR jusqu'au 31 décembre 2026.</a:t>
            </a:r>
            <a:endParaRPr lang="en-US" sz="1300" dirty="0"/>
          </a:p>
        </p:txBody>
      </p:sp>
      <p:sp>
        <p:nvSpPr>
          <p:cNvPr id="35" name="Text 3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36" name="Text 3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435369"/>
        </a:solidFill>
      </p:bgPr>
    </p:bg>
    <p:spTree>
      <p:nvGrpSpPr>
        <p:cNvPr id="1" name=""/>
        <p:cNvGrpSpPr/>
        <p:nvPr/>
      </p:nvGrpSpPr>
      <p:grpSpPr>
        <a:xfrm>
          <a:off x="0" y="0"/>
          <a:ext cx="0" cy="0"/>
          <a:chOff x="0" y="0"/>
          <a:chExt cx="0" cy="0"/>
        </a:xfrm>
      </p:grpSpPr>
      <p:sp>
        <p:nvSpPr>
          <p:cNvPr id="2" name="Shape 0"/>
          <p:cNvSpPr/>
          <p:nvPr/>
        </p:nvSpPr>
        <p:spPr>
          <a:xfrm>
            <a:off x="9235440" y="822960"/>
            <a:ext cx="4206240" cy="4206240"/>
          </a:xfrm>
          <a:prstGeom prst="ellipse">
            <a:avLst/>
          </a:prstGeom>
          <a:solidFill>
            <a:srgbClr val="8C3A27"/>
          </a:solidFill>
          <a:ln w="12700">
            <a:solidFill>
              <a:srgbClr val="8C3A27"/>
            </a:solidFill>
            <a:prstDash val="solid"/>
          </a:ln>
        </p:spPr>
      </p:sp>
      <p:sp>
        <p:nvSpPr>
          <p:cNvPr id="3" name="Text 1"/>
          <p:cNvSpPr txBox="1"/>
          <p:nvPr/>
        </p:nvSpPr>
        <p:spPr>
          <a:xfrm>
            <a:off x="9235440" y="822960"/>
            <a:ext cx="4206240" cy="4206240"/>
          </a:xfrm>
          <a:prstGeom prst="rect">
            <a:avLst/>
          </a:prstGeom>
          <a:noFill/>
          <a:ln/>
        </p:spPr>
        <p:txBody>
          <a:bodyPr wrap="square" lIns="0" tIns="0" rIns="0" bIns="0" rtlCol="0" anchor="ctr"/>
          <a:lstStyle/>
          <a:p>
            <a:pPr algn="ctr" indent="0" marL="0">
              <a:buNone/>
            </a:pPr>
            <a:r>
              <a:rPr lang="en-US" sz="9600" b="1" dirty="0">
                <a:solidFill>
                  <a:srgbClr val="FFFFFF"/>
                </a:solidFill>
                <a:latin typeface="Cambria" pitchFamily="34" charset="0"/>
                <a:ea typeface="Cambria" pitchFamily="34" charset="-122"/>
                <a:cs typeface="Cambria" pitchFamily="34" charset="-120"/>
              </a:rPr>
              <a:t>01</a:t>
            </a:r>
            <a:endParaRPr lang="en-US" sz="9600" dirty="0"/>
          </a:p>
        </p:txBody>
      </p:sp>
      <p:sp>
        <p:nvSpPr>
          <p:cNvPr id="4" name="Text 2"/>
          <p:cNvSpPr txBox="1"/>
          <p:nvPr/>
        </p:nvSpPr>
        <p:spPr>
          <a:xfrm>
            <a:off x="548640" y="1554480"/>
            <a:ext cx="5486400" cy="457200"/>
          </a:xfrm>
          <a:prstGeom prst="rect">
            <a:avLst/>
          </a:prstGeom>
          <a:noFill/>
          <a:ln/>
        </p:spPr>
        <p:txBody>
          <a:bodyPr wrap="square" lIns="0" tIns="0" rIns="0" bIns="0" rtlCol="0" anchor="ctr"/>
          <a:lstStyle/>
          <a:p>
            <a:pPr indent="0" marL="0">
              <a:buNone/>
            </a:pPr>
            <a:r>
              <a:rPr lang="en-US" sz="1600" spc="300" kern="0" dirty="0">
                <a:solidFill>
                  <a:srgbClr val="D9A390"/>
                </a:solidFill>
                <a:latin typeface="Calibri" pitchFamily="34" charset="0"/>
                <a:ea typeface="Calibri" pitchFamily="34" charset="-122"/>
                <a:cs typeface="Calibri" pitchFamily="34" charset="-120"/>
              </a:rPr>
              <a:t>Séquence</a:t>
            </a:r>
            <a:endParaRPr lang="en-US" sz="1600" dirty="0"/>
          </a:p>
        </p:txBody>
      </p:sp>
      <p:sp>
        <p:nvSpPr>
          <p:cNvPr id="5" name="Text 3"/>
          <p:cNvSpPr txBox="1"/>
          <p:nvPr/>
        </p:nvSpPr>
        <p:spPr>
          <a:xfrm>
            <a:off x="548640" y="2011680"/>
            <a:ext cx="8046720" cy="155448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Le SMIC de juin et ses effets en cascade</a:t>
            </a:r>
            <a:endParaRPr lang="en-US" sz="3800" dirty="0"/>
          </a:p>
        </p:txBody>
      </p:sp>
      <p:sp>
        <p:nvSpPr>
          <p:cNvPr id="6" name="Text 4"/>
          <p:cNvSpPr txBox="1"/>
          <p:nvPr/>
        </p:nvSpPr>
        <p:spPr>
          <a:xfrm>
            <a:off x="548640" y="3657600"/>
            <a:ext cx="8046720" cy="1005840"/>
          </a:xfrm>
          <a:prstGeom prst="rect">
            <a:avLst/>
          </a:prstGeom>
          <a:noFill/>
          <a:ln/>
        </p:spPr>
        <p:txBody>
          <a:bodyPr wrap="square" lIns="0" tIns="0" rIns="0" bIns="0" rtlCol="0" anchor="t"/>
          <a:lstStyle/>
          <a:p>
            <a:pPr indent="0" marL="0">
              <a:buNone/>
            </a:pPr>
            <a:r>
              <a:rPr lang="en-US" sz="1700" dirty="0">
                <a:solidFill>
                  <a:srgbClr val="F2E5D8"/>
                </a:solidFill>
                <a:latin typeface="Calibri" pitchFamily="34" charset="0"/>
                <a:ea typeface="Calibri" pitchFamily="34" charset="-122"/>
                <a:cs typeface="Calibri" pitchFamily="34" charset="-120"/>
              </a:rPr>
              <a:t>Ce qui a changé sur le bulletin de juin 2026 et ce qui n'a pas bougé</a:t>
            </a:r>
            <a:endParaRPr lang="en-US" sz="1700" dirty="0"/>
          </a:p>
        </p:txBody>
      </p:sp>
      <p:sp>
        <p:nvSpPr>
          <p:cNvPr id="7" name="Shape 5"/>
          <p:cNvSpPr/>
          <p:nvPr/>
        </p:nvSpPr>
        <p:spPr>
          <a:xfrm>
            <a:off x="548640" y="5029200"/>
            <a:ext cx="3840480" cy="310896"/>
          </a:xfrm>
          <a:prstGeom prst="roundRect">
            <a:avLst>
              <a:gd name="adj" fmla="val 50000"/>
            </a:avLst>
          </a:prstGeom>
          <a:solidFill>
            <a:srgbClr val="8C3A27"/>
          </a:solidFill>
          <a:ln w="12700">
            <a:solidFill>
              <a:srgbClr val="8C3A27"/>
            </a:solidFill>
            <a:prstDash val="solid"/>
          </a:ln>
        </p:spPr>
      </p:sp>
      <p:sp>
        <p:nvSpPr>
          <p:cNvPr id="8" name="Text 6"/>
          <p:cNvSpPr txBox="1"/>
          <p:nvPr/>
        </p:nvSpPr>
        <p:spPr>
          <a:xfrm>
            <a:off x="548640" y="5029200"/>
            <a:ext cx="384048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55 min · 1 cas pratique · 1 quiz</a:t>
            </a:r>
            <a:endParaRPr lang="en-US" sz="1000" dirty="0"/>
          </a:p>
        </p:txBody>
      </p:sp>
      <p:sp>
        <p:nvSpPr>
          <p:cNvPr id="9" name="Text 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D9A390"/>
                </a:solidFill>
                <a:latin typeface="Calibri" pitchFamily="34" charset="0"/>
                <a:ea typeface="Calibri" pitchFamily="34" charset="-122"/>
                <a:cs typeface="Calibri" pitchFamily="34" charset="-120"/>
              </a:rPr>
              <a:t>Actualité paie · juin – septembre 2026</a:t>
            </a:r>
            <a:endParaRPr lang="en-US" sz="9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D9A39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SMIC au 1er juin 2026 : les chiffres</a:t>
            </a:r>
            <a:endParaRPr lang="en-US" sz="2800" dirty="0"/>
          </a:p>
        </p:txBody>
      </p:sp>
      <p:sp>
        <p:nvSpPr>
          <p:cNvPr id="3" name="Shape 1"/>
          <p:cNvSpPr/>
          <p:nvPr/>
        </p:nvSpPr>
        <p:spPr>
          <a:xfrm>
            <a:off x="548640" y="1325880"/>
            <a:ext cx="2567864" cy="1737360"/>
          </a:xfrm>
          <a:prstGeom prst="roundRect">
            <a:avLst>
              <a:gd name="adj" fmla="val 7895"/>
            </a:avLst>
          </a:prstGeom>
          <a:solidFill>
            <a:srgbClr val="435369"/>
          </a:solidFill>
          <a:ln w="12700">
            <a:solidFill>
              <a:srgbClr val="435369"/>
            </a:solidFill>
            <a:prstDash val="solid"/>
          </a:ln>
        </p:spPr>
      </p:sp>
      <p:sp>
        <p:nvSpPr>
          <p:cNvPr id="4" name="Text 2"/>
          <p:cNvSpPr txBox="1"/>
          <p:nvPr/>
        </p:nvSpPr>
        <p:spPr>
          <a:xfrm>
            <a:off x="731520" y="1508760"/>
            <a:ext cx="2202104" cy="868680"/>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Cambria" pitchFamily="34" charset="0"/>
                <a:ea typeface="Cambria" pitchFamily="34" charset="-122"/>
                <a:cs typeface="Cambria" pitchFamily="34" charset="-120"/>
              </a:rPr>
              <a:t>12,31 €</a:t>
            </a:r>
            <a:endParaRPr lang="en-US" sz="3400" dirty="0"/>
          </a:p>
        </p:txBody>
      </p:sp>
      <p:sp>
        <p:nvSpPr>
          <p:cNvPr id="5" name="Text 3"/>
          <p:cNvSpPr txBox="1"/>
          <p:nvPr/>
        </p:nvSpPr>
        <p:spPr>
          <a:xfrm>
            <a:off x="731520" y="2377440"/>
            <a:ext cx="2202104" cy="594360"/>
          </a:xfrm>
          <a:prstGeom prst="rect">
            <a:avLst/>
          </a:prstGeom>
          <a:noFill/>
          <a:ln/>
        </p:spPr>
        <p:txBody>
          <a:bodyPr wrap="square" lIns="0" tIns="0" rIns="0" bIns="0" rtlCol="0" anchor="t"/>
          <a:lstStyle/>
          <a:p>
            <a:pPr algn="ctr" indent="0" marL="0">
              <a:buNone/>
            </a:pPr>
            <a:r>
              <a:rPr lang="en-US" sz="1200" dirty="0">
                <a:solidFill>
                  <a:srgbClr val="F2E5D8"/>
                </a:solidFill>
                <a:latin typeface="Calibri" pitchFamily="34" charset="0"/>
                <a:ea typeface="Calibri" pitchFamily="34" charset="-122"/>
                <a:cs typeface="Calibri" pitchFamily="34" charset="-120"/>
              </a:rPr>
              <a:t>SMIC horaire brut (+ 2,41 %)</a:t>
            </a:r>
            <a:endParaRPr lang="en-US" sz="1200" dirty="0"/>
          </a:p>
        </p:txBody>
      </p:sp>
      <p:sp>
        <p:nvSpPr>
          <p:cNvPr id="6" name="Shape 4"/>
          <p:cNvSpPr/>
          <p:nvPr/>
        </p:nvSpPr>
        <p:spPr>
          <a:xfrm>
            <a:off x="3390824" y="1325880"/>
            <a:ext cx="2567864" cy="1737360"/>
          </a:xfrm>
          <a:prstGeom prst="roundRect">
            <a:avLst>
              <a:gd name="adj" fmla="val 7895"/>
            </a:avLst>
          </a:prstGeom>
          <a:solidFill>
            <a:srgbClr val="435369"/>
          </a:solidFill>
          <a:ln w="12700">
            <a:solidFill>
              <a:srgbClr val="435369"/>
            </a:solidFill>
            <a:prstDash val="solid"/>
          </a:ln>
        </p:spPr>
      </p:sp>
      <p:sp>
        <p:nvSpPr>
          <p:cNvPr id="7" name="Text 5"/>
          <p:cNvSpPr txBox="1"/>
          <p:nvPr/>
        </p:nvSpPr>
        <p:spPr>
          <a:xfrm>
            <a:off x="3573704" y="1508760"/>
            <a:ext cx="2202104" cy="868680"/>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Cambria" pitchFamily="34" charset="0"/>
                <a:ea typeface="Cambria" pitchFamily="34" charset="-122"/>
                <a:cs typeface="Cambria" pitchFamily="34" charset="-120"/>
              </a:rPr>
              <a:t>1 867,02 €</a:t>
            </a:r>
            <a:endParaRPr lang="en-US" sz="3400" dirty="0"/>
          </a:p>
        </p:txBody>
      </p:sp>
      <p:sp>
        <p:nvSpPr>
          <p:cNvPr id="8" name="Text 6"/>
          <p:cNvSpPr txBox="1"/>
          <p:nvPr/>
        </p:nvSpPr>
        <p:spPr>
          <a:xfrm>
            <a:off x="3573704" y="2377440"/>
            <a:ext cx="2202104" cy="594360"/>
          </a:xfrm>
          <a:prstGeom prst="rect">
            <a:avLst/>
          </a:prstGeom>
          <a:noFill/>
          <a:ln/>
        </p:spPr>
        <p:txBody>
          <a:bodyPr wrap="square" lIns="0" tIns="0" rIns="0" bIns="0" rtlCol="0" anchor="t"/>
          <a:lstStyle/>
          <a:p>
            <a:pPr algn="ctr" indent="0" marL="0">
              <a:buNone/>
            </a:pPr>
            <a:r>
              <a:rPr lang="en-US" sz="1200" dirty="0">
                <a:solidFill>
                  <a:srgbClr val="F2E5D8"/>
                </a:solidFill>
                <a:latin typeface="Calibri" pitchFamily="34" charset="0"/>
                <a:ea typeface="Calibri" pitchFamily="34" charset="-122"/>
                <a:cs typeface="Calibri" pitchFamily="34" charset="-120"/>
              </a:rPr>
              <a:t>SMIC mensuel brut pour 151,67 h</a:t>
            </a:r>
            <a:endParaRPr lang="en-US" sz="1200" dirty="0"/>
          </a:p>
        </p:txBody>
      </p:sp>
      <p:sp>
        <p:nvSpPr>
          <p:cNvPr id="9" name="Shape 7"/>
          <p:cNvSpPr/>
          <p:nvPr/>
        </p:nvSpPr>
        <p:spPr>
          <a:xfrm>
            <a:off x="6233008" y="1325880"/>
            <a:ext cx="2567864" cy="1737360"/>
          </a:xfrm>
          <a:prstGeom prst="roundRect">
            <a:avLst>
              <a:gd name="adj" fmla="val 7895"/>
            </a:avLst>
          </a:prstGeom>
          <a:solidFill>
            <a:srgbClr val="435369"/>
          </a:solidFill>
          <a:ln w="12700">
            <a:solidFill>
              <a:srgbClr val="435369"/>
            </a:solidFill>
            <a:prstDash val="solid"/>
          </a:ln>
        </p:spPr>
      </p:sp>
      <p:sp>
        <p:nvSpPr>
          <p:cNvPr id="10" name="Text 8"/>
          <p:cNvSpPr txBox="1"/>
          <p:nvPr/>
        </p:nvSpPr>
        <p:spPr>
          <a:xfrm>
            <a:off x="6415888" y="1508760"/>
            <a:ext cx="2202104" cy="868680"/>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Cambria" pitchFamily="34" charset="0"/>
                <a:ea typeface="Cambria" pitchFamily="34" charset="-122"/>
                <a:cs typeface="Cambria" pitchFamily="34" charset="-120"/>
              </a:rPr>
              <a:t>≈ 9,74 €</a:t>
            </a:r>
            <a:endParaRPr lang="en-US" sz="3400" dirty="0"/>
          </a:p>
        </p:txBody>
      </p:sp>
      <p:sp>
        <p:nvSpPr>
          <p:cNvPr id="11" name="Text 9"/>
          <p:cNvSpPr txBox="1"/>
          <p:nvPr/>
        </p:nvSpPr>
        <p:spPr>
          <a:xfrm>
            <a:off x="6415888" y="2377440"/>
            <a:ext cx="2202104" cy="594360"/>
          </a:xfrm>
          <a:prstGeom prst="rect">
            <a:avLst/>
          </a:prstGeom>
          <a:noFill/>
          <a:ln/>
        </p:spPr>
        <p:txBody>
          <a:bodyPr wrap="square" lIns="0" tIns="0" rIns="0" bIns="0" rtlCol="0" anchor="t"/>
          <a:lstStyle/>
          <a:p>
            <a:pPr algn="ctr" indent="0" marL="0">
              <a:buNone/>
            </a:pPr>
            <a:r>
              <a:rPr lang="en-US" sz="1200" dirty="0">
                <a:solidFill>
                  <a:srgbClr val="F2E5D8"/>
                </a:solidFill>
                <a:latin typeface="Calibri" pitchFamily="34" charset="0"/>
                <a:ea typeface="Calibri" pitchFamily="34" charset="-122"/>
                <a:cs typeface="Calibri" pitchFamily="34" charset="-120"/>
              </a:rPr>
              <a:t>SMIC horaire net (≈ 1 477 € nets par mois)</a:t>
            </a:r>
            <a:endParaRPr lang="en-US" sz="1200" dirty="0"/>
          </a:p>
        </p:txBody>
      </p:sp>
      <p:sp>
        <p:nvSpPr>
          <p:cNvPr id="12" name="Shape 10"/>
          <p:cNvSpPr/>
          <p:nvPr/>
        </p:nvSpPr>
        <p:spPr>
          <a:xfrm>
            <a:off x="9075191" y="1325880"/>
            <a:ext cx="2567864" cy="1737360"/>
          </a:xfrm>
          <a:prstGeom prst="roundRect">
            <a:avLst>
              <a:gd name="adj" fmla="val 7895"/>
            </a:avLst>
          </a:prstGeom>
          <a:solidFill>
            <a:srgbClr val="435369"/>
          </a:solidFill>
          <a:ln w="12700">
            <a:solidFill>
              <a:srgbClr val="435369"/>
            </a:solidFill>
            <a:prstDash val="solid"/>
          </a:ln>
        </p:spPr>
      </p:sp>
      <p:sp>
        <p:nvSpPr>
          <p:cNvPr id="13" name="Text 11"/>
          <p:cNvSpPr txBox="1"/>
          <p:nvPr/>
        </p:nvSpPr>
        <p:spPr>
          <a:xfrm>
            <a:off x="9258071" y="1508760"/>
            <a:ext cx="2202104" cy="868680"/>
          </a:xfrm>
          <a:prstGeom prst="rect">
            <a:avLst/>
          </a:prstGeom>
          <a:noFill/>
          <a:ln/>
        </p:spPr>
        <p:txBody>
          <a:bodyPr wrap="square" lIns="0" tIns="0" rIns="0" bIns="0" rtlCol="0" anchor="ctr">
            <a:normAutofit/>
          </a:bodyPr>
          <a:lstStyle/>
          <a:p>
            <a:pPr algn="ctr" indent="0" marL="0">
              <a:buNone/>
            </a:pPr>
            <a:r>
              <a:rPr lang="en-US" sz="3400" b="1" dirty="0">
                <a:solidFill>
                  <a:srgbClr val="FFFFFF"/>
                </a:solidFill>
                <a:latin typeface="Cambria" pitchFamily="34" charset="0"/>
                <a:ea typeface="Cambria" pitchFamily="34" charset="-122"/>
                <a:cs typeface="Cambria" pitchFamily="34" charset="-120"/>
              </a:rPr>
              <a:t>4,35 €</a:t>
            </a:r>
            <a:endParaRPr lang="en-US" sz="3400" dirty="0"/>
          </a:p>
        </p:txBody>
      </p:sp>
      <p:sp>
        <p:nvSpPr>
          <p:cNvPr id="14" name="Text 12"/>
          <p:cNvSpPr txBox="1"/>
          <p:nvPr/>
        </p:nvSpPr>
        <p:spPr>
          <a:xfrm>
            <a:off x="9258071" y="2377440"/>
            <a:ext cx="2202104" cy="594360"/>
          </a:xfrm>
          <a:prstGeom prst="rect">
            <a:avLst/>
          </a:prstGeom>
          <a:noFill/>
          <a:ln/>
        </p:spPr>
        <p:txBody>
          <a:bodyPr wrap="square" lIns="0" tIns="0" rIns="0" bIns="0" rtlCol="0" anchor="t"/>
          <a:lstStyle/>
          <a:p>
            <a:pPr algn="ctr" indent="0" marL="0">
              <a:buNone/>
            </a:pPr>
            <a:r>
              <a:rPr lang="en-US" sz="1200" dirty="0">
                <a:solidFill>
                  <a:srgbClr val="F2E5D8"/>
                </a:solidFill>
                <a:latin typeface="Calibri" pitchFamily="34" charset="0"/>
                <a:ea typeface="Calibri" pitchFamily="34" charset="-122"/>
                <a:cs typeface="Calibri" pitchFamily="34" charset="-120"/>
              </a:rPr>
              <a:t>Minimum garanti (4,25 € auparavant)</a:t>
            </a:r>
            <a:endParaRPr lang="en-US" sz="1200" dirty="0"/>
          </a:p>
        </p:txBody>
      </p:sp>
      <p:sp>
        <p:nvSpPr>
          <p:cNvPr id="15" name="Text 13"/>
          <p:cNvSpPr txBox="1"/>
          <p:nvPr/>
        </p:nvSpPr>
        <p:spPr>
          <a:xfrm>
            <a:off x="548640" y="3429000"/>
            <a:ext cx="11094415" cy="2834640"/>
          </a:xfrm>
          <a:prstGeom prst="rect">
            <a:avLst/>
          </a:prstGeom>
          <a:noFill/>
          <a:ln/>
        </p:spPr>
        <p:txBody>
          <a:bodyPr wrap="square" lIns="635" tIns="635" rIns="635" bIns="635" rtlCol="0" anchor="t"/>
          <a:lstStyle/>
          <a:p>
            <a:pPr marL="228600" indent="-228600">
              <a:lnSpc>
                <a:spcPct val="105000"/>
              </a:lnSpc>
              <a:spcAft>
                <a:spcPts val="750"/>
              </a:spcAft>
              <a:buSzPct val="100000"/>
              <a:buChar char="■"/>
            </a:pPr>
            <a:r>
              <a:rPr lang="en-US" sz="1500" dirty="0">
                <a:solidFill>
                  <a:srgbClr val="2B2B2B"/>
                </a:solidFill>
                <a:latin typeface="Calibri" pitchFamily="34" charset="0"/>
                <a:ea typeface="Calibri" pitchFamily="34" charset="-122"/>
                <a:cs typeface="Calibri" pitchFamily="34" charset="-120"/>
              </a:rPr>
              <a:t>Revalorisation automatique déclenchée par l'inflation (art. L. 3231-4 C. trav.) : arrêté du 22 mai 2026, JO du 24 mai 2026.</a:t>
            </a:r>
            <a:endParaRPr lang="en-US" sz="1500" dirty="0"/>
          </a:p>
          <a:p>
            <a:pPr marL="228600" indent="-228600">
              <a:lnSpc>
                <a:spcPct val="105000"/>
              </a:lnSpc>
              <a:spcAft>
                <a:spcPts val="750"/>
              </a:spcAft>
              <a:buSzPct val="100000"/>
              <a:buChar char="■"/>
            </a:pPr>
            <a:r>
              <a:rPr lang="en-US" sz="1500" dirty="0">
                <a:solidFill>
                  <a:srgbClr val="2B2B2B"/>
                </a:solidFill>
                <a:latin typeface="Calibri" pitchFamily="34" charset="0"/>
                <a:ea typeface="Calibri" pitchFamily="34" charset="-122"/>
                <a:cs typeface="Calibri" pitchFamily="34" charset="-120"/>
              </a:rPr>
              <a:t>Deuxième revalorisation de l'année après celle du 1er janvier 2026 (12,02 €) : le bulletin de juin doit être calculé au nouveau taux dès la première heure du mois.</a:t>
            </a:r>
            <a:endParaRPr lang="en-US" sz="1500" dirty="0"/>
          </a:p>
          <a:p>
            <a:pPr marL="228600" indent="-228600">
              <a:lnSpc>
                <a:spcPct val="105000"/>
              </a:lnSpc>
              <a:spcAft>
                <a:spcPts val="750"/>
              </a:spcAft>
              <a:buSzPct val="100000"/>
              <a:buChar char="■"/>
            </a:pPr>
            <a:r>
              <a:rPr lang="en-US" sz="1500" dirty="0">
                <a:solidFill>
                  <a:srgbClr val="2B2B2B"/>
                </a:solidFill>
                <a:latin typeface="Calibri" pitchFamily="34" charset="0"/>
                <a:ea typeface="Calibri" pitchFamily="34" charset="-122"/>
                <a:cs typeface="Calibri" pitchFamily="34" charset="-120"/>
              </a:rPr>
              <a:t>Mayotte : SMIC spécifique revalorisé dans la même proportion.</a:t>
            </a:r>
            <a:endParaRPr lang="en-US" sz="1500" dirty="0"/>
          </a:p>
        </p:txBody>
      </p:sp>
      <p:sp>
        <p:nvSpPr>
          <p:cNvPr id="16" name="Text 14"/>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17" name="Text 15"/>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Les effets en cascade sur le bulletin</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383924"/>
                <a:gridCol w="2108856"/>
                <a:gridCol w="2383924"/>
                <a:gridCol w="4217712"/>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Poste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Avant le 1er juin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Depuis le 1er juin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Réflexe paie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Salaire de base au SMIC</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1 823,03 €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1 867,02 €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Vérifier tous les salaires proches du SMIC : seuls les éléments « contrepartie du travail » entrent dans l'assiette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Minima conventionnels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Grilles de branche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Rattrapés par le SMIC</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Complément différentiel jusqu'au nouvel avenant de salaires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Apprentis : seuil d'exonération salariale (50 % SMIC)</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911,52 €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933,51 €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Contrats conclus depuis le 1er mars 2025 : cotisations salariales et CSG-CRDS au-delà du seuil</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Activité partielle : indemnité salarié (plancher / plafond)</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9,52 € / 32,45 €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9,74 € / 33,24 €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Le plancher de l'allocation employeur reste à 8,57 €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IJSS maladie : salaire plafonné à 1,4 SMIC</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2 552,24 €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2 613,83 €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IJ maximale 42,97 € pour les arrêts débutant à compter du 1er juillet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RGDU : SMIC de référence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SMIC au 1er janvier</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Inchangé (décret du 12 juin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Ne pas modifier le paramètre SMIC de la réduction générale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Gratification de stage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4,50 € / h</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4,50 € / h</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Indexée sur le plafond horaire de la Sécurité sociale, pas sur le SMIC</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RGDU 2026 : rappel des paramètres</a:t>
            </a:r>
            <a:endParaRPr lang="en-US" sz="2800" dirty="0"/>
          </a:p>
        </p:txBody>
      </p:sp>
      <p:sp>
        <p:nvSpPr>
          <p:cNvPr id="3" name="Text 1"/>
          <p:cNvSpPr txBox="1"/>
          <p:nvPr/>
        </p:nvSpPr>
        <p:spPr>
          <a:xfrm>
            <a:off x="548640" y="1325880"/>
            <a:ext cx="7315200"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Depuis le 1er janvier 2026, une seule réduction dégressive remplace la réduction générale et les « bandeaux » maladie et famille (LFSS 2025, décrets n° 2025-887 du 4 septembre 2025 et n° 2025-1446 du 31 décembre 2025).</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Point de sortie : 3 SMIC annuels. La réduction est maximale au SMIC et diminue progressivement ; entre le SMIC et 3 SMIC, le coefficient ne descend jamais sous Tmin = 2 %.</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Coefficient maximal : 0,3981 (FNAL 0,10 %) ou 0,4021 (FNAL 0,50 %), soit Tdelta = 0,3781 / 0,3821.</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SMIC de référence de l'année : le SMIC en vigueur au 1er janvier 2026 (12,02 €). La hausse de juin ne modifie pas le calcul (gel confirmé par décret du 12 juin 2026).</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La PPV est intégrée à la rémunération prise en compte depuis 2025 : une prime versée en fin d'année réduit la RGDU annuelle.</a:t>
            </a:r>
            <a:endParaRPr lang="en-US" sz="1700" dirty="0"/>
          </a:p>
        </p:txBody>
      </p:sp>
      <p:sp>
        <p:nvSpPr>
          <p:cNvPr id="4" name="Shape 2"/>
          <p:cNvSpPr/>
          <p:nvPr/>
        </p:nvSpPr>
        <p:spPr>
          <a:xfrm>
            <a:off x="8229600" y="1325880"/>
            <a:ext cx="3413455" cy="3749040"/>
          </a:xfrm>
          <a:prstGeom prst="roundRect">
            <a:avLst>
              <a:gd name="adj" fmla="val 4018"/>
            </a:avLst>
          </a:prstGeom>
          <a:solidFill>
            <a:srgbClr val="FFF6F4"/>
          </a:solidFill>
          <a:ln w="12700">
            <a:solidFill>
              <a:srgbClr val="FFF6F4"/>
            </a:solidFill>
            <a:prstDash val="solid"/>
          </a:ln>
        </p:spPr>
      </p:sp>
      <p:sp>
        <p:nvSpPr>
          <p:cNvPr id="5" name="Text 3"/>
          <p:cNvSpPr txBox="1"/>
          <p:nvPr/>
        </p:nvSpPr>
        <p:spPr>
          <a:xfrm>
            <a:off x="8458200" y="1508760"/>
            <a:ext cx="2956255" cy="411480"/>
          </a:xfrm>
          <a:prstGeom prst="rect">
            <a:avLst/>
          </a:prstGeom>
          <a:noFill/>
          <a:ln/>
        </p:spPr>
        <p:txBody>
          <a:bodyPr wrap="square" lIns="0" tIns="0" rIns="0" bIns="0" rtlCol="0" anchor="ctr"/>
          <a:lstStyle/>
          <a:p>
            <a:pPr indent="0" marL="0">
              <a:buNone/>
            </a:pPr>
            <a:r>
              <a:rPr lang="en-US" sz="1600" b="1" dirty="0">
                <a:solidFill>
                  <a:srgbClr val="8C3A27"/>
                </a:solidFill>
                <a:latin typeface="Cambria" pitchFamily="34" charset="0"/>
                <a:ea typeface="Cambria" pitchFamily="34" charset="-122"/>
                <a:cs typeface="Cambria" pitchFamily="34" charset="-120"/>
              </a:rPr>
              <a:t>La formule</a:t>
            </a:r>
            <a:endParaRPr lang="en-US" sz="1600" dirty="0"/>
          </a:p>
        </p:txBody>
      </p:sp>
      <p:sp>
        <p:nvSpPr>
          <p:cNvPr id="6" name="Text 4"/>
          <p:cNvSpPr txBox="1"/>
          <p:nvPr/>
        </p:nvSpPr>
        <p:spPr>
          <a:xfrm>
            <a:off x="8458200" y="2011680"/>
            <a:ext cx="2956255" cy="2880360"/>
          </a:xfrm>
          <a:prstGeom prst="rect">
            <a:avLst/>
          </a:prstGeom>
          <a:noFill/>
          <a:ln/>
        </p:spPr>
        <p:txBody>
          <a:bodyPr wrap="square" lIns="0" tIns="0" rIns="0" bIns="0" rtlCol="0" anchor="t"/>
          <a:lstStyle/>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C = Tmin + Tdelta × [0,5 × (3 × SMIC ÷ Rémunération − 1)]^1,75</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Tmin = 0,0200</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Tdelta = 0,3781 (FNAL 0,10 %)</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Tdelta = 0,3821 (FNAL 0,50 %)</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Calcul annuel avec régularisation progressive</a:t>
            </a:r>
            <a:endParaRPr lang="en-US" sz="1300" dirty="0"/>
          </a:p>
        </p:txBody>
      </p:sp>
      <p:sp>
        <p:nvSpPr>
          <p:cNvPr id="7" name="Text 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8" name="Text 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52825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Cas pratique 1 : le bulletin de juin</a:t>
            </a:r>
            <a:endParaRPr lang="en-US" sz="2800" dirty="0"/>
          </a:p>
        </p:txBody>
      </p:sp>
      <p:sp>
        <p:nvSpPr>
          <p:cNvPr id="3" name="Shape 1"/>
          <p:cNvSpPr/>
          <p:nvPr/>
        </p:nvSpPr>
        <p:spPr>
          <a:xfrm>
            <a:off x="8351215" y="457200"/>
            <a:ext cx="1737360" cy="310896"/>
          </a:xfrm>
          <a:prstGeom prst="roundRect">
            <a:avLst>
              <a:gd name="adj" fmla="val 50000"/>
            </a:avLst>
          </a:prstGeom>
          <a:solidFill>
            <a:srgbClr val="183F1E"/>
          </a:solidFill>
          <a:ln w="12700">
            <a:solidFill>
              <a:srgbClr val="183F1E"/>
            </a:solidFill>
            <a:prstDash val="solid"/>
          </a:ln>
        </p:spPr>
      </p:sp>
      <p:sp>
        <p:nvSpPr>
          <p:cNvPr id="4" name="Text 2"/>
          <p:cNvSpPr txBox="1"/>
          <p:nvPr/>
        </p:nvSpPr>
        <p:spPr>
          <a:xfrm>
            <a:off x="835121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CAS PRATIQUE 1</a:t>
            </a:r>
            <a:endParaRPr lang="en-US" sz="1000" dirty="0"/>
          </a:p>
        </p:txBody>
      </p:sp>
      <p:sp>
        <p:nvSpPr>
          <p:cNvPr id="5" name="Shape 3"/>
          <p:cNvSpPr/>
          <p:nvPr/>
        </p:nvSpPr>
        <p:spPr>
          <a:xfrm>
            <a:off x="10271455" y="457200"/>
            <a:ext cx="1371600" cy="310896"/>
          </a:xfrm>
          <a:prstGeom prst="roundRect">
            <a:avLst>
              <a:gd name="adj" fmla="val 50000"/>
            </a:avLst>
          </a:prstGeom>
          <a:solidFill>
            <a:srgbClr val="8C3A27"/>
          </a:solidFill>
          <a:ln w="12700">
            <a:solidFill>
              <a:srgbClr val="8C3A27"/>
            </a:solidFill>
            <a:prstDash val="solid"/>
          </a:ln>
        </p:spPr>
      </p:sp>
      <p:sp>
        <p:nvSpPr>
          <p:cNvPr id="6" name="Text 4"/>
          <p:cNvSpPr txBox="1"/>
          <p:nvPr/>
        </p:nvSpPr>
        <p:spPr>
          <a:xfrm>
            <a:off x="10271455" y="457200"/>
            <a:ext cx="137160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20 min</a:t>
            </a:r>
            <a:endParaRPr lang="en-US" sz="1000" dirty="0"/>
          </a:p>
        </p:txBody>
      </p:sp>
      <p:sp>
        <p:nvSpPr>
          <p:cNvPr id="7" name="Shape 5"/>
          <p:cNvSpPr/>
          <p:nvPr/>
        </p:nvSpPr>
        <p:spPr>
          <a:xfrm>
            <a:off x="548640" y="1325880"/>
            <a:ext cx="11094415" cy="842010"/>
          </a:xfrm>
          <a:prstGeom prst="roundRect">
            <a:avLst>
              <a:gd name="adj" fmla="val 13032"/>
            </a:avLst>
          </a:prstGeom>
          <a:solidFill>
            <a:srgbClr val="DCE8DD"/>
          </a:solidFill>
          <a:ln w="12700">
            <a:solidFill>
              <a:srgbClr val="DCE8DD"/>
            </a:solidFill>
            <a:prstDash val="solid"/>
          </a:ln>
        </p:spPr>
      </p:sp>
      <p:sp>
        <p:nvSpPr>
          <p:cNvPr id="8" name="Text 6"/>
          <p:cNvSpPr txBox="1"/>
          <p:nvPr/>
        </p:nvSpPr>
        <p:spPr>
          <a:xfrm>
            <a:off x="777240" y="1325880"/>
            <a:ext cx="10637215" cy="84201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La SARL Horizon (25 salariés, FNAL 0,10 %) vous confie sa paie de juin 2026. Vous devez vérifier trois bulletins.</a:t>
            </a:r>
            <a:endParaRPr lang="en-US" sz="1500" dirty="0"/>
          </a:p>
        </p:txBody>
      </p:sp>
      <p:sp>
        <p:nvSpPr>
          <p:cNvPr id="9" name="Shape 7"/>
          <p:cNvSpPr/>
          <p:nvPr/>
        </p:nvSpPr>
        <p:spPr>
          <a:xfrm>
            <a:off x="548640" y="2487930"/>
            <a:ext cx="384048" cy="384048"/>
          </a:xfrm>
          <a:prstGeom prst="ellipse">
            <a:avLst/>
          </a:prstGeom>
          <a:solidFill>
            <a:srgbClr val="183F1E"/>
          </a:solidFill>
          <a:ln w="12700">
            <a:solidFill>
              <a:srgbClr val="183F1E"/>
            </a:solidFill>
            <a:prstDash val="solid"/>
          </a:ln>
        </p:spPr>
      </p:sp>
      <p:sp>
        <p:nvSpPr>
          <p:cNvPr id="10" name="Text 8"/>
          <p:cNvSpPr txBox="1"/>
          <p:nvPr/>
        </p:nvSpPr>
        <p:spPr>
          <a:xfrm>
            <a:off x="548640" y="248793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1" name="Text 9"/>
          <p:cNvSpPr txBox="1"/>
          <p:nvPr/>
        </p:nvSpPr>
        <p:spPr>
          <a:xfrm>
            <a:off x="1143000" y="2442210"/>
            <a:ext cx="10500055" cy="955358"/>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Karim, employé à temps plein (151,67 h), salaire de base 1 850 € brut en mai. Que devez-vous faire sur le bulletin de juin ?</a:t>
            </a:r>
            <a:endParaRPr lang="en-US" sz="1700" dirty="0"/>
          </a:p>
        </p:txBody>
      </p:sp>
      <p:sp>
        <p:nvSpPr>
          <p:cNvPr id="12" name="Shape 10"/>
          <p:cNvSpPr/>
          <p:nvPr/>
        </p:nvSpPr>
        <p:spPr>
          <a:xfrm>
            <a:off x="548640" y="3443288"/>
            <a:ext cx="384048" cy="384048"/>
          </a:xfrm>
          <a:prstGeom prst="ellipse">
            <a:avLst/>
          </a:prstGeom>
          <a:solidFill>
            <a:srgbClr val="183F1E"/>
          </a:solidFill>
          <a:ln w="12700">
            <a:solidFill>
              <a:srgbClr val="183F1E"/>
            </a:solidFill>
            <a:prstDash val="solid"/>
          </a:ln>
        </p:spPr>
      </p:sp>
      <p:sp>
        <p:nvSpPr>
          <p:cNvPr id="13" name="Text 11"/>
          <p:cNvSpPr txBox="1"/>
          <p:nvPr/>
        </p:nvSpPr>
        <p:spPr>
          <a:xfrm>
            <a:off x="548640" y="34432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txBox="1"/>
          <p:nvPr/>
        </p:nvSpPr>
        <p:spPr>
          <a:xfrm>
            <a:off x="1143000" y="3397568"/>
            <a:ext cx="10500055" cy="955358"/>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Léa, 21 ans, apprentie en 2e année, contrat signé le 1er septembre 2025 : calculez son salaire brut de juin et la part soumise aux cotisations salariales.</a:t>
            </a:r>
            <a:endParaRPr lang="en-US" sz="1700" dirty="0"/>
          </a:p>
        </p:txBody>
      </p:sp>
      <p:sp>
        <p:nvSpPr>
          <p:cNvPr id="15" name="Shape 13"/>
          <p:cNvSpPr/>
          <p:nvPr/>
        </p:nvSpPr>
        <p:spPr>
          <a:xfrm>
            <a:off x="548640" y="4398645"/>
            <a:ext cx="384048" cy="384048"/>
          </a:xfrm>
          <a:prstGeom prst="ellipse">
            <a:avLst/>
          </a:prstGeom>
          <a:solidFill>
            <a:srgbClr val="183F1E"/>
          </a:solidFill>
          <a:ln w="12700">
            <a:solidFill>
              <a:srgbClr val="183F1E"/>
            </a:solidFill>
            <a:prstDash val="solid"/>
          </a:ln>
        </p:spPr>
      </p:sp>
      <p:sp>
        <p:nvSpPr>
          <p:cNvPr id="16" name="Text 14"/>
          <p:cNvSpPr txBox="1"/>
          <p:nvPr/>
        </p:nvSpPr>
        <p:spPr>
          <a:xfrm>
            <a:off x="548640" y="4398645"/>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txBox="1"/>
          <p:nvPr/>
        </p:nvSpPr>
        <p:spPr>
          <a:xfrm>
            <a:off x="1143000" y="4352925"/>
            <a:ext cx="10500055" cy="955358"/>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Karim est placé en activité partielle 20 heures en juin. Calculez l'indemnité qui lui est due et l'allocation remboursée à l'entreprise.</a:t>
            </a:r>
            <a:endParaRPr lang="en-US" sz="1700" dirty="0"/>
          </a:p>
        </p:txBody>
      </p:sp>
      <p:sp>
        <p:nvSpPr>
          <p:cNvPr id="18" name="Shape 16"/>
          <p:cNvSpPr/>
          <p:nvPr/>
        </p:nvSpPr>
        <p:spPr>
          <a:xfrm>
            <a:off x="548640" y="5354003"/>
            <a:ext cx="384048" cy="384048"/>
          </a:xfrm>
          <a:prstGeom prst="ellipse">
            <a:avLst/>
          </a:prstGeom>
          <a:solidFill>
            <a:srgbClr val="183F1E"/>
          </a:solidFill>
          <a:ln w="12700">
            <a:solidFill>
              <a:srgbClr val="183F1E"/>
            </a:solidFill>
            <a:prstDash val="solid"/>
          </a:ln>
        </p:spPr>
      </p:sp>
      <p:sp>
        <p:nvSpPr>
          <p:cNvPr id="19" name="Text 17"/>
          <p:cNvSpPr txBox="1"/>
          <p:nvPr/>
        </p:nvSpPr>
        <p:spPr>
          <a:xfrm>
            <a:off x="548640" y="5354003"/>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0" name="Text 18"/>
          <p:cNvSpPr txBox="1"/>
          <p:nvPr/>
        </p:nvSpPr>
        <p:spPr>
          <a:xfrm>
            <a:off x="1143000" y="5308283"/>
            <a:ext cx="10500055" cy="955358"/>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Le responsable paie veut « mettre à jour le SMIC de la RGDU au 1er juin ». Que lui répondez-vous ?</a:t>
            </a:r>
            <a:endParaRPr lang="en-US" sz="1700" dirty="0"/>
          </a:p>
        </p:txBody>
      </p:sp>
      <p:sp>
        <p:nvSpPr>
          <p:cNvPr id="21" name="Text 19"/>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2" name="Text 2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Corrigé du cas pratique 1</a:t>
            </a:r>
            <a:endParaRPr lang="en-US" sz="2800" dirty="0"/>
          </a:p>
        </p:txBody>
      </p:sp>
      <p:sp>
        <p:nvSpPr>
          <p:cNvPr id="3" name="Shape 1"/>
          <p:cNvSpPr/>
          <p:nvPr/>
        </p:nvSpPr>
        <p:spPr>
          <a:xfrm>
            <a:off x="9905695" y="457200"/>
            <a:ext cx="1737360" cy="310896"/>
          </a:xfrm>
          <a:prstGeom prst="roundRect">
            <a:avLst>
              <a:gd name="adj" fmla="val 50000"/>
            </a:avLst>
          </a:prstGeom>
          <a:solidFill>
            <a:srgbClr val="183F1E"/>
          </a:solidFill>
          <a:ln w="12700">
            <a:solidFill>
              <a:srgbClr val="183F1E"/>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CORRIGÉ</a:t>
            </a:r>
            <a:endParaRPr lang="en-US" sz="1000" dirty="0"/>
          </a:p>
        </p:txBody>
      </p:sp>
      <p:sp>
        <p:nvSpPr>
          <p:cNvPr id="5" name="Shape 3"/>
          <p:cNvSpPr/>
          <p:nvPr/>
        </p:nvSpPr>
        <p:spPr>
          <a:xfrm>
            <a:off x="548640" y="1325880"/>
            <a:ext cx="11094415" cy="1110996"/>
          </a:xfrm>
          <a:prstGeom prst="roundRect">
            <a:avLst>
              <a:gd name="adj" fmla="val 8230"/>
            </a:avLst>
          </a:prstGeom>
          <a:solidFill>
            <a:srgbClr val="FFF6F4"/>
          </a:solidFill>
          <a:ln w="12700">
            <a:solidFill>
              <a:srgbClr val="FFF6F4"/>
            </a:solidFill>
            <a:prstDash val="solid"/>
          </a:ln>
        </p:spPr>
      </p:sp>
      <p:sp>
        <p:nvSpPr>
          <p:cNvPr id="6" name="Shape 4"/>
          <p:cNvSpPr/>
          <p:nvPr/>
        </p:nvSpPr>
        <p:spPr>
          <a:xfrm>
            <a:off x="685800" y="1463040"/>
            <a:ext cx="384048" cy="384048"/>
          </a:xfrm>
          <a:prstGeom prst="ellipse">
            <a:avLst/>
          </a:prstGeom>
          <a:solidFill>
            <a:srgbClr val="183F1E"/>
          </a:solidFill>
          <a:ln w="12700">
            <a:solidFill>
              <a:srgbClr val="183F1E"/>
            </a:solidFill>
            <a:prstDash val="solid"/>
          </a:ln>
        </p:spPr>
      </p:sp>
      <p:sp>
        <p:nvSpPr>
          <p:cNvPr id="7" name="Text 5"/>
          <p:cNvSpPr txBox="1"/>
          <p:nvPr/>
        </p:nvSpPr>
        <p:spPr>
          <a:xfrm>
            <a:off x="685800" y="14630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99032"/>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Karim</a:t>
            </a:r>
            <a:endParaRPr lang="en-US" sz="1400" dirty="0"/>
          </a:p>
        </p:txBody>
      </p:sp>
      <p:sp>
        <p:nvSpPr>
          <p:cNvPr id="9" name="Text 7"/>
          <p:cNvSpPr txBox="1"/>
          <p:nvPr/>
        </p:nvSpPr>
        <p:spPr>
          <a:xfrm>
            <a:off x="3383280" y="1399032"/>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1 850 € &lt; 1 867,02 € : complément de 17,02 € brut (ligne « complément SMIC » ou revalorisation du salaire de base) dès la paie de juin. Vérifier que les éléments retenus dans l'assiette sont bien des contreparties du travail.</a:t>
            </a:r>
            <a:endParaRPr lang="en-US" sz="1500" dirty="0"/>
          </a:p>
        </p:txBody>
      </p:sp>
      <p:sp>
        <p:nvSpPr>
          <p:cNvPr id="10" name="Shape 8"/>
          <p:cNvSpPr/>
          <p:nvPr/>
        </p:nvSpPr>
        <p:spPr>
          <a:xfrm>
            <a:off x="548640" y="2601468"/>
            <a:ext cx="11094415" cy="1110996"/>
          </a:xfrm>
          <a:prstGeom prst="roundRect">
            <a:avLst>
              <a:gd name="adj" fmla="val 8230"/>
            </a:avLst>
          </a:prstGeom>
          <a:solidFill>
            <a:srgbClr val="FFF6F4"/>
          </a:solidFill>
          <a:ln w="12700">
            <a:solidFill>
              <a:srgbClr val="FFF6F4"/>
            </a:solidFill>
            <a:prstDash val="solid"/>
          </a:ln>
        </p:spPr>
      </p:sp>
      <p:sp>
        <p:nvSpPr>
          <p:cNvPr id="11" name="Shape 9"/>
          <p:cNvSpPr/>
          <p:nvPr/>
        </p:nvSpPr>
        <p:spPr>
          <a:xfrm>
            <a:off x="685800" y="2738628"/>
            <a:ext cx="384048" cy="384048"/>
          </a:xfrm>
          <a:prstGeom prst="ellipse">
            <a:avLst/>
          </a:prstGeom>
          <a:solidFill>
            <a:srgbClr val="183F1E"/>
          </a:solidFill>
          <a:ln w="12700">
            <a:solidFill>
              <a:srgbClr val="183F1E"/>
            </a:solidFill>
            <a:prstDash val="solid"/>
          </a:ln>
        </p:spPr>
      </p:sp>
      <p:sp>
        <p:nvSpPr>
          <p:cNvPr id="12" name="Text 10"/>
          <p:cNvSpPr txBox="1"/>
          <p:nvPr/>
        </p:nvSpPr>
        <p:spPr>
          <a:xfrm>
            <a:off x="685800" y="27386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188720" y="2674620"/>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Léa</a:t>
            </a:r>
            <a:endParaRPr lang="en-US" sz="1400" dirty="0"/>
          </a:p>
        </p:txBody>
      </p:sp>
      <p:sp>
        <p:nvSpPr>
          <p:cNvPr id="14" name="Text 12"/>
          <p:cNvSpPr txBox="1"/>
          <p:nvPr/>
        </p:nvSpPr>
        <p:spPr>
          <a:xfrm>
            <a:off x="3383280" y="2674620"/>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61 % × 1 867,02 € = 1 138,88 € brut. Seuil d'exonération : 50 % × 1 867,02 € = 933,51 €. Cotisations salariales et CSG-CRDS sur 205,37 € (contrat conclu après le 1er mars 2025).</a:t>
            </a:r>
            <a:endParaRPr lang="en-US" sz="1500" dirty="0"/>
          </a:p>
        </p:txBody>
      </p:sp>
      <p:sp>
        <p:nvSpPr>
          <p:cNvPr id="15" name="Shape 13"/>
          <p:cNvSpPr/>
          <p:nvPr/>
        </p:nvSpPr>
        <p:spPr>
          <a:xfrm>
            <a:off x="548640" y="3877056"/>
            <a:ext cx="11094415" cy="1110996"/>
          </a:xfrm>
          <a:prstGeom prst="roundRect">
            <a:avLst>
              <a:gd name="adj" fmla="val 8230"/>
            </a:avLst>
          </a:prstGeom>
          <a:solidFill>
            <a:srgbClr val="FFF6F4"/>
          </a:solidFill>
          <a:ln w="12700">
            <a:solidFill>
              <a:srgbClr val="FFF6F4"/>
            </a:solidFill>
            <a:prstDash val="solid"/>
          </a:ln>
        </p:spPr>
      </p:sp>
      <p:sp>
        <p:nvSpPr>
          <p:cNvPr id="16" name="Shape 14"/>
          <p:cNvSpPr/>
          <p:nvPr/>
        </p:nvSpPr>
        <p:spPr>
          <a:xfrm>
            <a:off x="685800" y="4014216"/>
            <a:ext cx="384048" cy="384048"/>
          </a:xfrm>
          <a:prstGeom prst="ellipse">
            <a:avLst/>
          </a:prstGeom>
          <a:solidFill>
            <a:srgbClr val="183F1E"/>
          </a:solidFill>
          <a:ln w="12700">
            <a:solidFill>
              <a:srgbClr val="183F1E"/>
            </a:solidFill>
            <a:prstDash val="solid"/>
          </a:ln>
        </p:spPr>
      </p:sp>
      <p:sp>
        <p:nvSpPr>
          <p:cNvPr id="17" name="Text 15"/>
          <p:cNvSpPr txBox="1"/>
          <p:nvPr/>
        </p:nvSpPr>
        <p:spPr>
          <a:xfrm>
            <a:off x="685800" y="40142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1188720" y="3950208"/>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Activité partielle</a:t>
            </a:r>
            <a:endParaRPr lang="en-US" sz="1400" dirty="0"/>
          </a:p>
        </p:txBody>
      </p:sp>
      <p:sp>
        <p:nvSpPr>
          <p:cNvPr id="19" name="Text 17"/>
          <p:cNvSpPr txBox="1"/>
          <p:nvPr/>
        </p:nvSpPr>
        <p:spPr>
          <a:xfrm>
            <a:off x="3383280" y="3950208"/>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Taux horaire brut 12,31 €. Indemnité : 60 % × 12,31 = 7,39 € &lt; plancher 9,74 € → 20 h × 9,74 = 194,80 €. Allocation : 36 % × 12,31 = 4,43 € &lt; plancher 8,57 € → 20 h × 8,57 = 171,40 €. Reste à charge : 23,40 €.</a:t>
            </a:r>
            <a:endParaRPr lang="en-US" sz="1500" dirty="0"/>
          </a:p>
        </p:txBody>
      </p:sp>
      <p:sp>
        <p:nvSpPr>
          <p:cNvPr id="20" name="Shape 18"/>
          <p:cNvSpPr/>
          <p:nvPr/>
        </p:nvSpPr>
        <p:spPr>
          <a:xfrm>
            <a:off x="548640" y="5152644"/>
            <a:ext cx="11094415" cy="1110996"/>
          </a:xfrm>
          <a:prstGeom prst="roundRect">
            <a:avLst>
              <a:gd name="adj" fmla="val 8230"/>
            </a:avLst>
          </a:prstGeom>
          <a:solidFill>
            <a:srgbClr val="FFF6F4"/>
          </a:solidFill>
          <a:ln w="12700">
            <a:solidFill>
              <a:srgbClr val="FFF6F4"/>
            </a:solidFill>
            <a:prstDash val="solid"/>
          </a:ln>
        </p:spPr>
      </p:sp>
      <p:sp>
        <p:nvSpPr>
          <p:cNvPr id="21" name="Shape 19"/>
          <p:cNvSpPr/>
          <p:nvPr/>
        </p:nvSpPr>
        <p:spPr>
          <a:xfrm>
            <a:off x="685800" y="5289804"/>
            <a:ext cx="384048" cy="384048"/>
          </a:xfrm>
          <a:prstGeom prst="ellipse">
            <a:avLst/>
          </a:prstGeom>
          <a:solidFill>
            <a:srgbClr val="183F1E"/>
          </a:solidFill>
          <a:ln w="12700">
            <a:solidFill>
              <a:srgbClr val="183F1E"/>
            </a:solidFill>
            <a:prstDash val="solid"/>
          </a:ln>
        </p:spPr>
      </p:sp>
      <p:sp>
        <p:nvSpPr>
          <p:cNvPr id="22" name="Text 20"/>
          <p:cNvSpPr txBox="1"/>
          <p:nvPr/>
        </p:nvSpPr>
        <p:spPr>
          <a:xfrm>
            <a:off x="685800" y="52898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3" name="Text 21"/>
          <p:cNvSpPr txBox="1"/>
          <p:nvPr/>
        </p:nvSpPr>
        <p:spPr>
          <a:xfrm>
            <a:off x="1188720" y="5225796"/>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RGDU</a:t>
            </a:r>
            <a:endParaRPr lang="en-US" sz="1400" dirty="0"/>
          </a:p>
        </p:txBody>
      </p:sp>
      <p:sp>
        <p:nvSpPr>
          <p:cNvPr id="24" name="Text 22"/>
          <p:cNvSpPr txBox="1"/>
          <p:nvPr/>
        </p:nvSpPr>
        <p:spPr>
          <a:xfrm>
            <a:off x="3383280" y="5225796"/>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Non : le SMIC de référence de la RGDU est celui du 1er janvier 2026 (12,02 €), gelé pour toute l'année par le décret du 12 juin 2026. Modifier le paramètre majorerait la réduction à tort.</a:t>
            </a:r>
            <a:endParaRPr lang="en-US" sz="1500" dirty="0"/>
          </a:p>
        </p:txBody>
      </p:sp>
      <p:sp>
        <p:nvSpPr>
          <p:cNvPr id="25" name="Text 2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6" name="Text 2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E5D8"/>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Quiz 1 : le SMIC et ses effets</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QUIZ 1</a:t>
            </a:r>
            <a:endParaRPr lang="en-US" sz="1000" dirty="0"/>
          </a:p>
        </p:txBody>
      </p:sp>
      <p:sp>
        <p:nvSpPr>
          <p:cNvPr id="5" name="Shape 3"/>
          <p:cNvSpPr/>
          <p:nvPr/>
        </p:nvSpPr>
        <p:spPr>
          <a:xfrm>
            <a:off x="548640" y="1325880"/>
            <a:ext cx="11094415" cy="1554480"/>
          </a:xfrm>
          <a:prstGeom prst="roundRect">
            <a:avLst>
              <a:gd name="adj" fmla="val 5882"/>
            </a:avLst>
          </a:prstGeom>
          <a:solidFill>
            <a:srgbClr val="FFFFFF"/>
          </a:solidFill>
          <a:ln w="12700">
            <a:solidFill>
              <a:srgbClr val="FFFFFF"/>
            </a:solidFill>
            <a:prstDash val="solid"/>
          </a:ln>
        </p:spPr>
      </p:sp>
      <p:sp>
        <p:nvSpPr>
          <p:cNvPr id="6" name="Shape 4"/>
          <p:cNvSpPr/>
          <p:nvPr/>
        </p:nvSpPr>
        <p:spPr>
          <a:xfrm>
            <a:off x="685800" y="1444752"/>
            <a:ext cx="384048" cy="384048"/>
          </a:xfrm>
          <a:prstGeom prst="ellipse">
            <a:avLst/>
          </a:prstGeom>
          <a:solidFill>
            <a:srgbClr val="8C3A27"/>
          </a:solidFill>
          <a:ln w="12700">
            <a:solidFill>
              <a:srgbClr val="8C3A27"/>
            </a:solidFill>
            <a:prstDash val="solid"/>
          </a:ln>
        </p:spPr>
      </p:sp>
      <p:sp>
        <p:nvSpPr>
          <p:cNvPr id="7" name="Text 5"/>
          <p:cNvSpPr txBox="1"/>
          <p:nvPr/>
        </p:nvSpPr>
        <p:spPr>
          <a:xfrm>
            <a:off x="68580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99032"/>
            <a:ext cx="10271455" cy="53644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Quel montant retient-on comme salaire journalier de base maximal pour une IJSS maladie d'un arrêt débutant le 10 juillet 2026 ?</a:t>
            </a:r>
            <a:endParaRPr lang="en-US" sz="1400" dirty="0"/>
          </a:p>
        </p:txBody>
      </p:sp>
      <p:sp>
        <p:nvSpPr>
          <p:cNvPr id="9" name="Shape 7"/>
          <p:cNvSpPr/>
          <p:nvPr/>
        </p:nvSpPr>
        <p:spPr>
          <a:xfrm>
            <a:off x="1188720" y="1972056"/>
            <a:ext cx="3301898" cy="835152"/>
          </a:xfrm>
          <a:prstGeom prst="roundRect">
            <a:avLst>
              <a:gd name="adj" fmla="val 8759"/>
            </a:avLst>
          </a:prstGeom>
          <a:solidFill>
            <a:srgbClr val="FFF6F4"/>
          </a:solidFill>
          <a:ln w="9525">
            <a:solidFill>
              <a:srgbClr val="F0C8BC"/>
            </a:solidFill>
            <a:prstDash val="solid"/>
          </a:ln>
        </p:spPr>
      </p:sp>
      <p:sp>
        <p:nvSpPr>
          <p:cNvPr id="10" name="Text 8"/>
          <p:cNvSpPr txBox="1"/>
          <p:nvPr/>
        </p:nvSpPr>
        <p:spPr>
          <a:xfrm>
            <a:off x="1261872" y="197205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11" name="Text 9"/>
          <p:cNvSpPr txBox="1"/>
          <p:nvPr/>
        </p:nvSpPr>
        <p:spPr>
          <a:xfrm>
            <a:off x="1572768" y="197205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1 867,02 € par mois</a:t>
            </a:r>
            <a:endParaRPr lang="en-US" sz="1200" dirty="0"/>
          </a:p>
        </p:txBody>
      </p:sp>
      <p:sp>
        <p:nvSpPr>
          <p:cNvPr id="12" name="Shape 10"/>
          <p:cNvSpPr/>
          <p:nvPr/>
        </p:nvSpPr>
        <p:spPr>
          <a:xfrm>
            <a:off x="4673498" y="1972056"/>
            <a:ext cx="3301898" cy="835152"/>
          </a:xfrm>
          <a:prstGeom prst="roundRect">
            <a:avLst>
              <a:gd name="adj" fmla="val 8759"/>
            </a:avLst>
          </a:prstGeom>
          <a:solidFill>
            <a:srgbClr val="FFF6F4"/>
          </a:solidFill>
          <a:ln w="9525">
            <a:solidFill>
              <a:srgbClr val="F0C8BC"/>
            </a:solidFill>
            <a:prstDash val="solid"/>
          </a:ln>
        </p:spPr>
      </p:sp>
      <p:sp>
        <p:nvSpPr>
          <p:cNvPr id="13" name="Text 11"/>
          <p:cNvSpPr txBox="1"/>
          <p:nvPr/>
        </p:nvSpPr>
        <p:spPr>
          <a:xfrm>
            <a:off x="4746650" y="197205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14" name="Text 12"/>
          <p:cNvSpPr txBox="1"/>
          <p:nvPr/>
        </p:nvSpPr>
        <p:spPr>
          <a:xfrm>
            <a:off x="5057546" y="197205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2 613,83 € par mois (1,4 SMIC)</a:t>
            </a:r>
            <a:endParaRPr lang="en-US" sz="1200" dirty="0"/>
          </a:p>
        </p:txBody>
      </p:sp>
      <p:sp>
        <p:nvSpPr>
          <p:cNvPr id="15" name="Shape 13"/>
          <p:cNvSpPr/>
          <p:nvPr/>
        </p:nvSpPr>
        <p:spPr>
          <a:xfrm>
            <a:off x="8158277" y="1972056"/>
            <a:ext cx="3301898" cy="835152"/>
          </a:xfrm>
          <a:prstGeom prst="roundRect">
            <a:avLst>
              <a:gd name="adj" fmla="val 8759"/>
            </a:avLst>
          </a:prstGeom>
          <a:solidFill>
            <a:srgbClr val="FFF6F4"/>
          </a:solidFill>
          <a:ln w="9525">
            <a:solidFill>
              <a:srgbClr val="F0C8BC"/>
            </a:solidFill>
            <a:prstDash val="solid"/>
          </a:ln>
        </p:spPr>
      </p:sp>
      <p:sp>
        <p:nvSpPr>
          <p:cNvPr id="16" name="Text 14"/>
          <p:cNvSpPr txBox="1"/>
          <p:nvPr/>
        </p:nvSpPr>
        <p:spPr>
          <a:xfrm>
            <a:off x="8231429" y="197205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17" name="Text 15"/>
          <p:cNvSpPr txBox="1"/>
          <p:nvPr/>
        </p:nvSpPr>
        <p:spPr>
          <a:xfrm>
            <a:off x="8542325" y="197205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3 734,04 € par mois (2 SMIC)</a:t>
            </a:r>
            <a:endParaRPr lang="en-US" sz="1200" dirty="0"/>
          </a:p>
        </p:txBody>
      </p:sp>
      <p:sp>
        <p:nvSpPr>
          <p:cNvPr id="18" name="Shape 16"/>
          <p:cNvSpPr/>
          <p:nvPr/>
        </p:nvSpPr>
        <p:spPr>
          <a:xfrm>
            <a:off x="548640" y="3017520"/>
            <a:ext cx="11094415" cy="1554480"/>
          </a:xfrm>
          <a:prstGeom prst="roundRect">
            <a:avLst>
              <a:gd name="adj" fmla="val 5882"/>
            </a:avLst>
          </a:prstGeom>
          <a:solidFill>
            <a:srgbClr val="FFFFFF"/>
          </a:solidFill>
          <a:ln w="12700">
            <a:solidFill>
              <a:srgbClr val="FFFFFF"/>
            </a:solidFill>
            <a:prstDash val="solid"/>
          </a:ln>
        </p:spPr>
      </p:sp>
      <p:sp>
        <p:nvSpPr>
          <p:cNvPr id="19" name="Shape 17"/>
          <p:cNvSpPr/>
          <p:nvPr/>
        </p:nvSpPr>
        <p:spPr>
          <a:xfrm>
            <a:off x="685800" y="3136392"/>
            <a:ext cx="384048" cy="384048"/>
          </a:xfrm>
          <a:prstGeom prst="ellipse">
            <a:avLst/>
          </a:prstGeom>
          <a:solidFill>
            <a:srgbClr val="8C3A27"/>
          </a:solidFill>
          <a:ln w="12700">
            <a:solidFill>
              <a:srgbClr val="8C3A27"/>
            </a:solidFill>
            <a:prstDash val="solid"/>
          </a:ln>
        </p:spPr>
      </p:sp>
      <p:sp>
        <p:nvSpPr>
          <p:cNvPr id="20" name="Text 18"/>
          <p:cNvSpPr txBox="1"/>
          <p:nvPr/>
        </p:nvSpPr>
        <p:spPr>
          <a:xfrm>
            <a:off x="685800" y="31363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1" name="Text 19"/>
          <p:cNvSpPr txBox="1"/>
          <p:nvPr/>
        </p:nvSpPr>
        <p:spPr>
          <a:xfrm>
            <a:off x="1188720" y="3090672"/>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La gratification minimale d'un stagiaire a-t-elle augmenté le 1er juin 2026 ?</a:t>
            </a:r>
            <a:endParaRPr lang="en-US" sz="1400" dirty="0"/>
          </a:p>
        </p:txBody>
      </p:sp>
      <p:sp>
        <p:nvSpPr>
          <p:cNvPr id="22" name="Shape 20"/>
          <p:cNvSpPr/>
          <p:nvPr/>
        </p:nvSpPr>
        <p:spPr>
          <a:xfrm>
            <a:off x="1188720" y="3450336"/>
            <a:ext cx="3301898" cy="1048512"/>
          </a:xfrm>
          <a:prstGeom prst="roundRect">
            <a:avLst>
              <a:gd name="adj" fmla="val 6977"/>
            </a:avLst>
          </a:prstGeom>
          <a:solidFill>
            <a:srgbClr val="FFF6F4"/>
          </a:solidFill>
          <a:ln w="9525">
            <a:solidFill>
              <a:srgbClr val="F0C8BC"/>
            </a:solidFill>
            <a:prstDash val="solid"/>
          </a:ln>
        </p:spPr>
      </p:sp>
      <p:sp>
        <p:nvSpPr>
          <p:cNvPr id="23" name="Text 21"/>
          <p:cNvSpPr txBox="1"/>
          <p:nvPr/>
        </p:nvSpPr>
        <p:spPr>
          <a:xfrm>
            <a:off x="1261872" y="345033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24" name="Text 22"/>
          <p:cNvSpPr txBox="1"/>
          <p:nvPr/>
        </p:nvSpPr>
        <p:spPr>
          <a:xfrm>
            <a:off x="1572768" y="345033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Oui, elle suit le SMIC</a:t>
            </a:r>
            <a:endParaRPr lang="en-US" sz="1200" dirty="0"/>
          </a:p>
        </p:txBody>
      </p:sp>
      <p:sp>
        <p:nvSpPr>
          <p:cNvPr id="25" name="Shape 23"/>
          <p:cNvSpPr/>
          <p:nvPr/>
        </p:nvSpPr>
        <p:spPr>
          <a:xfrm>
            <a:off x="4673498" y="3450336"/>
            <a:ext cx="3301898" cy="1048512"/>
          </a:xfrm>
          <a:prstGeom prst="roundRect">
            <a:avLst>
              <a:gd name="adj" fmla="val 6977"/>
            </a:avLst>
          </a:prstGeom>
          <a:solidFill>
            <a:srgbClr val="FFF6F4"/>
          </a:solidFill>
          <a:ln w="9525">
            <a:solidFill>
              <a:srgbClr val="F0C8BC"/>
            </a:solidFill>
            <a:prstDash val="solid"/>
          </a:ln>
        </p:spPr>
      </p:sp>
      <p:sp>
        <p:nvSpPr>
          <p:cNvPr id="26" name="Text 24"/>
          <p:cNvSpPr txBox="1"/>
          <p:nvPr/>
        </p:nvSpPr>
        <p:spPr>
          <a:xfrm>
            <a:off x="4746650" y="345033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27" name="Text 25"/>
          <p:cNvSpPr txBox="1"/>
          <p:nvPr/>
        </p:nvSpPr>
        <p:spPr>
          <a:xfrm>
            <a:off x="5057546" y="345033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Non, elle est fixée à 15 % du plafond horaire de la Sécurité sociale (4,50 €)</a:t>
            </a:r>
            <a:endParaRPr lang="en-US" sz="1200" dirty="0"/>
          </a:p>
        </p:txBody>
      </p:sp>
      <p:sp>
        <p:nvSpPr>
          <p:cNvPr id="28" name="Shape 26"/>
          <p:cNvSpPr/>
          <p:nvPr/>
        </p:nvSpPr>
        <p:spPr>
          <a:xfrm>
            <a:off x="8158277" y="3450336"/>
            <a:ext cx="3301898" cy="1048512"/>
          </a:xfrm>
          <a:prstGeom prst="roundRect">
            <a:avLst>
              <a:gd name="adj" fmla="val 6977"/>
            </a:avLst>
          </a:prstGeom>
          <a:solidFill>
            <a:srgbClr val="FFF6F4"/>
          </a:solidFill>
          <a:ln w="9525">
            <a:solidFill>
              <a:srgbClr val="F0C8BC"/>
            </a:solidFill>
            <a:prstDash val="solid"/>
          </a:ln>
        </p:spPr>
      </p:sp>
      <p:sp>
        <p:nvSpPr>
          <p:cNvPr id="29" name="Text 27"/>
          <p:cNvSpPr txBox="1"/>
          <p:nvPr/>
        </p:nvSpPr>
        <p:spPr>
          <a:xfrm>
            <a:off x="8231429" y="345033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30" name="Text 28"/>
          <p:cNvSpPr txBox="1"/>
          <p:nvPr/>
        </p:nvSpPr>
        <p:spPr>
          <a:xfrm>
            <a:off x="8542325" y="345033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Oui, elle passe à 4,35 €</a:t>
            </a:r>
            <a:endParaRPr lang="en-US" sz="1200" dirty="0"/>
          </a:p>
        </p:txBody>
      </p:sp>
      <p:sp>
        <p:nvSpPr>
          <p:cNvPr id="31" name="Shape 29"/>
          <p:cNvSpPr/>
          <p:nvPr/>
        </p:nvSpPr>
        <p:spPr>
          <a:xfrm>
            <a:off x="548640" y="4709160"/>
            <a:ext cx="11094415" cy="1554480"/>
          </a:xfrm>
          <a:prstGeom prst="roundRect">
            <a:avLst>
              <a:gd name="adj" fmla="val 5882"/>
            </a:avLst>
          </a:prstGeom>
          <a:solidFill>
            <a:srgbClr val="FFFFFF"/>
          </a:solidFill>
          <a:ln w="12700">
            <a:solidFill>
              <a:srgbClr val="FFFFFF"/>
            </a:solidFill>
            <a:prstDash val="solid"/>
          </a:ln>
        </p:spPr>
      </p:sp>
      <p:sp>
        <p:nvSpPr>
          <p:cNvPr id="32" name="Shape 30"/>
          <p:cNvSpPr/>
          <p:nvPr/>
        </p:nvSpPr>
        <p:spPr>
          <a:xfrm>
            <a:off x="685800" y="4828032"/>
            <a:ext cx="384048" cy="384048"/>
          </a:xfrm>
          <a:prstGeom prst="ellipse">
            <a:avLst/>
          </a:prstGeom>
          <a:solidFill>
            <a:srgbClr val="8C3A27"/>
          </a:solidFill>
          <a:ln w="12700">
            <a:solidFill>
              <a:srgbClr val="8C3A27"/>
            </a:solidFill>
            <a:prstDash val="solid"/>
          </a:ln>
        </p:spPr>
      </p:sp>
      <p:sp>
        <p:nvSpPr>
          <p:cNvPr id="33" name="Text 31"/>
          <p:cNvSpPr txBox="1"/>
          <p:nvPr/>
        </p:nvSpPr>
        <p:spPr>
          <a:xfrm>
            <a:off x="685800" y="48280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34" name="Text 32"/>
          <p:cNvSpPr txBox="1"/>
          <p:nvPr/>
        </p:nvSpPr>
        <p:spPr>
          <a:xfrm>
            <a:off x="1188720" y="4782312"/>
            <a:ext cx="10271455" cy="53644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Une prime d'ancienneté de 80 € permet-elle de considérer qu'un salaire de base de 1 800 € respecte le SMIC en juin 2026 ?</a:t>
            </a:r>
            <a:endParaRPr lang="en-US" sz="1400" dirty="0"/>
          </a:p>
        </p:txBody>
      </p:sp>
      <p:sp>
        <p:nvSpPr>
          <p:cNvPr id="35" name="Shape 33"/>
          <p:cNvSpPr/>
          <p:nvPr/>
        </p:nvSpPr>
        <p:spPr>
          <a:xfrm>
            <a:off x="1188720" y="5355336"/>
            <a:ext cx="3301898" cy="835152"/>
          </a:xfrm>
          <a:prstGeom prst="roundRect">
            <a:avLst>
              <a:gd name="adj" fmla="val 8759"/>
            </a:avLst>
          </a:prstGeom>
          <a:solidFill>
            <a:srgbClr val="FFF6F4"/>
          </a:solidFill>
          <a:ln w="9525">
            <a:solidFill>
              <a:srgbClr val="F0C8BC"/>
            </a:solidFill>
            <a:prstDash val="solid"/>
          </a:ln>
        </p:spPr>
      </p:sp>
      <p:sp>
        <p:nvSpPr>
          <p:cNvPr id="36" name="Text 34"/>
          <p:cNvSpPr txBox="1"/>
          <p:nvPr/>
        </p:nvSpPr>
        <p:spPr>
          <a:xfrm>
            <a:off x="1261872" y="535533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37" name="Text 35"/>
          <p:cNvSpPr txBox="1"/>
          <p:nvPr/>
        </p:nvSpPr>
        <p:spPr>
          <a:xfrm>
            <a:off x="1572768" y="535533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Oui, tout élément brut compte</a:t>
            </a:r>
            <a:endParaRPr lang="en-US" sz="1200" dirty="0"/>
          </a:p>
        </p:txBody>
      </p:sp>
      <p:sp>
        <p:nvSpPr>
          <p:cNvPr id="38" name="Shape 36"/>
          <p:cNvSpPr/>
          <p:nvPr/>
        </p:nvSpPr>
        <p:spPr>
          <a:xfrm>
            <a:off x="4673498" y="5355336"/>
            <a:ext cx="3301898" cy="835152"/>
          </a:xfrm>
          <a:prstGeom prst="roundRect">
            <a:avLst>
              <a:gd name="adj" fmla="val 8759"/>
            </a:avLst>
          </a:prstGeom>
          <a:solidFill>
            <a:srgbClr val="FFF6F4"/>
          </a:solidFill>
          <a:ln w="9525">
            <a:solidFill>
              <a:srgbClr val="F0C8BC"/>
            </a:solidFill>
            <a:prstDash val="solid"/>
          </a:ln>
        </p:spPr>
      </p:sp>
      <p:sp>
        <p:nvSpPr>
          <p:cNvPr id="39" name="Text 37"/>
          <p:cNvSpPr txBox="1"/>
          <p:nvPr/>
        </p:nvSpPr>
        <p:spPr>
          <a:xfrm>
            <a:off x="4746650" y="535533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40" name="Text 38"/>
          <p:cNvSpPr txBox="1"/>
          <p:nvPr/>
        </p:nvSpPr>
        <p:spPr>
          <a:xfrm>
            <a:off x="5057546" y="535533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Non, la prime d'ancienneté est exclue de l'assiette du SMIC</a:t>
            </a:r>
            <a:endParaRPr lang="en-US" sz="1200" dirty="0"/>
          </a:p>
        </p:txBody>
      </p:sp>
      <p:sp>
        <p:nvSpPr>
          <p:cNvPr id="41" name="Shape 39"/>
          <p:cNvSpPr/>
          <p:nvPr/>
        </p:nvSpPr>
        <p:spPr>
          <a:xfrm>
            <a:off x="8158277" y="5355336"/>
            <a:ext cx="3301898" cy="835152"/>
          </a:xfrm>
          <a:prstGeom prst="roundRect">
            <a:avLst>
              <a:gd name="adj" fmla="val 8759"/>
            </a:avLst>
          </a:prstGeom>
          <a:solidFill>
            <a:srgbClr val="FFF6F4"/>
          </a:solidFill>
          <a:ln w="9525">
            <a:solidFill>
              <a:srgbClr val="F0C8BC"/>
            </a:solidFill>
            <a:prstDash val="solid"/>
          </a:ln>
        </p:spPr>
      </p:sp>
      <p:sp>
        <p:nvSpPr>
          <p:cNvPr id="42" name="Text 40"/>
          <p:cNvSpPr txBox="1"/>
          <p:nvPr/>
        </p:nvSpPr>
        <p:spPr>
          <a:xfrm>
            <a:off x="8231429" y="535533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43" name="Text 41"/>
          <p:cNvSpPr txBox="1"/>
          <p:nvPr/>
        </p:nvSpPr>
        <p:spPr>
          <a:xfrm>
            <a:off x="8542325" y="535533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Oui si elle est mensuelle</a:t>
            </a:r>
            <a:endParaRPr lang="en-US" sz="1200" dirty="0"/>
          </a:p>
        </p:txBody>
      </p:sp>
      <p:sp>
        <p:nvSpPr>
          <p:cNvPr id="44" name="Text 4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45" name="Text 4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Réponses du quiz 1 : le SMIC et ses effets</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RÉPONSES</a:t>
            </a:r>
            <a:endParaRPr lang="en-US" sz="1000" dirty="0"/>
          </a:p>
        </p:txBody>
      </p:sp>
      <p:sp>
        <p:nvSpPr>
          <p:cNvPr id="5" name="Shape 3"/>
          <p:cNvSpPr/>
          <p:nvPr/>
        </p:nvSpPr>
        <p:spPr>
          <a:xfrm>
            <a:off x="548640" y="1325880"/>
            <a:ext cx="11094415" cy="1554480"/>
          </a:xfrm>
          <a:prstGeom prst="roundRect">
            <a:avLst>
              <a:gd name="adj" fmla="val 5882"/>
            </a:avLst>
          </a:prstGeom>
          <a:solidFill>
            <a:srgbClr val="FFF6F4"/>
          </a:solidFill>
          <a:ln w="12700">
            <a:solidFill>
              <a:srgbClr val="FFF6F4"/>
            </a:solidFill>
            <a:prstDash val="solid"/>
          </a:ln>
        </p:spPr>
      </p:sp>
      <p:sp>
        <p:nvSpPr>
          <p:cNvPr id="6" name="Shape 4"/>
          <p:cNvSpPr/>
          <p:nvPr/>
        </p:nvSpPr>
        <p:spPr>
          <a:xfrm>
            <a:off x="685800" y="1444752"/>
            <a:ext cx="384048" cy="384048"/>
          </a:xfrm>
          <a:prstGeom prst="ellipse">
            <a:avLst/>
          </a:prstGeom>
          <a:solidFill>
            <a:srgbClr val="8C3A27"/>
          </a:solidFill>
          <a:ln w="12700">
            <a:solidFill>
              <a:srgbClr val="8C3A27"/>
            </a:solidFill>
            <a:prstDash val="solid"/>
          </a:ln>
        </p:spPr>
      </p:sp>
      <p:sp>
        <p:nvSpPr>
          <p:cNvPr id="7" name="Text 5"/>
          <p:cNvSpPr txBox="1"/>
          <p:nvPr/>
        </p:nvSpPr>
        <p:spPr>
          <a:xfrm>
            <a:off x="68580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80744"/>
            <a:ext cx="10271455" cy="144475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2 613,83 € par mois (1,4 SMIC)</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Plafond de 1,4 SMIC depuis le 1er avril 2025, soit 2 613,83 € avec le SMIC de juin : IJ maximale 42,97 €.</a:t>
            </a:r>
            <a:endParaRPr lang="en-US" sz="1400" dirty="0"/>
          </a:p>
        </p:txBody>
      </p:sp>
      <p:sp>
        <p:nvSpPr>
          <p:cNvPr id="9" name="Shape 7"/>
          <p:cNvSpPr/>
          <p:nvPr/>
        </p:nvSpPr>
        <p:spPr>
          <a:xfrm>
            <a:off x="548640" y="3017520"/>
            <a:ext cx="11094415" cy="1554480"/>
          </a:xfrm>
          <a:prstGeom prst="roundRect">
            <a:avLst>
              <a:gd name="adj" fmla="val 5882"/>
            </a:avLst>
          </a:prstGeom>
          <a:solidFill>
            <a:srgbClr val="FFF6F4"/>
          </a:solidFill>
          <a:ln w="12700">
            <a:solidFill>
              <a:srgbClr val="FFF6F4"/>
            </a:solidFill>
            <a:prstDash val="solid"/>
          </a:ln>
        </p:spPr>
      </p:sp>
      <p:sp>
        <p:nvSpPr>
          <p:cNvPr id="10" name="Shape 8"/>
          <p:cNvSpPr/>
          <p:nvPr/>
        </p:nvSpPr>
        <p:spPr>
          <a:xfrm>
            <a:off x="685800" y="3136392"/>
            <a:ext cx="384048" cy="384048"/>
          </a:xfrm>
          <a:prstGeom prst="ellipse">
            <a:avLst/>
          </a:prstGeom>
          <a:solidFill>
            <a:srgbClr val="8C3A27"/>
          </a:solidFill>
          <a:ln w="12700">
            <a:solidFill>
              <a:srgbClr val="8C3A27"/>
            </a:solidFill>
            <a:prstDash val="solid"/>
          </a:ln>
        </p:spPr>
      </p:sp>
      <p:sp>
        <p:nvSpPr>
          <p:cNvPr id="11" name="Text 9"/>
          <p:cNvSpPr txBox="1"/>
          <p:nvPr/>
        </p:nvSpPr>
        <p:spPr>
          <a:xfrm>
            <a:off x="685800" y="31363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txBox="1"/>
          <p:nvPr/>
        </p:nvSpPr>
        <p:spPr>
          <a:xfrm>
            <a:off x="1188720" y="3072384"/>
            <a:ext cx="10271455" cy="144475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Non, elle est fixée à 15 % du plafond horaire de la Sécurité sociale (4,50 €)</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4,50 € par heure depuis le 1er janvier 2026 (plafond horaire 30 €). Le minimum garanti de 4,35 € sert aux avantages en nature nourriture, pas aux stagiaires.</a:t>
            </a:r>
            <a:endParaRPr lang="en-US" sz="1400" dirty="0"/>
          </a:p>
        </p:txBody>
      </p:sp>
      <p:sp>
        <p:nvSpPr>
          <p:cNvPr id="13" name="Shape 11"/>
          <p:cNvSpPr/>
          <p:nvPr/>
        </p:nvSpPr>
        <p:spPr>
          <a:xfrm>
            <a:off x="548640" y="4709160"/>
            <a:ext cx="11094415" cy="1554480"/>
          </a:xfrm>
          <a:prstGeom prst="roundRect">
            <a:avLst>
              <a:gd name="adj" fmla="val 5882"/>
            </a:avLst>
          </a:prstGeom>
          <a:solidFill>
            <a:srgbClr val="FFF6F4"/>
          </a:solidFill>
          <a:ln w="12700">
            <a:solidFill>
              <a:srgbClr val="FFF6F4"/>
            </a:solidFill>
            <a:prstDash val="solid"/>
          </a:ln>
        </p:spPr>
      </p:sp>
      <p:sp>
        <p:nvSpPr>
          <p:cNvPr id="14" name="Shape 12"/>
          <p:cNvSpPr/>
          <p:nvPr/>
        </p:nvSpPr>
        <p:spPr>
          <a:xfrm>
            <a:off x="685800" y="4828032"/>
            <a:ext cx="384048" cy="384048"/>
          </a:xfrm>
          <a:prstGeom prst="ellipse">
            <a:avLst/>
          </a:prstGeom>
          <a:solidFill>
            <a:srgbClr val="8C3A27"/>
          </a:solidFill>
          <a:ln w="12700">
            <a:solidFill>
              <a:srgbClr val="8C3A27"/>
            </a:solidFill>
            <a:prstDash val="solid"/>
          </a:ln>
        </p:spPr>
      </p:sp>
      <p:sp>
        <p:nvSpPr>
          <p:cNvPr id="15" name="Text 13"/>
          <p:cNvSpPr txBox="1"/>
          <p:nvPr/>
        </p:nvSpPr>
        <p:spPr>
          <a:xfrm>
            <a:off x="685800" y="48280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188720" y="4764024"/>
            <a:ext cx="10271455" cy="144475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Non, la prime d'ancienneté est exclue de l'assiette du SMIC</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La prime d'ancienneté récompense la fidélité, pas le travail effectué : elle est exclue. Il manque 67,02 €.</a:t>
            </a:r>
            <a:endParaRPr lang="en-US" sz="1400" dirty="0"/>
          </a:p>
        </p:txBody>
      </p:sp>
      <p:sp>
        <p:nvSpPr>
          <p:cNvPr id="17" name="Text 1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18" name="Text 1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435369"/>
        </a:solidFill>
      </p:bgPr>
    </p:bg>
    <p:spTree>
      <p:nvGrpSpPr>
        <p:cNvPr id="1" name=""/>
        <p:cNvGrpSpPr/>
        <p:nvPr/>
      </p:nvGrpSpPr>
      <p:grpSpPr>
        <a:xfrm>
          <a:off x="0" y="0"/>
          <a:ext cx="0" cy="0"/>
          <a:chOff x="0" y="0"/>
          <a:chExt cx="0" cy="0"/>
        </a:xfrm>
      </p:grpSpPr>
      <p:sp>
        <p:nvSpPr>
          <p:cNvPr id="2" name="Shape 0"/>
          <p:cNvSpPr/>
          <p:nvPr/>
        </p:nvSpPr>
        <p:spPr>
          <a:xfrm>
            <a:off x="9235440" y="822960"/>
            <a:ext cx="4206240" cy="4206240"/>
          </a:xfrm>
          <a:prstGeom prst="ellipse">
            <a:avLst/>
          </a:prstGeom>
          <a:solidFill>
            <a:srgbClr val="8C3A27"/>
          </a:solidFill>
          <a:ln w="12700">
            <a:solidFill>
              <a:srgbClr val="8C3A27"/>
            </a:solidFill>
            <a:prstDash val="solid"/>
          </a:ln>
        </p:spPr>
      </p:sp>
      <p:sp>
        <p:nvSpPr>
          <p:cNvPr id="3" name="Text 1"/>
          <p:cNvSpPr txBox="1"/>
          <p:nvPr/>
        </p:nvSpPr>
        <p:spPr>
          <a:xfrm>
            <a:off x="9235440" y="822960"/>
            <a:ext cx="4206240" cy="4206240"/>
          </a:xfrm>
          <a:prstGeom prst="rect">
            <a:avLst/>
          </a:prstGeom>
          <a:noFill/>
          <a:ln/>
        </p:spPr>
        <p:txBody>
          <a:bodyPr wrap="square" lIns="0" tIns="0" rIns="0" bIns="0" rtlCol="0" anchor="ctr"/>
          <a:lstStyle/>
          <a:p>
            <a:pPr algn="ctr" indent="0" marL="0">
              <a:buNone/>
            </a:pPr>
            <a:r>
              <a:rPr lang="en-US" sz="9600" b="1" dirty="0">
                <a:solidFill>
                  <a:srgbClr val="FFFFFF"/>
                </a:solidFill>
                <a:latin typeface="Cambria" pitchFamily="34" charset="0"/>
                <a:ea typeface="Cambria" pitchFamily="34" charset="-122"/>
                <a:cs typeface="Cambria" pitchFamily="34" charset="-120"/>
              </a:rPr>
              <a:t>02</a:t>
            </a:r>
            <a:endParaRPr lang="en-US" sz="9600" dirty="0"/>
          </a:p>
        </p:txBody>
      </p:sp>
      <p:sp>
        <p:nvSpPr>
          <p:cNvPr id="4" name="Text 2"/>
          <p:cNvSpPr txBox="1"/>
          <p:nvPr/>
        </p:nvSpPr>
        <p:spPr>
          <a:xfrm>
            <a:off x="548640" y="1554480"/>
            <a:ext cx="5486400" cy="457200"/>
          </a:xfrm>
          <a:prstGeom prst="rect">
            <a:avLst/>
          </a:prstGeom>
          <a:noFill/>
          <a:ln/>
        </p:spPr>
        <p:txBody>
          <a:bodyPr wrap="square" lIns="0" tIns="0" rIns="0" bIns="0" rtlCol="0" anchor="ctr"/>
          <a:lstStyle/>
          <a:p>
            <a:pPr indent="0" marL="0">
              <a:buNone/>
            </a:pPr>
            <a:r>
              <a:rPr lang="en-US" sz="1600" spc="300" kern="0" dirty="0">
                <a:solidFill>
                  <a:srgbClr val="D9A390"/>
                </a:solidFill>
                <a:latin typeface="Calibri" pitchFamily="34" charset="0"/>
                <a:ea typeface="Calibri" pitchFamily="34" charset="-122"/>
                <a:cs typeface="Calibri" pitchFamily="34" charset="-120"/>
              </a:rPr>
              <a:t>Séquence</a:t>
            </a:r>
            <a:endParaRPr lang="en-US" sz="1600" dirty="0"/>
          </a:p>
        </p:txBody>
      </p:sp>
      <p:sp>
        <p:nvSpPr>
          <p:cNvPr id="5" name="Text 3"/>
          <p:cNvSpPr txBox="1"/>
          <p:nvPr/>
        </p:nvSpPr>
        <p:spPr>
          <a:xfrm>
            <a:off x="548640" y="2011680"/>
            <a:ext cx="8046720" cy="155448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Absences, famille, retraite : ce qui change</a:t>
            </a:r>
            <a:endParaRPr lang="en-US" sz="3800" dirty="0"/>
          </a:p>
        </p:txBody>
      </p:sp>
      <p:sp>
        <p:nvSpPr>
          <p:cNvPr id="6" name="Text 4"/>
          <p:cNvSpPr txBox="1"/>
          <p:nvPr/>
        </p:nvSpPr>
        <p:spPr>
          <a:xfrm>
            <a:off x="548640" y="3657600"/>
            <a:ext cx="8046720" cy="1005840"/>
          </a:xfrm>
          <a:prstGeom prst="rect">
            <a:avLst/>
          </a:prstGeom>
          <a:noFill/>
          <a:ln/>
        </p:spPr>
        <p:txBody>
          <a:bodyPr wrap="square" lIns="0" tIns="0" rIns="0" bIns="0" rtlCol="0" anchor="t"/>
          <a:lstStyle/>
          <a:p>
            <a:pPr indent="0" marL="0">
              <a:buNone/>
            </a:pPr>
            <a:r>
              <a:rPr lang="en-US" sz="1700" dirty="0">
                <a:solidFill>
                  <a:srgbClr val="F2E5D8"/>
                </a:solidFill>
                <a:latin typeface="Calibri" pitchFamily="34" charset="0"/>
                <a:ea typeface="Calibri" pitchFamily="34" charset="-122"/>
                <a:cs typeface="Calibri" pitchFamily="34" charset="-120"/>
              </a:rPr>
              <a:t>Congé supplémentaire de naissance, arrêts de travail au 1er septembre, suspension de la réforme des retraites</a:t>
            </a:r>
            <a:endParaRPr lang="en-US" sz="1700" dirty="0"/>
          </a:p>
        </p:txBody>
      </p:sp>
      <p:sp>
        <p:nvSpPr>
          <p:cNvPr id="7" name="Shape 5"/>
          <p:cNvSpPr/>
          <p:nvPr/>
        </p:nvSpPr>
        <p:spPr>
          <a:xfrm>
            <a:off x="548640" y="5029200"/>
            <a:ext cx="3840480" cy="310896"/>
          </a:xfrm>
          <a:prstGeom prst="roundRect">
            <a:avLst>
              <a:gd name="adj" fmla="val 50000"/>
            </a:avLst>
          </a:prstGeom>
          <a:solidFill>
            <a:srgbClr val="8C3A27"/>
          </a:solidFill>
          <a:ln w="12700">
            <a:solidFill>
              <a:srgbClr val="8C3A27"/>
            </a:solidFill>
            <a:prstDash val="solid"/>
          </a:ln>
        </p:spPr>
      </p:sp>
      <p:sp>
        <p:nvSpPr>
          <p:cNvPr id="8" name="Text 6"/>
          <p:cNvSpPr txBox="1"/>
          <p:nvPr/>
        </p:nvSpPr>
        <p:spPr>
          <a:xfrm>
            <a:off x="548640" y="5029200"/>
            <a:ext cx="384048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50 min · 1 quiz</a:t>
            </a:r>
            <a:endParaRPr lang="en-US" sz="1000" dirty="0"/>
          </a:p>
        </p:txBody>
      </p:sp>
      <p:sp>
        <p:nvSpPr>
          <p:cNvPr id="9" name="Text 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D9A390"/>
                </a:solidFill>
                <a:latin typeface="Calibri" pitchFamily="34" charset="0"/>
                <a:ea typeface="Calibri" pitchFamily="34" charset="-122"/>
                <a:cs typeface="Calibri" pitchFamily="34" charset="-120"/>
              </a:rPr>
              <a:t>Actualité paie · juin – septembre 2026</a:t>
            </a:r>
            <a:endParaRPr lang="en-US" sz="9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D9A39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Le congé supplémentaire de naissance : le dispositif</a:t>
            </a:r>
            <a:endParaRPr lang="en-US" sz="2800" dirty="0"/>
          </a:p>
        </p:txBody>
      </p:sp>
      <p:sp>
        <p:nvSpPr>
          <p:cNvPr id="3" name="Shape 1"/>
          <p:cNvSpPr/>
          <p:nvPr/>
        </p:nvSpPr>
        <p:spPr>
          <a:xfrm>
            <a:off x="548640" y="1325880"/>
            <a:ext cx="3515258" cy="2331720"/>
          </a:xfrm>
          <a:prstGeom prst="roundRect">
            <a:avLst>
              <a:gd name="adj" fmla="val 5882"/>
            </a:avLst>
          </a:prstGeom>
          <a:solidFill>
            <a:srgbClr val="FFF6F4"/>
          </a:solidFill>
          <a:ln w="12700">
            <a:solidFill>
              <a:srgbClr val="FFF6F4"/>
            </a:solidFill>
            <a:prstDash val="solid"/>
          </a:ln>
        </p:spPr>
      </p:sp>
      <p:sp>
        <p:nvSpPr>
          <p:cNvPr id="4" name="Shape 2"/>
          <p:cNvSpPr/>
          <p:nvPr/>
        </p:nvSpPr>
        <p:spPr>
          <a:xfrm>
            <a:off x="777240" y="1554480"/>
            <a:ext cx="420624" cy="420624"/>
          </a:xfrm>
          <a:prstGeom prst="ellipse">
            <a:avLst/>
          </a:prstGeom>
          <a:solidFill>
            <a:srgbClr val="8C3A27"/>
          </a:solidFill>
          <a:ln w="12700">
            <a:solidFill>
              <a:srgbClr val="8C3A27"/>
            </a:solidFill>
            <a:prstDash val="solid"/>
          </a:ln>
        </p:spPr>
      </p:sp>
      <p:sp>
        <p:nvSpPr>
          <p:cNvPr id="5" name="Text 3"/>
          <p:cNvSpPr txBox="1"/>
          <p:nvPr/>
        </p:nvSpPr>
        <p:spPr>
          <a:xfrm>
            <a:off x="777240"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325880"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Qui ?</a:t>
            </a:r>
            <a:endParaRPr lang="en-US" sz="1500" dirty="0"/>
          </a:p>
        </p:txBody>
      </p:sp>
      <p:sp>
        <p:nvSpPr>
          <p:cNvPr id="7" name="Text 5"/>
          <p:cNvSpPr txBox="1"/>
          <p:nvPr/>
        </p:nvSpPr>
        <p:spPr>
          <a:xfrm>
            <a:off x="777240" y="210312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Chaque parent salarié (mère, père, conjoint, partenaire, concubin) pour un enfant né ou adopté à compter du 1er janvier 2026. Condition : 6 mois d'affiliation à la date du congé.</a:t>
            </a:r>
            <a:endParaRPr lang="en-US" sz="1300" dirty="0"/>
          </a:p>
        </p:txBody>
      </p:sp>
      <p:sp>
        <p:nvSpPr>
          <p:cNvPr id="8" name="Shape 6"/>
          <p:cNvSpPr/>
          <p:nvPr/>
        </p:nvSpPr>
        <p:spPr>
          <a:xfrm>
            <a:off x="4338218" y="1325880"/>
            <a:ext cx="3515258" cy="2331720"/>
          </a:xfrm>
          <a:prstGeom prst="roundRect">
            <a:avLst>
              <a:gd name="adj" fmla="val 5882"/>
            </a:avLst>
          </a:prstGeom>
          <a:solidFill>
            <a:srgbClr val="FFF6F4"/>
          </a:solidFill>
          <a:ln w="12700">
            <a:solidFill>
              <a:srgbClr val="FFF6F4"/>
            </a:solidFill>
            <a:prstDash val="solid"/>
          </a:ln>
        </p:spPr>
      </p:sp>
      <p:sp>
        <p:nvSpPr>
          <p:cNvPr id="9" name="Shape 7"/>
          <p:cNvSpPr/>
          <p:nvPr/>
        </p:nvSpPr>
        <p:spPr>
          <a:xfrm>
            <a:off x="4566818" y="1554480"/>
            <a:ext cx="420624" cy="420624"/>
          </a:xfrm>
          <a:prstGeom prst="ellipse">
            <a:avLst/>
          </a:prstGeom>
          <a:solidFill>
            <a:srgbClr val="8C3A27"/>
          </a:solidFill>
          <a:ln w="12700">
            <a:solidFill>
              <a:srgbClr val="8C3A27"/>
            </a:solidFill>
            <a:prstDash val="solid"/>
          </a:ln>
        </p:spPr>
      </p:sp>
      <p:sp>
        <p:nvSpPr>
          <p:cNvPr id="10" name="Text 8"/>
          <p:cNvSpPr txBox="1"/>
          <p:nvPr/>
        </p:nvSpPr>
        <p:spPr>
          <a:xfrm>
            <a:off x="4566818"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5115458"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Quand ?</a:t>
            </a:r>
            <a:endParaRPr lang="en-US" sz="1500" dirty="0"/>
          </a:p>
        </p:txBody>
      </p:sp>
      <p:sp>
        <p:nvSpPr>
          <p:cNvPr id="12" name="Text 10"/>
          <p:cNvSpPr txBox="1"/>
          <p:nvPr/>
        </p:nvSpPr>
        <p:spPr>
          <a:xfrm>
            <a:off x="4566818" y="210312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Dans les 9 mois suivant la naissance ou l'arrivée de l'enfant, après le congé de maternité, de paternité ou d'adoption. Demandes ouvertes depuis le 15 juin, premiers congés depuis le 1er juillet 2026.</a:t>
            </a:r>
            <a:endParaRPr lang="en-US" sz="1300" dirty="0"/>
          </a:p>
        </p:txBody>
      </p:sp>
      <p:sp>
        <p:nvSpPr>
          <p:cNvPr id="13" name="Shape 11"/>
          <p:cNvSpPr/>
          <p:nvPr/>
        </p:nvSpPr>
        <p:spPr>
          <a:xfrm>
            <a:off x="8127797" y="1325880"/>
            <a:ext cx="3515258" cy="2331720"/>
          </a:xfrm>
          <a:prstGeom prst="roundRect">
            <a:avLst>
              <a:gd name="adj" fmla="val 5882"/>
            </a:avLst>
          </a:prstGeom>
          <a:solidFill>
            <a:srgbClr val="FFF6F4"/>
          </a:solidFill>
          <a:ln w="12700">
            <a:solidFill>
              <a:srgbClr val="FFF6F4"/>
            </a:solidFill>
            <a:prstDash val="solid"/>
          </a:ln>
        </p:spPr>
      </p:sp>
      <p:sp>
        <p:nvSpPr>
          <p:cNvPr id="14" name="Shape 12"/>
          <p:cNvSpPr/>
          <p:nvPr/>
        </p:nvSpPr>
        <p:spPr>
          <a:xfrm>
            <a:off x="8356397" y="1554480"/>
            <a:ext cx="420624" cy="420624"/>
          </a:xfrm>
          <a:prstGeom prst="ellipse">
            <a:avLst/>
          </a:prstGeom>
          <a:solidFill>
            <a:srgbClr val="8C3A27"/>
          </a:solidFill>
          <a:ln w="12700">
            <a:solidFill>
              <a:srgbClr val="8C3A27"/>
            </a:solidFill>
            <a:prstDash val="solid"/>
          </a:ln>
        </p:spPr>
      </p:sp>
      <p:sp>
        <p:nvSpPr>
          <p:cNvPr id="15" name="Text 13"/>
          <p:cNvSpPr txBox="1"/>
          <p:nvPr/>
        </p:nvSpPr>
        <p:spPr>
          <a:xfrm>
            <a:off x="8356397"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8905037"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Combien de temps ?</a:t>
            </a:r>
            <a:endParaRPr lang="en-US" sz="1500" dirty="0"/>
          </a:p>
        </p:txBody>
      </p:sp>
      <p:sp>
        <p:nvSpPr>
          <p:cNvPr id="17" name="Text 15"/>
          <p:cNvSpPr txBox="1"/>
          <p:nvPr/>
        </p:nvSpPr>
        <p:spPr>
          <a:xfrm>
            <a:off x="8356397" y="210312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1 ou 2 mois au choix du salarié, fractionnables en deux périodes d'un mois. Les deux parents peuvent le prendre simultanément ou successivement.</a:t>
            </a:r>
            <a:endParaRPr lang="en-US" sz="1300" dirty="0"/>
          </a:p>
        </p:txBody>
      </p:sp>
      <p:sp>
        <p:nvSpPr>
          <p:cNvPr id="18" name="Shape 16"/>
          <p:cNvSpPr/>
          <p:nvPr/>
        </p:nvSpPr>
        <p:spPr>
          <a:xfrm>
            <a:off x="548640" y="3931920"/>
            <a:ext cx="3515258" cy="2331720"/>
          </a:xfrm>
          <a:prstGeom prst="roundRect">
            <a:avLst>
              <a:gd name="adj" fmla="val 5882"/>
            </a:avLst>
          </a:prstGeom>
          <a:solidFill>
            <a:srgbClr val="FFF6F4"/>
          </a:solidFill>
          <a:ln w="12700">
            <a:solidFill>
              <a:srgbClr val="FFF6F4"/>
            </a:solidFill>
            <a:prstDash val="solid"/>
          </a:ln>
        </p:spPr>
      </p:sp>
      <p:sp>
        <p:nvSpPr>
          <p:cNvPr id="19" name="Shape 17"/>
          <p:cNvSpPr/>
          <p:nvPr/>
        </p:nvSpPr>
        <p:spPr>
          <a:xfrm>
            <a:off x="777240" y="4160520"/>
            <a:ext cx="420624" cy="420624"/>
          </a:xfrm>
          <a:prstGeom prst="ellipse">
            <a:avLst/>
          </a:prstGeom>
          <a:solidFill>
            <a:srgbClr val="8C3A27"/>
          </a:solidFill>
          <a:ln w="12700">
            <a:solidFill>
              <a:srgbClr val="8C3A27"/>
            </a:solidFill>
            <a:prstDash val="solid"/>
          </a:ln>
        </p:spPr>
      </p:sp>
      <p:sp>
        <p:nvSpPr>
          <p:cNvPr id="20" name="Text 18"/>
          <p:cNvSpPr txBox="1"/>
          <p:nvPr/>
        </p:nvSpPr>
        <p:spPr>
          <a:xfrm>
            <a:off x="777240" y="41605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txBox="1"/>
          <p:nvPr/>
        </p:nvSpPr>
        <p:spPr>
          <a:xfrm>
            <a:off x="1325880" y="413308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Formalités</a:t>
            </a:r>
            <a:endParaRPr lang="en-US" sz="1500" dirty="0"/>
          </a:p>
        </p:txBody>
      </p:sp>
      <p:sp>
        <p:nvSpPr>
          <p:cNvPr id="22" name="Text 20"/>
          <p:cNvSpPr txBox="1"/>
          <p:nvPr/>
        </p:nvSpPr>
        <p:spPr>
          <a:xfrm>
            <a:off x="777240" y="470916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Information de l'employeur au moins 1 mois avant le début du congé (dates et durée). L'employeur ne peut pas refuser ni reporter le congé.</a:t>
            </a:r>
            <a:endParaRPr lang="en-US" sz="1300" dirty="0"/>
          </a:p>
        </p:txBody>
      </p:sp>
      <p:sp>
        <p:nvSpPr>
          <p:cNvPr id="23" name="Shape 21"/>
          <p:cNvSpPr/>
          <p:nvPr/>
        </p:nvSpPr>
        <p:spPr>
          <a:xfrm>
            <a:off x="4338218" y="3931920"/>
            <a:ext cx="3515258" cy="2331720"/>
          </a:xfrm>
          <a:prstGeom prst="roundRect">
            <a:avLst>
              <a:gd name="adj" fmla="val 5882"/>
            </a:avLst>
          </a:prstGeom>
          <a:solidFill>
            <a:srgbClr val="FFF6F4"/>
          </a:solidFill>
          <a:ln w="12700">
            <a:solidFill>
              <a:srgbClr val="FFF6F4"/>
            </a:solidFill>
            <a:prstDash val="solid"/>
          </a:ln>
        </p:spPr>
      </p:sp>
      <p:sp>
        <p:nvSpPr>
          <p:cNvPr id="24" name="Shape 22"/>
          <p:cNvSpPr/>
          <p:nvPr/>
        </p:nvSpPr>
        <p:spPr>
          <a:xfrm>
            <a:off x="4566818" y="4160520"/>
            <a:ext cx="420624" cy="420624"/>
          </a:xfrm>
          <a:prstGeom prst="ellipse">
            <a:avLst/>
          </a:prstGeom>
          <a:solidFill>
            <a:srgbClr val="8C3A27"/>
          </a:solidFill>
          <a:ln w="12700">
            <a:solidFill>
              <a:srgbClr val="8C3A27"/>
            </a:solidFill>
            <a:prstDash val="solid"/>
          </a:ln>
        </p:spPr>
      </p:sp>
      <p:sp>
        <p:nvSpPr>
          <p:cNvPr id="25" name="Text 23"/>
          <p:cNvSpPr txBox="1"/>
          <p:nvPr/>
        </p:nvSpPr>
        <p:spPr>
          <a:xfrm>
            <a:off x="4566818" y="41605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6" name="Text 24"/>
          <p:cNvSpPr txBox="1"/>
          <p:nvPr/>
        </p:nvSpPr>
        <p:spPr>
          <a:xfrm>
            <a:off x="5115458" y="413308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Textes</a:t>
            </a:r>
            <a:endParaRPr lang="en-US" sz="1500" dirty="0"/>
          </a:p>
        </p:txBody>
      </p:sp>
      <p:sp>
        <p:nvSpPr>
          <p:cNvPr id="27" name="Text 25"/>
          <p:cNvSpPr txBox="1"/>
          <p:nvPr/>
        </p:nvSpPr>
        <p:spPr>
          <a:xfrm>
            <a:off x="4566818" y="470916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LFSS 2026, art. 99 (loi n° 2025-1403 du 30 décembre 2025) ; art. L. 1225-46-2 C. trav. et L. 331-8-1 CSS ; décrets n° 2026-419 et n° 2026-425 du 30 mai 2026.</a:t>
            </a:r>
            <a:endParaRPr lang="en-US" sz="1300" dirty="0"/>
          </a:p>
        </p:txBody>
      </p:sp>
      <p:sp>
        <p:nvSpPr>
          <p:cNvPr id="28" name="Shape 26"/>
          <p:cNvSpPr/>
          <p:nvPr/>
        </p:nvSpPr>
        <p:spPr>
          <a:xfrm>
            <a:off x="8127797" y="3931920"/>
            <a:ext cx="3515258" cy="2331720"/>
          </a:xfrm>
          <a:prstGeom prst="roundRect">
            <a:avLst>
              <a:gd name="adj" fmla="val 5882"/>
            </a:avLst>
          </a:prstGeom>
          <a:solidFill>
            <a:srgbClr val="FFF6F4"/>
          </a:solidFill>
          <a:ln w="12700">
            <a:solidFill>
              <a:srgbClr val="FFF6F4"/>
            </a:solidFill>
            <a:prstDash val="solid"/>
          </a:ln>
        </p:spPr>
      </p:sp>
      <p:sp>
        <p:nvSpPr>
          <p:cNvPr id="29" name="Shape 27"/>
          <p:cNvSpPr/>
          <p:nvPr/>
        </p:nvSpPr>
        <p:spPr>
          <a:xfrm>
            <a:off x="8356397" y="4160520"/>
            <a:ext cx="420624" cy="420624"/>
          </a:xfrm>
          <a:prstGeom prst="ellipse">
            <a:avLst/>
          </a:prstGeom>
          <a:solidFill>
            <a:srgbClr val="8C3A27"/>
          </a:solidFill>
          <a:ln w="12700">
            <a:solidFill>
              <a:srgbClr val="8C3A27"/>
            </a:solidFill>
            <a:prstDash val="solid"/>
          </a:ln>
        </p:spPr>
      </p:sp>
      <p:sp>
        <p:nvSpPr>
          <p:cNvPr id="30" name="Text 28"/>
          <p:cNvSpPr txBox="1"/>
          <p:nvPr/>
        </p:nvSpPr>
        <p:spPr>
          <a:xfrm>
            <a:off x="8356397" y="41605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1" name="Text 29"/>
          <p:cNvSpPr txBox="1"/>
          <p:nvPr/>
        </p:nvSpPr>
        <p:spPr>
          <a:xfrm>
            <a:off x="8905037" y="413308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Pendant le congé</a:t>
            </a:r>
            <a:endParaRPr lang="en-US" sz="1500" dirty="0"/>
          </a:p>
        </p:txBody>
      </p:sp>
      <p:sp>
        <p:nvSpPr>
          <p:cNvPr id="32" name="Text 30"/>
          <p:cNvSpPr txBox="1"/>
          <p:nvPr/>
        </p:nvSpPr>
        <p:spPr>
          <a:xfrm>
            <a:off x="8356397" y="470916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Contrat suspendu : aucune autre activité professionnelle possible. Pas d'obligation légale de maintien de salaire pour l'employeur (sauf convention ou accord).</a:t>
            </a:r>
            <a:endParaRPr lang="en-US" sz="1300" dirty="0"/>
          </a:p>
        </p:txBody>
      </p:sp>
      <p:sp>
        <p:nvSpPr>
          <p:cNvPr id="33" name="Text 3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34" name="Text 3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Congé supplémentaire de naissance : indemnisation et paie</a:t>
            </a:r>
            <a:endParaRPr lang="en-US" sz="2800" dirty="0"/>
          </a:p>
        </p:txBody>
      </p:sp>
      <p:sp>
        <p:nvSpPr>
          <p:cNvPr id="3" name="Text 1"/>
          <p:cNvSpPr txBox="1"/>
          <p:nvPr/>
        </p:nvSpPr>
        <p:spPr>
          <a:xfrm>
            <a:off x="548640" y="1325880"/>
            <a:ext cx="7315200" cy="4937760"/>
          </a:xfrm>
          <a:prstGeom prst="rect">
            <a:avLst/>
          </a:prstGeom>
          <a:noFill/>
          <a:ln/>
        </p:spPr>
        <p:txBody>
          <a:bodyPr wrap="square" lIns="635" tIns="635" rIns="635" bIns="635" rtlCol="0" anchor="t"/>
          <a:lstStyle/>
          <a:p>
            <a:pPr marL="228600" indent="-228600">
              <a:lnSpc>
                <a:spcPct val="105000"/>
              </a:lnSpc>
              <a:spcAft>
                <a:spcPts val="750"/>
              </a:spcAft>
              <a:buSzPct val="100000"/>
              <a:buChar char="■"/>
            </a:pPr>
            <a:r>
              <a:rPr lang="en-US" sz="1500" dirty="0">
                <a:solidFill>
                  <a:srgbClr val="2B2B2B"/>
                </a:solidFill>
                <a:latin typeface="Calibri" pitchFamily="34" charset="0"/>
                <a:ea typeface="Calibri" pitchFamily="34" charset="-122"/>
                <a:cs typeface="Calibri" pitchFamily="34" charset="-120"/>
              </a:rPr>
              <a:t>Indemnité journalière versée par la CPAM : 70 % du salaire net le 1er mois, 60 % le 2e mois, dans la limite du plafond de la Sécurité sociale.</a:t>
            </a:r>
            <a:endParaRPr lang="en-US" sz="1500" dirty="0"/>
          </a:p>
          <a:p>
            <a:pPr marL="228600" indent="-228600">
              <a:lnSpc>
                <a:spcPct val="105000"/>
              </a:lnSpc>
              <a:spcAft>
                <a:spcPts val="750"/>
              </a:spcAft>
              <a:buSzPct val="100000"/>
              <a:buChar char="■"/>
            </a:pPr>
            <a:r>
              <a:rPr lang="en-US" sz="1500" dirty="0">
                <a:solidFill>
                  <a:srgbClr val="2B2B2B"/>
                </a:solidFill>
                <a:latin typeface="Calibri" pitchFamily="34" charset="0"/>
                <a:ea typeface="Calibri" pitchFamily="34" charset="-122"/>
                <a:cs typeface="Calibri" pitchFamily="34" charset="-120"/>
              </a:rPr>
              <a:t>Montants maximaux 2026 : 72,81 € par jour le 1er mois, 62,41 € par jour le 2e mois.</a:t>
            </a:r>
            <a:endParaRPr lang="en-US" sz="1500" dirty="0"/>
          </a:p>
          <a:p>
            <a:pPr marL="228600" indent="-228600">
              <a:lnSpc>
                <a:spcPct val="105000"/>
              </a:lnSpc>
              <a:spcAft>
                <a:spcPts val="750"/>
              </a:spcAft>
              <a:buSzPct val="100000"/>
              <a:buChar char="■"/>
            </a:pPr>
            <a:r>
              <a:rPr lang="en-US" sz="1500" dirty="0">
                <a:solidFill>
                  <a:srgbClr val="2B2B2B"/>
                </a:solidFill>
                <a:latin typeface="Calibri" pitchFamily="34" charset="0"/>
                <a:ea typeface="Calibri" pitchFamily="34" charset="-122"/>
                <a:cs typeface="Calibri" pitchFamily="34" charset="-120"/>
              </a:rPr>
              <a:t>Aucun maintien de salaire imposé par la loi : vérifier la convention collective et les accords d'entreprise (certaines branches assimilent le congé au congé de paternité).</a:t>
            </a:r>
            <a:endParaRPr lang="en-US" sz="1500" dirty="0"/>
          </a:p>
          <a:p>
            <a:pPr marL="228600" indent="-228600">
              <a:lnSpc>
                <a:spcPct val="105000"/>
              </a:lnSpc>
              <a:spcAft>
                <a:spcPts val="750"/>
              </a:spcAft>
              <a:buSzPct val="100000"/>
              <a:buChar char="■"/>
            </a:pPr>
            <a:r>
              <a:rPr lang="en-US" sz="1500" dirty="0">
                <a:solidFill>
                  <a:srgbClr val="2B2B2B"/>
                </a:solidFill>
                <a:latin typeface="Calibri" pitchFamily="34" charset="0"/>
                <a:ea typeface="Calibri" pitchFamily="34" charset="-122"/>
                <a:cs typeface="Calibri" pitchFamily="34" charset="-120"/>
              </a:rPr>
              <a:t>Subrogation possible : l'employeur perçoit les IJ et les reverse ; à défaut, absence non rémunérée sur le bulletin et IJ versées directement au salarié.</a:t>
            </a:r>
            <a:endParaRPr lang="en-US" sz="1500" dirty="0"/>
          </a:p>
          <a:p>
            <a:pPr marL="228600" indent="-228600">
              <a:lnSpc>
                <a:spcPct val="105000"/>
              </a:lnSpc>
              <a:spcAft>
                <a:spcPts val="750"/>
              </a:spcAft>
              <a:buSzPct val="100000"/>
              <a:buChar char="■"/>
            </a:pPr>
            <a:r>
              <a:rPr lang="en-US" sz="1500" dirty="0">
                <a:solidFill>
                  <a:srgbClr val="2B2B2B"/>
                </a:solidFill>
                <a:latin typeface="Calibri" pitchFamily="34" charset="0"/>
                <a:ea typeface="Calibri" pitchFamily="34" charset="-122"/>
                <a:cs typeface="Calibri" pitchFamily="34" charset="-120"/>
              </a:rPr>
              <a:t>DSN : signalement d'arrêt de travail avec le motif « 20 – congé supplémentaire de naissance » (bloc S21.G00.60), comme pour un congé de paternité.</a:t>
            </a:r>
            <a:endParaRPr lang="en-US" sz="1500" dirty="0"/>
          </a:p>
          <a:p>
            <a:pPr marL="228600" indent="-228600">
              <a:lnSpc>
                <a:spcPct val="105000"/>
              </a:lnSpc>
              <a:spcAft>
                <a:spcPts val="750"/>
              </a:spcAft>
              <a:buSzPct val="100000"/>
              <a:buChar char="■"/>
            </a:pPr>
            <a:r>
              <a:rPr lang="en-US" sz="1500" dirty="0">
                <a:solidFill>
                  <a:srgbClr val="2B2B2B"/>
                </a:solidFill>
                <a:latin typeface="Calibri" pitchFamily="34" charset="0"/>
                <a:ea typeface="Calibri" pitchFamily="34" charset="-122"/>
                <a:cs typeface="Calibri" pitchFamily="34" charset="-120"/>
              </a:rPr>
              <a:t>Droits du salarié : ancienneté conservée, protection contre le licenciement pendant le congé ; pour les congés payés, appliquer la règle retenue pour le congé de paternité (art. L. 3141-5) et documenter la position retenue.</a:t>
            </a:r>
            <a:endParaRPr lang="en-US" sz="1500" dirty="0"/>
          </a:p>
        </p:txBody>
      </p:sp>
      <p:sp>
        <p:nvSpPr>
          <p:cNvPr id="4" name="Shape 2"/>
          <p:cNvSpPr/>
          <p:nvPr/>
        </p:nvSpPr>
        <p:spPr>
          <a:xfrm>
            <a:off x="8229600" y="1325880"/>
            <a:ext cx="3413455" cy="3182112"/>
          </a:xfrm>
          <a:prstGeom prst="roundRect">
            <a:avLst>
              <a:gd name="adj" fmla="val 4310"/>
            </a:avLst>
          </a:prstGeom>
          <a:solidFill>
            <a:srgbClr val="FFF6F4"/>
          </a:solidFill>
          <a:ln w="12700">
            <a:solidFill>
              <a:srgbClr val="FFF6F4"/>
            </a:solidFill>
            <a:prstDash val="solid"/>
          </a:ln>
        </p:spPr>
      </p:sp>
      <p:sp>
        <p:nvSpPr>
          <p:cNvPr id="5" name="Text 3"/>
          <p:cNvSpPr txBox="1"/>
          <p:nvPr/>
        </p:nvSpPr>
        <p:spPr>
          <a:xfrm>
            <a:off x="8458200" y="1508760"/>
            <a:ext cx="2956255" cy="411480"/>
          </a:xfrm>
          <a:prstGeom prst="rect">
            <a:avLst/>
          </a:prstGeom>
          <a:noFill/>
          <a:ln/>
        </p:spPr>
        <p:txBody>
          <a:bodyPr wrap="square" lIns="0" tIns="0" rIns="0" bIns="0" rtlCol="0" anchor="ctr"/>
          <a:lstStyle/>
          <a:p>
            <a:pPr indent="0" marL="0">
              <a:buNone/>
            </a:pPr>
            <a:r>
              <a:rPr lang="en-US" sz="1600" b="1" dirty="0">
                <a:solidFill>
                  <a:srgbClr val="8C3A27"/>
                </a:solidFill>
                <a:latin typeface="Cambria" pitchFamily="34" charset="0"/>
                <a:ea typeface="Cambria" pitchFamily="34" charset="-122"/>
                <a:cs typeface="Cambria" pitchFamily="34" charset="-120"/>
              </a:rPr>
              <a:t>Exemple</a:t>
            </a:r>
            <a:endParaRPr lang="en-US" sz="1600" dirty="0"/>
          </a:p>
        </p:txBody>
      </p:sp>
      <p:sp>
        <p:nvSpPr>
          <p:cNvPr id="6" name="Text 4"/>
          <p:cNvSpPr txBox="1"/>
          <p:nvPr/>
        </p:nvSpPr>
        <p:spPr>
          <a:xfrm>
            <a:off x="8458200" y="2011680"/>
            <a:ext cx="2956255" cy="2313432"/>
          </a:xfrm>
          <a:prstGeom prst="rect">
            <a:avLst/>
          </a:prstGeom>
          <a:noFill/>
          <a:ln/>
        </p:spPr>
        <p:txBody>
          <a:bodyPr wrap="square" lIns="0" tIns="0" rIns="0" bIns="0" rtlCol="0" anchor="t"/>
          <a:lstStyle/>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Salaire net 2 400 € par mois</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1er mois : 70 % → 1 680 € (56 € par jour)</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2e mois : 60 % → 1 440 € (48 € par jour)</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Sous les plafonds de 72,81 € et 62,41 € par jour</a:t>
            </a:r>
            <a:endParaRPr lang="en-US" sz="1300" dirty="0"/>
          </a:p>
        </p:txBody>
      </p:sp>
      <p:sp>
        <p:nvSpPr>
          <p:cNvPr id="7" name="Text 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8" name="Text 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Arrêts de travail : les nouvelles règles du 1er septembre 2026</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Durée maximale de prescription (décret n° 2026-498 du 12 juin 2026) : 31 jours pour l'arrêt initial, 62 jours pour chaque prolongation, sauf justification médicale expresse.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Le prescripteur doit renseigner les éléments médicaux et les motifs de l'arrêt : un arrêt non conforme peut être refusé par la CPAM.</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Téléconsultation (loi n° 2026-534 du 25 juin 2026 relative à la lutte contre les fraudes) : arrêt ou premier renouvellement limité à 3 jours, pas de renouvellement ultérieur à distance.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Formulaire d'arrêt papier sécurisé obligatoire depuis le 1er juillet 2025 : refuser les photocopies et impressions.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Conséquence paie : si la CPAM refuse les IJ, le maintien de salaire conventionnel calculé « sous déduction des IJ » doit être recalculé ; en subrogation, l'employeur ne perçoit rien.</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Échanges d'informations élargis entre CPAM, employeurs et organismes complémentaires pour lutter contre les arrêts frauduleux.</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Rappel : IJSS maladie et maintien de salaire en 2026</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34060"/>
                <a:gridCol w="5134605"/>
                <a:gridCol w="3025750"/>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Élément</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Règle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Chiffres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Délai de carence Sécurité sociale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3 jours calendaires par arrêt</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IJ à partir du 4e jour</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Montant de l'IJ</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50 % du salaire journalier de base (3 derniers mois ÷ 91,25)</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Salaire plafonné à 1,4 SMIC : 2 613,83 € par mois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IJ maximale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Arrêts débutant à compter du 1er juillet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42,97 € brut par jour</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Maintien légal (art. L. 1226-1)</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1 an d'ancienneté ; carence de 7 jours ; 90 % puis 66,66 % du brut, 30 jours chacun, + 10 jours par tranche de 5 ans (max. 90 jours)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Déduction des IJ brutes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Subrogation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L'employeur perçoit les IJ et maintient le net ; mention obligatoire sur l'attestation de salaire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Régularisation dès réception du décompte CPAM</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CSG-CRDS sur les IJ</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Précomptées par la CPAM : 6,2 % + 0,5 %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IJ nette ≈ 39,09 €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Annonce PLFSS 2027</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Plafond des IJ ramené à 1,8 SMIC et fiscalisation des IJ AT/MP (annonce du 29 août 2026, à confirmer)</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Cible : 1er novembre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Retraite : ce qui change au 1er septembre 2026</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Suspension de la réforme de 2023 (LFSS 2026, art. 105) du 1er septembre 2026 au 1er janvier 2028 : le relèvement de l'âge légal et de la durée d'assurance est gelé.</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Générations 1964 et 1er trimestre 1965 : âge légal figé à 62 ans et 9 mois, 170 trimestres. Générations avril-décembre 1965 : 63 ans. Générations 1966 à 1968 : recul uniforme de 3 mois par rapport au calendrier de 2023.</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Générations 1969 et suivantes : 64 ans et 172 trimestres, sauf nouvelle loi d'ici 2028.</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Carrières longues : jusqu'à 2 trimestres de majoration pour enfants (maternité, éducation, adoption) comptés comme cotisés pour les pensions prenant effet à compter du 1er septembre 2026 (décret n° 2026-700 du 29 juillet 2026).</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En paie : recalculer les dates prévisionnelles de départ, la mise à la retraite d'office (70 ans) et les demandes de retraite progressive (ouverte dès 60 ans depuis le 1er septembre 2025).</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Rappel : le contrat de valorisation de l'expérience (CDI « senior », loi du 24 octobre 2025) est ouvert depuis le 1er janvier 2026 aux demandeurs d'emploi de 60 ans et plus.</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E5D8"/>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Quiz 2 : absences et famille</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QUIZ 2</a:t>
            </a:r>
            <a:endParaRPr lang="en-US" sz="1000" dirty="0"/>
          </a:p>
        </p:txBody>
      </p:sp>
      <p:sp>
        <p:nvSpPr>
          <p:cNvPr id="5" name="Shape 3"/>
          <p:cNvSpPr/>
          <p:nvPr/>
        </p:nvSpPr>
        <p:spPr>
          <a:xfrm>
            <a:off x="548640" y="1325880"/>
            <a:ext cx="11094415" cy="1554480"/>
          </a:xfrm>
          <a:prstGeom prst="roundRect">
            <a:avLst>
              <a:gd name="adj" fmla="val 5882"/>
            </a:avLst>
          </a:prstGeom>
          <a:solidFill>
            <a:srgbClr val="FFFFFF"/>
          </a:solidFill>
          <a:ln w="12700">
            <a:solidFill>
              <a:srgbClr val="FFFFFF"/>
            </a:solidFill>
            <a:prstDash val="solid"/>
          </a:ln>
        </p:spPr>
      </p:sp>
      <p:sp>
        <p:nvSpPr>
          <p:cNvPr id="6" name="Shape 4"/>
          <p:cNvSpPr/>
          <p:nvPr/>
        </p:nvSpPr>
        <p:spPr>
          <a:xfrm>
            <a:off x="685800" y="1444752"/>
            <a:ext cx="384048" cy="384048"/>
          </a:xfrm>
          <a:prstGeom prst="ellipse">
            <a:avLst/>
          </a:prstGeom>
          <a:solidFill>
            <a:srgbClr val="8C3A27"/>
          </a:solidFill>
          <a:ln w="12700">
            <a:solidFill>
              <a:srgbClr val="8C3A27"/>
            </a:solidFill>
            <a:prstDash val="solid"/>
          </a:ln>
        </p:spPr>
      </p:sp>
      <p:sp>
        <p:nvSpPr>
          <p:cNvPr id="7" name="Text 5"/>
          <p:cNvSpPr txBox="1"/>
          <p:nvPr/>
        </p:nvSpPr>
        <p:spPr>
          <a:xfrm>
            <a:off x="68580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99032"/>
            <a:ext cx="10271455" cy="53644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Un salarié demande un congé supplémentaire de naissance de 2 mois pour un enfant né le 20 décembre 2025. Que répondez-vous ?</a:t>
            </a:r>
            <a:endParaRPr lang="en-US" sz="1400" dirty="0"/>
          </a:p>
        </p:txBody>
      </p:sp>
      <p:sp>
        <p:nvSpPr>
          <p:cNvPr id="9" name="Shape 7"/>
          <p:cNvSpPr/>
          <p:nvPr/>
        </p:nvSpPr>
        <p:spPr>
          <a:xfrm>
            <a:off x="1188720" y="1972056"/>
            <a:ext cx="3301898" cy="835152"/>
          </a:xfrm>
          <a:prstGeom prst="roundRect">
            <a:avLst>
              <a:gd name="adj" fmla="val 8759"/>
            </a:avLst>
          </a:prstGeom>
          <a:solidFill>
            <a:srgbClr val="FFF6F4"/>
          </a:solidFill>
          <a:ln w="9525">
            <a:solidFill>
              <a:srgbClr val="F0C8BC"/>
            </a:solidFill>
            <a:prstDash val="solid"/>
          </a:ln>
        </p:spPr>
      </p:sp>
      <p:sp>
        <p:nvSpPr>
          <p:cNvPr id="10" name="Text 8"/>
          <p:cNvSpPr txBox="1"/>
          <p:nvPr/>
        </p:nvSpPr>
        <p:spPr>
          <a:xfrm>
            <a:off x="1261872" y="197205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11" name="Text 9"/>
          <p:cNvSpPr txBox="1"/>
          <p:nvPr/>
        </p:nvSpPr>
        <p:spPr>
          <a:xfrm>
            <a:off x="1572768" y="197205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Accord : le congé est ouvert depuis le 1er juillet</a:t>
            </a:r>
            <a:endParaRPr lang="en-US" sz="1200" dirty="0"/>
          </a:p>
        </p:txBody>
      </p:sp>
      <p:sp>
        <p:nvSpPr>
          <p:cNvPr id="12" name="Shape 10"/>
          <p:cNvSpPr/>
          <p:nvPr/>
        </p:nvSpPr>
        <p:spPr>
          <a:xfrm>
            <a:off x="4673498" y="1972056"/>
            <a:ext cx="3301898" cy="835152"/>
          </a:xfrm>
          <a:prstGeom prst="roundRect">
            <a:avLst>
              <a:gd name="adj" fmla="val 8759"/>
            </a:avLst>
          </a:prstGeom>
          <a:solidFill>
            <a:srgbClr val="FFF6F4"/>
          </a:solidFill>
          <a:ln w="9525">
            <a:solidFill>
              <a:srgbClr val="F0C8BC"/>
            </a:solidFill>
            <a:prstDash val="solid"/>
          </a:ln>
        </p:spPr>
      </p:sp>
      <p:sp>
        <p:nvSpPr>
          <p:cNvPr id="13" name="Text 11"/>
          <p:cNvSpPr txBox="1"/>
          <p:nvPr/>
        </p:nvSpPr>
        <p:spPr>
          <a:xfrm>
            <a:off x="4746650" y="197205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14" name="Text 12"/>
          <p:cNvSpPr txBox="1"/>
          <p:nvPr/>
        </p:nvSpPr>
        <p:spPr>
          <a:xfrm>
            <a:off x="5057546" y="197205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Refus : l'enfant est né avant le 1er janvier 2026</a:t>
            </a:r>
            <a:endParaRPr lang="en-US" sz="1200" dirty="0"/>
          </a:p>
        </p:txBody>
      </p:sp>
      <p:sp>
        <p:nvSpPr>
          <p:cNvPr id="15" name="Shape 13"/>
          <p:cNvSpPr/>
          <p:nvPr/>
        </p:nvSpPr>
        <p:spPr>
          <a:xfrm>
            <a:off x="8158277" y="1972056"/>
            <a:ext cx="3301898" cy="835152"/>
          </a:xfrm>
          <a:prstGeom prst="roundRect">
            <a:avLst>
              <a:gd name="adj" fmla="val 8759"/>
            </a:avLst>
          </a:prstGeom>
          <a:solidFill>
            <a:srgbClr val="FFF6F4"/>
          </a:solidFill>
          <a:ln w="9525">
            <a:solidFill>
              <a:srgbClr val="F0C8BC"/>
            </a:solidFill>
            <a:prstDash val="solid"/>
          </a:ln>
        </p:spPr>
      </p:sp>
      <p:sp>
        <p:nvSpPr>
          <p:cNvPr id="16" name="Text 14"/>
          <p:cNvSpPr txBox="1"/>
          <p:nvPr/>
        </p:nvSpPr>
        <p:spPr>
          <a:xfrm>
            <a:off x="8231429" y="197205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17" name="Text 15"/>
          <p:cNvSpPr txBox="1"/>
          <p:nvPr/>
        </p:nvSpPr>
        <p:spPr>
          <a:xfrm>
            <a:off x="8542325" y="197205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Accord si la naissance était prévue à compter du 1er janvier 2026</a:t>
            </a:r>
            <a:endParaRPr lang="en-US" sz="1200" dirty="0"/>
          </a:p>
        </p:txBody>
      </p:sp>
      <p:sp>
        <p:nvSpPr>
          <p:cNvPr id="18" name="Shape 16"/>
          <p:cNvSpPr/>
          <p:nvPr/>
        </p:nvSpPr>
        <p:spPr>
          <a:xfrm>
            <a:off x="548640" y="3017520"/>
            <a:ext cx="11094415" cy="1554480"/>
          </a:xfrm>
          <a:prstGeom prst="roundRect">
            <a:avLst>
              <a:gd name="adj" fmla="val 5882"/>
            </a:avLst>
          </a:prstGeom>
          <a:solidFill>
            <a:srgbClr val="FFFFFF"/>
          </a:solidFill>
          <a:ln w="12700">
            <a:solidFill>
              <a:srgbClr val="FFFFFF"/>
            </a:solidFill>
            <a:prstDash val="solid"/>
          </a:ln>
        </p:spPr>
      </p:sp>
      <p:sp>
        <p:nvSpPr>
          <p:cNvPr id="19" name="Shape 17"/>
          <p:cNvSpPr/>
          <p:nvPr/>
        </p:nvSpPr>
        <p:spPr>
          <a:xfrm>
            <a:off x="685800" y="3136392"/>
            <a:ext cx="384048" cy="384048"/>
          </a:xfrm>
          <a:prstGeom prst="ellipse">
            <a:avLst/>
          </a:prstGeom>
          <a:solidFill>
            <a:srgbClr val="8C3A27"/>
          </a:solidFill>
          <a:ln w="12700">
            <a:solidFill>
              <a:srgbClr val="8C3A27"/>
            </a:solidFill>
            <a:prstDash val="solid"/>
          </a:ln>
        </p:spPr>
      </p:sp>
      <p:sp>
        <p:nvSpPr>
          <p:cNvPr id="20" name="Text 18"/>
          <p:cNvSpPr txBox="1"/>
          <p:nvPr/>
        </p:nvSpPr>
        <p:spPr>
          <a:xfrm>
            <a:off x="685800" y="31363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1" name="Text 19"/>
          <p:cNvSpPr txBox="1"/>
          <p:nvPr/>
        </p:nvSpPr>
        <p:spPr>
          <a:xfrm>
            <a:off x="1188720" y="3090672"/>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Un arrêt initial de 45 jours prescrit le 15 septembre 2026 sans justification médicale de durée :</a:t>
            </a:r>
            <a:endParaRPr lang="en-US" sz="1400" dirty="0"/>
          </a:p>
        </p:txBody>
      </p:sp>
      <p:sp>
        <p:nvSpPr>
          <p:cNvPr id="22" name="Shape 20"/>
          <p:cNvSpPr/>
          <p:nvPr/>
        </p:nvSpPr>
        <p:spPr>
          <a:xfrm>
            <a:off x="1188720" y="3450336"/>
            <a:ext cx="3301898" cy="1048512"/>
          </a:xfrm>
          <a:prstGeom prst="roundRect">
            <a:avLst>
              <a:gd name="adj" fmla="val 6977"/>
            </a:avLst>
          </a:prstGeom>
          <a:solidFill>
            <a:srgbClr val="FFF6F4"/>
          </a:solidFill>
          <a:ln w="9525">
            <a:solidFill>
              <a:srgbClr val="F0C8BC"/>
            </a:solidFill>
            <a:prstDash val="solid"/>
          </a:ln>
        </p:spPr>
      </p:sp>
      <p:sp>
        <p:nvSpPr>
          <p:cNvPr id="23" name="Text 21"/>
          <p:cNvSpPr txBox="1"/>
          <p:nvPr/>
        </p:nvSpPr>
        <p:spPr>
          <a:xfrm>
            <a:off x="1261872" y="345033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24" name="Text 22"/>
          <p:cNvSpPr txBox="1"/>
          <p:nvPr/>
        </p:nvSpPr>
        <p:spPr>
          <a:xfrm>
            <a:off x="1572768" y="345033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Est valable, la limite ne concerne que les prolongations</a:t>
            </a:r>
            <a:endParaRPr lang="en-US" sz="1200" dirty="0"/>
          </a:p>
        </p:txBody>
      </p:sp>
      <p:sp>
        <p:nvSpPr>
          <p:cNvPr id="25" name="Shape 23"/>
          <p:cNvSpPr/>
          <p:nvPr/>
        </p:nvSpPr>
        <p:spPr>
          <a:xfrm>
            <a:off x="4673498" y="3450336"/>
            <a:ext cx="3301898" cy="1048512"/>
          </a:xfrm>
          <a:prstGeom prst="roundRect">
            <a:avLst>
              <a:gd name="adj" fmla="val 6977"/>
            </a:avLst>
          </a:prstGeom>
          <a:solidFill>
            <a:srgbClr val="FFF6F4"/>
          </a:solidFill>
          <a:ln w="9525">
            <a:solidFill>
              <a:srgbClr val="F0C8BC"/>
            </a:solidFill>
            <a:prstDash val="solid"/>
          </a:ln>
        </p:spPr>
      </p:sp>
      <p:sp>
        <p:nvSpPr>
          <p:cNvPr id="26" name="Text 24"/>
          <p:cNvSpPr txBox="1"/>
          <p:nvPr/>
        </p:nvSpPr>
        <p:spPr>
          <a:xfrm>
            <a:off x="4746650" y="345033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27" name="Text 25"/>
          <p:cNvSpPr txBox="1"/>
          <p:nvPr/>
        </p:nvSpPr>
        <p:spPr>
          <a:xfrm>
            <a:off x="5057546" y="345033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Peut être refusé par la CPAM au-delà de la durée réglementaire</a:t>
            </a:r>
            <a:endParaRPr lang="en-US" sz="1200" dirty="0"/>
          </a:p>
        </p:txBody>
      </p:sp>
      <p:sp>
        <p:nvSpPr>
          <p:cNvPr id="28" name="Shape 26"/>
          <p:cNvSpPr/>
          <p:nvPr/>
        </p:nvSpPr>
        <p:spPr>
          <a:xfrm>
            <a:off x="8158277" y="3450336"/>
            <a:ext cx="3301898" cy="1048512"/>
          </a:xfrm>
          <a:prstGeom prst="roundRect">
            <a:avLst>
              <a:gd name="adj" fmla="val 6977"/>
            </a:avLst>
          </a:prstGeom>
          <a:solidFill>
            <a:srgbClr val="FFF6F4"/>
          </a:solidFill>
          <a:ln w="9525">
            <a:solidFill>
              <a:srgbClr val="F0C8BC"/>
            </a:solidFill>
            <a:prstDash val="solid"/>
          </a:ln>
        </p:spPr>
      </p:sp>
      <p:sp>
        <p:nvSpPr>
          <p:cNvPr id="29" name="Text 27"/>
          <p:cNvSpPr txBox="1"/>
          <p:nvPr/>
        </p:nvSpPr>
        <p:spPr>
          <a:xfrm>
            <a:off x="8231429" y="345033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30" name="Text 28"/>
          <p:cNvSpPr txBox="1"/>
          <p:nvPr/>
        </p:nvSpPr>
        <p:spPr>
          <a:xfrm>
            <a:off x="8542325" y="345033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Est automatiquement ramené à 31 jours par l'employeur</a:t>
            </a:r>
            <a:endParaRPr lang="en-US" sz="1200" dirty="0"/>
          </a:p>
        </p:txBody>
      </p:sp>
      <p:sp>
        <p:nvSpPr>
          <p:cNvPr id="31" name="Shape 29"/>
          <p:cNvSpPr/>
          <p:nvPr/>
        </p:nvSpPr>
        <p:spPr>
          <a:xfrm>
            <a:off x="548640" y="4709160"/>
            <a:ext cx="11094415" cy="1554480"/>
          </a:xfrm>
          <a:prstGeom prst="roundRect">
            <a:avLst>
              <a:gd name="adj" fmla="val 5882"/>
            </a:avLst>
          </a:prstGeom>
          <a:solidFill>
            <a:srgbClr val="FFFFFF"/>
          </a:solidFill>
          <a:ln w="12700">
            <a:solidFill>
              <a:srgbClr val="FFFFFF"/>
            </a:solidFill>
            <a:prstDash val="solid"/>
          </a:ln>
        </p:spPr>
      </p:sp>
      <p:sp>
        <p:nvSpPr>
          <p:cNvPr id="32" name="Shape 30"/>
          <p:cNvSpPr/>
          <p:nvPr/>
        </p:nvSpPr>
        <p:spPr>
          <a:xfrm>
            <a:off x="685800" y="4828032"/>
            <a:ext cx="384048" cy="384048"/>
          </a:xfrm>
          <a:prstGeom prst="ellipse">
            <a:avLst/>
          </a:prstGeom>
          <a:solidFill>
            <a:srgbClr val="8C3A27"/>
          </a:solidFill>
          <a:ln w="12700">
            <a:solidFill>
              <a:srgbClr val="8C3A27"/>
            </a:solidFill>
            <a:prstDash val="solid"/>
          </a:ln>
        </p:spPr>
      </p:sp>
      <p:sp>
        <p:nvSpPr>
          <p:cNvPr id="33" name="Text 31"/>
          <p:cNvSpPr txBox="1"/>
          <p:nvPr/>
        </p:nvSpPr>
        <p:spPr>
          <a:xfrm>
            <a:off x="685800" y="48280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34" name="Text 32"/>
          <p:cNvSpPr txBox="1"/>
          <p:nvPr/>
        </p:nvSpPr>
        <p:spPr>
          <a:xfrm>
            <a:off x="1188720" y="4782312"/>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Une salariée née en novembre 1964 pourra liquider sa retraite au taux plein avec :</a:t>
            </a:r>
            <a:endParaRPr lang="en-US" sz="1400" dirty="0"/>
          </a:p>
        </p:txBody>
      </p:sp>
      <p:sp>
        <p:nvSpPr>
          <p:cNvPr id="35" name="Shape 33"/>
          <p:cNvSpPr/>
          <p:nvPr/>
        </p:nvSpPr>
        <p:spPr>
          <a:xfrm>
            <a:off x="1188720" y="5141976"/>
            <a:ext cx="3301898" cy="1048512"/>
          </a:xfrm>
          <a:prstGeom prst="roundRect">
            <a:avLst>
              <a:gd name="adj" fmla="val 6977"/>
            </a:avLst>
          </a:prstGeom>
          <a:solidFill>
            <a:srgbClr val="FFF6F4"/>
          </a:solidFill>
          <a:ln w="9525">
            <a:solidFill>
              <a:srgbClr val="F0C8BC"/>
            </a:solidFill>
            <a:prstDash val="solid"/>
          </a:ln>
        </p:spPr>
      </p:sp>
      <p:sp>
        <p:nvSpPr>
          <p:cNvPr id="36" name="Text 34"/>
          <p:cNvSpPr txBox="1"/>
          <p:nvPr/>
        </p:nvSpPr>
        <p:spPr>
          <a:xfrm>
            <a:off x="1261872" y="514197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37" name="Text 35"/>
          <p:cNvSpPr txBox="1"/>
          <p:nvPr/>
        </p:nvSpPr>
        <p:spPr>
          <a:xfrm>
            <a:off x="1572768" y="514197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63 ans et 171 trimestres</a:t>
            </a:r>
            <a:endParaRPr lang="en-US" sz="1200" dirty="0"/>
          </a:p>
        </p:txBody>
      </p:sp>
      <p:sp>
        <p:nvSpPr>
          <p:cNvPr id="38" name="Shape 36"/>
          <p:cNvSpPr/>
          <p:nvPr/>
        </p:nvSpPr>
        <p:spPr>
          <a:xfrm>
            <a:off x="4673498" y="5141976"/>
            <a:ext cx="3301898" cy="1048512"/>
          </a:xfrm>
          <a:prstGeom prst="roundRect">
            <a:avLst>
              <a:gd name="adj" fmla="val 6977"/>
            </a:avLst>
          </a:prstGeom>
          <a:solidFill>
            <a:srgbClr val="FFF6F4"/>
          </a:solidFill>
          <a:ln w="9525">
            <a:solidFill>
              <a:srgbClr val="F0C8BC"/>
            </a:solidFill>
            <a:prstDash val="solid"/>
          </a:ln>
        </p:spPr>
      </p:sp>
      <p:sp>
        <p:nvSpPr>
          <p:cNvPr id="39" name="Text 37"/>
          <p:cNvSpPr txBox="1"/>
          <p:nvPr/>
        </p:nvSpPr>
        <p:spPr>
          <a:xfrm>
            <a:off x="4746650" y="514197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40" name="Text 38"/>
          <p:cNvSpPr txBox="1"/>
          <p:nvPr/>
        </p:nvSpPr>
        <p:spPr>
          <a:xfrm>
            <a:off x="5057546" y="514197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62 ans et 9 mois et 170 trimestres</a:t>
            </a:r>
            <a:endParaRPr lang="en-US" sz="1200" dirty="0"/>
          </a:p>
        </p:txBody>
      </p:sp>
      <p:sp>
        <p:nvSpPr>
          <p:cNvPr id="41" name="Shape 39"/>
          <p:cNvSpPr/>
          <p:nvPr/>
        </p:nvSpPr>
        <p:spPr>
          <a:xfrm>
            <a:off x="8158277" y="5141976"/>
            <a:ext cx="3301898" cy="1048512"/>
          </a:xfrm>
          <a:prstGeom prst="roundRect">
            <a:avLst>
              <a:gd name="adj" fmla="val 6977"/>
            </a:avLst>
          </a:prstGeom>
          <a:solidFill>
            <a:srgbClr val="FFF6F4"/>
          </a:solidFill>
          <a:ln w="9525">
            <a:solidFill>
              <a:srgbClr val="F0C8BC"/>
            </a:solidFill>
            <a:prstDash val="solid"/>
          </a:ln>
        </p:spPr>
      </p:sp>
      <p:sp>
        <p:nvSpPr>
          <p:cNvPr id="42" name="Text 40"/>
          <p:cNvSpPr txBox="1"/>
          <p:nvPr/>
        </p:nvSpPr>
        <p:spPr>
          <a:xfrm>
            <a:off x="8231429" y="514197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43" name="Text 41"/>
          <p:cNvSpPr txBox="1"/>
          <p:nvPr/>
        </p:nvSpPr>
        <p:spPr>
          <a:xfrm>
            <a:off x="8542325" y="514197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64 ans et 172 trimestres</a:t>
            </a:r>
            <a:endParaRPr lang="en-US" sz="1200" dirty="0"/>
          </a:p>
        </p:txBody>
      </p:sp>
      <p:sp>
        <p:nvSpPr>
          <p:cNvPr id="44" name="Text 4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45" name="Text 4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Réponses du quiz 2 : absences et famille</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RÉPONSES</a:t>
            </a:r>
            <a:endParaRPr lang="en-US" sz="1000" dirty="0"/>
          </a:p>
        </p:txBody>
      </p:sp>
      <p:sp>
        <p:nvSpPr>
          <p:cNvPr id="5" name="Shape 3"/>
          <p:cNvSpPr/>
          <p:nvPr/>
        </p:nvSpPr>
        <p:spPr>
          <a:xfrm>
            <a:off x="548640" y="1325880"/>
            <a:ext cx="11094415" cy="1554480"/>
          </a:xfrm>
          <a:prstGeom prst="roundRect">
            <a:avLst>
              <a:gd name="adj" fmla="val 5882"/>
            </a:avLst>
          </a:prstGeom>
          <a:solidFill>
            <a:srgbClr val="FFF6F4"/>
          </a:solidFill>
          <a:ln w="12700">
            <a:solidFill>
              <a:srgbClr val="FFF6F4"/>
            </a:solidFill>
            <a:prstDash val="solid"/>
          </a:ln>
        </p:spPr>
      </p:sp>
      <p:sp>
        <p:nvSpPr>
          <p:cNvPr id="6" name="Shape 4"/>
          <p:cNvSpPr/>
          <p:nvPr/>
        </p:nvSpPr>
        <p:spPr>
          <a:xfrm>
            <a:off x="685800" y="1444752"/>
            <a:ext cx="384048" cy="384048"/>
          </a:xfrm>
          <a:prstGeom prst="ellipse">
            <a:avLst/>
          </a:prstGeom>
          <a:solidFill>
            <a:srgbClr val="8C3A27"/>
          </a:solidFill>
          <a:ln w="12700">
            <a:solidFill>
              <a:srgbClr val="8C3A27"/>
            </a:solidFill>
            <a:prstDash val="solid"/>
          </a:ln>
        </p:spPr>
      </p:sp>
      <p:sp>
        <p:nvSpPr>
          <p:cNvPr id="7" name="Text 5"/>
          <p:cNvSpPr txBox="1"/>
          <p:nvPr/>
        </p:nvSpPr>
        <p:spPr>
          <a:xfrm>
            <a:off x="68580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80744"/>
            <a:ext cx="10271455" cy="144475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C · Accord si la naissance était prévue à compter du 1er janvier 2026</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Le dispositif vise les enfants nés à compter du 1er janvier 2026, ainsi que ceux nés avant mais dont la naissance était prévue à compter de cette date.</a:t>
            </a:r>
            <a:endParaRPr lang="en-US" sz="1400" dirty="0"/>
          </a:p>
        </p:txBody>
      </p:sp>
      <p:sp>
        <p:nvSpPr>
          <p:cNvPr id="9" name="Shape 7"/>
          <p:cNvSpPr/>
          <p:nvPr/>
        </p:nvSpPr>
        <p:spPr>
          <a:xfrm>
            <a:off x="548640" y="3017520"/>
            <a:ext cx="11094415" cy="1554480"/>
          </a:xfrm>
          <a:prstGeom prst="roundRect">
            <a:avLst>
              <a:gd name="adj" fmla="val 5882"/>
            </a:avLst>
          </a:prstGeom>
          <a:solidFill>
            <a:srgbClr val="FFF6F4"/>
          </a:solidFill>
          <a:ln w="12700">
            <a:solidFill>
              <a:srgbClr val="FFF6F4"/>
            </a:solidFill>
            <a:prstDash val="solid"/>
          </a:ln>
        </p:spPr>
      </p:sp>
      <p:sp>
        <p:nvSpPr>
          <p:cNvPr id="10" name="Shape 8"/>
          <p:cNvSpPr/>
          <p:nvPr/>
        </p:nvSpPr>
        <p:spPr>
          <a:xfrm>
            <a:off x="685800" y="3136392"/>
            <a:ext cx="384048" cy="384048"/>
          </a:xfrm>
          <a:prstGeom prst="ellipse">
            <a:avLst/>
          </a:prstGeom>
          <a:solidFill>
            <a:srgbClr val="8C3A27"/>
          </a:solidFill>
          <a:ln w="12700">
            <a:solidFill>
              <a:srgbClr val="8C3A27"/>
            </a:solidFill>
            <a:prstDash val="solid"/>
          </a:ln>
        </p:spPr>
      </p:sp>
      <p:sp>
        <p:nvSpPr>
          <p:cNvPr id="11" name="Text 9"/>
          <p:cNvSpPr txBox="1"/>
          <p:nvPr/>
        </p:nvSpPr>
        <p:spPr>
          <a:xfrm>
            <a:off x="685800" y="31363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txBox="1"/>
          <p:nvPr/>
        </p:nvSpPr>
        <p:spPr>
          <a:xfrm>
            <a:off x="1188720" y="3072384"/>
            <a:ext cx="10271455" cy="144475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Peut être refusé par la CPAM au-delà de la durée réglementaire</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Depuis le 1er septembre 2026, l'arrêt initial est limité à 31 jours sauf justification. L'employeur n'a pas à le réduire lui-même : il applique le maintien sur la base des IJ effectivement versées.</a:t>
            </a:r>
            <a:endParaRPr lang="en-US" sz="1400" dirty="0"/>
          </a:p>
        </p:txBody>
      </p:sp>
      <p:sp>
        <p:nvSpPr>
          <p:cNvPr id="13" name="Shape 11"/>
          <p:cNvSpPr/>
          <p:nvPr/>
        </p:nvSpPr>
        <p:spPr>
          <a:xfrm>
            <a:off x="548640" y="4709160"/>
            <a:ext cx="11094415" cy="1554480"/>
          </a:xfrm>
          <a:prstGeom prst="roundRect">
            <a:avLst>
              <a:gd name="adj" fmla="val 5882"/>
            </a:avLst>
          </a:prstGeom>
          <a:solidFill>
            <a:srgbClr val="FFF6F4"/>
          </a:solidFill>
          <a:ln w="12700">
            <a:solidFill>
              <a:srgbClr val="FFF6F4"/>
            </a:solidFill>
            <a:prstDash val="solid"/>
          </a:ln>
        </p:spPr>
      </p:sp>
      <p:sp>
        <p:nvSpPr>
          <p:cNvPr id="14" name="Shape 12"/>
          <p:cNvSpPr/>
          <p:nvPr/>
        </p:nvSpPr>
        <p:spPr>
          <a:xfrm>
            <a:off x="685800" y="4828032"/>
            <a:ext cx="384048" cy="384048"/>
          </a:xfrm>
          <a:prstGeom prst="ellipse">
            <a:avLst/>
          </a:prstGeom>
          <a:solidFill>
            <a:srgbClr val="8C3A27"/>
          </a:solidFill>
          <a:ln w="12700">
            <a:solidFill>
              <a:srgbClr val="8C3A27"/>
            </a:solidFill>
            <a:prstDash val="solid"/>
          </a:ln>
        </p:spPr>
      </p:sp>
      <p:sp>
        <p:nvSpPr>
          <p:cNvPr id="15" name="Text 13"/>
          <p:cNvSpPr txBox="1"/>
          <p:nvPr/>
        </p:nvSpPr>
        <p:spPr>
          <a:xfrm>
            <a:off x="685800" y="48280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188720" y="4764024"/>
            <a:ext cx="10271455" cy="144475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62 ans et 9 mois et 170 trimestres</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Génération 1964 : âge et durée figés à 62 ans 9 mois et 170 trimestres pendant la suspension.</a:t>
            </a:r>
            <a:endParaRPr lang="en-US" sz="1400" dirty="0"/>
          </a:p>
        </p:txBody>
      </p:sp>
      <p:sp>
        <p:nvSpPr>
          <p:cNvPr id="17" name="Text 1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18" name="Text 1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435369"/>
        </a:solidFill>
      </p:bgPr>
    </p:bg>
    <p:spTree>
      <p:nvGrpSpPr>
        <p:cNvPr id="1" name=""/>
        <p:cNvGrpSpPr/>
        <p:nvPr/>
      </p:nvGrpSpPr>
      <p:grpSpPr>
        <a:xfrm>
          <a:off x="0" y="0"/>
          <a:ext cx="0" cy="0"/>
          <a:chOff x="0" y="0"/>
          <a:chExt cx="0" cy="0"/>
        </a:xfrm>
      </p:grpSpPr>
      <p:sp>
        <p:nvSpPr>
          <p:cNvPr id="2" name="Shape 0"/>
          <p:cNvSpPr/>
          <p:nvPr/>
        </p:nvSpPr>
        <p:spPr>
          <a:xfrm>
            <a:off x="9235440" y="822960"/>
            <a:ext cx="4206240" cy="4206240"/>
          </a:xfrm>
          <a:prstGeom prst="ellipse">
            <a:avLst/>
          </a:prstGeom>
          <a:solidFill>
            <a:srgbClr val="8C3A27"/>
          </a:solidFill>
          <a:ln w="12700">
            <a:solidFill>
              <a:srgbClr val="8C3A27"/>
            </a:solidFill>
            <a:prstDash val="solid"/>
          </a:ln>
        </p:spPr>
      </p:sp>
      <p:sp>
        <p:nvSpPr>
          <p:cNvPr id="3" name="Text 1"/>
          <p:cNvSpPr txBox="1"/>
          <p:nvPr/>
        </p:nvSpPr>
        <p:spPr>
          <a:xfrm>
            <a:off x="9235440" y="822960"/>
            <a:ext cx="4206240" cy="4206240"/>
          </a:xfrm>
          <a:prstGeom prst="rect">
            <a:avLst/>
          </a:prstGeom>
          <a:noFill/>
          <a:ln/>
        </p:spPr>
        <p:txBody>
          <a:bodyPr wrap="square" lIns="0" tIns="0" rIns="0" bIns="0" rtlCol="0" anchor="ctr"/>
          <a:lstStyle/>
          <a:p>
            <a:pPr algn="ctr" indent="0" marL="0">
              <a:buNone/>
            </a:pPr>
            <a:r>
              <a:rPr lang="en-US" sz="9600" b="1" dirty="0">
                <a:solidFill>
                  <a:srgbClr val="FFFFFF"/>
                </a:solidFill>
                <a:latin typeface="Cambria" pitchFamily="34" charset="0"/>
                <a:ea typeface="Cambria" pitchFamily="34" charset="-122"/>
                <a:cs typeface="Cambria" pitchFamily="34" charset="-120"/>
              </a:rPr>
              <a:t>03</a:t>
            </a:r>
            <a:endParaRPr lang="en-US" sz="9600" dirty="0"/>
          </a:p>
        </p:txBody>
      </p:sp>
      <p:sp>
        <p:nvSpPr>
          <p:cNvPr id="4" name="Text 2"/>
          <p:cNvSpPr txBox="1"/>
          <p:nvPr/>
        </p:nvSpPr>
        <p:spPr>
          <a:xfrm>
            <a:off x="548640" y="1554480"/>
            <a:ext cx="5486400" cy="457200"/>
          </a:xfrm>
          <a:prstGeom prst="rect">
            <a:avLst/>
          </a:prstGeom>
          <a:noFill/>
          <a:ln/>
        </p:spPr>
        <p:txBody>
          <a:bodyPr wrap="square" lIns="0" tIns="0" rIns="0" bIns="0" rtlCol="0" anchor="ctr"/>
          <a:lstStyle/>
          <a:p>
            <a:pPr indent="0" marL="0">
              <a:buNone/>
            </a:pPr>
            <a:r>
              <a:rPr lang="en-US" sz="1600" spc="300" kern="0" dirty="0">
                <a:solidFill>
                  <a:srgbClr val="D9A390"/>
                </a:solidFill>
                <a:latin typeface="Calibri" pitchFamily="34" charset="0"/>
                <a:ea typeface="Calibri" pitchFamily="34" charset="-122"/>
                <a:cs typeface="Calibri" pitchFamily="34" charset="-120"/>
              </a:rPr>
              <a:t>Séquence</a:t>
            </a:r>
            <a:endParaRPr lang="en-US" sz="1600" dirty="0"/>
          </a:p>
        </p:txBody>
      </p:sp>
      <p:sp>
        <p:nvSpPr>
          <p:cNvPr id="5" name="Text 3"/>
          <p:cNvSpPr txBox="1"/>
          <p:nvPr/>
        </p:nvSpPr>
        <p:spPr>
          <a:xfrm>
            <a:off x="548640" y="2011680"/>
            <a:ext cx="8046720" cy="155448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Cotisations, DSN et contrôle : la rentrée</a:t>
            </a:r>
            <a:endParaRPr lang="en-US" sz="3800" dirty="0"/>
          </a:p>
        </p:txBody>
      </p:sp>
      <p:sp>
        <p:nvSpPr>
          <p:cNvPr id="6" name="Text 4"/>
          <p:cNvSpPr txBox="1"/>
          <p:nvPr/>
        </p:nvSpPr>
        <p:spPr>
          <a:xfrm>
            <a:off x="548640" y="3657600"/>
            <a:ext cx="8046720" cy="1005840"/>
          </a:xfrm>
          <a:prstGeom prst="rect">
            <a:avLst/>
          </a:prstGeom>
          <a:noFill/>
          <a:ln/>
        </p:spPr>
        <p:txBody>
          <a:bodyPr wrap="square" lIns="0" tIns="0" rIns="0" bIns="0" rtlCol="0" anchor="t"/>
          <a:lstStyle/>
          <a:p>
            <a:pPr indent="0" marL="0">
              <a:buNone/>
            </a:pPr>
            <a:r>
              <a:rPr lang="en-US" sz="1700" dirty="0">
                <a:solidFill>
                  <a:srgbClr val="F2E5D8"/>
                </a:solidFill>
                <a:latin typeface="Calibri" pitchFamily="34" charset="0"/>
                <a:ea typeface="Calibri" pitchFamily="34" charset="-122"/>
                <a:cs typeface="Calibri" pitchFamily="34" charset="-120"/>
              </a:rPr>
              <a:t>Versement mobilité, AGS, prélèvement à la source, DSN de substitution, loi fraudes, décret procédures</a:t>
            </a:r>
            <a:endParaRPr lang="en-US" sz="1700" dirty="0"/>
          </a:p>
        </p:txBody>
      </p:sp>
      <p:sp>
        <p:nvSpPr>
          <p:cNvPr id="7" name="Shape 5"/>
          <p:cNvSpPr/>
          <p:nvPr/>
        </p:nvSpPr>
        <p:spPr>
          <a:xfrm>
            <a:off x="548640" y="5029200"/>
            <a:ext cx="3840480" cy="310896"/>
          </a:xfrm>
          <a:prstGeom prst="roundRect">
            <a:avLst>
              <a:gd name="adj" fmla="val 50000"/>
            </a:avLst>
          </a:prstGeom>
          <a:solidFill>
            <a:srgbClr val="8C3A27"/>
          </a:solidFill>
          <a:ln w="12700">
            <a:solidFill>
              <a:srgbClr val="8C3A27"/>
            </a:solidFill>
            <a:prstDash val="solid"/>
          </a:ln>
        </p:spPr>
      </p:sp>
      <p:sp>
        <p:nvSpPr>
          <p:cNvPr id="8" name="Text 6"/>
          <p:cNvSpPr txBox="1"/>
          <p:nvPr/>
        </p:nvSpPr>
        <p:spPr>
          <a:xfrm>
            <a:off x="548640" y="5029200"/>
            <a:ext cx="384048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55 min · 1 cas pratique · 1 quiz</a:t>
            </a:r>
            <a:endParaRPr lang="en-US" sz="1000" dirty="0"/>
          </a:p>
        </p:txBody>
      </p:sp>
      <p:sp>
        <p:nvSpPr>
          <p:cNvPr id="9" name="Text 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D9A390"/>
                </a:solidFill>
                <a:latin typeface="Calibri" pitchFamily="34" charset="0"/>
                <a:ea typeface="Calibri" pitchFamily="34" charset="-122"/>
                <a:cs typeface="Calibri" pitchFamily="34" charset="-120"/>
              </a:rPr>
              <a:t>Actualité paie · juin – septembre 2026</a:t>
            </a:r>
            <a:endParaRPr lang="en-US" sz="9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D9A390"/>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Cotisations : ce qui bouge à l'été 2026</a:t>
            </a:r>
            <a:endParaRPr lang="en-US" sz="28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292235"/>
                <a:gridCol w="1375341"/>
                <a:gridCol w="4217712"/>
                <a:gridCol w="3209128"/>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Mesure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Date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Contenu</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Action paie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Versement mobilité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1er juillet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Guingamp-Paimpol Agglomération : 0,60 % ; CC Rives de Moselle : 0,55 % (lettre-circulaire Urssaf du 29 mai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Vérifier le taux de chaque établissement avec l'outil Urssaf par code INSEE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Versement mobilité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1er septembre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Poher Communauté : nouveau taux de 0,55 %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Paramétrer avant la DSN de septembre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Cotisation AGS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1er juillet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Taux maintenu à 0,25 % (conseil d'administration du 23 juin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Aucun changement</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Bonus-malus chômage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Depuis le 1er mars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5e période de modulation ; le secteur « bois, papier, imprimerie » sort du dispositif</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Reporter le taux notifié sur le compte Urssaf</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Heures supplémentaires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Depuis le 1er janvier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Déduction forfaitaire patronale étendue à toutes les entreprises : 0,50 € par heure (1,50 € si moins de 20 salariés)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Contrôler le CTP dédié et l'exonération d'IR (7 500 € par an)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Prime carburant et FMD</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Plafond carburant porté à 600 € ; cumul carburant + FMD : 600 €, 900 € avec un abonnement transports pris en charge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Vérifier les cumuls au BOSS avant chaque versement</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Titres-restaurant</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Participation patronale exonérée jusqu'à 7,32 € par titre (50 à 60 % de la valeur)</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Un titre par jour travaillé comprenant une pause repas, télétravail inclus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Prélèvement à la source : la rentrée</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Depuis le 1er septembre 2026, la DGFiP transmet les taux calculés sur les revenus 2025 déclarés au printemps : ils remplacent les taux fondés sur les revenus 2024.</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Le nouveau taux s'applique dès réception du CRM ; l'employeur dispose d'un délai maximal de 2 mois pour l'intégrer, sans jamais modifier lui-même un taux.</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Couples mariés ou pacsés : le taux individualisé est le taux par défaut depuis septembre 2025 ; chaque conjoint peut avoir un taux différent sur son bulletin.</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Absence de taux (nouvel embauché, taux non transmis) : grille du taux neutre, puis remplacement à réception du CRM nominatif.</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Réclamations des salariés : les renvoyer vers impots.gouv.fr ; le gestionnaire de paie ne discute ni le taux ni son mode de calcul.</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Épargne salariale : les sommes perçues immédiatement (intéressement, participation non placées) sont imposables et soumises au PAS ; en cas de versement par un teneur de compte, le PAS relève de PASRAU.</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DSN de substitution : le calendrier 2026</a:t>
            </a:r>
            <a:endParaRPr lang="en-US" sz="2800" dirty="0"/>
          </a:p>
        </p:txBody>
      </p:sp>
      <p:sp>
        <p:nvSpPr>
          <p:cNvPr id="3" name="Shape 1"/>
          <p:cNvSpPr/>
          <p:nvPr/>
        </p:nvSpPr>
        <p:spPr>
          <a:xfrm>
            <a:off x="2697480" y="1554480"/>
            <a:ext cx="0" cy="4041648"/>
          </a:xfrm>
          <a:prstGeom prst="line">
            <a:avLst/>
          </a:prstGeom>
          <a:noFill/>
          <a:ln w="38100">
            <a:solidFill>
              <a:srgbClr val="F0C8BC"/>
            </a:solidFill>
            <a:prstDash val="solid"/>
          </a:ln>
        </p:spPr>
      </p:sp>
      <p:sp>
        <p:nvSpPr>
          <p:cNvPr id="4" name="Text 2"/>
          <p:cNvSpPr txBox="1"/>
          <p:nvPr/>
        </p:nvSpPr>
        <p:spPr>
          <a:xfrm>
            <a:off x="548640" y="1325880"/>
            <a:ext cx="1920240" cy="987552"/>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Mars 2026</a:t>
            </a:r>
            <a:endParaRPr lang="en-US" sz="1400" dirty="0"/>
          </a:p>
        </p:txBody>
      </p:sp>
      <p:sp>
        <p:nvSpPr>
          <p:cNvPr id="5" name="Shape 3"/>
          <p:cNvSpPr/>
          <p:nvPr/>
        </p:nvSpPr>
        <p:spPr>
          <a:xfrm>
            <a:off x="2551176" y="1417320"/>
            <a:ext cx="292608" cy="292608"/>
          </a:xfrm>
          <a:prstGeom prst="ellipse">
            <a:avLst/>
          </a:prstGeom>
          <a:solidFill>
            <a:srgbClr val="8C3A27"/>
          </a:solidFill>
          <a:ln w="25400">
            <a:solidFill>
              <a:srgbClr val="FFFFFF"/>
            </a:solidFill>
            <a:prstDash val="solid"/>
          </a:ln>
        </p:spPr>
      </p:sp>
      <p:sp>
        <p:nvSpPr>
          <p:cNvPr id="6" name="Text 4"/>
          <p:cNvSpPr txBox="1"/>
          <p:nvPr/>
        </p:nvSpPr>
        <p:spPr>
          <a:xfrm>
            <a:off x="3063240" y="1325880"/>
            <a:ext cx="8579815" cy="987552"/>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CRM 124 « rappel annuel » : synthèse des anomalies non corrigées de l'année (mise à disposition le 13 mars pour les déclarants du 5).</a:t>
            </a:r>
            <a:endParaRPr lang="en-US" sz="1400" dirty="0"/>
          </a:p>
        </p:txBody>
      </p:sp>
      <p:sp>
        <p:nvSpPr>
          <p:cNvPr id="7" name="Text 5"/>
          <p:cNvSpPr txBox="1"/>
          <p:nvPr/>
        </p:nvSpPr>
        <p:spPr>
          <a:xfrm>
            <a:off x="548640" y="2313432"/>
            <a:ext cx="1920240" cy="987552"/>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Mars – mai</a:t>
            </a:r>
            <a:endParaRPr lang="en-US" sz="1400" dirty="0"/>
          </a:p>
        </p:txBody>
      </p:sp>
      <p:sp>
        <p:nvSpPr>
          <p:cNvPr id="8" name="Shape 6"/>
          <p:cNvSpPr/>
          <p:nvPr/>
        </p:nvSpPr>
        <p:spPr>
          <a:xfrm>
            <a:off x="2551176" y="2404872"/>
            <a:ext cx="292608" cy="292608"/>
          </a:xfrm>
          <a:prstGeom prst="ellipse">
            <a:avLst/>
          </a:prstGeom>
          <a:solidFill>
            <a:srgbClr val="8C3A27"/>
          </a:solidFill>
          <a:ln w="25400">
            <a:solidFill>
              <a:srgbClr val="FFFFFF"/>
            </a:solidFill>
            <a:prstDash val="solid"/>
          </a:ln>
        </p:spPr>
      </p:sp>
      <p:sp>
        <p:nvSpPr>
          <p:cNvPr id="9" name="Text 7"/>
          <p:cNvSpPr txBox="1"/>
          <p:nvPr/>
        </p:nvSpPr>
        <p:spPr>
          <a:xfrm>
            <a:off x="3063240" y="2313432"/>
            <a:ext cx="8579815" cy="987552"/>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Phase contradictoire de 2 mois : corriger dans une DSN mensuelle ou contester de façon motivée avec justificatifs.</a:t>
            </a:r>
            <a:endParaRPr lang="en-US" sz="1400" dirty="0"/>
          </a:p>
        </p:txBody>
      </p:sp>
      <p:sp>
        <p:nvSpPr>
          <p:cNvPr id="10" name="Text 8"/>
          <p:cNvSpPr txBox="1"/>
          <p:nvPr/>
        </p:nvSpPr>
        <p:spPr>
          <a:xfrm>
            <a:off x="548640" y="3300984"/>
            <a:ext cx="1920240" cy="987552"/>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Juin 2026</a:t>
            </a:r>
            <a:endParaRPr lang="en-US" sz="1400" dirty="0"/>
          </a:p>
        </p:txBody>
      </p:sp>
      <p:sp>
        <p:nvSpPr>
          <p:cNvPr id="11" name="Shape 9"/>
          <p:cNvSpPr/>
          <p:nvPr/>
        </p:nvSpPr>
        <p:spPr>
          <a:xfrm>
            <a:off x="2551176" y="3392424"/>
            <a:ext cx="292608" cy="292608"/>
          </a:xfrm>
          <a:prstGeom prst="ellipse">
            <a:avLst/>
          </a:prstGeom>
          <a:solidFill>
            <a:srgbClr val="8C3A27"/>
          </a:solidFill>
          <a:ln w="25400">
            <a:solidFill>
              <a:srgbClr val="FFFFFF"/>
            </a:solidFill>
            <a:prstDash val="solid"/>
          </a:ln>
        </p:spPr>
      </p:sp>
      <p:sp>
        <p:nvSpPr>
          <p:cNvPr id="12" name="Text 10"/>
          <p:cNvSpPr txBox="1"/>
          <p:nvPr/>
        </p:nvSpPr>
        <p:spPr>
          <a:xfrm>
            <a:off x="3063240" y="3300984"/>
            <a:ext cx="8579815" cy="987552"/>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Premières DSN de substitution émises par l'Urssaf pour les anomalies ni corrigées ni contestées : en 2026, uniquement l'assiette plafonnée (droits à retraite).</a:t>
            </a:r>
            <a:endParaRPr lang="en-US" sz="1400" dirty="0"/>
          </a:p>
        </p:txBody>
      </p:sp>
      <p:sp>
        <p:nvSpPr>
          <p:cNvPr id="13" name="Text 11"/>
          <p:cNvSpPr txBox="1"/>
          <p:nvPr/>
        </p:nvSpPr>
        <p:spPr>
          <a:xfrm>
            <a:off x="548640" y="4288536"/>
            <a:ext cx="1920240" cy="987552"/>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Après substitution</a:t>
            </a:r>
            <a:endParaRPr lang="en-US" sz="1400" dirty="0"/>
          </a:p>
        </p:txBody>
      </p:sp>
      <p:sp>
        <p:nvSpPr>
          <p:cNvPr id="14" name="Shape 12"/>
          <p:cNvSpPr/>
          <p:nvPr/>
        </p:nvSpPr>
        <p:spPr>
          <a:xfrm>
            <a:off x="2551176" y="4379976"/>
            <a:ext cx="292608" cy="292608"/>
          </a:xfrm>
          <a:prstGeom prst="ellipse">
            <a:avLst/>
          </a:prstGeom>
          <a:solidFill>
            <a:srgbClr val="8C3A27"/>
          </a:solidFill>
          <a:ln w="25400">
            <a:solidFill>
              <a:srgbClr val="FFFFFF"/>
            </a:solidFill>
            <a:prstDash val="solid"/>
          </a:ln>
        </p:spPr>
      </p:sp>
      <p:sp>
        <p:nvSpPr>
          <p:cNvPr id="15" name="Text 13"/>
          <p:cNvSpPr txBox="1"/>
          <p:nvPr/>
        </p:nvSpPr>
        <p:spPr>
          <a:xfrm>
            <a:off x="3063240" y="4288536"/>
            <a:ext cx="8579815" cy="987552"/>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CRM post-substitution : détail des corrections et de leurs effets sur les cotisations ; l'employeur informe les salariés dont les droits sont modifiés.</a:t>
            </a:r>
            <a:endParaRPr lang="en-US" sz="1400" dirty="0"/>
          </a:p>
        </p:txBody>
      </p:sp>
      <p:sp>
        <p:nvSpPr>
          <p:cNvPr id="16" name="Text 14"/>
          <p:cNvSpPr txBox="1"/>
          <p:nvPr/>
        </p:nvSpPr>
        <p:spPr>
          <a:xfrm>
            <a:off x="548640" y="5276088"/>
            <a:ext cx="1920240" cy="987552"/>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2027</a:t>
            </a:r>
            <a:endParaRPr lang="en-US" sz="1400" dirty="0"/>
          </a:p>
        </p:txBody>
      </p:sp>
      <p:sp>
        <p:nvSpPr>
          <p:cNvPr id="17" name="Shape 15"/>
          <p:cNvSpPr/>
          <p:nvPr/>
        </p:nvSpPr>
        <p:spPr>
          <a:xfrm>
            <a:off x="2551176" y="5367528"/>
            <a:ext cx="292608" cy="292608"/>
          </a:xfrm>
          <a:prstGeom prst="ellipse">
            <a:avLst/>
          </a:prstGeom>
          <a:solidFill>
            <a:srgbClr val="8C3A27"/>
          </a:solidFill>
          <a:ln w="25400">
            <a:solidFill>
              <a:srgbClr val="FFFFFF"/>
            </a:solidFill>
            <a:prstDash val="solid"/>
          </a:ln>
        </p:spPr>
      </p:sp>
      <p:sp>
        <p:nvSpPr>
          <p:cNvPr id="18" name="Text 16"/>
          <p:cNvSpPr txBox="1"/>
          <p:nvPr/>
        </p:nvSpPr>
        <p:spPr>
          <a:xfrm>
            <a:off x="3063240" y="5276088"/>
            <a:ext cx="8579815" cy="987552"/>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Extension progressive à d'autres données (assiette brute, contributions) ; passage à la norme DSN P27 au 1er janvier 2027.</a:t>
            </a:r>
            <a:endParaRPr lang="en-US" sz="1400" dirty="0"/>
          </a:p>
        </p:txBody>
      </p:sp>
      <p:sp>
        <p:nvSpPr>
          <p:cNvPr id="19" name="Text 1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0" name="Text 1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Loi du 25 juin 2026 contre les fraudes : 6 impacts RH et paie</a:t>
            </a:r>
            <a:endParaRPr lang="en-US" sz="2800" dirty="0"/>
          </a:p>
        </p:txBody>
      </p:sp>
      <p:sp>
        <p:nvSpPr>
          <p:cNvPr id="3" name="Shape 1"/>
          <p:cNvSpPr/>
          <p:nvPr/>
        </p:nvSpPr>
        <p:spPr>
          <a:xfrm>
            <a:off x="548640" y="1325880"/>
            <a:ext cx="3515258" cy="2080260"/>
          </a:xfrm>
          <a:prstGeom prst="roundRect">
            <a:avLst>
              <a:gd name="adj" fmla="val 6593"/>
            </a:avLst>
          </a:prstGeom>
          <a:solidFill>
            <a:srgbClr val="FFF6F4"/>
          </a:solidFill>
          <a:ln w="12700">
            <a:solidFill>
              <a:srgbClr val="FFF6F4"/>
            </a:solidFill>
            <a:prstDash val="solid"/>
          </a:ln>
        </p:spPr>
      </p:sp>
      <p:sp>
        <p:nvSpPr>
          <p:cNvPr id="4" name="Shape 2"/>
          <p:cNvSpPr/>
          <p:nvPr/>
        </p:nvSpPr>
        <p:spPr>
          <a:xfrm>
            <a:off x="777240" y="1554480"/>
            <a:ext cx="420624" cy="420624"/>
          </a:xfrm>
          <a:prstGeom prst="ellipse">
            <a:avLst/>
          </a:prstGeom>
          <a:solidFill>
            <a:srgbClr val="8C3A27"/>
          </a:solidFill>
          <a:ln w="12700">
            <a:solidFill>
              <a:srgbClr val="8C3A27"/>
            </a:solidFill>
            <a:prstDash val="solid"/>
          </a:ln>
        </p:spPr>
      </p:sp>
      <p:sp>
        <p:nvSpPr>
          <p:cNvPr id="5" name="Text 3"/>
          <p:cNvSpPr txBox="1"/>
          <p:nvPr/>
        </p:nvSpPr>
        <p:spPr>
          <a:xfrm>
            <a:off x="777240"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325880"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Arrêts en téléconsultation</a:t>
            </a:r>
            <a:endParaRPr lang="en-US" sz="1500" dirty="0"/>
          </a:p>
        </p:txBody>
      </p:sp>
      <p:sp>
        <p:nvSpPr>
          <p:cNvPr id="7" name="Text 5"/>
          <p:cNvSpPr txBox="1"/>
          <p:nvPr/>
        </p:nvSpPr>
        <p:spPr>
          <a:xfrm>
            <a:off x="777240" y="210312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Arrêt initial ou premier renouvellement limité à 3 jours ; aucun renouvellement ultérieur à distance.</a:t>
            </a:r>
            <a:endParaRPr lang="en-US" sz="1300" dirty="0"/>
          </a:p>
        </p:txBody>
      </p:sp>
      <p:sp>
        <p:nvSpPr>
          <p:cNvPr id="8" name="Shape 6"/>
          <p:cNvSpPr/>
          <p:nvPr/>
        </p:nvSpPr>
        <p:spPr>
          <a:xfrm>
            <a:off x="4338218" y="1325880"/>
            <a:ext cx="3515258" cy="2080260"/>
          </a:xfrm>
          <a:prstGeom prst="roundRect">
            <a:avLst>
              <a:gd name="adj" fmla="val 6593"/>
            </a:avLst>
          </a:prstGeom>
          <a:solidFill>
            <a:srgbClr val="FFF6F4"/>
          </a:solidFill>
          <a:ln w="12700">
            <a:solidFill>
              <a:srgbClr val="FFF6F4"/>
            </a:solidFill>
            <a:prstDash val="solid"/>
          </a:ln>
        </p:spPr>
      </p:sp>
      <p:sp>
        <p:nvSpPr>
          <p:cNvPr id="9" name="Shape 7"/>
          <p:cNvSpPr/>
          <p:nvPr/>
        </p:nvSpPr>
        <p:spPr>
          <a:xfrm>
            <a:off x="4566818" y="1554480"/>
            <a:ext cx="420624" cy="420624"/>
          </a:xfrm>
          <a:prstGeom prst="ellipse">
            <a:avLst/>
          </a:prstGeom>
          <a:solidFill>
            <a:srgbClr val="8C3A27"/>
          </a:solidFill>
          <a:ln w="12700">
            <a:solidFill>
              <a:srgbClr val="8C3A27"/>
            </a:solidFill>
            <a:prstDash val="solid"/>
          </a:ln>
        </p:spPr>
      </p:sp>
      <p:sp>
        <p:nvSpPr>
          <p:cNvPr id="10" name="Text 8"/>
          <p:cNvSpPr txBox="1"/>
          <p:nvPr/>
        </p:nvSpPr>
        <p:spPr>
          <a:xfrm>
            <a:off x="4566818"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5115458"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Flagrance sociale</a:t>
            </a:r>
            <a:endParaRPr lang="en-US" sz="1500" dirty="0"/>
          </a:p>
        </p:txBody>
      </p:sp>
      <p:sp>
        <p:nvSpPr>
          <p:cNvPr id="12" name="Text 10"/>
          <p:cNvSpPr txBox="1"/>
          <p:nvPr/>
        </p:nvSpPr>
        <p:spPr>
          <a:xfrm>
            <a:off x="4566818" y="210312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Nouvelle procédure de constat de travail dissimulé permettant des mesures conservatoires immédiates sur les biens de l'entreprise.</a:t>
            </a:r>
            <a:endParaRPr lang="en-US" sz="1300" dirty="0"/>
          </a:p>
        </p:txBody>
      </p:sp>
      <p:sp>
        <p:nvSpPr>
          <p:cNvPr id="13" name="Shape 11"/>
          <p:cNvSpPr/>
          <p:nvPr/>
        </p:nvSpPr>
        <p:spPr>
          <a:xfrm>
            <a:off x="8127797" y="1325880"/>
            <a:ext cx="3515258" cy="2080260"/>
          </a:xfrm>
          <a:prstGeom prst="roundRect">
            <a:avLst>
              <a:gd name="adj" fmla="val 6593"/>
            </a:avLst>
          </a:prstGeom>
          <a:solidFill>
            <a:srgbClr val="FFF6F4"/>
          </a:solidFill>
          <a:ln w="12700">
            <a:solidFill>
              <a:srgbClr val="FFF6F4"/>
            </a:solidFill>
            <a:prstDash val="solid"/>
          </a:ln>
        </p:spPr>
      </p:sp>
      <p:sp>
        <p:nvSpPr>
          <p:cNvPr id="14" name="Shape 12"/>
          <p:cNvSpPr/>
          <p:nvPr/>
        </p:nvSpPr>
        <p:spPr>
          <a:xfrm>
            <a:off x="8356397" y="1554480"/>
            <a:ext cx="420624" cy="420624"/>
          </a:xfrm>
          <a:prstGeom prst="ellipse">
            <a:avLst/>
          </a:prstGeom>
          <a:solidFill>
            <a:srgbClr val="8C3A27"/>
          </a:solidFill>
          <a:ln w="12700">
            <a:solidFill>
              <a:srgbClr val="8C3A27"/>
            </a:solidFill>
            <a:prstDash val="solid"/>
          </a:ln>
        </p:spPr>
      </p:sp>
      <p:sp>
        <p:nvSpPr>
          <p:cNvPr id="15" name="Text 13"/>
          <p:cNvSpPr txBox="1"/>
          <p:nvPr/>
        </p:nvSpPr>
        <p:spPr>
          <a:xfrm>
            <a:off x="8356397"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8905037"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Vigilance des donneurs d'ordre</a:t>
            </a:r>
            <a:endParaRPr lang="en-US" sz="1500" dirty="0"/>
          </a:p>
        </p:txBody>
      </p:sp>
      <p:sp>
        <p:nvSpPr>
          <p:cNvPr id="17" name="Text 15"/>
          <p:cNvSpPr txBox="1"/>
          <p:nvPr/>
        </p:nvSpPr>
        <p:spPr>
          <a:xfrm>
            <a:off x="8356397" y="210312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Vérifications à renouveler jusqu'à la fin du contrat de sous-traitance et documents à présenter lors des contrôles.</a:t>
            </a:r>
            <a:endParaRPr lang="en-US" sz="1300" dirty="0"/>
          </a:p>
        </p:txBody>
      </p:sp>
      <p:sp>
        <p:nvSpPr>
          <p:cNvPr id="18" name="Shape 16"/>
          <p:cNvSpPr/>
          <p:nvPr/>
        </p:nvSpPr>
        <p:spPr>
          <a:xfrm>
            <a:off x="548640" y="3680460"/>
            <a:ext cx="3515258" cy="2080260"/>
          </a:xfrm>
          <a:prstGeom prst="roundRect">
            <a:avLst>
              <a:gd name="adj" fmla="val 6593"/>
            </a:avLst>
          </a:prstGeom>
          <a:solidFill>
            <a:srgbClr val="FFF6F4"/>
          </a:solidFill>
          <a:ln w="12700">
            <a:solidFill>
              <a:srgbClr val="FFF6F4"/>
            </a:solidFill>
            <a:prstDash val="solid"/>
          </a:ln>
        </p:spPr>
      </p:sp>
      <p:sp>
        <p:nvSpPr>
          <p:cNvPr id="19" name="Shape 17"/>
          <p:cNvSpPr/>
          <p:nvPr/>
        </p:nvSpPr>
        <p:spPr>
          <a:xfrm>
            <a:off x="777240" y="3909060"/>
            <a:ext cx="420624" cy="420624"/>
          </a:xfrm>
          <a:prstGeom prst="ellipse">
            <a:avLst/>
          </a:prstGeom>
          <a:solidFill>
            <a:srgbClr val="8C3A27"/>
          </a:solidFill>
          <a:ln w="12700">
            <a:solidFill>
              <a:srgbClr val="8C3A27"/>
            </a:solidFill>
            <a:prstDash val="solid"/>
          </a:ln>
        </p:spPr>
      </p:sp>
      <p:sp>
        <p:nvSpPr>
          <p:cNvPr id="20" name="Text 18"/>
          <p:cNvSpPr txBox="1"/>
          <p:nvPr/>
        </p:nvSpPr>
        <p:spPr>
          <a:xfrm>
            <a:off x="777240" y="39090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txBox="1"/>
          <p:nvPr/>
        </p:nvSpPr>
        <p:spPr>
          <a:xfrm>
            <a:off x="1325880" y="388162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Échanges d'informations</a:t>
            </a:r>
            <a:endParaRPr lang="en-US" sz="1500" dirty="0"/>
          </a:p>
        </p:txBody>
      </p:sp>
      <p:sp>
        <p:nvSpPr>
          <p:cNvPr id="22" name="Text 20"/>
          <p:cNvSpPr txBox="1"/>
          <p:nvPr/>
        </p:nvSpPr>
        <p:spPr>
          <a:xfrm>
            <a:off x="777240" y="445770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Partage facilité entre Assurance maladie, employeurs et organismes complémentaires sur les arrêts de travail suspects.</a:t>
            </a:r>
            <a:endParaRPr lang="en-US" sz="1300" dirty="0"/>
          </a:p>
        </p:txBody>
      </p:sp>
      <p:sp>
        <p:nvSpPr>
          <p:cNvPr id="23" name="Shape 21"/>
          <p:cNvSpPr/>
          <p:nvPr/>
        </p:nvSpPr>
        <p:spPr>
          <a:xfrm>
            <a:off x="4338218" y="3680460"/>
            <a:ext cx="3515258" cy="2080260"/>
          </a:xfrm>
          <a:prstGeom prst="roundRect">
            <a:avLst>
              <a:gd name="adj" fmla="val 6593"/>
            </a:avLst>
          </a:prstGeom>
          <a:solidFill>
            <a:srgbClr val="FFF6F4"/>
          </a:solidFill>
          <a:ln w="12700">
            <a:solidFill>
              <a:srgbClr val="FFF6F4"/>
            </a:solidFill>
            <a:prstDash val="solid"/>
          </a:ln>
        </p:spPr>
      </p:sp>
      <p:sp>
        <p:nvSpPr>
          <p:cNvPr id="24" name="Shape 22"/>
          <p:cNvSpPr/>
          <p:nvPr/>
        </p:nvSpPr>
        <p:spPr>
          <a:xfrm>
            <a:off x="4566818" y="3909060"/>
            <a:ext cx="420624" cy="420624"/>
          </a:xfrm>
          <a:prstGeom prst="ellipse">
            <a:avLst/>
          </a:prstGeom>
          <a:solidFill>
            <a:srgbClr val="8C3A27"/>
          </a:solidFill>
          <a:ln w="12700">
            <a:solidFill>
              <a:srgbClr val="8C3A27"/>
            </a:solidFill>
            <a:prstDash val="solid"/>
          </a:ln>
        </p:spPr>
      </p:sp>
      <p:sp>
        <p:nvSpPr>
          <p:cNvPr id="25" name="Text 23"/>
          <p:cNvSpPr txBox="1"/>
          <p:nvPr/>
        </p:nvSpPr>
        <p:spPr>
          <a:xfrm>
            <a:off x="4566818" y="39090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6" name="Text 24"/>
          <p:cNvSpPr txBox="1"/>
          <p:nvPr/>
        </p:nvSpPr>
        <p:spPr>
          <a:xfrm>
            <a:off x="5115458" y="388162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Formation et CPF</a:t>
            </a:r>
            <a:endParaRPr lang="en-US" sz="1500" dirty="0"/>
          </a:p>
        </p:txBody>
      </p:sp>
      <p:sp>
        <p:nvSpPr>
          <p:cNvPr id="27" name="Text 25"/>
          <p:cNvSpPr txBox="1"/>
          <p:nvPr/>
        </p:nvSpPr>
        <p:spPr>
          <a:xfrm>
            <a:off x="4566818" y="445770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Renforcement des contrôles et sanctions contre les fraudes à la formation professionnelle et au compte personnel de formation.</a:t>
            </a:r>
            <a:endParaRPr lang="en-US" sz="1300" dirty="0"/>
          </a:p>
        </p:txBody>
      </p:sp>
      <p:sp>
        <p:nvSpPr>
          <p:cNvPr id="28" name="Shape 26"/>
          <p:cNvSpPr/>
          <p:nvPr/>
        </p:nvSpPr>
        <p:spPr>
          <a:xfrm>
            <a:off x="8127797" y="3680460"/>
            <a:ext cx="3515258" cy="2080260"/>
          </a:xfrm>
          <a:prstGeom prst="roundRect">
            <a:avLst>
              <a:gd name="adj" fmla="val 6593"/>
            </a:avLst>
          </a:prstGeom>
          <a:solidFill>
            <a:srgbClr val="FFF6F4"/>
          </a:solidFill>
          <a:ln w="12700">
            <a:solidFill>
              <a:srgbClr val="FFF6F4"/>
            </a:solidFill>
            <a:prstDash val="solid"/>
          </a:ln>
        </p:spPr>
      </p:sp>
      <p:sp>
        <p:nvSpPr>
          <p:cNvPr id="29" name="Shape 27"/>
          <p:cNvSpPr/>
          <p:nvPr/>
        </p:nvSpPr>
        <p:spPr>
          <a:xfrm>
            <a:off x="8356397" y="3909060"/>
            <a:ext cx="420624" cy="420624"/>
          </a:xfrm>
          <a:prstGeom prst="ellipse">
            <a:avLst/>
          </a:prstGeom>
          <a:solidFill>
            <a:srgbClr val="8C3A27"/>
          </a:solidFill>
          <a:ln w="12700">
            <a:solidFill>
              <a:srgbClr val="8C3A27"/>
            </a:solidFill>
            <a:prstDash val="solid"/>
          </a:ln>
        </p:spPr>
      </p:sp>
      <p:sp>
        <p:nvSpPr>
          <p:cNvPr id="30" name="Text 28"/>
          <p:cNvSpPr txBox="1"/>
          <p:nvPr/>
        </p:nvSpPr>
        <p:spPr>
          <a:xfrm>
            <a:off x="8356397" y="39090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1" name="Text 29"/>
          <p:cNvSpPr txBox="1"/>
          <p:nvPr/>
        </p:nvSpPr>
        <p:spPr>
          <a:xfrm>
            <a:off x="8905037" y="388162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Traçabilité</a:t>
            </a:r>
            <a:endParaRPr lang="en-US" sz="1500" dirty="0"/>
          </a:p>
        </p:txBody>
      </p:sp>
      <p:sp>
        <p:nvSpPr>
          <p:cNvPr id="32" name="Text 30"/>
          <p:cNvSpPr txBox="1"/>
          <p:nvPr/>
        </p:nvSpPr>
        <p:spPr>
          <a:xfrm>
            <a:off x="8356397" y="445770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L'entreprise doit pouvoir prouver qu'une déclaration ou une vérification a été faite : conserver les attestations de vigilance et les accusés DSN.</a:t>
            </a:r>
            <a:endParaRPr lang="en-US" sz="1300" dirty="0"/>
          </a:p>
        </p:txBody>
      </p:sp>
      <p:sp>
        <p:nvSpPr>
          <p:cNvPr id="33" name="Text 31"/>
          <p:cNvSpPr txBox="1"/>
          <p:nvPr/>
        </p:nvSpPr>
        <p:spPr>
          <a:xfrm>
            <a:off x="548640" y="5870448"/>
            <a:ext cx="11094415" cy="411480"/>
          </a:xfrm>
          <a:prstGeom prst="rect">
            <a:avLst/>
          </a:prstGeom>
          <a:noFill/>
          <a:ln/>
        </p:spPr>
        <p:txBody>
          <a:bodyPr wrap="square" lIns="0" tIns="0" rIns="0" bIns="0" rtlCol="0" anchor="ctr"/>
          <a:lstStyle/>
          <a:p>
            <a:pPr indent="0" marL="0">
              <a:buNone/>
            </a:pPr>
            <a:r>
              <a:rPr lang="en-US" sz="1300" i="1" dirty="0">
                <a:solidFill>
                  <a:srgbClr val="8C3A27"/>
                </a:solidFill>
                <a:latin typeface="Calibri" pitchFamily="34" charset="0"/>
                <a:ea typeface="Calibri" pitchFamily="34" charset="-122"/>
                <a:cs typeface="Calibri" pitchFamily="34" charset="-120"/>
              </a:rPr>
              <a:t>Loi n° 2026-534 du 25 juin 2026, JO du 26 juin, entrée en vigueur le 27 juin 2026 (sauf mesures renvoyant à un décret).</a:t>
            </a:r>
            <a:endParaRPr lang="en-US" sz="1300" dirty="0"/>
          </a:p>
        </p:txBody>
      </p:sp>
      <p:sp>
        <p:nvSpPr>
          <p:cNvPr id="34" name="Text 3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35" name="Text 3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Contentieux : décret du 27 juillet 2026, applicable au 1er octobre</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Décret n° 2026-683 du 27 juillet 2026 (JO du 29 juillet) : plusieurs règles de procédure évoluent pour les employeurs à compter du 1er octobre 2026, y compris pour les procédures en cours.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Opposition à contrainte Urssaf ou MSA : le jugement du tribunal se substitue désormais à la contrainte et est exécutoire de plein droit à titre provisoire, même en cas d'appel.</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Prud'hommes : saisine, communication des pièces et médiation simplifiées ; calendrier de procédure plus strict.</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Saisie administrative à tiers détenteur : modalités actualisées pour le recouvrement des créances publiques.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Rappel contrôle Urssaf : lettre d'observations, réponse dans les 30 jours (60 jours sur demande), mise en demeure, puis contrainte ; la charte du cotisant contrôlé est opposable.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Réflexe cabinet : archiver les DSN, CRM et justificatifs pendant 3 ans (prescription des cotisations) et 5 ans en cas de travail dissimulé.</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52825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Cas pratique 2 : trois situations de rentrée</a:t>
            </a:r>
            <a:endParaRPr lang="en-US" sz="2800" dirty="0"/>
          </a:p>
        </p:txBody>
      </p:sp>
      <p:sp>
        <p:nvSpPr>
          <p:cNvPr id="3" name="Shape 1"/>
          <p:cNvSpPr/>
          <p:nvPr/>
        </p:nvSpPr>
        <p:spPr>
          <a:xfrm>
            <a:off x="8351215" y="457200"/>
            <a:ext cx="1737360" cy="310896"/>
          </a:xfrm>
          <a:prstGeom prst="roundRect">
            <a:avLst>
              <a:gd name="adj" fmla="val 50000"/>
            </a:avLst>
          </a:prstGeom>
          <a:solidFill>
            <a:srgbClr val="183F1E"/>
          </a:solidFill>
          <a:ln w="12700">
            <a:solidFill>
              <a:srgbClr val="183F1E"/>
            </a:solidFill>
            <a:prstDash val="solid"/>
          </a:ln>
        </p:spPr>
      </p:sp>
      <p:sp>
        <p:nvSpPr>
          <p:cNvPr id="4" name="Text 2"/>
          <p:cNvSpPr txBox="1"/>
          <p:nvPr/>
        </p:nvSpPr>
        <p:spPr>
          <a:xfrm>
            <a:off x="835121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CAS PRATIQUE 2</a:t>
            </a:r>
            <a:endParaRPr lang="en-US" sz="1000" dirty="0"/>
          </a:p>
        </p:txBody>
      </p:sp>
      <p:sp>
        <p:nvSpPr>
          <p:cNvPr id="5" name="Shape 3"/>
          <p:cNvSpPr/>
          <p:nvPr/>
        </p:nvSpPr>
        <p:spPr>
          <a:xfrm>
            <a:off x="10271455" y="457200"/>
            <a:ext cx="1371600" cy="310896"/>
          </a:xfrm>
          <a:prstGeom prst="roundRect">
            <a:avLst>
              <a:gd name="adj" fmla="val 50000"/>
            </a:avLst>
          </a:prstGeom>
          <a:solidFill>
            <a:srgbClr val="8C3A27"/>
          </a:solidFill>
          <a:ln w="12700">
            <a:solidFill>
              <a:srgbClr val="8C3A27"/>
            </a:solidFill>
            <a:prstDash val="solid"/>
          </a:ln>
        </p:spPr>
      </p:sp>
      <p:sp>
        <p:nvSpPr>
          <p:cNvPr id="6" name="Text 4"/>
          <p:cNvSpPr txBox="1"/>
          <p:nvPr/>
        </p:nvSpPr>
        <p:spPr>
          <a:xfrm>
            <a:off x="10271455" y="457200"/>
            <a:ext cx="137160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20 min</a:t>
            </a:r>
            <a:endParaRPr lang="en-US" sz="1000" dirty="0"/>
          </a:p>
        </p:txBody>
      </p:sp>
      <p:sp>
        <p:nvSpPr>
          <p:cNvPr id="7" name="Shape 5"/>
          <p:cNvSpPr/>
          <p:nvPr/>
        </p:nvSpPr>
        <p:spPr>
          <a:xfrm>
            <a:off x="548640" y="1325880"/>
            <a:ext cx="11094415" cy="842010"/>
          </a:xfrm>
          <a:prstGeom prst="roundRect">
            <a:avLst>
              <a:gd name="adj" fmla="val 13032"/>
            </a:avLst>
          </a:prstGeom>
          <a:solidFill>
            <a:srgbClr val="DCE8DD"/>
          </a:solidFill>
          <a:ln w="12700">
            <a:solidFill>
              <a:srgbClr val="DCE8DD"/>
            </a:solidFill>
            <a:prstDash val="solid"/>
          </a:ln>
        </p:spPr>
      </p:sp>
      <p:sp>
        <p:nvSpPr>
          <p:cNvPr id="8" name="Text 6"/>
          <p:cNvSpPr txBox="1"/>
          <p:nvPr/>
        </p:nvSpPr>
        <p:spPr>
          <a:xfrm>
            <a:off x="777240" y="1325880"/>
            <a:ext cx="10637215" cy="84201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Vous gérez le portefeuille d'un cabinet. Pour chaque situation, indiquez la réponse à apporter au client et l'action en paie.</a:t>
            </a:r>
            <a:endParaRPr lang="en-US" sz="1500" dirty="0"/>
          </a:p>
        </p:txBody>
      </p:sp>
      <p:sp>
        <p:nvSpPr>
          <p:cNvPr id="9" name="Shape 7"/>
          <p:cNvSpPr/>
          <p:nvPr/>
        </p:nvSpPr>
        <p:spPr>
          <a:xfrm>
            <a:off x="548640" y="2487930"/>
            <a:ext cx="384048" cy="384048"/>
          </a:xfrm>
          <a:prstGeom prst="ellipse">
            <a:avLst/>
          </a:prstGeom>
          <a:solidFill>
            <a:srgbClr val="183F1E"/>
          </a:solidFill>
          <a:ln w="12700">
            <a:solidFill>
              <a:srgbClr val="183F1E"/>
            </a:solidFill>
            <a:prstDash val="solid"/>
          </a:ln>
        </p:spPr>
      </p:sp>
      <p:sp>
        <p:nvSpPr>
          <p:cNvPr id="10" name="Text 8"/>
          <p:cNvSpPr txBox="1"/>
          <p:nvPr/>
        </p:nvSpPr>
        <p:spPr>
          <a:xfrm>
            <a:off x="548640" y="248793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1" name="Text 9"/>
          <p:cNvSpPr txBox="1"/>
          <p:nvPr/>
        </p:nvSpPr>
        <p:spPr>
          <a:xfrm>
            <a:off x="1143000" y="2442210"/>
            <a:ext cx="10500055" cy="1273810"/>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Le 14 mars 2026, la SAS Verdier a reçu un CRM 124 signalant, pour deux salariés, une assiette plafonnée supérieure au brut sur 2025. Personne n'a réagi. Que s'est-il passé en juin et que faites-vous maintenant ?</a:t>
            </a:r>
            <a:endParaRPr lang="en-US" sz="1700" dirty="0"/>
          </a:p>
        </p:txBody>
      </p:sp>
      <p:sp>
        <p:nvSpPr>
          <p:cNvPr id="12" name="Shape 10"/>
          <p:cNvSpPr/>
          <p:nvPr/>
        </p:nvSpPr>
        <p:spPr>
          <a:xfrm>
            <a:off x="548640" y="3761740"/>
            <a:ext cx="384048" cy="384048"/>
          </a:xfrm>
          <a:prstGeom prst="ellipse">
            <a:avLst/>
          </a:prstGeom>
          <a:solidFill>
            <a:srgbClr val="183F1E"/>
          </a:solidFill>
          <a:ln w="12700">
            <a:solidFill>
              <a:srgbClr val="183F1E"/>
            </a:solidFill>
            <a:prstDash val="solid"/>
          </a:ln>
        </p:spPr>
      </p:sp>
      <p:sp>
        <p:nvSpPr>
          <p:cNvPr id="13" name="Text 11"/>
          <p:cNvSpPr txBox="1"/>
          <p:nvPr/>
        </p:nvSpPr>
        <p:spPr>
          <a:xfrm>
            <a:off x="548640" y="37617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txBox="1"/>
          <p:nvPr/>
        </p:nvSpPr>
        <p:spPr>
          <a:xfrm>
            <a:off x="1143000" y="3716020"/>
            <a:ext cx="10500055" cy="1273810"/>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La SARL Delta (30 salariés) a payé 120 heures supplémentaires en août. Le gérant demande « combien la LFSS 2026 nous fait gagner ». Chiffrez la déduction et rappelez le régime salarial.</a:t>
            </a:r>
            <a:endParaRPr lang="en-US" sz="1700" dirty="0"/>
          </a:p>
        </p:txBody>
      </p:sp>
      <p:sp>
        <p:nvSpPr>
          <p:cNvPr id="15" name="Shape 13"/>
          <p:cNvSpPr/>
          <p:nvPr/>
        </p:nvSpPr>
        <p:spPr>
          <a:xfrm>
            <a:off x="548640" y="5035550"/>
            <a:ext cx="384048" cy="384048"/>
          </a:xfrm>
          <a:prstGeom prst="ellipse">
            <a:avLst/>
          </a:prstGeom>
          <a:solidFill>
            <a:srgbClr val="183F1E"/>
          </a:solidFill>
          <a:ln w="12700">
            <a:solidFill>
              <a:srgbClr val="183F1E"/>
            </a:solidFill>
            <a:prstDash val="solid"/>
          </a:ln>
        </p:spPr>
      </p:sp>
      <p:sp>
        <p:nvSpPr>
          <p:cNvPr id="16" name="Text 14"/>
          <p:cNvSpPr txBox="1"/>
          <p:nvPr/>
        </p:nvSpPr>
        <p:spPr>
          <a:xfrm>
            <a:off x="548640" y="503555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txBox="1"/>
          <p:nvPr/>
        </p:nvSpPr>
        <p:spPr>
          <a:xfrm>
            <a:off x="1143000" y="4989830"/>
            <a:ext cx="10500055" cy="1273810"/>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Un salarié de la SA Nautic, en télétravail 3 jours par semaine, réclame ses titres-restaurant et une indemnité de télétravail. Le client refuse « parce qu'il est chez lui ». Que lui conseillez-vous ?</a:t>
            </a:r>
            <a:endParaRPr lang="en-US" sz="1700" dirty="0"/>
          </a:p>
        </p:txBody>
      </p:sp>
      <p:sp>
        <p:nvSpPr>
          <p:cNvPr id="18" name="Text 16"/>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19" name="Text 17"/>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Corrigé du cas pratique 2</a:t>
            </a:r>
            <a:endParaRPr lang="en-US" sz="2800" dirty="0"/>
          </a:p>
        </p:txBody>
      </p:sp>
      <p:sp>
        <p:nvSpPr>
          <p:cNvPr id="3" name="Shape 1"/>
          <p:cNvSpPr/>
          <p:nvPr/>
        </p:nvSpPr>
        <p:spPr>
          <a:xfrm>
            <a:off x="9905695" y="457200"/>
            <a:ext cx="1737360" cy="310896"/>
          </a:xfrm>
          <a:prstGeom prst="roundRect">
            <a:avLst>
              <a:gd name="adj" fmla="val 50000"/>
            </a:avLst>
          </a:prstGeom>
          <a:solidFill>
            <a:srgbClr val="183F1E"/>
          </a:solidFill>
          <a:ln w="12700">
            <a:solidFill>
              <a:srgbClr val="183F1E"/>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CORRIGÉ</a:t>
            </a:r>
            <a:endParaRPr lang="en-US" sz="1000" dirty="0"/>
          </a:p>
        </p:txBody>
      </p:sp>
      <p:sp>
        <p:nvSpPr>
          <p:cNvPr id="5" name="Shape 3"/>
          <p:cNvSpPr/>
          <p:nvPr/>
        </p:nvSpPr>
        <p:spPr>
          <a:xfrm>
            <a:off x="548640" y="1325880"/>
            <a:ext cx="11094415" cy="1536192"/>
          </a:xfrm>
          <a:prstGeom prst="roundRect">
            <a:avLst>
              <a:gd name="adj" fmla="val 5952"/>
            </a:avLst>
          </a:prstGeom>
          <a:solidFill>
            <a:srgbClr val="FFF6F4"/>
          </a:solidFill>
          <a:ln w="12700">
            <a:solidFill>
              <a:srgbClr val="FFF6F4"/>
            </a:solidFill>
            <a:prstDash val="solid"/>
          </a:ln>
        </p:spPr>
      </p:sp>
      <p:sp>
        <p:nvSpPr>
          <p:cNvPr id="6" name="Shape 4"/>
          <p:cNvSpPr/>
          <p:nvPr/>
        </p:nvSpPr>
        <p:spPr>
          <a:xfrm>
            <a:off x="685800" y="1463040"/>
            <a:ext cx="384048" cy="384048"/>
          </a:xfrm>
          <a:prstGeom prst="ellipse">
            <a:avLst/>
          </a:prstGeom>
          <a:solidFill>
            <a:srgbClr val="183F1E"/>
          </a:solidFill>
          <a:ln w="12700">
            <a:solidFill>
              <a:srgbClr val="183F1E"/>
            </a:solidFill>
            <a:prstDash val="solid"/>
          </a:ln>
        </p:spPr>
      </p:sp>
      <p:sp>
        <p:nvSpPr>
          <p:cNvPr id="7" name="Text 5"/>
          <p:cNvSpPr txBox="1"/>
          <p:nvPr/>
        </p:nvSpPr>
        <p:spPr>
          <a:xfrm>
            <a:off x="685800" y="14630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99032"/>
            <a:ext cx="2103120" cy="1389888"/>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CRM 124 ignoré</a:t>
            </a:r>
            <a:endParaRPr lang="en-US" sz="1400" dirty="0"/>
          </a:p>
        </p:txBody>
      </p:sp>
      <p:sp>
        <p:nvSpPr>
          <p:cNvPr id="9" name="Text 7"/>
          <p:cNvSpPr txBox="1"/>
          <p:nvPr/>
        </p:nvSpPr>
        <p:spPr>
          <a:xfrm>
            <a:off x="3383280" y="1399032"/>
            <a:ext cx="8076895" cy="1389888"/>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Faute de correction ou de contestation avant la DSN de mai, l'Urssaf a émis en juin une DSN de substitution ramenant l'assiette plafonnée au brut. Lire le CRM post-substitution, informer les deux salariés (droits retraite), régulariser les cotisations éventuelles et mettre en place un contrôle mensuel des CRM.</a:t>
            </a:r>
            <a:endParaRPr lang="en-US" sz="1500" dirty="0"/>
          </a:p>
        </p:txBody>
      </p:sp>
      <p:sp>
        <p:nvSpPr>
          <p:cNvPr id="10" name="Shape 8"/>
          <p:cNvSpPr/>
          <p:nvPr/>
        </p:nvSpPr>
        <p:spPr>
          <a:xfrm>
            <a:off x="548640" y="3026664"/>
            <a:ext cx="11094415" cy="1536192"/>
          </a:xfrm>
          <a:prstGeom prst="roundRect">
            <a:avLst>
              <a:gd name="adj" fmla="val 5952"/>
            </a:avLst>
          </a:prstGeom>
          <a:solidFill>
            <a:srgbClr val="FFF6F4"/>
          </a:solidFill>
          <a:ln w="12700">
            <a:solidFill>
              <a:srgbClr val="FFF6F4"/>
            </a:solidFill>
            <a:prstDash val="solid"/>
          </a:ln>
        </p:spPr>
      </p:sp>
      <p:sp>
        <p:nvSpPr>
          <p:cNvPr id="11" name="Shape 9"/>
          <p:cNvSpPr/>
          <p:nvPr/>
        </p:nvSpPr>
        <p:spPr>
          <a:xfrm>
            <a:off x="685800" y="3163824"/>
            <a:ext cx="384048" cy="384048"/>
          </a:xfrm>
          <a:prstGeom prst="ellipse">
            <a:avLst/>
          </a:prstGeom>
          <a:solidFill>
            <a:srgbClr val="183F1E"/>
          </a:solidFill>
          <a:ln w="12700">
            <a:solidFill>
              <a:srgbClr val="183F1E"/>
            </a:solidFill>
            <a:prstDash val="solid"/>
          </a:ln>
        </p:spPr>
      </p:sp>
      <p:sp>
        <p:nvSpPr>
          <p:cNvPr id="12" name="Text 10"/>
          <p:cNvSpPr txBox="1"/>
          <p:nvPr/>
        </p:nvSpPr>
        <p:spPr>
          <a:xfrm>
            <a:off x="685800" y="31638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188720" y="3099816"/>
            <a:ext cx="2103120" cy="1389888"/>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Heures supplémentaires</a:t>
            </a:r>
            <a:endParaRPr lang="en-US" sz="1400" dirty="0"/>
          </a:p>
        </p:txBody>
      </p:sp>
      <p:sp>
        <p:nvSpPr>
          <p:cNvPr id="14" name="Text 12"/>
          <p:cNvSpPr txBox="1"/>
          <p:nvPr/>
        </p:nvSpPr>
        <p:spPr>
          <a:xfrm>
            <a:off x="3383280" y="3099816"/>
            <a:ext cx="8076895" cy="1389888"/>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Entreprise de 20 à 249 salariés : 0,50 € × 120 h = 60 € de déduction patronale (1,50 € par heure en dessous de 20 salariés). Côté salarié : réduction de cotisations salariales de 11,31 % au plus et exonération d'IR dans la limite de 7 500 € nets par an ; la CSG-CRDS reste due.</a:t>
            </a:r>
            <a:endParaRPr lang="en-US" sz="1500" dirty="0"/>
          </a:p>
        </p:txBody>
      </p:sp>
      <p:sp>
        <p:nvSpPr>
          <p:cNvPr id="15" name="Shape 13"/>
          <p:cNvSpPr/>
          <p:nvPr/>
        </p:nvSpPr>
        <p:spPr>
          <a:xfrm>
            <a:off x="548640" y="4727448"/>
            <a:ext cx="11094415" cy="1536192"/>
          </a:xfrm>
          <a:prstGeom prst="roundRect">
            <a:avLst>
              <a:gd name="adj" fmla="val 5952"/>
            </a:avLst>
          </a:prstGeom>
          <a:solidFill>
            <a:srgbClr val="FFF6F4"/>
          </a:solidFill>
          <a:ln w="12700">
            <a:solidFill>
              <a:srgbClr val="FFF6F4"/>
            </a:solidFill>
            <a:prstDash val="solid"/>
          </a:ln>
        </p:spPr>
      </p:sp>
      <p:sp>
        <p:nvSpPr>
          <p:cNvPr id="16" name="Shape 14"/>
          <p:cNvSpPr/>
          <p:nvPr/>
        </p:nvSpPr>
        <p:spPr>
          <a:xfrm>
            <a:off x="685800" y="4864608"/>
            <a:ext cx="384048" cy="384048"/>
          </a:xfrm>
          <a:prstGeom prst="ellipse">
            <a:avLst/>
          </a:prstGeom>
          <a:solidFill>
            <a:srgbClr val="183F1E"/>
          </a:solidFill>
          <a:ln w="12700">
            <a:solidFill>
              <a:srgbClr val="183F1E"/>
            </a:solidFill>
            <a:prstDash val="solid"/>
          </a:ln>
        </p:spPr>
      </p:sp>
      <p:sp>
        <p:nvSpPr>
          <p:cNvPr id="17" name="Text 15"/>
          <p:cNvSpPr txBox="1"/>
          <p:nvPr/>
        </p:nvSpPr>
        <p:spPr>
          <a:xfrm>
            <a:off x="685800" y="48646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1188720" y="4800600"/>
            <a:ext cx="2103120" cy="1389888"/>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Télétravail</a:t>
            </a:r>
            <a:endParaRPr lang="en-US" sz="1400" dirty="0"/>
          </a:p>
        </p:txBody>
      </p:sp>
      <p:sp>
        <p:nvSpPr>
          <p:cNvPr id="19" name="Text 17"/>
          <p:cNvSpPr txBox="1"/>
          <p:nvPr/>
        </p:nvSpPr>
        <p:spPr>
          <a:xfrm>
            <a:off x="3383280" y="4800600"/>
            <a:ext cx="8076895" cy="1389888"/>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Titres-restaurant dus dans les mêmes conditions qu'un salarié sur site (Cass. soc. 8 octobre 2025). Frais de télétravail : allocation forfaitaire exonérée jusqu'à 2,70 € par jour, soit 32,40 € pour 12 jours dans le mois (plafond mensuel 59,40 €), ou remboursement des frais réels sur justificatifs.</a:t>
            </a:r>
            <a:endParaRPr lang="en-US" sz="1500" dirty="0"/>
          </a:p>
        </p:txBody>
      </p:sp>
      <p:sp>
        <p:nvSpPr>
          <p:cNvPr id="20" name="Text 18"/>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1" name="Text 19"/>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E5D8"/>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Quiz 3 : cotisations et DSN</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QUIZ 3</a:t>
            </a:r>
            <a:endParaRPr lang="en-US" sz="1000" dirty="0"/>
          </a:p>
        </p:txBody>
      </p:sp>
      <p:sp>
        <p:nvSpPr>
          <p:cNvPr id="5" name="Shape 3"/>
          <p:cNvSpPr/>
          <p:nvPr/>
        </p:nvSpPr>
        <p:spPr>
          <a:xfrm>
            <a:off x="548640" y="1325880"/>
            <a:ext cx="11094415" cy="1131570"/>
          </a:xfrm>
          <a:prstGeom prst="roundRect">
            <a:avLst>
              <a:gd name="adj" fmla="val 8081"/>
            </a:avLst>
          </a:prstGeom>
          <a:solidFill>
            <a:srgbClr val="FFFFFF"/>
          </a:solidFill>
          <a:ln w="12700">
            <a:solidFill>
              <a:srgbClr val="FFFFFF"/>
            </a:solidFill>
            <a:prstDash val="solid"/>
          </a:ln>
        </p:spPr>
      </p:sp>
      <p:sp>
        <p:nvSpPr>
          <p:cNvPr id="6" name="Shape 4"/>
          <p:cNvSpPr/>
          <p:nvPr/>
        </p:nvSpPr>
        <p:spPr>
          <a:xfrm>
            <a:off x="685800" y="1444752"/>
            <a:ext cx="384048" cy="384048"/>
          </a:xfrm>
          <a:prstGeom prst="ellipse">
            <a:avLst/>
          </a:prstGeom>
          <a:solidFill>
            <a:srgbClr val="8C3A27"/>
          </a:solidFill>
          <a:ln w="12700">
            <a:solidFill>
              <a:srgbClr val="8C3A27"/>
            </a:solidFill>
            <a:prstDash val="solid"/>
          </a:ln>
        </p:spPr>
      </p:sp>
      <p:sp>
        <p:nvSpPr>
          <p:cNvPr id="7" name="Text 5"/>
          <p:cNvSpPr txBox="1"/>
          <p:nvPr/>
        </p:nvSpPr>
        <p:spPr>
          <a:xfrm>
            <a:off x="68580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99032"/>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À quelles dates le taux du versement mobilité peut-il changer en principe ?</a:t>
            </a:r>
            <a:endParaRPr lang="en-US" sz="1400" dirty="0"/>
          </a:p>
        </p:txBody>
      </p:sp>
      <p:sp>
        <p:nvSpPr>
          <p:cNvPr id="9" name="Shape 7"/>
          <p:cNvSpPr/>
          <p:nvPr/>
        </p:nvSpPr>
        <p:spPr>
          <a:xfrm>
            <a:off x="1188720" y="1758696"/>
            <a:ext cx="3301898" cy="625602"/>
          </a:xfrm>
          <a:prstGeom prst="roundRect">
            <a:avLst>
              <a:gd name="adj" fmla="val 11693"/>
            </a:avLst>
          </a:prstGeom>
          <a:solidFill>
            <a:srgbClr val="FFF6F4"/>
          </a:solidFill>
          <a:ln w="9525">
            <a:solidFill>
              <a:srgbClr val="F0C8BC"/>
            </a:solidFill>
            <a:prstDash val="solid"/>
          </a:ln>
        </p:spPr>
      </p:sp>
      <p:sp>
        <p:nvSpPr>
          <p:cNvPr id="10" name="Text 8"/>
          <p:cNvSpPr txBox="1"/>
          <p:nvPr/>
        </p:nvSpPr>
        <p:spPr>
          <a:xfrm>
            <a:off x="1261872" y="175869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11" name="Text 9"/>
          <p:cNvSpPr txBox="1"/>
          <p:nvPr/>
        </p:nvSpPr>
        <p:spPr>
          <a:xfrm>
            <a:off x="1572768" y="175869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À tout moment</a:t>
            </a:r>
            <a:endParaRPr lang="en-US" sz="1200" dirty="0"/>
          </a:p>
        </p:txBody>
      </p:sp>
      <p:sp>
        <p:nvSpPr>
          <p:cNvPr id="12" name="Shape 10"/>
          <p:cNvSpPr/>
          <p:nvPr/>
        </p:nvSpPr>
        <p:spPr>
          <a:xfrm>
            <a:off x="4673498" y="1758696"/>
            <a:ext cx="3301898" cy="625602"/>
          </a:xfrm>
          <a:prstGeom prst="roundRect">
            <a:avLst>
              <a:gd name="adj" fmla="val 11693"/>
            </a:avLst>
          </a:prstGeom>
          <a:solidFill>
            <a:srgbClr val="FFF6F4"/>
          </a:solidFill>
          <a:ln w="9525">
            <a:solidFill>
              <a:srgbClr val="F0C8BC"/>
            </a:solidFill>
            <a:prstDash val="solid"/>
          </a:ln>
        </p:spPr>
      </p:sp>
      <p:sp>
        <p:nvSpPr>
          <p:cNvPr id="13" name="Text 11"/>
          <p:cNvSpPr txBox="1"/>
          <p:nvPr/>
        </p:nvSpPr>
        <p:spPr>
          <a:xfrm>
            <a:off x="4746650" y="175869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14" name="Text 12"/>
          <p:cNvSpPr txBox="1"/>
          <p:nvPr/>
        </p:nvSpPr>
        <p:spPr>
          <a:xfrm>
            <a:off x="5057546" y="175869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Le 1er janvier et le 1er juillet</a:t>
            </a:r>
            <a:endParaRPr lang="en-US" sz="1200" dirty="0"/>
          </a:p>
        </p:txBody>
      </p:sp>
      <p:sp>
        <p:nvSpPr>
          <p:cNvPr id="15" name="Shape 13"/>
          <p:cNvSpPr/>
          <p:nvPr/>
        </p:nvSpPr>
        <p:spPr>
          <a:xfrm>
            <a:off x="8158277" y="1758696"/>
            <a:ext cx="3301898" cy="625602"/>
          </a:xfrm>
          <a:prstGeom prst="roundRect">
            <a:avLst>
              <a:gd name="adj" fmla="val 11693"/>
            </a:avLst>
          </a:prstGeom>
          <a:solidFill>
            <a:srgbClr val="FFF6F4"/>
          </a:solidFill>
          <a:ln w="9525">
            <a:solidFill>
              <a:srgbClr val="F0C8BC"/>
            </a:solidFill>
            <a:prstDash val="solid"/>
          </a:ln>
        </p:spPr>
      </p:sp>
      <p:sp>
        <p:nvSpPr>
          <p:cNvPr id="16" name="Text 14"/>
          <p:cNvSpPr txBox="1"/>
          <p:nvPr/>
        </p:nvSpPr>
        <p:spPr>
          <a:xfrm>
            <a:off x="8231429" y="175869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17" name="Text 15"/>
          <p:cNvSpPr txBox="1"/>
          <p:nvPr/>
        </p:nvSpPr>
        <p:spPr>
          <a:xfrm>
            <a:off x="8542325" y="175869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Le 1er janvier uniquement</a:t>
            </a:r>
            <a:endParaRPr lang="en-US" sz="1200" dirty="0"/>
          </a:p>
        </p:txBody>
      </p:sp>
      <p:sp>
        <p:nvSpPr>
          <p:cNvPr id="18" name="Shape 16"/>
          <p:cNvSpPr/>
          <p:nvPr/>
        </p:nvSpPr>
        <p:spPr>
          <a:xfrm>
            <a:off x="548640" y="2594610"/>
            <a:ext cx="11094415" cy="1131570"/>
          </a:xfrm>
          <a:prstGeom prst="roundRect">
            <a:avLst>
              <a:gd name="adj" fmla="val 8081"/>
            </a:avLst>
          </a:prstGeom>
          <a:solidFill>
            <a:srgbClr val="FFFFFF"/>
          </a:solidFill>
          <a:ln w="12700">
            <a:solidFill>
              <a:srgbClr val="FFFFFF"/>
            </a:solidFill>
            <a:prstDash val="solid"/>
          </a:ln>
        </p:spPr>
      </p:sp>
      <p:sp>
        <p:nvSpPr>
          <p:cNvPr id="19" name="Shape 17"/>
          <p:cNvSpPr/>
          <p:nvPr/>
        </p:nvSpPr>
        <p:spPr>
          <a:xfrm>
            <a:off x="685800" y="2713482"/>
            <a:ext cx="384048" cy="384048"/>
          </a:xfrm>
          <a:prstGeom prst="ellipse">
            <a:avLst/>
          </a:prstGeom>
          <a:solidFill>
            <a:srgbClr val="8C3A27"/>
          </a:solidFill>
          <a:ln w="12700">
            <a:solidFill>
              <a:srgbClr val="8C3A27"/>
            </a:solidFill>
            <a:prstDash val="solid"/>
          </a:ln>
        </p:spPr>
      </p:sp>
      <p:sp>
        <p:nvSpPr>
          <p:cNvPr id="20" name="Text 18"/>
          <p:cNvSpPr txBox="1"/>
          <p:nvPr/>
        </p:nvSpPr>
        <p:spPr>
          <a:xfrm>
            <a:off x="685800" y="271348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1" name="Text 19"/>
          <p:cNvSpPr txBox="1"/>
          <p:nvPr/>
        </p:nvSpPr>
        <p:spPr>
          <a:xfrm>
            <a:off x="1188720" y="2667762"/>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En 2026, la DSN de substitution porte sur :</a:t>
            </a:r>
            <a:endParaRPr lang="en-US" sz="1400" dirty="0"/>
          </a:p>
        </p:txBody>
      </p:sp>
      <p:sp>
        <p:nvSpPr>
          <p:cNvPr id="22" name="Shape 20"/>
          <p:cNvSpPr/>
          <p:nvPr/>
        </p:nvSpPr>
        <p:spPr>
          <a:xfrm>
            <a:off x="1188720" y="3027426"/>
            <a:ext cx="3301898" cy="625602"/>
          </a:xfrm>
          <a:prstGeom prst="roundRect">
            <a:avLst>
              <a:gd name="adj" fmla="val 11693"/>
            </a:avLst>
          </a:prstGeom>
          <a:solidFill>
            <a:srgbClr val="FFF6F4"/>
          </a:solidFill>
          <a:ln w="9525">
            <a:solidFill>
              <a:srgbClr val="F0C8BC"/>
            </a:solidFill>
            <a:prstDash val="solid"/>
          </a:ln>
        </p:spPr>
      </p:sp>
      <p:sp>
        <p:nvSpPr>
          <p:cNvPr id="23" name="Text 21"/>
          <p:cNvSpPr txBox="1"/>
          <p:nvPr/>
        </p:nvSpPr>
        <p:spPr>
          <a:xfrm>
            <a:off x="1261872" y="302742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24" name="Text 22"/>
          <p:cNvSpPr txBox="1"/>
          <p:nvPr/>
        </p:nvSpPr>
        <p:spPr>
          <a:xfrm>
            <a:off x="1572768" y="302742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Toutes les anomalies DSN</a:t>
            </a:r>
            <a:endParaRPr lang="en-US" sz="1200" dirty="0"/>
          </a:p>
        </p:txBody>
      </p:sp>
      <p:sp>
        <p:nvSpPr>
          <p:cNvPr id="25" name="Shape 23"/>
          <p:cNvSpPr/>
          <p:nvPr/>
        </p:nvSpPr>
        <p:spPr>
          <a:xfrm>
            <a:off x="4673498" y="3027426"/>
            <a:ext cx="3301898" cy="625602"/>
          </a:xfrm>
          <a:prstGeom prst="roundRect">
            <a:avLst>
              <a:gd name="adj" fmla="val 11693"/>
            </a:avLst>
          </a:prstGeom>
          <a:solidFill>
            <a:srgbClr val="FFF6F4"/>
          </a:solidFill>
          <a:ln w="9525">
            <a:solidFill>
              <a:srgbClr val="F0C8BC"/>
            </a:solidFill>
            <a:prstDash val="solid"/>
          </a:ln>
        </p:spPr>
      </p:sp>
      <p:sp>
        <p:nvSpPr>
          <p:cNvPr id="26" name="Text 24"/>
          <p:cNvSpPr txBox="1"/>
          <p:nvPr/>
        </p:nvSpPr>
        <p:spPr>
          <a:xfrm>
            <a:off x="4746650" y="302742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27" name="Text 25"/>
          <p:cNvSpPr txBox="1"/>
          <p:nvPr/>
        </p:nvSpPr>
        <p:spPr>
          <a:xfrm>
            <a:off x="5057546" y="302742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Les anomalies d'assiette plafonnée non corrigées ni contestées</a:t>
            </a:r>
            <a:endParaRPr lang="en-US" sz="1200" dirty="0"/>
          </a:p>
        </p:txBody>
      </p:sp>
      <p:sp>
        <p:nvSpPr>
          <p:cNvPr id="28" name="Shape 26"/>
          <p:cNvSpPr/>
          <p:nvPr/>
        </p:nvSpPr>
        <p:spPr>
          <a:xfrm>
            <a:off x="8158277" y="3027426"/>
            <a:ext cx="3301898" cy="625602"/>
          </a:xfrm>
          <a:prstGeom prst="roundRect">
            <a:avLst>
              <a:gd name="adj" fmla="val 11693"/>
            </a:avLst>
          </a:prstGeom>
          <a:solidFill>
            <a:srgbClr val="FFF6F4"/>
          </a:solidFill>
          <a:ln w="9525">
            <a:solidFill>
              <a:srgbClr val="F0C8BC"/>
            </a:solidFill>
            <a:prstDash val="solid"/>
          </a:ln>
        </p:spPr>
      </p:sp>
      <p:sp>
        <p:nvSpPr>
          <p:cNvPr id="29" name="Text 27"/>
          <p:cNvSpPr txBox="1"/>
          <p:nvPr/>
        </p:nvSpPr>
        <p:spPr>
          <a:xfrm>
            <a:off x="8231429" y="302742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30" name="Text 28"/>
          <p:cNvSpPr txBox="1"/>
          <p:nvPr/>
        </p:nvSpPr>
        <p:spPr>
          <a:xfrm>
            <a:off x="8542325" y="302742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Le prélèvement à la source</a:t>
            </a:r>
            <a:endParaRPr lang="en-US" sz="1200" dirty="0"/>
          </a:p>
        </p:txBody>
      </p:sp>
      <p:sp>
        <p:nvSpPr>
          <p:cNvPr id="31" name="Shape 29"/>
          <p:cNvSpPr/>
          <p:nvPr/>
        </p:nvSpPr>
        <p:spPr>
          <a:xfrm>
            <a:off x="548640" y="3863340"/>
            <a:ext cx="11094415" cy="1131570"/>
          </a:xfrm>
          <a:prstGeom prst="roundRect">
            <a:avLst>
              <a:gd name="adj" fmla="val 8081"/>
            </a:avLst>
          </a:prstGeom>
          <a:solidFill>
            <a:srgbClr val="FFFFFF"/>
          </a:solidFill>
          <a:ln w="12700">
            <a:solidFill>
              <a:srgbClr val="FFFFFF"/>
            </a:solidFill>
            <a:prstDash val="solid"/>
          </a:ln>
        </p:spPr>
      </p:sp>
      <p:sp>
        <p:nvSpPr>
          <p:cNvPr id="32" name="Shape 30"/>
          <p:cNvSpPr/>
          <p:nvPr/>
        </p:nvSpPr>
        <p:spPr>
          <a:xfrm>
            <a:off x="685800" y="3982212"/>
            <a:ext cx="384048" cy="384048"/>
          </a:xfrm>
          <a:prstGeom prst="ellipse">
            <a:avLst/>
          </a:prstGeom>
          <a:solidFill>
            <a:srgbClr val="8C3A27"/>
          </a:solidFill>
          <a:ln w="12700">
            <a:solidFill>
              <a:srgbClr val="8C3A27"/>
            </a:solidFill>
            <a:prstDash val="solid"/>
          </a:ln>
        </p:spPr>
      </p:sp>
      <p:sp>
        <p:nvSpPr>
          <p:cNvPr id="33" name="Text 31"/>
          <p:cNvSpPr txBox="1"/>
          <p:nvPr/>
        </p:nvSpPr>
        <p:spPr>
          <a:xfrm>
            <a:off x="685800" y="39822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34" name="Text 32"/>
          <p:cNvSpPr txBox="1"/>
          <p:nvPr/>
        </p:nvSpPr>
        <p:spPr>
          <a:xfrm>
            <a:off x="1188720" y="3936492"/>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Un taux de PAS reçu dans le CRM du 10 septembre doit être appliqué :</a:t>
            </a:r>
            <a:endParaRPr lang="en-US" sz="1400" dirty="0"/>
          </a:p>
        </p:txBody>
      </p:sp>
      <p:sp>
        <p:nvSpPr>
          <p:cNvPr id="35" name="Shape 33"/>
          <p:cNvSpPr/>
          <p:nvPr/>
        </p:nvSpPr>
        <p:spPr>
          <a:xfrm>
            <a:off x="1188720" y="4296156"/>
            <a:ext cx="3301898" cy="625602"/>
          </a:xfrm>
          <a:prstGeom prst="roundRect">
            <a:avLst>
              <a:gd name="adj" fmla="val 11693"/>
            </a:avLst>
          </a:prstGeom>
          <a:solidFill>
            <a:srgbClr val="FFF6F4"/>
          </a:solidFill>
          <a:ln w="9525">
            <a:solidFill>
              <a:srgbClr val="F0C8BC"/>
            </a:solidFill>
            <a:prstDash val="solid"/>
          </a:ln>
        </p:spPr>
      </p:sp>
      <p:sp>
        <p:nvSpPr>
          <p:cNvPr id="36" name="Text 34"/>
          <p:cNvSpPr txBox="1"/>
          <p:nvPr/>
        </p:nvSpPr>
        <p:spPr>
          <a:xfrm>
            <a:off x="1261872" y="429615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37" name="Text 35"/>
          <p:cNvSpPr txBox="1"/>
          <p:nvPr/>
        </p:nvSpPr>
        <p:spPr>
          <a:xfrm>
            <a:off x="1572768" y="429615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Sur la paie de septembre au plus tard</a:t>
            </a:r>
            <a:endParaRPr lang="en-US" sz="1200" dirty="0"/>
          </a:p>
        </p:txBody>
      </p:sp>
      <p:sp>
        <p:nvSpPr>
          <p:cNvPr id="38" name="Shape 36"/>
          <p:cNvSpPr/>
          <p:nvPr/>
        </p:nvSpPr>
        <p:spPr>
          <a:xfrm>
            <a:off x="4673498" y="4296156"/>
            <a:ext cx="3301898" cy="625602"/>
          </a:xfrm>
          <a:prstGeom prst="roundRect">
            <a:avLst>
              <a:gd name="adj" fmla="val 11693"/>
            </a:avLst>
          </a:prstGeom>
          <a:solidFill>
            <a:srgbClr val="FFF6F4"/>
          </a:solidFill>
          <a:ln w="9525">
            <a:solidFill>
              <a:srgbClr val="F0C8BC"/>
            </a:solidFill>
            <a:prstDash val="solid"/>
          </a:ln>
        </p:spPr>
      </p:sp>
      <p:sp>
        <p:nvSpPr>
          <p:cNvPr id="39" name="Text 37"/>
          <p:cNvSpPr txBox="1"/>
          <p:nvPr/>
        </p:nvSpPr>
        <p:spPr>
          <a:xfrm>
            <a:off x="4746650" y="429615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40" name="Text 38"/>
          <p:cNvSpPr txBox="1"/>
          <p:nvPr/>
        </p:nvSpPr>
        <p:spPr>
          <a:xfrm>
            <a:off x="5057546" y="429615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Dans les 2 mois suivant sa mise à disposition</a:t>
            </a:r>
            <a:endParaRPr lang="en-US" sz="1200" dirty="0"/>
          </a:p>
        </p:txBody>
      </p:sp>
      <p:sp>
        <p:nvSpPr>
          <p:cNvPr id="41" name="Shape 39"/>
          <p:cNvSpPr/>
          <p:nvPr/>
        </p:nvSpPr>
        <p:spPr>
          <a:xfrm>
            <a:off x="8158277" y="4296156"/>
            <a:ext cx="3301898" cy="625602"/>
          </a:xfrm>
          <a:prstGeom prst="roundRect">
            <a:avLst>
              <a:gd name="adj" fmla="val 11693"/>
            </a:avLst>
          </a:prstGeom>
          <a:solidFill>
            <a:srgbClr val="FFF6F4"/>
          </a:solidFill>
          <a:ln w="9525">
            <a:solidFill>
              <a:srgbClr val="F0C8BC"/>
            </a:solidFill>
            <a:prstDash val="solid"/>
          </a:ln>
        </p:spPr>
      </p:sp>
      <p:sp>
        <p:nvSpPr>
          <p:cNvPr id="42" name="Text 40"/>
          <p:cNvSpPr txBox="1"/>
          <p:nvPr/>
        </p:nvSpPr>
        <p:spPr>
          <a:xfrm>
            <a:off x="8231429" y="429615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43" name="Text 41"/>
          <p:cNvSpPr txBox="1"/>
          <p:nvPr/>
        </p:nvSpPr>
        <p:spPr>
          <a:xfrm>
            <a:off x="8542325" y="429615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Quand le salarié le demande</a:t>
            </a:r>
            <a:endParaRPr lang="en-US" sz="1200" dirty="0"/>
          </a:p>
        </p:txBody>
      </p:sp>
      <p:sp>
        <p:nvSpPr>
          <p:cNvPr id="44" name="Shape 42"/>
          <p:cNvSpPr/>
          <p:nvPr/>
        </p:nvSpPr>
        <p:spPr>
          <a:xfrm>
            <a:off x="548640" y="5132070"/>
            <a:ext cx="11094415" cy="1131570"/>
          </a:xfrm>
          <a:prstGeom prst="roundRect">
            <a:avLst>
              <a:gd name="adj" fmla="val 8081"/>
            </a:avLst>
          </a:prstGeom>
          <a:solidFill>
            <a:srgbClr val="FFFFFF"/>
          </a:solidFill>
          <a:ln w="12700">
            <a:solidFill>
              <a:srgbClr val="FFFFFF"/>
            </a:solidFill>
            <a:prstDash val="solid"/>
          </a:ln>
        </p:spPr>
      </p:sp>
      <p:sp>
        <p:nvSpPr>
          <p:cNvPr id="45" name="Shape 43"/>
          <p:cNvSpPr/>
          <p:nvPr/>
        </p:nvSpPr>
        <p:spPr>
          <a:xfrm>
            <a:off x="685800" y="5250942"/>
            <a:ext cx="384048" cy="384048"/>
          </a:xfrm>
          <a:prstGeom prst="ellipse">
            <a:avLst/>
          </a:prstGeom>
          <a:solidFill>
            <a:srgbClr val="8C3A27"/>
          </a:solidFill>
          <a:ln w="12700">
            <a:solidFill>
              <a:srgbClr val="8C3A27"/>
            </a:solidFill>
            <a:prstDash val="solid"/>
          </a:ln>
        </p:spPr>
      </p:sp>
      <p:sp>
        <p:nvSpPr>
          <p:cNvPr id="46" name="Text 44"/>
          <p:cNvSpPr txBox="1"/>
          <p:nvPr/>
        </p:nvSpPr>
        <p:spPr>
          <a:xfrm>
            <a:off x="685800" y="525094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47" name="Text 45"/>
          <p:cNvSpPr txBox="1"/>
          <p:nvPr/>
        </p:nvSpPr>
        <p:spPr>
          <a:xfrm>
            <a:off x="1188720" y="5205222"/>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À partir du 1er octobre 2026, en cas d'opposition à une contrainte Urssaf :</a:t>
            </a:r>
            <a:endParaRPr lang="en-US" sz="1400" dirty="0"/>
          </a:p>
        </p:txBody>
      </p:sp>
      <p:sp>
        <p:nvSpPr>
          <p:cNvPr id="48" name="Shape 46"/>
          <p:cNvSpPr/>
          <p:nvPr/>
        </p:nvSpPr>
        <p:spPr>
          <a:xfrm>
            <a:off x="1188720" y="5564886"/>
            <a:ext cx="3301898" cy="625602"/>
          </a:xfrm>
          <a:prstGeom prst="roundRect">
            <a:avLst>
              <a:gd name="adj" fmla="val 11693"/>
            </a:avLst>
          </a:prstGeom>
          <a:solidFill>
            <a:srgbClr val="FFF6F4"/>
          </a:solidFill>
          <a:ln w="9525">
            <a:solidFill>
              <a:srgbClr val="F0C8BC"/>
            </a:solidFill>
            <a:prstDash val="solid"/>
          </a:ln>
        </p:spPr>
      </p:sp>
      <p:sp>
        <p:nvSpPr>
          <p:cNvPr id="49" name="Text 47"/>
          <p:cNvSpPr txBox="1"/>
          <p:nvPr/>
        </p:nvSpPr>
        <p:spPr>
          <a:xfrm>
            <a:off x="1261872" y="556488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50" name="Text 48"/>
          <p:cNvSpPr txBox="1"/>
          <p:nvPr/>
        </p:nvSpPr>
        <p:spPr>
          <a:xfrm>
            <a:off x="1572768" y="556488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La contrainte est annulée automatiquement</a:t>
            </a:r>
            <a:endParaRPr lang="en-US" sz="1200" dirty="0"/>
          </a:p>
        </p:txBody>
      </p:sp>
      <p:sp>
        <p:nvSpPr>
          <p:cNvPr id="51" name="Shape 49"/>
          <p:cNvSpPr/>
          <p:nvPr/>
        </p:nvSpPr>
        <p:spPr>
          <a:xfrm>
            <a:off x="4673498" y="5564886"/>
            <a:ext cx="3301898" cy="625602"/>
          </a:xfrm>
          <a:prstGeom prst="roundRect">
            <a:avLst>
              <a:gd name="adj" fmla="val 11693"/>
            </a:avLst>
          </a:prstGeom>
          <a:solidFill>
            <a:srgbClr val="FFF6F4"/>
          </a:solidFill>
          <a:ln w="9525">
            <a:solidFill>
              <a:srgbClr val="F0C8BC"/>
            </a:solidFill>
            <a:prstDash val="solid"/>
          </a:ln>
        </p:spPr>
      </p:sp>
      <p:sp>
        <p:nvSpPr>
          <p:cNvPr id="52" name="Text 50"/>
          <p:cNvSpPr txBox="1"/>
          <p:nvPr/>
        </p:nvSpPr>
        <p:spPr>
          <a:xfrm>
            <a:off x="4746650" y="556488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53" name="Text 51"/>
          <p:cNvSpPr txBox="1"/>
          <p:nvPr/>
        </p:nvSpPr>
        <p:spPr>
          <a:xfrm>
            <a:off x="5057546" y="556488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Le jugement se substitue à la contrainte et est exécutoire par provision</a:t>
            </a:r>
            <a:endParaRPr lang="en-US" sz="1200" dirty="0"/>
          </a:p>
        </p:txBody>
      </p:sp>
      <p:sp>
        <p:nvSpPr>
          <p:cNvPr id="54" name="Shape 52"/>
          <p:cNvSpPr/>
          <p:nvPr/>
        </p:nvSpPr>
        <p:spPr>
          <a:xfrm>
            <a:off x="8158277" y="5564886"/>
            <a:ext cx="3301898" cy="625602"/>
          </a:xfrm>
          <a:prstGeom prst="roundRect">
            <a:avLst>
              <a:gd name="adj" fmla="val 11693"/>
            </a:avLst>
          </a:prstGeom>
          <a:solidFill>
            <a:srgbClr val="FFF6F4"/>
          </a:solidFill>
          <a:ln w="9525">
            <a:solidFill>
              <a:srgbClr val="F0C8BC"/>
            </a:solidFill>
            <a:prstDash val="solid"/>
          </a:ln>
        </p:spPr>
      </p:sp>
      <p:sp>
        <p:nvSpPr>
          <p:cNvPr id="55" name="Text 53"/>
          <p:cNvSpPr txBox="1"/>
          <p:nvPr/>
        </p:nvSpPr>
        <p:spPr>
          <a:xfrm>
            <a:off x="8231429" y="5564886"/>
            <a:ext cx="320040" cy="62560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56" name="Text 54"/>
          <p:cNvSpPr txBox="1"/>
          <p:nvPr/>
        </p:nvSpPr>
        <p:spPr>
          <a:xfrm>
            <a:off x="8542325" y="5564886"/>
            <a:ext cx="2844698" cy="62560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L'appel suspend toute exécution</a:t>
            </a:r>
            <a:endParaRPr lang="en-US" sz="1200" dirty="0"/>
          </a:p>
        </p:txBody>
      </p:sp>
      <p:sp>
        <p:nvSpPr>
          <p:cNvPr id="57" name="Text 5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8" name="Text 5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Réponses du quiz 3 : cotisations et DSN</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RÉPONSES</a:t>
            </a:r>
            <a:endParaRPr lang="en-US" sz="1000" dirty="0"/>
          </a:p>
        </p:txBody>
      </p:sp>
      <p:sp>
        <p:nvSpPr>
          <p:cNvPr id="5" name="Shape 3"/>
          <p:cNvSpPr/>
          <p:nvPr/>
        </p:nvSpPr>
        <p:spPr>
          <a:xfrm>
            <a:off x="548640" y="1325880"/>
            <a:ext cx="11094415" cy="1131570"/>
          </a:xfrm>
          <a:prstGeom prst="roundRect">
            <a:avLst>
              <a:gd name="adj" fmla="val 8081"/>
            </a:avLst>
          </a:prstGeom>
          <a:solidFill>
            <a:srgbClr val="FFF6F4"/>
          </a:solidFill>
          <a:ln w="12700">
            <a:solidFill>
              <a:srgbClr val="FFF6F4"/>
            </a:solidFill>
            <a:prstDash val="solid"/>
          </a:ln>
        </p:spPr>
      </p:sp>
      <p:sp>
        <p:nvSpPr>
          <p:cNvPr id="6" name="Shape 4"/>
          <p:cNvSpPr/>
          <p:nvPr/>
        </p:nvSpPr>
        <p:spPr>
          <a:xfrm>
            <a:off x="685800" y="1444752"/>
            <a:ext cx="384048" cy="384048"/>
          </a:xfrm>
          <a:prstGeom prst="ellipse">
            <a:avLst/>
          </a:prstGeom>
          <a:solidFill>
            <a:srgbClr val="8C3A27"/>
          </a:solidFill>
          <a:ln w="12700">
            <a:solidFill>
              <a:srgbClr val="8C3A27"/>
            </a:solidFill>
            <a:prstDash val="solid"/>
          </a:ln>
        </p:spPr>
      </p:sp>
      <p:sp>
        <p:nvSpPr>
          <p:cNvPr id="7" name="Text 5"/>
          <p:cNvSpPr txBox="1"/>
          <p:nvPr/>
        </p:nvSpPr>
        <p:spPr>
          <a:xfrm>
            <a:off x="68580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80744"/>
            <a:ext cx="10271455" cy="102184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Le 1er janvier et le 1er juillet</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Deux dates par an, sauf création d'un nouveau ressort (Poher Communauté au 1er septembre 2026).</a:t>
            </a:r>
            <a:endParaRPr lang="en-US" sz="1400" dirty="0"/>
          </a:p>
        </p:txBody>
      </p:sp>
      <p:sp>
        <p:nvSpPr>
          <p:cNvPr id="9" name="Shape 7"/>
          <p:cNvSpPr/>
          <p:nvPr/>
        </p:nvSpPr>
        <p:spPr>
          <a:xfrm>
            <a:off x="548640" y="2594610"/>
            <a:ext cx="11094415" cy="1131570"/>
          </a:xfrm>
          <a:prstGeom prst="roundRect">
            <a:avLst>
              <a:gd name="adj" fmla="val 8081"/>
            </a:avLst>
          </a:prstGeom>
          <a:solidFill>
            <a:srgbClr val="FFF6F4"/>
          </a:solidFill>
          <a:ln w="12700">
            <a:solidFill>
              <a:srgbClr val="FFF6F4"/>
            </a:solidFill>
            <a:prstDash val="solid"/>
          </a:ln>
        </p:spPr>
      </p:sp>
      <p:sp>
        <p:nvSpPr>
          <p:cNvPr id="10" name="Shape 8"/>
          <p:cNvSpPr/>
          <p:nvPr/>
        </p:nvSpPr>
        <p:spPr>
          <a:xfrm>
            <a:off x="685800" y="2713482"/>
            <a:ext cx="384048" cy="384048"/>
          </a:xfrm>
          <a:prstGeom prst="ellipse">
            <a:avLst/>
          </a:prstGeom>
          <a:solidFill>
            <a:srgbClr val="8C3A27"/>
          </a:solidFill>
          <a:ln w="12700">
            <a:solidFill>
              <a:srgbClr val="8C3A27"/>
            </a:solidFill>
            <a:prstDash val="solid"/>
          </a:ln>
        </p:spPr>
      </p:sp>
      <p:sp>
        <p:nvSpPr>
          <p:cNvPr id="11" name="Text 9"/>
          <p:cNvSpPr txBox="1"/>
          <p:nvPr/>
        </p:nvSpPr>
        <p:spPr>
          <a:xfrm>
            <a:off x="685800" y="271348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txBox="1"/>
          <p:nvPr/>
        </p:nvSpPr>
        <p:spPr>
          <a:xfrm>
            <a:off x="1188720" y="2649474"/>
            <a:ext cx="10271455" cy="102184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Les anomalies d'assiette plafonnée non corrigées ni contestées</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Périmètre limité en 2026 aux données qui affectent les droits à retraite ; extension progressive ensuite.</a:t>
            </a:r>
            <a:endParaRPr lang="en-US" sz="1400" dirty="0"/>
          </a:p>
        </p:txBody>
      </p:sp>
      <p:sp>
        <p:nvSpPr>
          <p:cNvPr id="13" name="Shape 11"/>
          <p:cNvSpPr/>
          <p:nvPr/>
        </p:nvSpPr>
        <p:spPr>
          <a:xfrm>
            <a:off x="548640" y="3863340"/>
            <a:ext cx="11094415" cy="1131570"/>
          </a:xfrm>
          <a:prstGeom prst="roundRect">
            <a:avLst>
              <a:gd name="adj" fmla="val 8081"/>
            </a:avLst>
          </a:prstGeom>
          <a:solidFill>
            <a:srgbClr val="FFF6F4"/>
          </a:solidFill>
          <a:ln w="12700">
            <a:solidFill>
              <a:srgbClr val="FFF6F4"/>
            </a:solidFill>
            <a:prstDash val="solid"/>
          </a:ln>
        </p:spPr>
      </p:sp>
      <p:sp>
        <p:nvSpPr>
          <p:cNvPr id="14" name="Shape 12"/>
          <p:cNvSpPr/>
          <p:nvPr/>
        </p:nvSpPr>
        <p:spPr>
          <a:xfrm>
            <a:off x="685800" y="3982212"/>
            <a:ext cx="384048" cy="384048"/>
          </a:xfrm>
          <a:prstGeom prst="ellipse">
            <a:avLst/>
          </a:prstGeom>
          <a:solidFill>
            <a:srgbClr val="8C3A27"/>
          </a:solidFill>
          <a:ln w="12700">
            <a:solidFill>
              <a:srgbClr val="8C3A27"/>
            </a:solidFill>
            <a:prstDash val="solid"/>
          </a:ln>
        </p:spPr>
      </p:sp>
      <p:sp>
        <p:nvSpPr>
          <p:cNvPr id="15" name="Text 13"/>
          <p:cNvSpPr txBox="1"/>
          <p:nvPr/>
        </p:nvSpPr>
        <p:spPr>
          <a:xfrm>
            <a:off x="685800" y="398221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188720" y="3918204"/>
            <a:ext cx="10271455" cy="102184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Dans les 2 mois suivant sa mise à disposition</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Délai maximal de 2 mois ; en pratique, la plupart des logiciels l'appliquent dès la paie suivante.</a:t>
            </a:r>
            <a:endParaRPr lang="en-US" sz="1400" dirty="0"/>
          </a:p>
        </p:txBody>
      </p:sp>
      <p:sp>
        <p:nvSpPr>
          <p:cNvPr id="17" name="Shape 15"/>
          <p:cNvSpPr/>
          <p:nvPr/>
        </p:nvSpPr>
        <p:spPr>
          <a:xfrm>
            <a:off x="548640" y="5132070"/>
            <a:ext cx="11094415" cy="1131570"/>
          </a:xfrm>
          <a:prstGeom prst="roundRect">
            <a:avLst>
              <a:gd name="adj" fmla="val 8081"/>
            </a:avLst>
          </a:prstGeom>
          <a:solidFill>
            <a:srgbClr val="FFF6F4"/>
          </a:solidFill>
          <a:ln w="12700">
            <a:solidFill>
              <a:srgbClr val="FFF6F4"/>
            </a:solidFill>
            <a:prstDash val="solid"/>
          </a:ln>
        </p:spPr>
      </p:sp>
      <p:sp>
        <p:nvSpPr>
          <p:cNvPr id="18" name="Shape 16"/>
          <p:cNvSpPr/>
          <p:nvPr/>
        </p:nvSpPr>
        <p:spPr>
          <a:xfrm>
            <a:off x="685800" y="5250942"/>
            <a:ext cx="384048" cy="384048"/>
          </a:xfrm>
          <a:prstGeom prst="ellipse">
            <a:avLst/>
          </a:prstGeom>
          <a:solidFill>
            <a:srgbClr val="8C3A27"/>
          </a:solidFill>
          <a:ln w="12700">
            <a:solidFill>
              <a:srgbClr val="8C3A27"/>
            </a:solidFill>
            <a:prstDash val="solid"/>
          </a:ln>
        </p:spPr>
      </p:sp>
      <p:sp>
        <p:nvSpPr>
          <p:cNvPr id="19" name="Text 17"/>
          <p:cNvSpPr txBox="1"/>
          <p:nvPr/>
        </p:nvSpPr>
        <p:spPr>
          <a:xfrm>
            <a:off x="685800" y="525094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0" name="Text 18"/>
          <p:cNvSpPr txBox="1"/>
          <p:nvPr/>
        </p:nvSpPr>
        <p:spPr>
          <a:xfrm>
            <a:off x="1188720" y="5186934"/>
            <a:ext cx="10271455" cy="102184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Le jugement se substitue à la contrainte et est exécutoire par provision</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Décret n° 2026-683 du 27 juillet 2026 : le jugement remplace la contrainte et peut être exécuté malgré l'appel.</a:t>
            </a:r>
            <a:endParaRPr lang="en-US" sz="1400" dirty="0"/>
          </a:p>
        </p:txBody>
      </p:sp>
      <p:sp>
        <p:nvSpPr>
          <p:cNvPr id="21" name="Text 19"/>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2" name="Text 2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435369"/>
        </a:solidFill>
      </p:bgPr>
    </p:bg>
    <p:spTree>
      <p:nvGrpSpPr>
        <p:cNvPr id="1" name=""/>
        <p:cNvGrpSpPr/>
        <p:nvPr/>
      </p:nvGrpSpPr>
      <p:grpSpPr>
        <a:xfrm>
          <a:off x="0" y="0"/>
          <a:ext cx="0" cy="0"/>
          <a:chOff x="0" y="0"/>
          <a:chExt cx="0" cy="0"/>
        </a:xfrm>
      </p:grpSpPr>
      <p:sp>
        <p:nvSpPr>
          <p:cNvPr id="2" name="Shape 0"/>
          <p:cNvSpPr/>
          <p:nvPr/>
        </p:nvSpPr>
        <p:spPr>
          <a:xfrm>
            <a:off x="9235440" y="822960"/>
            <a:ext cx="4206240" cy="4206240"/>
          </a:xfrm>
          <a:prstGeom prst="ellipse">
            <a:avLst/>
          </a:prstGeom>
          <a:solidFill>
            <a:srgbClr val="8C3A27"/>
          </a:solidFill>
          <a:ln w="12700">
            <a:solidFill>
              <a:srgbClr val="8C3A27"/>
            </a:solidFill>
            <a:prstDash val="solid"/>
          </a:ln>
        </p:spPr>
      </p:sp>
      <p:sp>
        <p:nvSpPr>
          <p:cNvPr id="3" name="Text 1"/>
          <p:cNvSpPr txBox="1"/>
          <p:nvPr/>
        </p:nvSpPr>
        <p:spPr>
          <a:xfrm>
            <a:off x="9235440" y="822960"/>
            <a:ext cx="4206240" cy="4206240"/>
          </a:xfrm>
          <a:prstGeom prst="rect">
            <a:avLst/>
          </a:prstGeom>
          <a:noFill/>
          <a:ln/>
        </p:spPr>
        <p:txBody>
          <a:bodyPr wrap="square" lIns="0" tIns="0" rIns="0" bIns="0" rtlCol="0" anchor="ctr"/>
          <a:lstStyle/>
          <a:p>
            <a:pPr algn="ctr" indent="0" marL="0">
              <a:buNone/>
            </a:pPr>
            <a:r>
              <a:rPr lang="en-US" sz="9600" b="1" dirty="0">
                <a:solidFill>
                  <a:srgbClr val="FFFFFF"/>
                </a:solidFill>
                <a:latin typeface="Cambria" pitchFamily="34" charset="0"/>
                <a:ea typeface="Cambria" pitchFamily="34" charset="-122"/>
                <a:cs typeface="Cambria" pitchFamily="34" charset="-120"/>
              </a:rPr>
              <a:t>04</a:t>
            </a:r>
            <a:endParaRPr lang="en-US" sz="9600" dirty="0"/>
          </a:p>
        </p:txBody>
      </p:sp>
      <p:sp>
        <p:nvSpPr>
          <p:cNvPr id="4" name="Text 2"/>
          <p:cNvSpPr txBox="1"/>
          <p:nvPr/>
        </p:nvSpPr>
        <p:spPr>
          <a:xfrm>
            <a:off x="548640" y="1554480"/>
            <a:ext cx="5486400" cy="457200"/>
          </a:xfrm>
          <a:prstGeom prst="rect">
            <a:avLst/>
          </a:prstGeom>
          <a:noFill/>
          <a:ln/>
        </p:spPr>
        <p:txBody>
          <a:bodyPr wrap="square" lIns="0" tIns="0" rIns="0" bIns="0" rtlCol="0" anchor="ctr"/>
          <a:lstStyle/>
          <a:p>
            <a:pPr indent="0" marL="0">
              <a:buNone/>
            </a:pPr>
            <a:r>
              <a:rPr lang="en-US" sz="1600" spc="300" kern="0" dirty="0">
                <a:solidFill>
                  <a:srgbClr val="D9A390"/>
                </a:solidFill>
                <a:latin typeface="Calibri" pitchFamily="34" charset="0"/>
                <a:ea typeface="Calibri" pitchFamily="34" charset="-122"/>
                <a:cs typeface="Calibri" pitchFamily="34" charset="-120"/>
              </a:rPr>
              <a:t>Séquence</a:t>
            </a:r>
            <a:endParaRPr lang="en-US" sz="1600" dirty="0"/>
          </a:p>
        </p:txBody>
      </p:sp>
      <p:sp>
        <p:nvSpPr>
          <p:cNvPr id="5" name="Text 3"/>
          <p:cNvSpPr txBox="1"/>
          <p:nvPr/>
        </p:nvSpPr>
        <p:spPr>
          <a:xfrm>
            <a:off x="548640" y="2011680"/>
            <a:ext cx="8046720" cy="155448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L'été des juges : jurisprudence et ruptures</a:t>
            </a:r>
            <a:endParaRPr lang="en-US" sz="3800" dirty="0"/>
          </a:p>
        </p:txBody>
      </p:sp>
      <p:sp>
        <p:nvSpPr>
          <p:cNvPr id="6" name="Text 4"/>
          <p:cNvSpPr txBox="1"/>
          <p:nvPr/>
        </p:nvSpPr>
        <p:spPr>
          <a:xfrm>
            <a:off x="548640" y="3657600"/>
            <a:ext cx="8046720" cy="1005840"/>
          </a:xfrm>
          <a:prstGeom prst="rect">
            <a:avLst/>
          </a:prstGeom>
          <a:noFill/>
          <a:ln/>
        </p:spPr>
        <p:txBody>
          <a:bodyPr wrap="square" lIns="0" tIns="0" rIns="0" bIns="0" rtlCol="0" anchor="t"/>
          <a:lstStyle/>
          <a:p>
            <a:pPr indent="0" marL="0">
              <a:buNone/>
            </a:pPr>
            <a:r>
              <a:rPr lang="en-US" sz="1700" dirty="0">
                <a:solidFill>
                  <a:srgbClr val="F2E5D8"/>
                </a:solidFill>
                <a:latin typeface="Calibri" pitchFamily="34" charset="0"/>
                <a:ea typeface="Calibri" pitchFamily="34" charset="-122"/>
                <a:cs typeface="Calibri" pitchFamily="34" charset="-120"/>
              </a:rPr>
              <a:t>Six décisions de mai à juillet 2026, la rupture conventionnelle, l'activité partielle, le télétravail et l'apparence physique</a:t>
            </a:r>
            <a:endParaRPr lang="en-US" sz="1700" dirty="0"/>
          </a:p>
        </p:txBody>
      </p:sp>
      <p:sp>
        <p:nvSpPr>
          <p:cNvPr id="7" name="Shape 5"/>
          <p:cNvSpPr/>
          <p:nvPr/>
        </p:nvSpPr>
        <p:spPr>
          <a:xfrm>
            <a:off x="548640" y="5029200"/>
            <a:ext cx="3840480" cy="310896"/>
          </a:xfrm>
          <a:prstGeom prst="roundRect">
            <a:avLst>
              <a:gd name="adj" fmla="val 50000"/>
            </a:avLst>
          </a:prstGeom>
          <a:solidFill>
            <a:srgbClr val="8C3A27"/>
          </a:solidFill>
          <a:ln w="12700">
            <a:solidFill>
              <a:srgbClr val="8C3A27"/>
            </a:solidFill>
            <a:prstDash val="solid"/>
          </a:ln>
        </p:spPr>
      </p:sp>
      <p:sp>
        <p:nvSpPr>
          <p:cNvPr id="8" name="Text 6"/>
          <p:cNvSpPr txBox="1"/>
          <p:nvPr/>
        </p:nvSpPr>
        <p:spPr>
          <a:xfrm>
            <a:off x="548640" y="5029200"/>
            <a:ext cx="384048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60 min · 1 cas pratique · 1 quiz</a:t>
            </a:r>
            <a:endParaRPr lang="en-US" sz="1000" dirty="0"/>
          </a:p>
        </p:txBody>
      </p:sp>
      <p:sp>
        <p:nvSpPr>
          <p:cNvPr id="9" name="Text 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D9A390"/>
                </a:solidFill>
                <a:latin typeface="Calibri" pitchFamily="34" charset="0"/>
                <a:ea typeface="Calibri" pitchFamily="34" charset="-122"/>
                <a:cs typeface="Calibri" pitchFamily="34" charset="-120"/>
              </a:rPr>
              <a:t>Actualité paie · juin – septembre 2026</a:t>
            </a:r>
            <a:endParaRPr lang="en-US" sz="9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D9A390"/>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Six décisions à connaître</a:t>
            </a:r>
            <a:endParaRPr lang="en-US" sz="28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750681"/>
                <a:gridCol w="2383924"/>
                <a:gridCol w="5959810"/>
              </a:tblGrid>
              <a:tr h="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Décision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Sujet</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Ce qu'il faut retenir</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Cass. soc. 20 mai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Heures supplémentaires interdites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L'interdiction de l'employeur ne suffit pas : si la charge de travail rend les heures nécessaires, elles sont dues.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Cass. soc. 3 juin 2026, n° 24-19.545 (publié)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Annualisation et maladie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Le seuil de déclenchement des heures supplémentaires est réduit de la durée de l'absence, évaluée sur la durée hebdomadaire moyenne de la période.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Cass. 2e civ. 25 juin 2026, n° 24-12.393 (publié)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PSE annulé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L'annulation de l'homologation fait perdre le régime social de faveur des indemnités de rupture : redressement Urssaf validé.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Cass. soc. 1er juillet 2026, n° 25-14.861</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Rupture conventionnelle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Le minimum de l'indemnité spécifique est l'indemnité conventionnelle de licenciement prévue par l'accord d'entreprise, qui prime sur la branche (art. L. 2253-3).</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Cass. soc. 1er juillet 2026, n° 25-15.732 (publié)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Preuve des heures supplémentaires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Le salarié présente des éléments suffisamment précis ; l'employeur doit y répondre avec ses propres éléments de contrôle.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Défenseur des droits, 20 mai 2026, n° 2026-113</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Apparence physique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Exiger un brushing lisse d'une hôtesse d'accueil est un refus d'embauche discriminatoire.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bl>
          </a:graphicData>
        </a:graphic>
      </p:graphicFrame>
      <p:sp>
        <p:nvSpPr>
          <p:cNvPr id="4" name="Text 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Zoom : annualisation et maladie (Cass. soc. 3 juin 2026)</a:t>
            </a:r>
            <a:endParaRPr lang="en-US" sz="2800" dirty="0"/>
          </a:p>
        </p:txBody>
      </p:sp>
      <p:sp>
        <p:nvSpPr>
          <p:cNvPr id="3" name="Text 1"/>
          <p:cNvSpPr txBox="1"/>
          <p:nvPr/>
        </p:nvSpPr>
        <p:spPr>
          <a:xfrm>
            <a:off x="548640" y="1325880"/>
            <a:ext cx="7315200" cy="4937760"/>
          </a:xfrm>
          <a:prstGeom prst="rect">
            <a:avLst/>
          </a:prstGeom>
          <a:noFill/>
          <a:ln/>
        </p:spPr>
        <p:txBody>
          <a:bodyPr wrap="square" lIns="635" tIns="635" rIns="635" bIns="635" rtlCol="0" anchor="t"/>
          <a:lstStyle/>
          <a:p>
            <a:pPr marL="228600" indent="-228600">
              <a:lnSpc>
                <a:spcPct val="105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Situation : salarié en aménagement du temps de travail sur l'année (1 607 h), absent pour maladie pendant une période haute planifiée à 42 h par semaine.</a:t>
            </a:r>
            <a:endParaRPr lang="en-US" sz="1600" dirty="0"/>
          </a:p>
          <a:p>
            <a:pPr marL="228600" indent="-228600">
              <a:lnSpc>
                <a:spcPct val="105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Règle posée : sauf disposition conventionnelle plus favorable, le seuil annuel de déclenchement des heures supplémentaires est réduit de la durée de l'absence, calculée sur la durée hebdomadaire moyenne de la période de référence (35 h), et non sur l'horaire planifié.</a:t>
            </a:r>
            <a:endParaRPr lang="en-US" sz="1600" dirty="0"/>
          </a:p>
          <a:p>
            <a:pPr marL="228600" indent="-228600">
              <a:lnSpc>
                <a:spcPct val="105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L'employeur qui applique le seuil plein à un salarié malade sous-paie ses heures supplémentaires : rappel de salaire majoré sur 3 ans, pour tous les salariés concernés.</a:t>
            </a:r>
            <a:endParaRPr lang="en-US" sz="1600" dirty="0"/>
          </a:p>
          <a:p>
            <a:pPr marL="228600" indent="-228600">
              <a:lnSpc>
                <a:spcPct val="105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À paramétrer : compteur annuel réduit automatiquement de 35 h par semaine d'absence non assimilée (maladie), et non de l'horaire de la semaine.</a:t>
            </a:r>
            <a:endParaRPr lang="en-US" sz="1600" dirty="0"/>
          </a:p>
          <a:p>
            <a:pPr marL="228600" indent="-228600">
              <a:lnSpc>
                <a:spcPct val="105000"/>
              </a:lnSpc>
              <a:spcAft>
                <a:spcPts val="800"/>
              </a:spcAft>
              <a:buSzPct val="100000"/>
              <a:buChar char="■"/>
            </a:pPr>
            <a:r>
              <a:rPr lang="en-US" sz="1600" dirty="0">
                <a:solidFill>
                  <a:srgbClr val="2B2B2B"/>
                </a:solidFill>
                <a:latin typeface="Calibri" pitchFamily="34" charset="0"/>
                <a:ea typeface="Calibri" pitchFamily="34" charset="-122"/>
                <a:cs typeface="Calibri" pitchFamily="34" charset="-120"/>
              </a:rPr>
              <a:t>À ne pas confondre avec les congés payés : depuis Cass. soc. 10 septembre 2025 (n° 23-14.455), les jours de congés payés sont comptés comme du travail pour le seuil hebdomadaire des heures supplémentaires.</a:t>
            </a:r>
            <a:endParaRPr lang="en-US" sz="1600" dirty="0"/>
          </a:p>
        </p:txBody>
      </p:sp>
      <p:sp>
        <p:nvSpPr>
          <p:cNvPr id="4" name="Shape 2"/>
          <p:cNvSpPr/>
          <p:nvPr/>
        </p:nvSpPr>
        <p:spPr>
          <a:xfrm>
            <a:off x="8229600" y="1325880"/>
            <a:ext cx="3413455" cy="4315968"/>
          </a:xfrm>
          <a:prstGeom prst="roundRect">
            <a:avLst>
              <a:gd name="adj" fmla="val 4018"/>
            </a:avLst>
          </a:prstGeom>
          <a:solidFill>
            <a:srgbClr val="FFF6F4"/>
          </a:solidFill>
          <a:ln w="12700">
            <a:solidFill>
              <a:srgbClr val="FFF6F4"/>
            </a:solidFill>
            <a:prstDash val="solid"/>
          </a:ln>
        </p:spPr>
      </p:sp>
      <p:sp>
        <p:nvSpPr>
          <p:cNvPr id="5" name="Text 3"/>
          <p:cNvSpPr txBox="1"/>
          <p:nvPr/>
        </p:nvSpPr>
        <p:spPr>
          <a:xfrm>
            <a:off x="8458200" y="1508760"/>
            <a:ext cx="2956255" cy="411480"/>
          </a:xfrm>
          <a:prstGeom prst="rect">
            <a:avLst/>
          </a:prstGeom>
          <a:noFill/>
          <a:ln/>
        </p:spPr>
        <p:txBody>
          <a:bodyPr wrap="square" lIns="0" tIns="0" rIns="0" bIns="0" rtlCol="0" anchor="ctr"/>
          <a:lstStyle/>
          <a:p>
            <a:pPr indent="0" marL="0">
              <a:buNone/>
            </a:pPr>
            <a:r>
              <a:rPr lang="en-US" sz="1600" b="1" dirty="0">
                <a:solidFill>
                  <a:srgbClr val="8C3A27"/>
                </a:solidFill>
                <a:latin typeface="Cambria" pitchFamily="34" charset="0"/>
                <a:ea typeface="Cambria" pitchFamily="34" charset="-122"/>
                <a:cs typeface="Cambria" pitchFamily="34" charset="-120"/>
              </a:rPr>
              <a:t>Exemple chiffré</a:t>
            </a:r>
            <a:endParaRPr lang="en-US" sz="1600" dirty="0"/>
          </a:p>
        </p:txBody>
      </p:sp>
      <p:sp>
        <p:nvSpPr>
          <p:cNvPr id="6" name="Text 4"/>
          <p:cNvSpPr txBox="1"/>
          <p:nvPr/>
        </p:nvSpPr>
        <p:spPr>
          <a:xfrm>
            <a:off x="8458200" y="2011680"/>
            <a:ext cx="2956255" cy="3447288"/>
          </a:xfrm>
          <a:prstGeom prst="rect">
            <a:avLst/>
          </a:prstGeom>
          <a:noFill/>
          <a:ln/>
        </p:spPr>
        <p:txBody>
          <a:bodyPr wrap="square" lIns="0" tIns="0" rIns="0" bIns="0" rtlCol="0" anchor="t"/>
          <a:lstStyle/>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Seuil annuel : 1 607 h</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Absence maladie : 2 semaines</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Réduction : 2 × 35 h = 70 h</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Seuil corrigé : 1 537 h</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Heures réalisées : 1 560 h</a:t>
            </a:r>
            <a:endParaRPr lang="en-US" sz="1300" dirty="0"/>
          </a:p>
          <a:p>
            <a:pPr indent="0" marL="0">
              <a:spcAft>
                <a:spcPts val="600"/>
              </a:spcAft>
              <a:buNone/>
            </a:pPr>
            <a:r>
              <a:rPr lang="en-US" sz="1300" dirty="0">
                <a:solidFill>
                  <a:srgbClr val="2B2B2B"/>
                </a:solidFill>
                <a:latin typeface="Calibri" pitchFamily="34" charset="0"/>
                <a:ea typeface="Calibri" pitchFamily="34" charset="-122"/>
                <a:cs typeface="Calibri" pitchFamily="34" charset="-120"/>
              </a:rPr>
              <a:t>Heures supplémentaires : 23 h</a:t>
            </a:r>
            <a:endParaRPr lang="en-US" sz="1300" dirty="0"/>
          </a:p>
        </p:txBody>
      </p:sp>
      <p:sp>
        <p:nvSpPr>
          <p:cNvPr id="7" name="Text 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8" name="Text 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Rupture conventionnelle : le régime 2026 en un coup d'œil</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Indemnité minimale : la plus élevée de l'indemnité légale et de l'indemnité conventionnelle de licenciement ; depuis le 1er juillet 2026, l'indemnité de l'accord d'entreprise prime sur celle de la branche, qu'elle soit supérieure ou inférieure.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Cotisations : exonération dans la limite du plus élevé de (indemnité légale ou conventionnelle ; 50 % de l'indemnité ; 2 fois la rémunération annuelle brute N-1), plafonnée à 2 PASS (96 120 €). Au-delà de 10 PASS : cotisations dès le 1er euro.</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CSG-CRDS : exonération limitée au montant de l'indemnité légale ou conventionnelle (sans abattement, dans la limite de la part exonérée de cotisations).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Contribution patronale spécifique : 40 % de la part exonérée de cotisations depuis le 1er janvier 2026 (30 % avant), quel que soit l'âge du salarié.</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Impôt sur le revenu : exonération dans les limites de l'art. 80 duodecies CGI (plafond 6 PASS, 288 360 €) si le salarié ne peut pas liquider une retraite ; sinon imposable dès le 1er euro.</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Procédure inchangée : entretien, convention, 15 jours calendaires de rétractation, homologation DREETS sous 15 jours ouvrables via TéléRC.</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52825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Cas pratique 3 : chiffrer une rupture conventionnelle</a:t>
            </a:r>
            <a:endParaRPr lang="en-US" sz="2800" dirty="0"/>
          </a:p>
        </p:txBody>
      </p:sp>
      <p:sp>
        <p:nvSpPr>
          <p:cNvPr id="3" name="Shape 1"/>
          <p:cNvSpPr/>
          <p:nvPr/>
        </p:nvSpPr>
        <p:spPr>
          <a:xfrm>
            <a:off x="8351215" y="457200"/>
            <a:ext cx="1737360" cy="310896"/>
          </a:xfrm>
          <a:prstGeom prst="roundRect">
            <a:avLst>
              <a:gd name="adj" fmla="val 50000"/>
            </a:avLst>
          </a:prstGeom>
          <a:solidFill>
            <a:srgbClr val="183F1E"/>
          </a:solidFill>
          <a:ln w="12700">
            <a:solidFill>
              <a:srgbClr val="183F1E"/>
            </a:solidFill>
            <a:prstDash val="solid"/>
          </a:ln>
        </p:spPr>
      </p:sp>
      <p:sp>
        <p:nvSpPr>
          <p:cNvPr id="4" name="Text 2"/>
          <p:cNvSpPr txBox="1"/>
          <p:nvPr/>
        </p:nvSpPr>
        <p:spPr>
          <a:xfrm>
            <a:off x="835121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CAS PRATIQUE 3</a:t>
            </a:r>
            <a:endParaRPr lang="en-US" sz="1000" dirty="0"/>
          </a:p>
        </p:txBody>
      </p:sp>
      <p:sp>
        <p:nvSpPr>
          <p:cNvPr id="5" name="Shape 3"/>
          <p:cNvSpPr/>
          <p:nvPr/>
        </p:nvSpPr>
        <p:spPr>
          <a:xfrm>
            <a:off x="10271455" y="457200"/>
            <a:ext cx="1371600" cy="310896"/>
          </a:xfrm>
          <a:prstGeom prst="roundRect">
            <a:avLst>
              <a:gd name="adj" fmla="val 50000"/>
            </a:avLst>
          </a:prstGeom>
          <a:solidFill>
            <a:srgbClr val="8C3A27"/>
          </a:solidFill>
          <a:ln w="12700">
            <a:solidFill>
              <a:srgbClr val="8C3A27"/>
            </a:solidFill>
            <a:prstDash val="solid"/>
          </a:ln>
        </p:spPr>
      </p:sp>
      <p:sp>
        <p:nvSpPr>
          <p:cNvPr id="6" name="Text 4"/>
          <p:cNvSpPr txBox="1"/>
          <p:nvPr/>
        </p:nvSpPr>
        <p:spPr>
          <a:xfrm>
            <a:off x="10271455" y="457200"/>
            <a:ext cx="137160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20 min</a:t>
            </a:r>
            <a:endParaRPr lang="en-US" sz="1000" dirty="0"/>
          </a:p>
        </p:txBody>
      </p:sp>
      <p:sp>
        <p:nvSpPr>
          <p:cNvPr id="7" name="Shape 5"/>
          <p:cNvSpPr/>
          <p:nvPr/>
        </p:nvSpPr>
        <p:spPr>
          <a:xfrm>
            <a:off x="548640" y="1325880"/>
            <a:ext cx="11094415" cy="1318260"/>
          </a:xfrm>
          <a:prstGeom prst="roundRect">
            <a:avLst>
              <a:gd name="adj" fmla="val 8324"/>
            </a:avLst>
          </a:prstGeom>
          <a:solidFill>
            <a:srgbClr val="DCE8DD"/>
          </a:solidFill>
          <a:ln w="12700">
            <a:solidFill>
              <a:srgbClr val="DCE8DD"/>
            </a:solidFill>
            <a:prstDash val="solid"/>
          </a:ln>
        </p:spPr>
      </p:sp>
      <p:sp>
        <p:nvSpPr>
          <p:cNvPr id="8" name="Text 6"/>
          <p:cNvSpPr txBox="1"/>
          <p:nvPr/>
        </p:nvSpPr>
        <p:spPr>
          <a:xfrm>
            <a:off x="777240" y="1325880"/>
            <a:ext cx="10637215" cy="1318260"/>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Sophie, cadre, 8 ans d'ancienneté, salaire brut mensuel moyen 3 600 € (rémunération 2025 : 43 200 €), n'est pas en droit de liquider une retraite. La convention de branche prévoit 3/10 de mois par année ; l'accord d'entreprise prévoit 4/10 de mois par année. Les parties conviennent d'une indemnité de 15 000 € ; la rupture est homologuée en septembre 2026.</a:t>
            </a:r>
            <a:endParaRPr lang="en-US" sz="1500" dirty="0"/>
          </a:p>
        </p:txBody>
      </p:sp>
      <p:sp>
        <p:nvSpPr>
          <p:cNvPr id="9" name="Shape 7"/>
          <p:cNvSpPr/>
          <p:nvPr/>
        </p:nvSpPr>
        <p:spPr>
          <a:xfrm>
            <a:off x="548640" y="2964180"/>
            <a:ext cx="384048" cy="384048"/>
          </a:xfrm>
          <a:prstGeom prst="ellipse">
            <a:avLst/>
          </a:prstGeom>
          <a:solidFill>
            <a:srgbClr val="183F1E"/>
          </a:solidFill>
          <a:ln w="12700">
            <a:solidFill>
              <a:srgbClr val="183F1E"/>
            </a:solidFill>
            <a:prstDash val="solid"/>
          </a:ln>
        </p:spPr>
      </p:sp>
      <p:sp>
        <p:nvSpPr>
          <p:cNvPr id="10" name="Text 8"/>
          <p:cNvSpPr txBox="1"/>
          <p:nvPr/>
        </p:nvSpPr>
        <p:spPr>
          <a:xfrm>
            <a:off x="548640" y="29641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1" name="Text 9"/>
          <p:cNvSpPr txBox="1"/>
          <p:nvPr/>
        </p:nvSpPr>
        <p:spPr>
          <a:xfrm>
            <a:off x="1143000" y="2918460"/>
            <a:ext cx="10500055" cy="836295"/>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Quel est le montant minimal de l'indemnité spécifique de rupture conventionnelle ?</a:t>
            </a:r>
            <a:endParaRPr lang="en-US" sz="1700" dirty="0"/>
          </a:p>
        </p:txBody>
      </p:sp>
      <p:sp>
        <p:nvSpPr>
          <p:cNvPr id="12" name="Shape 10"/>
          <p:cNvSpPr/>
          <p:nvPr/>
        </p:nvSpPr>
        <p:spPr>
          <a:xfrm>
            <a:off x="548640" y="3800475"/>
            <a:ext cx="384048" cy="384048"/>
          </a:xfrm>
          <a:prstGeom prst="ellipse">
            <a:avLst/>
          </a:prstGeom>
          <a:solidFill>
            <a:srgbClr val="183F1E"/>
          </a:solidFill>
          <a:ln w="12700">
            <a:solidFill>
              <a:srgbClr val="183F1E"/>
            </a:solidFill>
            <a:prstDash val="solid"/>
          </a:ln>
        </p:spPr>
      </p:sp>
      <p:sp>
        <p:nvSpPr>
          <p:cNvPr id="13" name="Text 11"/>
          <p:cNvSpPr txBox="1"/>
          <p:nvPr/>
        </p:nvSpPr>
        <p:spPr>
          <a:xfrm>
            <a:off x="548640" y="3800475"/>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txBox="1"/>
          <p:nvPr/>
        </p:nvSpPr>
        <p:spPr>
          <a:xfrm>
            <a:off x="1143000" y="3754755"/>
            <a:ext cx="10500055" cy="836295"/>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Déterminez la part exonérée de cotisations de Sécurité sociale et la part exonérée de CSG-CRDS.</a:t>
            </a:r>
            <a:endParaRPr lang="en-US" sz="1700" dirty="0"/>
          </a:p>
        </p:txBody>
      </p:sp>
      <p:sp>
        <p:nvSpPr>
          <p:cNvPr id="15" name="Shape 13"/>
          <p:cNvSpPr/>
          <p:nvPr/>
        </p:nvSpPr>
        <p:spPr>
          <a:xfrm>
            <a:off x="548640" y="4636770"/>
            <a:ext cx="384048" cy="384048"/>
          </a:xfrm>
          <a:prstGeom prst="ellipse">
            <a:avLst/>
          </a:prstGeom>
          <a:solidFill>
            <a:srgbClr val="183F1E"/>
          </a:solidFill>
          <a:ln w="12700">
            <a:solidFill>
              <a:srgbClr val="183F1E"/>
            </a:solidFill>
            <a:prstDash val="solid"/>
          </a:ln>
        </p:spPr>
      </p:sp>
      <p:sp>
        <p:nvSpPr>
          <p:cNvPr id="16" name="Text 14"/>
          <p:cNvSpPr txBox="1"/>
          <p:nvPr/>
        </p:nvSpPr>
        <p:spPr>
          <a:xfrm>
            <a:off x="548640" y="463677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txBox="1"/>
          <p:nvPr/>
        </p:nvSpPr>
        <p:spPr>
          <a:xfrm>
            <a:off x="1143000" y="4591050"/>
            <a:ext cx="10500055" cy="836295"/>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Calculez la contribution patronale spécifique due à l'Urssaf.</a:t>
            </a:r>
            <a:endParaRPr lang="en-US" sz="1700" dirty="0"/>
          </a:p>
        </p:txBody>
      </p:sp>
      <p:sp>
        <p:nvSpPr>
          <p:cNvPr id="18" name="Shape 16"/>
          <p:cNvSpPr/>
          <p:nvPr/>
        </p:nvSpPr>
        <p:spPr>
          <a:xfrm>
            <a:off x="548640" y="5473065"/>
            <a:ext cx="384048" cy="384048"/>
          </a:xfrm>
          <a:prstGeom prst="ellipse">
            <a:avLst/>
          </a:prstGeom>
          <a:solidFill>
            <a:srgbClr val="183F1E"/>
          </a:solidFill>
          <a:ln w="12700">
            <a:solidFill>
              <a:srgbClr val="183F1E"/>
            </a:solidFill>
            <a:prstDash val="solid"/>
          </a:ln>
        </p:spPr>
      </p:sp>
      <p:sp>
        <p:nvSpPr>
          <p:cNvPr id="19" name="Text 17"/>
          <p:cNvSpPr txBox="1"/>
          <p:nvPr/>
        </p:nvSpPr>
        <p:spPr>
          <a:xfrm>
            <a:off x="548640" y="5473065"/>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0" name="Text 18"/>
          <p:cNvSpPr txBox="1"/>
          <p:nvPr/>
        </p:nvSpPr>
        <p:spPr>
          <a:xfrm>
            <a:off x="1143000" y="5427345"/>
            <a:ext cx="10500055" cy="836295"/>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L'indemnité est-elle imposable pour Sophie ?</a:t>
            </a:r>
            <a:endParaRPr lang="en-US" sz="1700" dirty="0"/>
          </a:p>
        </p:txBody>
      </p:sp>
      <p:sp>
        <p:nvSpPr>
          <p:cNvPr id="21" name="Text 19"/>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2" name="Text 2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Corrigé du cas pratique 3</a:t>
            </a:r>
            <a:endParaRPr lang="en-US" sz="2800" dirty="0"/>
          </a:p>
        </p:txBody>
      </p:sp>
      <p:sp>
        <p:nvSpPr>
          <p:cNvPr id="3" name="Shape 1"/>
          <p:cNvSpPr/>
          <p:nvPr/>
        </p:nvSpPr>
        <p:spPr>
          <a:xfrm>
            <a:off x="9905695" y="457200"/>
            <a:ext cx="1737360" cy="310896"/>
          </a:xfrm>
          <a:prstGeom prst="roundRect">
            <a:avLst>
              <a:gd name="adj" fmla="val 50000"/>
            </a:avLst>
          </a:prstGeom>
          <a:solidFill>
            <a:srgbClr val="183F1E"/>
          </a:solidFill>
          <a:ln w="12700">
            <a:solidFill>
              <a:srgbClr val="183F1E"/>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CORRIGÉ</a:t>
            </a:r>
            <a:endParaRPr lang="en-US" sz="1000" dirty="0"/>
          </a:p>
        </p:txBody>
      </p:sp>
      <p:sp>
        <p:nvSpPr>
          <p:cNvPr id="5" name="Shape 3"/>
          <p:cNvSpPr/>
          <p:nvPr/>
        </p:nvSpPr>
        <p:spPr>
          <a:xfrm>
            <a:off x="548640" y="1325880"/>
            <a:ext cx="11094415" cy="1110996"/>
          </a:xfrm>
          <a:prstGeom prst="roundRect">
            <a:avLst>
              <a:gd name="adj" fmla="val 8230"/>
            </a:avLst>
          </a:prstGeom>
          <a:solidFill>
            <a:srgbClr val="FFF6F4"/>
          </a:solidFill>
          <a:ln w="12700">
            <a:solidFill>
              <a:srgbClr val="FFF6F4"/>
            </a:solidFill>
            <a:prstDash val="solid"/>
          </a:ln>
        </p:spPr>
      </p:sp>
      <p:sp>
        <p:nvSpPr>
          <p:cNvPr id="6" name="Shape 4"/>
          <p:cNvSpPr/>
          <p:nvPr/>
        </p:nvSpPr>
        <p:spPr>
          <a:xfrm>
            <a:off x="685800" y="1463040"/>
            <a:ext cx="384048" cy="384048"/>
          </a:xfrm>
          <a:prstGeom prst="ellipse">
            <a:avLst/>
          </a:prstGeom>
          <a:solidFill>
            <a:srgbClr val="183F1E"/>
          </a:solidFill>
          <a:ln w="12700">
            <a:solidFill>
              <a:srgbClr val="183F1E"/>
            </a:solidFill>
            <a:prstDash val="solid"/>
          </a:ln>
        </p:spPr>
      </p:sp>
      <p:sp>
        <p:nvSpPr>
          <p:cNvPr id="7" name="Text 5"/>
          <p:cNvSpPr txBox="1"/>
          <p:nvPr/>
        </p:nvSpPr>
        <p:spPr>
          <a:xfrm>
            <a:off x="685800" y="14630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99032"/>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Minimum</a:t>
            </a:r>
            <a:endParaRPr lang="en-US" sz="1400" dirty="0"/>
          </a:p>
        </p:txBody>
      </p:sp>
      <p:sp>
        <p:nvSpPr>
          <p:cNvPr id="9" name="Text 7"/>
          <p:cNvSpPr txBox="1"/>
          <p:nvPr/>
        </p:nvSpPr>
        <p:spPr>
          <a:xfrm>
            <a:off x="3383280" y="1399032"/>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Légale : 7 200 €. Branche : 8 × 0,3 × 3 600 = 8 640 €. Accord d'entreprise : 8 × 0,4 × 3 600 = 11 520 €. Depuis Cass. soc. 1er juillet 2026, le minimum est celui de l'accord d'entreprise : 11 520 €. Les 15 000 € convenus sont réguliers.</a:t>
            </a:r>
            <a:endParaRPr lang="en-US" sz="1500" dirty="0"/>
          </a:p>
        </p:txBody>
      </p:sp>
      <p:sp>
        <p:nvSpPr>
          <p:cNvPr id="10" name="Shape 8"/>
          <p:cNvSpPr/>
          <p:nvPr/>
        </p:nvSpPr>
        <p:spPr>
          <a:xfrm>
            <a:off x="548640" y="2601468"/>
            <a:ext cx="11094415" cy="1110996"/>
          </a:xfrm>
          <a:prstGeom prst="roundRect">
            <a:avLst>
              <a:gd name="adj" fmla="val 8230"/>
            </a:avLst>
          </a:prstGeom>
          <a:solidFill>
            <a:srgbClr val="FFF6F4"/>
          </a:solidFill>
          <a:ln w="12700">
            <a:solidFill>
              <a:srgbClr val="FFF6F4"/>
            </a:solidFill>
            <a:prstDash val="solid"/>
          </a:ln>
        </p:spPr>
      </p:sp>
      <p:sp>
        <p:nvSpPr>
          <p:cNvPr id="11" name="Shape 9"/>
          <p:cNvSpPr/>
          <p:nvPr/>
        </p:nvSpPr>
        <p:spPr>
          <a:xfrm>
            <a:off x="685800" y="2738628"/>
            <a:ext cx="384048" cy="384048"/>
          </a:xfrm>
          <a:prstGeom prst="ellipse">
            <a:avLst/>
          </a:prstGeom>
          <a:solidFill>
            <a:srgbClr val="183F1E"/>
          </a:solidFill>
          <a:ln w="12700">
            <a:solidFill>
              <a:srgbClr val="183F1E"/>
            </a:solidFill>
            <a:prstDash val="solid"/>
          </a:ln>
        </p:spPr>
      </p:sp>
      <p:sp>
        <p:nvSpPr>
          <p:cNvPr id="12" name="Text 10"/>
          <p:cNvSpPr txBox="1"/>
          <p:nvPr/>
        </p:nvSpPr>
        <p:spPr>
          <a:xfrm>
            <a:off x="685800" y="27386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188720" y="2674620"/>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Cotisations et CSG-CRDS</a:t>
            </a:r>
            <a:endParaRPr lang="en-US" sz="1400" dirty="0"/>
          </a:p>
        </p:txBody>
      </p:sp>
      <p:sp>
        <p:nvSpPr>
          <p:cNvPr id="14" name="Text 12"/>
          <p:cNvSpPr txBox="1"/>
          <p:nvPr/>
        </p:nvSpPr>
        <p:spPr>
          <a:xfrm>
            <a:off x="3383280" y="2674620"/>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300" dirty="0">
                <a:solidFill>
                  <a:srgbClr val="2B2B2B"/>
                </a:solidFill>
                <a:latin typeface="Calibri" pitchFamily="34" charset="0"/>
                <a:ea typeface="Calibri" pitchFamily="34" charset="-122"/>
                <a:cs typeface="Calibri" pitchFamily="34" charset="-120"/>
              </a:rPr>
              <a:t>Limite d'exonération : max (11 520 ; 50 % × 15 000 = 7 500 ; 2 × 43 200 = 86 400) = 86 400 €, sous le plafond de 2 PASS. Les 15 000 € sont totalement exonérés de cotisations. CSG-CRDS : exonération limitée à 11 520 € ; 3 480 € soumis à CSG-CRDS (9,7 % sans abattement, soit 337,56 €).</a:t>
            </a:r>
            <a:endParaRPr lang="en-US" sz="1300" dirty="0"/>
          </a:p>
        </p:txBody>
      </p:sp>
      <p:sp>
        <p:nvSpPr>
          <p:cNvPr id="15" name="Shape 13"/>
          <p:cNvSpPr/>
          <p:nvPr/>
        </p:nvSpPr>
        <p:spPr>
          <a:xfrm>
            <a:off x="548640" y="3877056"/>
            <a:ext cx="11094415" cy="1110996"/>
          </a:xfrm>
          <a:prstGeom prst="roundRect">
            <a:avLst>
              <a:gd name="adj" fmla="val 8230"/>
            </a:avLst>
          </a:prstGeom>
          <a:solidFill>
            <a:srgbClr val="FFF6F4"/>
          </a:solidFill>
          <a:ln w="12700">
            <a:solidFill>
              <a:srgbClr val="FFF6F4"/>
            </a:solidFill>
            <a:prstDash val="solid"/>
          </a:ln>
        </p:spPr>
      </p:sp>
      <p:sp>
        <p:nvSpPr>
          <p:cNvPr id="16" name="Shape 14"/>
          <p:cNvSpPr/>
          <p:nvPr/>
        </p:nvSpPr>
        <p:spPr>
          <a:xfrm>
            <a:off x="685800" y="4014216"/>
            <a:ext cx="384048" cy="384048"/>
          </a:xfrm>
          <a:prstGeom prst="ellipse">
            <a:avLst/>
          </a:prstGeom>
          <a:solidFill>
            <a:srgbClr val="183F1E"/>
          </a:solidFill>
          <a:ln w="12700">
            <a:solidFill>
              <a:srgbClr val="183F1E"/>
            </a:solidFill>
            <a:prstDash val="solid"/>
          </a:ln>
        </p:spPr>
      </p:sp>
      <p:sp>
        <p:nvSpPr>
          <p:cNvPr id="17" name="Text 15"/>
          <p:cNvSpPr txBox="1"/>
          <p:nvPr/>
        </p:nvSpPr>
        <p:spPr>
          <a:xfrm>
            <a:off x="685800" y="40142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1188720" y="3950208"/>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Contribution patronale</a:t>
            </a:r>
            <a:endParaRPr lang="en-US" sz="1400" dirty="0"/>
          </a:p>
        </p:txBody>
      </p:sp>
      <p:sp>
        <p:nvSpPr>
          <p:cNvPr id="19" name="Text 17"/>
          <p:cNvSpPr txBox="1"/>
          <p:nvPr/>
        </p:nvSpPr>
        <p:spPr>
          <a:xfrm>
            <a:off x="3383280" y="3950208"/>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40 % × 15 000 € (part exonérée de cotisations) = 6 000 € à la charge de l'employeur, à déclarer en DSN sur le CTP dédié.</a:t>
            </a:r>
            <a:endParaRPr lang="en-US" sz="1500" dirty="0"/>
          </a:p>
        </p:txBody>
      </p:sp>
      <p:sp>
        <p:nvSpPr>
          <p:cNvPr id="20" name="Shape 18"/>
          <p:cNvSpPr/>
          <p:nvPr/>
        </p:nvSpPr>
        <p:spPr>
          <a:xfrm>
            <a:off x="548640" y="5152644"/>
            <a:ext cx="11094415" cy="1110996"/>
          </a:xfrm>
          <a:prstGeom prst="roundRect">
            <a:avLst>
              <a:gd name="adj" fmla="val 8230"/>
            </a:avLst>
          </a:prstGeom>
          <a:solidFill>
            <a:srgbClr val="FFF6F4"/>
          </a:solidFill>
          <a:ln w="12700">
            <a:solidFill>
              <a:srgbClr val="FFF6F4"/>
            </a:solidFill>
            <a:prstDash val="solid"/>
          </a:ln>
        </p:spPr>
      </p:sp>
      <p:sp>
        <p:nvSpPr>
          <p:cNvPr id="21" name="Shape 19"/>
          <p:cNvSpPr/>
          <p:nvPr/>
        </p:nvSpPr>
        <p:spPr>
          <a:xfrm>
            <a:off x="685800" y="5289804"/>
            <a:ext cx="384048" cy="384048"/>
          </a:xfrm>
          <a:prstGeom prst="ellipse">
            <a:avLst/>
          </a:prstGeom>
          <a:solidFill>
            <a:srgbClr val="183F1E"/>
          </a:solidFill>
          <a:ln w="12700">
            <a:solidFill>
              <a:srgbClr val="183F1E"/>
            </a:solidFill>
            <a:prstDash val="solid"/>
          </a:ln>
        </p:spPr>
      </p:sp>
      <p:sp>
        <p:nvSpPr>
          <p:cNvPr id="22" name="Text 20"/>
          <p:cNvSpPr txBox="1"/>
          <p:nvPr/>
        </p:nvSpPr>
        <p:spPr>
          <a:xfrm>
            <a:off x="685800" y="52898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3" name="Text 21"/>
          <p:cNvSpPr txBox="1"/>
          <p:nvPr/>
        </p:nvSpPr>
        <p:spPr>
          <a:xfrm>
            <a:off x="1188720" y="5225796"/>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Impôt sur le revenu</a:t>
            </a:r>
            <a:endParaRPr lang="en-US" sz="1400" dirty="0"/>
          </a:p>
        </p:txBody>
      </p:sp>
      <p:sp>
        <p:nvSpPr>
          <p:cNvPr id="24" name="Text 22"/>
          <p:cNvSpPr txBox="1"/>
          <p:nvPr/>
        </p:nvSpPr>
        <p:spPr>
          <a:xfrm>
            <a:off x="3383280" y="5225796"/>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Sophie ne peut pas liquider sa retraite : exonération dans la limite du plus élevé de (11 520 ; 7 500 ; 86 400) plafonnée à 6 PASS. L'indemnité de 15 000 € est totalement exonérée d'IR et n'entre pas dans le PAS.</a:t>
            </a:r>
            <a:endParaRPr lang="en-US" sz="1500" dirty="0"/>
          </a:p>
        </p:txBody>
      </p:sp>
      <p:sp>
        <p:nvSpPr>
          <p:cNvPr id="25" name="Text 2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6" name="Text 2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Rappel : activité partielle et APLD en 2026, et le cas de la canicule</a:t>
            </a:r>
            <a:endParaRPr lang="en-US" sz="28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34060"/>
                <a:gridCol w="4126022"/>
                <a:gridCol w="4034333"/>
              </a:tblGrid>
              <a:tr h="0">
                <a:tc>
                  <a:txBody>
                    <a:bodyPr/>
                    <a:lstStyle/>
                    <a:p>
                      <a:pPr algn="l" indent="0" marL="0">
                        <a:buNone/>
                      </a:pP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Activité partielle de droit commun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APLD (fin le 31 décembre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Indemnité versée au salarié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60 % de la rémunération horaire brute (limite 4,5 SMIC) : plancher 9,74 €, plafond 33,24 €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70 % : plancher 9,74 €, plafond 38,78 €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Allocation remboursée à l'employeur</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36 % : plancher 8,57 € (gelé), plafond 19,94 €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60 % : plancher 9,52 €, plafond 33,24 €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Autorisation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3 mois renouvelables, 6 mois maximum sur 12 mois ; consultation du CSE ; demande sur le portail APART</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Accord collectif ou document unilatéral homologué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Motif canicule (Q-R ministère du 25 juin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 Toute autre circonstance de caractère exceptionnel » (art. R. 5122-1, 5°) : vigilance orange ou rouge Météo-France, lien direct avec la baisse d'activité, caractère imprévisible et irrésistible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Non applicable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Conditions supplémentaires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Solutions alternatives d'abord : aménagement des horaires, télétravail, congés, récupération ; BTP : dispositif intempéries en priorité. Examen au cas par cas ; refus possible en cas de recours récurrent</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Télétravail : sécuriser la pratique</a:t>
            </a:r>
            <a:endParaRPr lang="en-US" sz="2800" dirty="0"/>
          </a:p>
        </p:txBody>
      </p:sp>
      <p:sp>
        <p:nvSpPr>
          <p:cNvPr id="3" name="Shape 1"/>
          <p:cNvSpPr/>
          <p:nvPr/>
        </p:nvSpPr>
        <p:spPr>
          <a:xfrm>
            <a:off x="548640" y="1325880"/>
            <a:ext cx="3515258" cy="2331720"/>
          </a:xfrm>
          <a:prstGeom prst="roundRect">
            <a:avLst>
              <a:gd name="adj" fmla="val 5882"/>
            </a:avLst>
          </a:prstGeom>
          <a:solidFill>
            <a:srgbClr val="FFF6F4"/>
          </a:solidFill>
          <a:ln w="12700">
            <a:solidFill>
              <a:srgbClr val="FFF6F4"/>
            </a:solidFill>
            <a:prstDash val="solid"/>
          </a:ln>
        </p:spPr>
      </p:sp>
      <p:sp>
        <p:nvSpPr>
          <p:cNvPr id="4" name="Shape 2"/>
          <p:cNvSpPr/>
          <p:nvPr/>
        </p:nvSpPr>
        <p:spPr>
          <a:xfrm>
            <a:off x="777240" y="1554480"/>
            <a:ext cx="420624" cy="420624"/>
          </a:xfrm>
          <a:prstGeom prst="ellipse">
            <a:avLst/>
          </a:prstGeom>
          <a:solidFill>
            <a:srgbClr val="8C3A27"/>
          </a:solidFill>
          <a:ln w="12700">
            <a:solidFill>
              <a:srgbClr val="8C3A27"/>
            </a:solidFill>
            <a:prstDash val="solid"/>
          </a:ln>
        </p:spPr>
      </p:sp>
      <p:sp>
        <p:nvSpPr>
          <p:cNvPr id="5" name="Text 3"/>
          <p:cNvSpPr txBox="1"/>
          <p:nvPr/>
        </p:nvSpPr>
        <p:spPr>
          <a:xfrm>
            <a:off x="777240"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325880"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L'attestation sur l'honneur</a:t>
            </a:r>
            <a:endParaRPr lang="en-US" sz="1500" dirty="0"/>
          </a:p>
        </p:txBody>
      </p:sp>
      <p:sp>
        <p:nvSpPr>
          <p:cNvPr id="7" name="Text 5"/>
          <p:cNvSpPr txBox="1"/>
          <p:nvPr/>
        </p:nvSpPr>
        <p:spPr>
          <a:xfrm>
            <a:off x="777240" y="210312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Modèle remis : le salarié atteste d'un poste ergonomique (prévention des TMS), d'une température adaptée, d'installations électriques conformes, du respect des durées maximales, pauses et amplitude.</a:t>
            </a:r>
            <a:endParaRPr lang="en-US" sz="1300" dirty="0"/>
          </a:p>
        </p:txBody>
      </p:sp>
      <p:sp>
        <p:nvSpPr>
          <p:cNvPr id="8" name="Shape 6"/>
          <p:cNvSpPr/>
          <p:nvPr/>
        </p:nvSpPr>
        <p:spPr>
          <a:xfrm>
            <a:off x="4338218" y="1325880"/>
            <a:ext cx="3515258" cy="2331720"/>
          </a:xfrm>
          <a:prstGeom prst="roundRect">
            <a:avLst>
              <a:gd name="adj" fmla="val 5882"/>
            </a:avLst>
          </a:prstGeom>
          <a:solidFill>
            <a:srgbClr val="FFF6F4"/>
          </a:solidFill>
          <a:ln w="12700">
            <a:solidFill>
              <a:srgbClr val="FFF6F4"/>
            </a:solidFill>
            <a:prstDash val="solid"/>
          </a:ln>
        </p:spPr>
      </p:sp>
      <p:sp>
        <p:nvSpPr>
          <p:cNvPr id="9" name="Shape 7"/>
          <p:cNvSpPr/>
          <p:nvPr/>
        </p:nvSpPr>
        <p:spPr>
          <a:xfrm>
            <a:off x="4566818" y="1554480"/>
            <a:ext cx="420624" cy="420624"/>
          </a:xfrm>
          <a:prstGeom prst="ellipse">
            <a:avLst/>
          </a:prstGeom>
          <a:solidFill>
            <a:srgbClr val="8C3A27"/>
          </a:solidFill>
          <a:ln w="12700">
            <a:solidFill>
              <a:srgbClr val="8C3A27"/>
            </a:solidFill>
            <a:prstDash val="solid"/>
          </a:ln>
        </p:spPr>
      </p:sp>
      <p:sp>
        <p:nvSpPr>
          <p:cNvPr id="10" name="Text 8"/>
          <p:cNvSpPr txBox="1"/>
          <p:nvPr/>
        </p:nvSpPr>
        <p:spPr>
          <a:xfrm>
            <a:off x="4566818"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5115458"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Pourquoi la faire signer ?</a:t>
            </a:r>
            <a:endParaRPr lang="en-US" sz="1500" dirty="0"/>
          </a:p>
        </p:txBody>
      </p:sp>
      <p:sp>
        <p:nvSpPr>
          <p:cNvPr id="12" name="Text 10"/>
          <p:cNvSpPr txBox="1"/>
          <p:nvPr/>
        </p:nvSpPr>
        <p:spPr>
          <a:xfrm>
            <a:off x="4566818" y="210312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Obligation de sécurité de l'employeur (art. L. 4121-1) et obligation du salarié de prendre soin de sa santé (art. L. 4122-1). L'accident survenu en télétravail est présumé accident du travail (art. L. 1222-9).</a:t>
            </a:r>
            <a:endParaRPr lang="en-US" sz="1300" dirty="0"/>
          </a:p>
        </p:txBody>
      </p:sp>
      <p:sp>
        <p:nvSpPr>
          <p:cNvPr id="13" name="Shape 11"/>
          <p:cNvSpPr/>
          <p:nvPr/>
        </p:nvSpPr>
        <p:spPr>
          <a:xfrm>
            <a:off x="8127797" y="1325880"/>
            <a:ext cx="3515258" cy="2331720"/>
          </a:xfrm>
          <a:prstGeom prst="roundRect">
            <a:avLst>
              <a:gd name="adj" fmla="val 5882"/>
            </a:avLst>
          </a:prstGeom>
          <a:solidFill>
            <a:srgbClr val="FFF6F4"/>
          </a:solidFill>
          <a:ln w="12700">
            <a:solidFill>
              <a:srgbClr val="FFF6F4"/>
            </a:solidFill>
            <a:prstDash val="solid"/>
          </a:ln>
        </p:spPr>
      </p:sp>
      <p:sp>
        <p:nvSpPr>
          <p:cNvPr id="14" name="Shape 12"/>
          <p:cNvSpPr/>
          <p:nvPr/>
        </p:nvSpPr>
        <p:spPr>
          <a:xfrm>
            <a:off x="8356397" y="1554480"/>
            <a:ext cx="420624" cy="420624"/>
          </a:xfrm>
          <a:prstGeom prst="ellipse">
            <a:avLst/>
          </a:prstGeom>
          <a:solidFill>
            <a:srgbClr val="8C3A27"/>
          </a:solidFill>
          <a:ln w="12700">
            <a:solidFill>
              <a:srgbClr val="8C3A27"/>
            </a:solidFill>
            <a:prstDash val="solid"/>
          </a:ln>
        </p:spPr>
      </p:sp>
      <p:sp>
        <p:nvSpPr>
          <p:cNvPr id="15" name="Text 13"/>
          <p:cNvSpPr txBox="1"/>
          <p:nvPr/>
        </p:nvSpPr>
        <p:spPr>
          <a:xfrm>
            <a:off x="8356397"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8905037"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Réflexes prévention</a:t>
            </a:r>
            <a:endParaRPr lang="en-US" sz="1500" dirty="0"/>
          </a:p>
        </p:txBody>
      </p:sp>
      <p:sp>
        <p:nvSpPr>
          <p:cNvPr id="17" name="Text 15"/>
          <p:cNvSpPr txBox="1"/>
          <p:nvPr/>
        </p:nvSpPr>
        <p:spPr>
          <a:xfrm>
            <a:off x="8356397" y="210312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Fiche réflexe en cas d'accident, brochure INRS ED 6454, coordonnées du service de prévention et de santé au travail, signalement immédiat de tout dysfonctionnement.</a:t>
            </a:r>
            <a:endParaRPr lang="en-US" sz="1300" dirty="0"/>
          </a:p>
        </p:txBody>
      </p:sp>
      <p:sp>
        <p:nvSpPr>
          <p:cNvPr id="18" name="Shape 16"/>
          <p:cNvSpPr/>
          <p:nvPr/>
        </p:nvSpPr>
        <p:spPr>
          <a:xfrm>
            <a:off x="548640" y="3931920"/>
            <a:ext cx="3515258" cy="2331720"/>
          </a:xfrm>
          <a:prstGeom prst="roundRect">
            <a:avLst>
              <a:gd name="adj" fmla="val 5882"/>
            </a:avLst>
          </a:prstGeom>
          <a:solidFill>
            <a:srgbClr val="FFF6F4"/>
          </a:solidFill>
          <a:ln w="12700">
            <a:solidFill>
              <a:srgbClr val="FFF6F4"/>
            </a:solidFill>
            <a:prstDash val="solid"/>
          </a:ln>
        </p:spPr>
      </p:sp>
      <p:sp>
        <p:nvSpPr>
          <p:cNvPr id="19" name="Shape 17"/>
          <p:cNvSpPr/>
          <p:nvPr/>
        </p:nvSpPr>
        <p:spPr>
          <a:xfrm>
            <a:off x="777240" y="4160520"/>
            <a:ext cx="420624" cy="420624"/>
          </a:xfrm>
          <a:prstGeom prst="ellipse">
            <a:avLst/>
          </a:prstGeom>
          <a:solidFill>
            <a:srgbClr val="8C3A27"/>
          </a:solidFill>
          <a:ln w="12700">
            <a:solidFill>
              <a:srgbClr val="8C3A27"/>
            </a:solidFill>
            <a:prstDash val="solid"/>
          </a:ln>
        </p:spPr>
      </p:sp>
      <p:sp>
        <p:nvSpPr>
          <p:cNvPr id="20" name="Text 18"/>
          <p:cNvSpPr txBox="1"/>
          <p:nvPr/>
        </p:nvSpPr>
        <p:spPr>
          <a:xfrm>
            <a:off x="777240" y="41605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txBox="1"/>
          <p:nvPr/>
        </p:nvSpPr>
        <p:spPr>
          <a:xfrm>
            <a:off x="1325880" y="413308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Frais de télétravail 2026</a:t>
            </a:r>
            <a:endParaRPr lang="en-US" sz="1500" dirty="0"/>
          </a:p>
        </p:txBody>
      </p:sp>
      <p:sp>
        <p:nvSpPr>
          <p:cNvPr id="22" name="Text 20"/>
          <p:cNvSpPr txBox="1"/>
          <p:nvPr/>
        </p:nvSpPr>
        <p:spPr>
          <a:xfrm>
            <a:off x="777240" y="470916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Allocation forfaitaire exonérée : 2,70 € par jour, 59,40 € par mois au plus ; matériel personnel : 55,20 € par mois ; ou frais réels sur justificatifs.</a:t>
            </a:r>
            <a:endParaRPr lang="en-US" sz="1300" dirty="0"/>
          </a:p>
        </p:txBody>
      </p:sp>
      <p:sp>
        <p:nvSpPr>
          <p:cNvPr id="23" name="Shape 21"/>
          <p:cNvSpPr/>
          <p:nvPr/>
        </p:nvSpPr>
        <p:spPr>
          <a:xfrm>
            <a:off x="4338218" y="3931920"/>
            <a:ext cx="3515258" cy="2331720"/>
          </a:xfrm>
          <a:prstGeom prst="roundRect">
            <a:avLst>
              <a:gd name="adj" fmla="val 5882"/>
            </a:avLst>
          </a:prstGeom>
          <a:solidFill>
            <a:srgbClr val="FFF6F4"/>
          </a:solidFill>
          <a:ln w="12700">
            <a:solidFill>
              <a:srgbClr val="FFF6F4"/>
            </a:solidFill>
            <a:prstDash val="solid"/>
          </a:ln>
        </p:spPr>
      </p:sp>
      <p:sp>
        <p:nvSpPr>
          <p:cNvPr id="24" name="Shape 22"/>
          <p:cNvSpPr/>
          <p:nvPr/>
        </p:nvSpPr>
        <p:spPr>
          <a:xfrm>
            <a:off x="4566818" y="4160520"/>
            <a:ext cx="420624" cy="420624"/>
          </a:xfrm>
          <a:prstGeom prst="ellipse">
            <a:avLst/>
          </a:prstGeom>
          <a:solidFill>
            <a:srgbClr val="8C3A27"/>
          </a:solidFill>
          <a:ln w="12700">
            <a:solidFill>
              <a:srgbClr val="8C3A27"/>
            </a:solidFill>
            <a:prstDash val="solid"/>
          </a:ln>
        </p:spPr>
      </p:sp>
      <p:sp>
        <p:nvSpPr>
          <p:cNvPr id="25" name="Text 23"/>
          <p:cNvSpPr txBox="1"/>
          <p:nvPr/>
        </p:nvSpPr>
        <p:spPr>
          <a:xfrm>
            <a:off x="4566818" y="41605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6" name="Text 24"/>
          <p:cNvSpPr txBox="1"/>
          <p:nvPr/>
        </p:nvSpPr>
        <p:spPr>
          <a:xfrm>
            <a:off x="5115458" y="413308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Titres-restaurant</a:t>
            </a:r>
            <a:endParaRPr lang="en-US" sz="1500" dirty="0"/>
          </a:p>
        </p:txBody>
      </p:sp>
      <p:sp>
        <p:nvSpPr>
          <p:cNvPr id="27" name="Text 25"/>
          <p:cNvSpPr txBox="1"/>
          <p:nvPr/>
        </p:nvSpPr>
        <p:spPr>
          <a:xfrm>
            <a:off x="4566818" y="470916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Mêmes droits que sur site (Cass. soc. 8 octobre 2025) : un titre par jour télétravaillé comprenant une pause repas ; participation exonérée jusqu'à 7,32 €.</a:t>
            </a:r>
            <a:endParaRPr lang="en-US" sz="1300" dirty="0"/>
          </a:p>
        </p:txBody>
      </p:sp>
      <p:sp>
        <p:nvSpPr>
          <p:cNvPr id="28" name="Shape 26"/>
          <p:cNvSpPr/>
          <p:nvPr/>
        </p:nvSpPr>
        <p:spPr>
          <a:xfrm>
            <a:off x="8127797" y="3931920"/>
            <a:ext cx="3515258" cy="2331720"/>
          </a:xfrm>
          <a:prstGeom prst="roundRect">
            <a:avLst>
              <a:gd name="adj" fmla="val 5882"/>
            </a:avLst>
          </a:prstGeom>
          <a:solidFill>
            <a:srgbClr val="FFF6F4"/>
          </a:solidFill>
          <a:ln w="12700">
            <a:solidFill>
              <a:srgbClr val="FFF6F4"/>
            </a:solidFill>
            <a:prstDash val="solid"/>
          </a:ln>
        </p:spPr>
      </p:sp>
      <p:sp>
        <p:nvSpPr>
          <p:cNvPr id="29" name="Shape 27"/>
          <p:cNvSpPr/>
          <p:nvPr/>
        </p:nvSpPr>
        <p:spPr>
          <a:xfrm>
            <a:off x="8356397" y="4160520"/>
            <a:ext cx="420624" cy="420624"/>
          </a:xfrm>
          <a:prstGeom prst="ellipse">
            <a:avLst/>
          </a:prstGeom>
          <a:solidFill>
            <a:srgbClr val="8C3A27"/>
          </a:solidFill>
          <a:ln w="12700">
            <a:solidFill>
              <a:srgbClr val="8C3A27"/>
            </a:solidFill>
            <a:prstDash val="solid"/>
          </a:ln>
        </p:spPr>
      </p:sp>
      <p:sp>
        <p:nvSpPr>
          <p:cNvPr id="30" name="Text 28"/>
          <p:cNvSpPr txBox="1"/>
          <p:nvPr/>
        </p:nvSpPr>
        <p:spPr>
          <a:xfrm>
            <a:off x="8356397" y="41605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1" name="Text 29"/>
          <p:cNvSpPr txBox="1"/>
          <p:nvPr/>
        </p:nvSpPr>
        <p:spPr>
          <a:xfrm>
            <a:off x="8905037" y="413308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Charte ou accord</a:t>
            </a:r>
            <a:endParaRPr lang="en-US" sz="1500" dirty="0"/>
          </a:p>
        </p:txBody>
      </p:sp>
      <p:sp>
        <p:nvSpPr>
          <p:cNvPr id="32" name="Text 30"/>
          <p:cNvSpPr txBox="1"/>
          <p:nvPr/>
        </p:nvSpPr>
        <p:spPr>
          <a:xfrm>
            <a:off x="8356397" y="4709160"/>
            <a:ext cx="3058058" cy="141732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Formaliser les jours, plages de joignabilité, droit à la déconnexion, prise en charge des frais et modalités de contrôle du temps de travail.</a:t>
            </a:r>
            <a:endParaRPr lang="en-US" sz="1300" dirty="0"/>
          </a:p>
        </p:txBody>
      </p:sp>
      <p:sp>
        <p:nvSpPr>
          <p:cNvPr id="33" name="Text 3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34" name="Text 3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Apparence physique et discrimination : la veille RH de l'été</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Défenseur des droits, décision n° 2026-113 du 20 mai 2026 : une hôtesse d'accueil mise à disposition pour un match de football voit sa participation annulée faute de pouvoir réaliser un brushing lisse, incompatible avec la nature de ses cheveux.</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Qualification : refus d'embauche discriminatoire fondé sur l'apparence physique (art. L. 1132-1) ; injonction de discriminer retenue contre le club donneur d'ordre.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Recommandations : revoir les pratiques de recrutement, former les recruteurs, réparer le préjudice ; pour le donneur d'ordre, exclure toute condition liée à la texture des cheveux.</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Antécédents : Cass. soc. 23 novembre 2022, n° 21-14.060 (steward et coiffure) ; proposition de loi sur la discrimination capillaire adoptée par l'Assemblée nationale le 28 mars 2024, non examinée par le Sénat.</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Enjeu paie : une discrimination entraîne la nullité de la mesure, des rappels de salaire et des dommages-intérêts ; le gestionnaire de paie doit alerter dès qu'une prime, une classification ou une embauche dépend d'un critère d'apparence.</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2E5D8"/>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Quiz 4 : jurisprudence et ruptures</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QUIZ 4</a:t>
            </a:r>
            <a:endParaRPr lang="en-US" sz="1000" dirty="0"/>
          </a:p>
        </p:txBody>
      </p:sp>
      <p:sp>
        <p:nvSpPr>
          <p:cNvPr id="5" name="Shape 3"/>
          <p:cNvSpPr/>
          <p:nvPr/>
        </p:nvSpPr>
        <p:spPr>
          <a:xfrm>
            <a:off x="548640" y="1325880"/>
            <a:ext cx="11094415" cy="1554480"/>
          </a:xfrm>
          <a:prstGeom prst="roundRect">
            <a:avLst>
              <a:gd name="adj" fmla="val 5882"/>
            </a:avLst>
          </a:prstGeom>
          <a:solidFill>
            <a:srgbClr val="FFFFFF"/>
          </a:solidFill>
          <a:ln w="12700">
            <a:solidFill>
              <a:srgbClr val="FFFFFF"/>
            </a:solidFill>
            <a:prstDash val="solid"/>
          </a:ln>
        </p:spPr>
      </p:sp>
      <p:sp>
        <p:nvSpPr>
          <p:cNvPr id="6" name="Shape 4"/>
          <p:cNvSpPr/>
          <p:nvPr/>
        </p:nvSpPr>
        <p:spPr>
          <a:xfrm>
            <a:off x="685800" y="1444752"/>
            <a:ext cx="384048" cy="384048"/>
          </a:xfrm>
          <a:prstGeom prst="ellipse">
            <a:avLst/>
          </a:prstGeom>
          <a:solidFill>
            <a:srgbClr val="8C3A27"/>
          </a:solidFill>
          <a:ln w="12700">
            <a:solidFill>
              <a:srgbClr val="8C3A27"/>
            </a:solidFill>
            <a:prstDash val="solid"/>
          </a:ln>
        </p:spPr>
      </p:sp>
      <p:sp>
        <p:nvSpPr>
          <p:cNvPr id="7" name="Text 5"/>
          <p:cNvSpPr txBox="1"/>
          <p:nvPr/>
        </p:nvSpPr>
        <p:spPr>
          <a:xfrm>
            <a:off x="68580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99032"/>
            <a:ext cx="10271455" cy="53644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Un accord d'entreprise prévoit une indemnité de licenciement inférieure à celle de la branche. Le minimum de l'indemnité de rupture conventionnelle est :</a:t>
            </a:r>
            <a:endParaRPr lang="en-US" sz="1400" dirty="0"/>
          </a:p>
        </p:txBody>
      </p:sp>
      <p:sp>
        <p:nvSpPr>
          <p:cNvPr id="9" name="Shape 7"/>
          <p:cNvSpPr/>
          <p:nvPr/>
        </p:nvSpPr>
        <p:spPr>
          <a:xfrm>
            <a:off x="1188720" y="1972056"/>
            <a:ext cx="3301898" cy="835152"/>
          </a:xfrm>
          <a:prstGeom prst="roundRect">
            <a:avLst>
              <a:gd name="adj" fmla="val 8759"/>
            </a:avLst>
          </a:prstGeom>
          <a:solidFill>
            <a:srgbClr val="FFF6F4"/>
          </a:solidFill>
          <a:ln w="9525">
            <a:solidFill>
              <a:srgbClr val="F0C8BC"/>
            </a:solidFill>
            <a:prstDash val="solid"/>
          </a:ln>
        </p:spPr>
      </p:sp>
      <p:sp>
        <p:nvSpPr>
          <p:cNvPr id="10" name="Text 8"/>
          <p:cNvSpPr txBox="1"/>
          <p:nvPr/>
        </p:nvSpPr>
        <p:spPr>
          <a:xfrm>
            <a:off x="1261872" y="197205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11" name="Text 9"/>
          <p:cNvSpPr txBox="1"/>
          <p:nvPr/>
        </p:nvSpPr>
        <p:spPr>
          <a:xfrm>
            <a:off x="1572768" y="197205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Celui de la branche, plus favorable</a:t>
            </a:r>
            <a:endParaRPr lang="en-US" sz="1200" dirty="0"/>
          </a:p>
        </p:txBody>
      </p:sp>
      <p:sp>
        <p:nvSpPr>
          <p:cNvPr id="12" name="Shape 10"/>
          <p:cNvSpPr/>
          <p:nvPr/>
        </p:nvSpPr>
        <p:spPr>
          <a:xfrm>
            <a:off x="4673498" y="1972056"/>
            <a:ext cx="3301898" cy="835152"/>
          </a:xfrm>
          <a:prstGeom prst="roundRect">
            <a:avLst>
              <a:gd name="adj" fmla="val 8759"/>
            </a:avLst>
          </a:prstGeom>
          <a:solidFill>
            <a:srgbClr val="FFF6F4"/>
          </a:solidFill>
          <a:ln w="9525">
            <a:solidFill>
              <a:srgbClr val="F0C8BC"/>
            </a:solidFill>
            <a:prstDash val="solid"/>
          </a:ln>
        </p:spPr>
      </p:sp>
      <p:sp>
        <p:nvSpPr>
          <p:cNvPr id="13" name="Text 11"/>
          <p:cNvSpPr txBox="1"/>
          <p:nvPr/>
        </p:nvSpPr>
        <p:spPr>
          <a:xfrm>
            <a:off x="4746650" y="197205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14" name="Text 12"/>
          <p:cNvSpPr txBox="1"/>
          <p:nvPr/>
        </p:nvSpPr>
        <p:spPr>
          <a:xfrm>
            <a:off x="5057546" y="197205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Celui de l'accord d'entreprise (Cass. soc. 1er juillet 2026)</a:t>
            </a:r>
            <a:endParaRPr lang="en-US" sz="1200" dirty="0"/>
          </a:p>
        </p:txBody>
      </p:sp>
      <p:sp>
        <p:nvSpPr>
          <p:cNvPr id="15" name="Shape 13"/>
          <p:cNvSpPr/>
          <p:nvPr/>
        </p:nvSpPr>
        <p:spPr>
          <a:xfrm>
            <a:off x="8158277" y="1972056"/>
            <a:ext cx="3301898" cy="835152"/>
          </a:xfrm>
          <a:prstGeom prst="roundRect">
            <a:avLst>
              <a:gd name="adj" fmla="val 8759"/>
            </a:avLst>
          </a:prstGeom>
          <a:solidFill>
            <a:srgbClr val="FFF6F4"/>
          </a:solidFill>
          <a:ln w="9525">
            <a:solidFill>
              <a:srgbClr val="F0C8BC"/>
            </a:solidFill>
            <a:prstDash val="solid"/>
          </a:ln>
        </p:spPr>
      </p:sp>
      <p:sp>
        <p:nvSpPr>
          <p:cNvPr id="16" name="Text 14"/>
          <p:cNvSpPr txBox="1"/>
          <p:nvPr/>
        </p:nvSpPr>
        <p:spPr>
          <a:xfrm>
            <a:off x="8231429" y="1972056"/>
            <a:ext cx="320040" cy="83515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17" name="Text 15"/>
          <p:cNvSpPr txBox="1"/>
          <p:nvPr/>
        </p:nvSpPr>
        <p:spPr>
          <a:xfrm>
            <a:off x="8542325" y="1972056"/>
            <a:ext cx="2844698" cy="83515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L'indemnité légale uniquement</a:t>
            </a:r>
            <a:endParaRPr lang="en-US" sz="1200" dirty="0"/>
          </a:p>
        </p:txBody>
      </p:sp>
      <p:sp>
        <p:nvSpPr>
          <p:cNvPr id="18" name="Shape 16"/>
          <p:cNvSpPr/>
          <p:nvPr/>
        </p:nvSpPr>
        <p:spPr>
          <a:xfrm>
            <a:off x="548640" y="3017520"/>
            <a:ext cx="11094415" cy="1554480"/>
          </a:xfrm>
          <a:prstGeom prst="roundRect">
            <a:avLst>
              <a:gd name="adj" fmla="val 5882"/>
            </a:avLst>
          </a:prstGeom>
          <a:solidFill>
            <a:srgbClr val="FFFFFF"/>
          </a:solidFill>
          <a:ln w="12700">
            <a:solidFill>
              <a:srgbClr val="FFFFFF"/>
            </a:solidFill>
            <a:prstDash val="solid"/>
          </a:ln>
        </p:spPr>
      </p:sp>
      <p:sp>
        <p:nvSpPr>
          <p:cNvPr id="19" name="Shape 17"/>
          <p:cNvSpPr/>
          <p:nvPr/>
        </p:nvSpPr>
        <p:spPr>
          <a:xfrm>
            <a:off x="685800" y="3136392"/>
            <a:ext cx="384048" cy="384048"/>
          </a:xfrm>
          <a:prstGeom prst="ellipse">
            <a:avLst/>
          </a:prstGeom>
          <a:solidFill>
            <a:srgbClr val="8C3A27"/>
          </a:solidFill>
          <a:ln w="12700">
            <a:solidFill>
              <a:srgbClr val="8C3A27"/>
            </a:solidFill>
            <a:prstDash val="solid"/>
          </a:ln>
        </p:spPr>
      </p:sp>
      <p:sp>
        <p:nvSpPr>
          <p:cNvPr id="20" name="Text 18"/>
          <p:cNvSpPr txBox="1"/>
          <p:nvPr/>
        </p:nvSpPr>
        <p:spPr>
          <a:xfrm>
            <a:off x="685800" y="31363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1" name="Text 19"/>
          <p:cNvSpPr txBox="1"/>
          <p:nvPr/>
        </p:nvSpPr>
        <p:spPr>
          <a:xfrm>
            <a:off x="1188720" y="3090672"/>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L'homologation d'un PSE est annulée après le versement des indemnités. Conséquence pour l'Urssaf :</a:t>
            </a:r>
            <a:endParaRPr lang="en-US" sz="1400" dirty="0"/>
          </a:p>
        </p:txBody>
      </p:sp>
      <p:sp>
        <p:nvSpPr>
          <p:cNvPr id="22" name="Shape 20"/>
          <p:cNvSpPr/>
          <p:nvPr/>
        </p:nvSpPr>
        <p:spPr>
          <a:xfrm>
            <a:off x="1188720" y="3450336"/>
            <a:ext cx="3301898" cy="1048512"/>
          </a:xfrm>
          <a:prstGeom prst="roundRect">
            <a:avLst>
              <a:gd name="adj" fmla="val 6977"/>
            </a:avLst>
          </a:prstGeom>
          <a:solidFill>
            <a:srgbClr val="FFF6F4"/>
          </a:solidFill>
          <a:ln w="9525">
            <a:solidFill>
              <a:srgbClr val="F0C8BC"/>
            </a:solidFill>
            <a:prstDash val="solid"/>
          </a:ln>
        </p:spPr>
      </p:sp>
      <p:sp>
        <p:nvSpPr>
          <p:cNvPr id="23" name="Text 21"/>
          <p:cNvSpPr txBox="1"/>
          <p:nvPr/>
        </p:nvSpPr>
        <p:spPr>
          <a:xfrm>
            <a:off x="1261872" y="345033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24" name="Text 22"/>
          <p:cNvSpPr txBox="1"/>
          <p:nvPr/>
        </p:nvSpPr>
        <p:spPr>
          <a:xfrm>
            <a:off x="1572768" y="345033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Aucune, les indemnités ont été versées de bonne foi</a:t>
            </a:r>
            <a:endParaRPr lang="en-US" sz="1200" dirty="0"/>
          </a:p>
        </p:txBody>
      </p:sp>
      <p:sp>
        <p:nvSpPr>
          <p:cNvPr id="25" name="Shape 23"/>
          <p:cNvSpPr/>
          <p:nvPr/>
        </p:nvSpPr>
        <p:spPr>
          <a:xfrm>
            <a:off x="4673498" y="3450336"/>
            <a:ext cx="3301898" cy="1048512"/>
          </a:xfrm>
          <a:prstGeom prst="roundRect">
            <a:avLst>
              <a:gd name="adj" fmla="val 6977"/>
            </a:avLst>
          </a:prstGeom>
          <a:solidFill>
            <a:srgbClr val="FFF6F4"/>
          </a:solidFill>
          <a:ln w="9525">
            <a:solidFill>
              <a:srgbClr val="F0C8BC"/>
            </a:solidFill>
            <a:prstDash val="solid"/>
          </a:ln>
        </p:spPr>
      </p:sp>
      <p:sp>
        <p:nvSpPr>
          <p:cNvPr id="26" name="Text 24"/>
          <p:cNvSpPr txBox="1"/>
          <p:nvPr/>
        </p:nvSpPr>
        <p:spPr>
          <a:xfrm>
            <a:off x="4746650" y="345033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27" name="Text 25"/>
          <p:cNvSpPr txBox="1"/>
          <p:nvPr/>
        </p:nvSpPr>
        <p:spPr>
          <a:xfrm>
            <a:off x="5057546" y="345033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Perte du régime social de faveur et réintégration dans l'assiette</a:t>
            </a:r>
            <a:endParaRPr lang="en-US" sz="1200" dirty="0"/>
          </a:p>
        </p:txBody>
      </p:sp>
      <p:sp>
        <p:nvSpPr>
          <p:cNvPr id="28" name="Shape 26"/>
          <p:cNvSpPr/>
          <p:nvPr/>
        </p:nvSpPr>
        <p:spPr>
          <a:xfrm>
            <a:off x="8158277" y="3450336"/>
            <a:ext cx="3301898" cy="1048512"/>
          </a:xfrm>
          <a:prstGeom prst="roundRect">
            <a:avLst>
              <a:gd name="adj" fmla="val 6977"/>
            </a:avLst>
          </a:prstGeom>
          <a:solidFill>
            <a:srgbClr val="FFF6F4"/>
          </a:solidFill>
          <a:ln w="9525">
            <a:solidFill>
              <a:srgbClr val="F0C8BC"/>
            </a:solidFill>
            <a:prstDash val="solid"/>
          </a:ln>
        </p:spPr>
      </p:sp>
      <p:sp>
        <p:nvSpPr>
          <p:cNvPr id="29" name="Text 27"/>
          <p:cNvSpPr txBox="1"/>
          <p:nvPr/>
        </p:nvSpPr>
        <p:spPr>
          <a:xfrm>
            <a:off x="8231429" y="345033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30" name="Text 28"/>
          <p:cNvSpPr txBox="1"/>
          <p:nvPr/>
        </p:nvSpPr>
        <p:spPr>
          <a:xfrm>
            <a:off x="8542325" y="345033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Seule la CSG-CRDS est due</a:t>
            </a:r>
            <a:endParaRPr lang="en-US" sz="1200" dirty="0"/>
          </a:p>
        </p:txBody>
      </p:sp>
      <p:sp>
        <p:nvSpPr>
          <p:cNvPr id="31" name="Shape 29"/>
          <p:cNvSpPr/>
          <p:nvPr/>
        </p:nvSpPr>
        <p:spPr>
          <a:xfrm>
            <a:off x="548640" y="4709160"/>
            <a:ext cx="11094415" cy="1554480"/>
          </a:xfrm>
          <a:prstGeom prst="roundRect">
            <a:avLst>
              <a:gd name="adj" fmla="val 5882"/>
            </a:avLst>
          </a:prstGeom>
          <a:solidFill>
            <a:srgbClr val="FFFFFF"/>
          </a:solidFill>
          <a:ln w="12700">
            <a:solidFill>
              <a:srgbClr val="FFFFFF"/>
            </a:solidFill>
            <a:prstDash val="solid"/>
          </a:ln>
        </p:spPr>
      </p:sp>
      <p:sp>
        <p:nvSpPr>
          <p:cNvPr id="32" name="Shape 30"/>
          <p:cNvSpPr/>
          <p:nvPr/>
        </p:nvSpPr>
        <p:spPr>
          <a:xfrm>
            <a:off x="685800" y="4828032"/>
            <a:ext cx="384048" cy="384048"/>
          </a:xfrm>
          <a:prstGeom prst="ellipse">
            <a:avLst/>
          </a:prstGeom>
          <a:solidFill>
            <a:srgbClr val="8C3A27"/>
          </a:solidFill>
          <a:ln w="12700">
            <a:solidFill>
              <a:srgbClr val="8C3A27"/>
            </a:solidFill>
            <a:prstDash val="solid"/>
          </a:ln>
        </p:spPr>
      </p:sp>
      <p:sp>
        <p:nvSpPr>
          <p:cNvPr id="33" name="Text 31"/>
          <p:cNvSpPr txBox="1"/>
          <p:nvPr/>
        </p:nvSpPr>
        <p:spPr>
          <a:xfrm>
            <a:off x="685800" y="48280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34" name="Text 32"/>
          <p:cNvSpPr txBox="1"/>
          <p:nvPr/>
        </p:nvSpPr>
        <p:spPr>
          <a:xfrm>
            <a:off x="1188720" y="4782312"/>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En cas de canicule, une entreprise peut obtenir l'activité partielle :</a:t>
            </a:r>
            <a:endParaRPr lang="en-US" sz="1400" dirty="0"/>
          </a:p>
        </p:txBody>
      </p:sp>
      <p:sp>
        <p:nvSpPr>
          <p:cNvPr id="35" name="Shape 33"/>
          <p:cNvSpPr/>
          <p:nvPr/>
        </p:nvSpPr>
        <p:spPr>
          <a:xfrm>
            <a:off x="1188720" y="5141976"/>
            <a:ext cx="3301898" cy="1048512"/>
          </a:xfrm>
          <a:prstGeom prst="roundRect">
            <a:avLst>
              <a:gd name="adj" fmla="val 6977"/>
            </a:avLst>
          </a:prstGeom>
          <a:solidFill>
            <a:srgbClr val="FFF6F4"/>
          </a:solidFill>
          <a:ln w="9525">
            <a:solidFill>
              <a:srgbClr val="F0C8BC"/>
            </a:solidFill>
            <a:prstDash val="solid"/>
          </a:ln>
        </p:spPr>
      </p:sp>
      <p:sp>
        <p:nvSpPr>
          <p:cNvPr id="36" name="Text 34"/>
          <p:cNvSpPr txBox="1"/>
          <p:nvPr/>
        </p:nvSpPr>
        <p:spPr>
          <a:xfrm>
            <a:off x="1261872" y="514197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37" name="Text 35"/>
          <p:cNvSpPr txBox="1"/>
          <p:nvPr/>
        </p:nvSpPr>
        <p:spPr>
          <a:xfrm>
            <a:off x="1572768" y="514197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Automatiquement dès 35 °C</a:t>
            </a:r>
            <a:endParaRPr lang="en-US" sz="1200" dirty="0"/>
          </a:p>
        </p:txBody>
      </p:sp>
      <p:sp>
        <p:nvSpPr>
          <p:cNvPr id="38" name="Shape 36"/>
          <p:cNvSpPr/>
          <p:nvPr/>
        </p:nvSpPr>
        <p:spPr>
          <a:xfrm>
            <a:off x="4673498" y="5141976"/>
            <a:ext cx="3301898" cy="1048512"/>
          </a:xfrm>
          <a:prstGeom prst="roundRect">
            <a:avLst>
              <a:gd name="adj" fmla="val 6977"/>
            </a:avLst>
          </a:prstGeom>
          <a:solidFill>
            <a:srgbClr val="FFF6F4"/>
          </a:solidFill>
          <a:ln w="9525">
            <a:solidFill>
              <a:srgbClr val="F0C8BC"/>
            </a:solidFill>
            <a:prstDash val="solid"/>
          </a:ln>
        </p:spPr>
      </p:sp>
      <p:sp>
        <p:nvSpPr>
          <p:cNvPr id="39" name="Text 37"/>
          <p:cNvSpPr txBox="1"/>
          <p:nvPr/>
        </p:nvSpPr>
        <p:spPr>
          <a:xfrm>
            <a:off x="4746650" y="514197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40" name="Text 38"/>
          <p:cNvSpPr txBox="1"/>
          <p:nvPr/>
        </p:nvSpPr>
        <p:spPr>
          <a:xfrm>
            <a:off x="5057546" y="514197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Si la vigilance est orange ou rouge, le lien est direct et les alternatives ont été mobilisées</a:t>
            </a:r>
            <a:endParaRPr lang="en-US" sz="1200" dirty="0"/>
          </a:p>
        </p:txBody>
      </p:sp>
      <p:sp>
        <p:nvSpPr>
          <p:cNvPr id="41" name="Shape 39"/>
          <p:cNvSpPr/>
          <p:nvPr/>
        </p:nvSpPr>
        <p:spPr>
          <a:xfrm>
            <a:off x="8158277" y="5141976"/>
            <a:ext cx="3301898" cy="1048512"/>
          </a:xfrm>
          <a:prstGeom prst="roundRect">
            <a:avLst>
              <a:gd name="adj" fmla="val 6977"/>
            </a:avLst>
          </a:prstGeom>
          <a:solidFill>
            <a:srgbClr val="FFF6F4"/>
          </a:solidFill>
          <a:ln w="9525">
            <a:solidFill>
              <a:srgbClr val="F0C8BC"/>
            </a:solidFill>
            <a:prstDash val="solid"/>
          </a:ln>
        </p:spPr>
      </p:sp>
      <p:sp>
        <p:nvSpPr>
          <p:cNvPr id="42" name="Text 40"/>
          <p:cNvSpPr txBox="1"/>
          <p:nvPr/>
        </p:nvSpPr>
        <p:spPr>
          <a:xfrm>
            <a:off x="8231429" y="5141976"/>
            <a:ext cx="320040" cy="1048512"/>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43" name="Text 41"/>
          <p:cNvSpPr txBox="1"/>
          <p:nvPr/>
        </p:nvSpPr>
        <p:spPr>
          <a:xfrm>
            <a:off x="8542325" y="5141976"/>
            <a:ext cx="2844698" cy="1048512"/>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Uniquement dans le BTP</a:t>
            </a:r>
            <a:endParaRPr lang="en-US" sz="1200" dirty="0"/>
          </a:p>
        </p:txBody>
      </p:sp>
      <p:sp>
        <p:nvSpPr>
          <p:cNvPr id="44" name="Text 4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45" name="Text 4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Réponses du quiz 4 : jurisprudence et ruptures</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RÉPONSES</a:t>
            </a:r>
            <a:endParaRPr lang="en-US" sz="1000" dirty="0"/>
          </a:p>
        </p:txBody>
      </p:sp>
      <p:sp>
        <p:nvSpPr>
          <p:cNvPr id="5" name="Shape 3"/>
          <p:cNvSpPr/>
          <p:nvPr/>
        </p:nvSpPr>
        <p:spPr>
          <a:xfrm>
            <a:off x="548640" y="1325880"/>
            <a:ext cx="11094415" cy="1554480"/>
          </a:xfrm>
          <a:prstGeom prst="roundRect">
            <a:avLst>
              <a:gd name="adj" fmla="val 5882"/>
            </a:avLst>
          </a:prstGeom>
          <a:solidFill>
            <a:srgbClr val="FFF6F4"/>
          </a:solidFill>
          <a:ln w="12700">
            <a:solidFill>
              <a:srgbClr val="FFF6F4"/>
            </a:solidFill>
            <a:prstDash val="solid"/>
          </a:ln>
        </p:spPr>
      </p:sp>
      <p:sp>
        <p:nvSpPr>
          <p:cNvPr id="6" name="Shape 4"/>
          <p:cNvSpPr/>
          <p:nvPr/>
        </p:nvSpPr>
        <p:spPr>
          <a:xfrm>
            <a:off x="685800" y="1444752"/>
            <a:ext cx="384048" cy="384048"/>
          </a:xfrm>
          <a:prstGeom prst="ellipse">
            <a:avLst/>
          </a:prstGeom>
          <a:solidFill>
            <a:srgbClr val="8C3A27"/>
          </a:solidFill>
          <a:ln w="12700">
            <a:solidFill>
              <a:srgbClr val="8C3A27"/>
            </a:solidFill>
            <a:prstDash val="solid"/>
          </a:ln>
        </p:spPr>
      </p:sp>
      <p:sp>
        <p:nvSpPr>
          <p:cNvPr id="7" name="Text 5"/>
          <p:cNvSpPr txBox="1"/>
          <p:nvPr/>
        </p:nvSpPr>
        <p:spPr>
          <a:xfrm>
            <a:off x="68580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80744"/>
            <a:ext cx="10271455" cy="144475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Celui de l'accord d'entreprise (Cass. soc. 1er juillet 2026)</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Art. L. 2253-3 : l'accord d'entreprise prévaut sur la branche pour cet objet, que son montant soit supérieur ou inférieur. L'indemnité légale reste un plancher.</a:t>
            </a:r>
            <a:endParaRPr lang="en-US" sz="1400" dirty="0"/>
          </a:p>
        </p:txBody>
      </p:sp>
      <p:sp>
        <p:nvSpPr>
          <p:cNvPr id="9" name="Shape 7"/>
          <p:cNvSpPr/>
          <p:nvPr/>
        </p:nvSpPr>
        <p:spPr>
          <a:xfrm>
            <a:off x="548640" y="3017520"/>
            <a:ext cx="11094415" cy="1554480"/>
          </a:xfrm>
          <a:prstGeom prst="roundRect">
            <a:avLst>
              <a:gd name="adj" fmla="val 5882"/>
            </a:avLst>
          </a:prstGeom>
          <a:solidFill>
            <a:srgbClr val="FFF6F4"/>
          </a:solidFill>
          <a:ln w="12700">
            <a:solidFill>
              <a:srgbClr val="FFF6F4"/>
            </a:solidFill>
            <a:prstDash val="solid"/>
          </a:ln>
        </p:spPr>
      </p:sp>
      <p:sp>
        <p:nvSpPr>
          <p:cNvPr id="10" name="Shape 8"/>
          <p:cNvSpPr/>
          <p:nvPr/>
        </p:nvSpPr>
        <p:spPr>
          <a:xfrm>
            <a:off x="685800" y="3136392"/>
            <a:ext cx="384048" cy="384048"/>
          </a:xfrm>
          <a:prstGeom prst="ellipse">
            <a:avLst/>
          </a:prstGeom>
          <a:solidFill>
            <a:srgbClr val="8C3A27"/>
          </a:solidFill>
          <a:ln w="12700">
            <a:solidFill>
              <a:srgbClr val="8C3A27"/>
            </a:solidFill>
            <a:prstDash val="solid"/>
          </a:ln>
        </p:spPr>
      </p:sp>
      <p:sp>
        <p:nvSpPr>
          <p:cNvPr id="11" name="Text 9"/>
          <p:cNvSpPr txBox="1"/>
          <p:nvPr/>
        </p:nvSpPr>
        <p:spPr>
          <a:xfrm>
            <a:off x="685800" y="313639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txBox="1"/>
          <p:nvPr/>
        </p:nvSpPr>
        <p:spPr>
          <a:xfrm>
            <a:off x="1188720" y="3072384"/>
            <a:ext cx="10271455" cy="144475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Perte du régime social de faveur et réintégration dans l'assiette</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Cass. 2e civ. 25 juin 2026 : l'exonération exige un plan régulièrement homologué ; le redressement est validé.</a:t>
            </a:r>
            <a:endParaRPr lang="en-US" sz="1400" dirty="0"/>
          </a:p>
        </p:txBody>
      </p:sp>
      <p:sp>
        <p:nvSpPr>
          <p:cNvPr id="13" name="Shape 11"/>
          <p:cNvSpPr/>
          <p:nvPr/>
        </p:nvSpPr>
        <p:spPr>
          <a:xfrm>
            <a:off x="548640" y="4709160"/>
            <a:ext cx="11094415" cy="1554480"/>
          </a:xfrm>
          <a:prstGeom prst="roundRect">
            <a:avLst>
              <a:gd name="adj" fmla="val 5882"/>
            </a:avLst>
          </a:prstGeom>
          <a:solidFill>
            <a:srgbClr val="FFF6F4"/>
          </a:solidFill>
          <a:ln w="12700">
            <a:solidFill>
              <a:srgbClr val="FFF6F4"/>
            </a:solidFill>
            <a:prstDash val="solid"/>
          </a:ln>
        </p:spPr>
      </p:sp>
      <p:sp>
        <p:nvSpPr>
          <p:cNvPr id="14" name="Shape 12"/>
          <p:cNvSpPr/>
          <p:nvPr/>
        </p:nvSpPr>
        <p:spPr>
          <a:xfrm>
            <a:off x="685800" y="4828032"/>
            <a:ext cx="384048" cy="384048"/>
          </a:xfrm>
          <a:prstGeom prst="ellipse">
            <a:avLst/>
          </a:prstGeom>
          <a:solidFill>
            <a:srgbClr val="8C3A27"/>
          </a:solidFill>
          <a:ln w="12700">
            <a:solidFill>
              <a:srgbClr val="8C3A27"/>
            </a:solidFill>
            <a:prstDash val="solid"/>
          </a:ln>
        </p:spPr>
      </p:sp>
      <p:sp>
        <p:nvSpPr>
          <p:cNvPr id="15" name="Text 13"/>
          <p:cNvSpPr txBox="1"/>
          <p:nvPr/>
        </p:nvSpPr>
        <p:spPr>
          <a:xfrm>
            <a:off x="685800" y="482803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188720" y="4764024"/>
            <a:ext cx="10271455" cy="1444752"/>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B · Si la vigilance est orange ou rouge, le lien est direct et les alternatives ont été mobilisées</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Q-R du ministère du travail du 25 juin 2026 : examen au cas par cas ; le BTP doit d'abord activer le dispositif intempéries.</a:t>
            </a:r>
            <a:endParaRPr lang="en-US" sz="1400" dirty="0"/>
          </a:p>
        </p:txBody>
      </p:sp>
      <p:sp>
        <p:nvSpPr>
          <p:cNvPr id="17" name="Text 1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18" name="Text 1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435369"/>
        </a:solidFill>
      </p:bgPr>
    </p:bg>
    <p:spTree>
      <p:nvGrpSpPr>
        <p:cNvPr id="1" name=""/>
        <p:cNvGrpSpPr/>
        <p:nvPr/>
      </p:nvGrpSpPr>
      <p:grpSpPr>
        <a:xfrm>
          <a:off x="0" y="0"/>
          <a:ext cx="0" cy="0"/>
          <a:chOff x="0" y="0"/>
          <a:chExt cx="0" cy="0"/>
        </a:xfrm>
      </p:grpSpPr>
      <p:sp>
        <p:nvSpPr>
          <p:cNvPr id="2" name="Shape 0"/>
          <p:cNvSpPr/>
          <p:nvPr/>
        </p:nvSpPr>
        <p:spPr>
          <a:xfrm>
            <a:off x="9235440" y="822960"/>
            <a:ext cx="4206240" cy="4206240"/>
          </a:xfrm>
          <a:prstGeom prst="ellipse">
            <a:avLst/>
          </a:prstGeom>
          <a:solidFill>
            <a:srgbClr val="8C3A27"/>
          </a:solidFill>
          <a:ln w="12700">
            <a:solidFill>
              <a:srgbClr val="8C3A27"/>
            </a:solidFill>
            <a:prstDash val="solid"/>
          </a:ln>
        </p:spPr>
      </p:sp>
      <p:sp>
        <p:nvSpPr>
          <p:cNvPr id="3" name="Text 1"/>
          <p:cNvSpPr txBox="1"/>
          <p:nvPr/>
        </p:nvSpPr>
        <p:spPr>
          <a:xfrm>
            <a:off x="9235440" y="822960"/>
            <a:ext cx="4206240" cy="4206240"/>
          </a:xfrm>
          <a:prstGeom prst="rect">
            <a:avLst/>
          </a:prstGeom>
          <a:noFill/>
          <a:ln/>
        </p:spPr>
        <p:txBody>
          <a:bodyPr wrap="square" lIns="0" tIns="0" rIns="0" bIns="0" rtlCol="0" anchor="ctr"/>
          <a:lstStyle/>
          <a:p>
            <a:pPr algn="ctr" indent="0" marL="0">
              <a:buNone/>
            </a:pPr>
            <a:r>
              <a:rPr lang="en-US" sz="9600" b="1" dirty="0">
                <a:solidFill>
                  <a:srgbClr val="FFFFFF"/>
                </a:solidFill>
                <a:latin typeface="Cambria" pitchFamily="34" charset="0"/>
                <a:ea typeface="Cambria" pitchFamily="34" charset="-122"/>
                <a:cs typeface="Cambria" pitchFamily="34" charset="-120"/>
              </a:rPr>
              <a:t>05</a:t>
            </a:r>
            <a:endParaRPr lang="en-US" sz="9600" dirty="0"/>
          </a:p>
        </p:txBody>
      </p:sp>
      <p:sp>
        <p:nvSpPr>
          <p:cNvPr id="4" name="Text 2"/>
          <p:cNvSpPr txBox="1"/>
          <p:nvPr/>
        </p:nvSpPr>
        <p:spPr>
          <a:xfrm>
            <a:off x="548640" y="1554480"/>
            <a:ext cx="5486400" cy="457200"/>
          </a:xfrm>
          <a:prstGeom prst="rect">
            <a:avLst/>
          </a:prstGeom>
          <a:noFill/>
          <a:ln/>
        </p:spPr>
        <p:txBody>
          <a:bodyPr wrap="square" lIns="0" tIns="0" rIns="0" bIns="0" rtlCol="0" anchor="ctr"/>
          <a:lstStyle/>
          <a:p>
            <a:pPr indent="0" marL="0">
              <a:buNone/>
            </a:pPr>
            <a:r>
              <a:rPr lang="en-US" sz="1600" spc="300" kern="0" dirty="0">
                <a:solidFill>
                  <a:srgbClr val="D9A390"/>
                </a:solidFill>
                <a:latin typeface="Calibri" pitchFamily="34" charset="0"/>
                <a:ea typeface="Calibri" pitchFamily="34" charset="-122"/>
                <a:cs typeface="Calibri" pitchFamily="34" charset="-120"/>
              </a:rPr>
              <a:t>Séquence</a:t>
            </a:r>
            <a:endParaRPr lang="en-US" sz="1600" dirty="0"/>
          </a:p>
        </p:txBody>
      </p:sp>
      <p:sp>
        <p:nvSpPr>
          <p:cNvPr id="5" name="Text 3"/>
          <p:cNvSpPr txBox="1"/>
          <p:nvPr/>
        </p:nvSpPr>
        <p:spPr>
          <a:xfrm>
            <a:off x="548640" y="2011680"/>
            <a:ext cx="8046720" cy="155448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L'épargne salariale de A à Z</a:t>
            </a:r>
            <a:endParaRPr lang="en-US" sz="3800" dirty="0"/>
          </a:p>
        </p:txBody>
      </p:sp>
      <p:sp>
        <p:nvSpPr>
          <p:cNvPr id="6" name="Text 4"/>
          <p:cNvSpPr txBox="1"/>
          <p:nvPr/>
        </p:nvSpPr>
        <p:spPr>
          <a:xfrm>
            <a:off x="548640" y="3657600"/>
            <a:ext cx="8046720" cy="1005840"/>
          </a:xfrm>
          <a:prstGeom prst="rect">
            <a:avLst/>
          </a:prstGeom>
          <a:noFill/>
          <a:ln/>
        </p:spPr>
        <p:txBody>
          <a:bodyPr wrap="square" lIns="0" tIns="0" rIns="0" bIns="0" rtlCol="0" anchor="t"/>
          <a:lstStyle/>
          <a:p>
            <a:pPr indent="0" marL="0">
              <a:buNone/>
            </a:pPr>
            <a:r>
              <a:rPr lang="en-US" sz="1700" dirty="0">
                <a:solidFill>
                  <a:srgbClr val="F2E5D8"/>
                </a:solidFill>
                <a:latin typeface="Calibri" pitchFamily="34" charset="0"/>
                <a:ea typeface="Calibri" pitchFamily="34" charset="-122"/>
                <a:cs typeface="Calibri" pitchFamily="34" charset="-120"/>
              </a:rPr>
              <a:t>Participation, intéressement, PEE, PERECO, abondement, PPV : règles, chiffres 2026, paie et DSN, calendrier 2027</a:t>
            </a:r>
            <a:endParaRPr lang="en-US" sz="1700" dirty="0"/>
          </a:p>
        </p:txBody>
      </p:sp>
      <p:sp>
        <p:nvSpPr>
          <p:cNvPr id="7" name="Shape 5"/>
          <p:cNvSpPr/>
          <p:nvPr/>
        </p:nvSpPr>
        <p:spPr>
          <a:xfrm>
            <a:off x="548640" y="5029200"/>
            <a:ext cx="3840480" cy="310896"/>
          </a:xfrm>
          <a:prstGeom prst="roundRect">
            <a:avLst>
              <a:gd name="adj" fmla="val 50000"/>
            </a:avLst>
          </a:prstGeom>
          <a:solidFill>
            <a:srgbClr val="8C3A27"/>
          </a:solidFill>
          <a:ln w="12700">
            <a:solidFill>
              <a:srgbClr val="8C3A27"/>
            </a:solidFill>
            <a:prstDash val="solid"/>
          </a:ln>
        </p:spPr>
      </p:sp>
      <p:sp>
        <p:nvSpPr>
          <p:cNvPr id="8" name="Text 6"/>
          <p:cNvSpPr txBox="1"/>
          <p:nvPr/>
        </p:nvSpPr>
        <p:spPr>
          <a:xfrm>
            <a:off x="548640" y="5029200"/>
            <a:ext cx="384048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80 min · 1 cas pratique · 1 quiz</a:t>
            </a:r>
            <a:endParaRPr lang="en-US" sz="1000" dirty="0"/>
          </a:p>
        </p:txBody>
      </p:sp>
      <p:sp>
        <p:nvSpPr>
          <p:cNvPr id="9" name="Text 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D9A390"/>
                </a:solidFill>
                <a:latin typeface="Calibri" pitchFamily="34" charset="0"/>
                <a:ea typeface="Calibri" pitchFamily="34" charset="-122"/>
                <a:cs typeface="Calibri" pitchFamily="34" charset="-120"/>
              </a:rPr>
              <a:t>Actualité paie · juin – septembre 2026</a:t>
            </a:r>
            <a:endParaRPr lang="en-US" sz="9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D9A390"/>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Le panorama : six briques et un fil conducteur</a:t>
            </a:r>
            <a:endParaRPr lang="en-US" sz="2800" dirty="0"/>
          </a:p>
        </p:txBody>
      </p:sp>
      <p:sp>
        <p:nvSpPr>
          <p:cNvPr id="3" name="Shape 1"/>
          <p:cNvSpPr/>
          <p:nvPr/>
        </p:nvSpPr>
        <p:spPr>
          <a:xfrm>
            <a:off x="548640" y="1325880"/>
            <a:ext cx="3515258" cy="2080260"/>
          </a:xfrm>
          <a:prstGeom prst="roundRect">
            <a:avLst>
              <a:gd name="adj" fmla="val 6593"/>
            </a:avLst>
          </a:prstGeom>
          <a:solidFill>
            <a:srgbClr val="FFF6F4"/>
          </a:solidFill>
          <a:ln w="12700">
            <a:solidFill>
              <a:srgbClr val="FFF6F4"/>
            </a:solidFill>
            <a:prstDash val="solid"/>
          </a:ln>
        </p:spPr>
      </p:sp>
      <p:sp>
        <p:nvSpPr>
          <p:cNvPr id="4" name="Shape 2"/>
          <p:cNvSpPr/>
          <p:nvPr/>
        </p:nvSpPr>
        <p:spPr>
          <a:xfrm>
            <a:off x="777240" y="1554480"/>
            <a:ext cx="420624" cy="420624"/>
          </a:xfrm>
          <a:prstGeom prst="ellipse">
            <a:avLst/>
          </a:prstGeom>
          <a:solidFill>
            <a:srgbClr val="8C3A27"/>
          </a:solidFill>
          <a:ln w="12700">
            <a:solidFill>
              <a:srgbClr val="8C3A27"/>
            </a:solidFill>
            <a:prstDash val="solid"/>
          </a:ln>
        </p:spPr>
      </p:sp>
      <p:sp>
        <p:nvSpPr>
          <p:cNvPr id="5" name="Text 3"/>
          <p:cNvSpPr txBox="1"/>
          <p:nvPr/>
        </p:nvSpPr>
        <p:spPr>
          <a:xfrm>
            <a:off x="777240"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325880"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Participation</a:t>
            </a:r>
            <a:endParaRPr lang="en-US" sz="1500" dirty="0"/>
          </a:p>
        </p:txBody>
      </p:sp>
      <p:sp>
        <p:nvSpPr>
          <p:cNvPr id="7" name="Text 5"/>
          <p:cNvSpPr txBox="1"/>
          <p:nvPr/>
        </p:nvSpPr>
        <p:spPr>
          <a:xfrm>
            <a:off x="777240" y="210312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Partage obligatoire du bénéfice dès 50 salariés (5 années civiles consécutives). Formule légale ou dérogatoire, blocage 5 ans.</a:t>
            </a:r>
            <a:endParaRPr lang="en-US" sz="1300" dirty="0"/>
          </a:p>
        </p:txBody>
      </p:sp>
      <p:sp>
        <p:nvSpPr>
          <p:cNvPr id="8" name="Shape 6"/>
          <p:cNvSpPr/>
          <p:nvPr/>
        </p:nvSpPr>
        <p:spPr>
          <a:xfrm>
            <a:off x="4338218" y="1325880"/>
            <a:ext cx="3515258" cy="2080260"/>
          </a:xfrm>
          <a:prstGeom prst="roundRect">
            <a:avLst>
              <a:gd name="adj" fmla="val 6593"/>
            </a:avLst>
          </a:prstGeom>
          <a:solidFill>
            <a:srgbClr val="FFF6F4"/>
          </a:solidFill>
          <a:ln w="12700">
            <a:solidFill>
              <a:srgbClr val="FFF6F4"/>
            </a:solidFill>
            <a:prstDash val="solid"/>
          </a:ln>
        </p:spPr>
      </p:sp>
      <p:sp>
        <p:nvSpPr>
          <p:cNvPr id="9" name="Shape 7"/>
          <p:cNvSpPr/>
          <p:nvPr/>
        </p:nvSpPr>
        <p:spPr>
          <a:xfrm>
            <a:off x="4566818" y="1554480"/>
            <a:ext cx="420624" cy="420624"/>
          </a:xfrm>
          <a:prstGeom prst="ellipse">
            <a:avLst/>
          </a:prstGeom>
          <a:solidFill>
            <a:srgbClr val="8C3A27"/>
          </a:solidFill>
          <a:ln w="12700">
            <a:solidFill>
              <a:srgbClr val="8C3A27"/>
            </a:solidFill>
            <a:prstDash val="solid"/>
          </a:ln>
        </p:spPr>
      </p:sp>
      <p:sp>
        <p:nvSpPr>
          <p:cNvPr id="10" name="Text 8"/>
          <p:cNvSpPr txBox="1"/>
          <p:nvPr/>
        </p:nvSpPr>
        <p:spPr>
          <a:xfrm>
            <a:off x="4566818"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5115458"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Intéressement</a:t>
            </a:r>
            <a:endParaRPr lang="en-US" sz="1500" dirty="0"/>
          </a:p>
        </p:txBody>
      </p:sp>
      <p:sp>
        <p:nvSpPr>
          <p:cNvPr id="12" name="Text 10"/>
          <p:cNvSpPr txBox="1"/>
          <p:nvPr/>
        </p:nvSpPr>
        <p:spPr>
          <a:xfrm>
            <a:off x="4566818" y="210312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Dispositif facultatif et collectif lié aux résultats ou aux performances. Accord de 1 à 5 ans, formule aléatoire.</a:t>
            </a:r>
            <a:endParaRPr lang="en-US" sz="1300" dirty="0"/>
          </a:p>
        </p:txBody>
      </p:sp>
      <p:sp>
        <p:nvSpPr>
          <p:cNvPr id="13" name="Shape 11"/>
          <p:cNvSpPr/>
          <p:nvPr/>
        </p:nvSpPr>
        <p:spPr>
          <a:xfrm>
            <a:off x="8127797" y="1325880"/>
            <a:ext cx="3515258" cy="2080260"/>
          </a:xfrm>
          <a:prstGeom prst="roundRect">
            <a:avLst>
              <a:gd name="adj" fmla="val 6593"/>
            </a:avLst>
          </a:prstGeom>
          <a:solidFill>
            <a:srgbClr val="FFF6F4"/>
          </a:solidFill>
          <a:ln w="12700">
            <a:solidFill>
              <a:srgbClr val="FFF6F4"/>
            </a:solidFill>
            <a:prstDash val="solid"/>
          </a:ln>
        </p:spPr>
      </p:sp>
      <p:sp>
        <p:nvSpPr>
          <p:cNvPr id="14" name="Shape 12"/>
          <p:cNvSpPr/>
          <p:nvPr/>
        </p:nvSpPr>
        <p:spPr>
          <a:xfrm>
            <a:off x="8356397" y="1554480"/>
            <a:ext cx="420624" cy="420624"/>
          </a:xfrm>
          <a:prstGeom prst="ellipse">
            <a:avLst/>
          </a:prstGeom>
          <a:solidFill>
            <a:srgbClr val="8C3A27"/>
          </a:solidFill>
          <a:ln w="12700">
            <a:solidFill>
              <a:srgbClr val="8C3A27"/>
            </a:solidFill>
            <a:prstDash val="solid"/>
          </a:ln>
        </p:spPr>
      </p:sp>
      <p:sp>
        <p:nvSpPr>
          <p:cNvPr id="15" name="Text 13"/>
          <p:cNvSpPr txBox="1"/>
          <p:nvPr/>
        </p:nvSpPr>
        <p:spPr>
          <a:xfrm>
            <a:off x="8356397" y="155448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8905037" y="152704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PEE et PEI</a:t>
            </a:r>
            <a:endParaRPr lang="en-US" sz="1500" dirty="0"/>
          </a:p>
        </p:txBody>
      </p:sp>
      <p:sp>
        <p:nvSpPr>
          <p:cNvPr id="17" name="Text 15"/>
          <p:cNvSpPr txBox="1"/>
          <p:nvPr/>
        </p:nvSpPr>
        <p:spPr>
          <a:xfrm>
            <a:off x="8356397" y="210312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Plan d'épargne bloqué 5 ans : reçoit participation, intéressement, versements volontaires, abondement et PPV.</a:t>
            </a:r>
            <a:endParaRPr lang="en-US" sz="1300" dirty="0"/>
          </a:p>
        </p:txBody>
      </p:sp>
      <p:sp>
        <p:nvSpPr>
          <p:cNvPr id="18" name="Shape 16"/>
          <p:cNvSpPr/>
          <p:nvPr/>
        </p:nvSpPr>
        <p:spPr>
          <a:xfrm>
            <a:off x="548640" y="3680460"/>
            <a:ext cx="3515258" cy="2080260"/>
          </a:xfrm>
          <a:prstGeom prst="roundRect">
            <a:avLst>
              <a:gd name="adj" fmla="val 6593"/>
            </a:avLst>
          </a:prstGeom>
          <a:solidFill>
            <a:srgbClr val="FFF6F4"/>
          </a:solidFill>
          <a:ln w="12700">
            <a:solidFill>
              <a:srgbClr val="FFF6F4"/>
            </a:solidFill>
            <a:prstDash val="solid"/>
          </a:ln>
        </p:spPr>
      </p:sp>
      <p:sp>
        <p:nvSpPr>
          <p:cNvPr id="19" name="Shape 17"/>
          <p:cNvSpPr/>
          <p:nvPr/>
        </p:nvSpPr>
        <p:spPr>
          <a:xfrm>
            <a:off x="777240" y="3909060"/>
            <a:ext cx="420624" cy="420624"/>
          </a:xfrm>
          <a:prstGeom prst="ellipse">
            <a:avLst/>
          </a:prstGeom>
          <a:solidFill>
            <a:srgbClr val="8C3A27"/>
          </a:solidFill>
          <a:ln w="12700">
            <a:solidFill>
              <a:srgbClr val="8C3A27"/>
            </a:solidFill>
            <a:prstDash val="solid"/>
          </a:ln>
        </p:spPr>
      </p:sp>
      <p:sp>
        <p:nvSpPr>
          <p:cNvPr id="20" name="Text 18"/>
          <p:cNvSpPr txBox="1"/>
          <p:nvPr/>
        </p:nvSpPr>
        <p:spPr>
          <a:xfrm>
            <a:off x="777240" y="39090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1" name="Text 19"/>
          <p:cNvSpPr txBox="1"/>
          <p:nvPr/>
        </p:nvSpPr>
        <p:spPr>
          <a:xfrm>
            <a:off x="1325880" y="388162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PERECO</a:t>
            </a:r>
            <a:endParaRPr lang="en-US" sz="1500" dirty="0"/>
          </a:p>
        </p:txBody>
      </p:sp>
      <p:sp>
        <p:nvSpPr>
          <p:cNvPr id="22" name="Text 20"/>
          <p:cNvSpPr txBox="1"/>
          <p:nvPr/>
        </p:nvSpPr>
        <p:spPr>
          <a:xfrm>
            <a:off x="777240" y="445770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Plan d'épargne retraite collectif : sortie en capital ou en rente à la retraite ; déblocage pour la résidence principale.</a:t>
            </a:r>
            <a:endParaRPr lang="en-US" sz="1300" dirty="0"/>
          </a:p>
        </p:txBody>
      </p:sp>
      <p:sp>
        <p:nvSpPr>
          <p:cNvPr id="23" name="Shape 21"/>
          <p:cNvSpPr/>
          <p:nvPr/>
        </p:nvSpPr>
        <p:spPr>
          <a:xfrm>
            <a:off x="4338218" y="3680460"/>
            <a:ext cx="3515258" cy="2080260"/>
          </a:xfrm>
          <a:prstGeom prst="roundRect">
            <a:avLst>
              <a:gd name="adj" fmla="val 6593"/>
            </a:avLst>
          </a:prstGeom>
          <a:solidFill>
            <a:srgbClr val="FFF6F4"/>
          </a:solidFill>
          <a:ln w="12700">
            <a:solidFill>
              <a:srgbClr val="FFF6F4"/>
            </a:solidFill>
            <a:prstDash val="solid"/>
          </a:ln>
        </p:spPr>
      </p:sp>
      <p:sp>
        <p:nvSpPr>
          <p:cNvPr id="24" name="Shape 22"/>
          <p:cNvSpPr/>
          <p:nvPr/>
        </p:nvSpPr>
        <p:spPr>
          <a:xfrm>
            <a:off x="4566818" y="3909060"/>
            <a:ext cx="420624" cy="420624"/>
          </a:xfrm>
          <a:prstGeom prst="ellipse">
            <a:avLst/>
          </a:prstGeom>
          <a:solidFill>
            <a:srgbClr val="8C3A27"/>
          </a:solidFill>
          <a:ln w="12700">
            <a:solidFill>
              <a:srgbClr val="8C3A27"/>
            </a:solidFill>
            <a:prstDash val="solid"/>
          </a:ln>
        </p:spPr>
      </p:sp>
      <p:sp>
        <p:nvSpPr>
          <p:cNvPr id="25" name="Text 23"/>
          <p:cNvSpPr txBox="1"/>
          <p:nvPr/>
        </p:nvSpPr>
        <p:spPr>
          <a:xfrm>
            <a:off x="4566818" y="39090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6" name="Text 24"/>
          <p:cNvSpPr txBox="1"/>
          <p:nvPr/>
        </p:nvSpPr>
        <p:spPr>
          <a:xfrm>
            <a:off x="5115458" y="388162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Abondement</a:t>
            </a:r>
            <a:endParaRPr lang="en-US" sz="1500" dirty="0"/>
          </a:p>
        </p:txBody>
      </p:sp>
      <p:sp>
        <p:nvSpPr>
          <p:cNvPr id="27" name="Text 25"/>
          <p:cNvSpPr txBox="1"/>
          <p:nvPr/>
        </p:nvSpPr>
        <p:spPr>
          <a:xfrm>
            <a:off x="4566818" y="445770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Versement complémentaire de l'employeur sur le plan : jusqu'à 300 % du versement du salarié et 8 % du PASS (PEE) ou 16 % (PERECO).</a:t>
            </a:r>
            <a:endParaRPr lang="en-US" sz="1300" dirty="0"/>
          </a:p>
        </p:txBody>
      </p:sp>
      <p:sp>
        <p:nvSpPr>
          <p:cNvPr id="28" name="Shape 26"/>
          <p:cNvSpPr/>
          <p:nvPr/>
        </p:nvSpPr>
        <p:spPr>
          <a:xfrm>
            <a:off x="8127797" y="3680460"/>
            <a:ext cx="3515258" cy="2080260"/>
          </a:xfrm>
          <a:prstGeom prst="roundRect">
            <a:avLst>
              <a:gd name="adj" fmla="val 6593"/>
            </a:avLst>
          </a:prstGeom>
          <a:solidFill>
            <a:srgbClr val="FFF6F4"/>
          </a:solidFill>
          <a:ln w="12700">
            <a:solidFill>
              <a:srgbClr val="FFF6F4"/>
            </a:solidFill>
            <a:prstDash val="solid"/>
          </a:ln>
        </p:spPr>
      </p:sp>
      <p:sp>
        <p:nvSpPr>
          <p:cNvPr id="29" name="Shape 27"/>
          <p:cNvSpPr/>
          <p:nvPr/>
        </p:nvSpPr>
        <p:spPr>
          <a:xfrm>
            <a:off x="8356397" y="3909060"/>
            <a:ext cx="420624" cy="420624"/>
          </a:xfrm>
          <a:prstGeom prst="ellipse">
            <a:avLst/>
          </a:prstGeom>
          <a:solidFill>
            <a:srgbClr val="8C3A27"/>
          </a:solidFill>
          <a:ln w="12700">
            <a:solidFill>
              <a:srgbClr val="8C3A27"/>
            </a:solidFill>
            <a:prstDash val="solid"/>
          </a:ln>
        </p:spPr>
      </p:sp>
      <p:sp>
        <p:nvSpPr>
          <p:cNvPr id="30" name="Text 28"/>
          <p:cNvSpPr txBox="1"/>
          <p:nvPr/>
        </p:nvSpPr>
        <p:spPr>
          <a:xfrm>
            <a:off x="8356397" y="390906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31" name="Text 29"/>
          <p:cNvSpPr txBox="1"/>
          <p:nvPr/>
        </p:nvSpPr>
        <p:spPr>
          <a:xfrm>
            <a:off x="8905037" y="3881628"/>
            <a:ext cx="2555138" cy="475488"/>
          </a:xfrm>
          <a:prstGeom prst="rect">
            <a:avLst/>
          </a:prstGeom>
          <a:noFill/>
          <a:ln/>
        </p:spPr>
        <p:txBody>
          <a:bodyPr wrap="square" lIns="0" tIns="0" rIns="0" bIns="0" rtlCol="0" anchor="ctr">
            <a:normAutofit/>
          </a:bodyPr>
          <a:lstStyle/>
          <a:p>
            <a:pPr indent="0" marL="0">
              <a:buNone/>
            </a:pPr>
            <a:r>
              <a:rPr lang="en-US" sz="1500" b="1" dirty="0">
                <a:solidFill>
                  <a:srgbClr val="435369"/>
                </a:solidFill>
                <a:latin typeface="Cambria" pitchFamily="34" charset="0"/>
                <a:ea typeface="Cambria" pitchFamily="34" charset="-122"/>
                <a:cs typeface="Cambria" pitchFamily="34" charset="-120"/>
              </a:rPr>
              <a:t>PPV et PPVE</a:t>
            </a:r>
            <a:endParaRPr lang="en-US" sz="1500" dirty="0"/>
          </a:p>
        </p:txBody>
      </p:sp>
      <p:sp>
        <p:nvSpPr>
          <p:cNvPr id="32" name="Text 30"/>
          <p:cNvSpPr txBox="1"/>
          <p:nvPr/>
        </p:nvSpPr>
        <p:spPr>
          <a:xfrm>
            <a:off x="8356397" y="4457700"/>
            <a:ext cx="3058058" cy="1165860"/>
          </a:xfrm>
          <a:prstGeom prst="rect">
            <a:avLst/>
          </a:prstGeom>
          <a:noFill/>
          <a:ln/>
        </p:spPr>
        <p:txBody>
          <a:bodyPr wrap="square" lIns="0" tIns="0" rIns="0" bIns="0" rtlCol="0" anchor="t"/>
          <a:lstStyle/>
          <a:p>
            <a:pPr indent="0" marL="0">
              <a:lnSpc>
                <a:spcPct val="105000"/>
              </a:lnSpc>
              <a:buNone/>
            </a:pPr>
            <a:r>
              <a:rPr lang="en-US" sz="1300" dirty="0">
                <a:solidFill>
                  <a:srgbClr val="2B2B2B"/>
                </a:solidFill>
                <a:latin typeface="Calibri" pitchFamily="34" charset="0"/>
                <a:ea typeface="Calibri" pitchFamily="34" charset="-122"/>
                <a:cs typeface="Calibri" pitchFamily="34" charset="-120"/>
              </a:rPr>
              <a:t>Prime de partage de la valeur (3 000 € ou 6 000 €) et plan de partage de la valorisation de l'entreprise (prime sur 3 ans).</a:t>
            </a:r>
            <a:endParaRPr lang="en-US" sz="1300" dirty="0"/>
          </a:p>
        </p:txBody>
      </p:sp>
      <p:sp>
        <p:nvSpPr>
          <p:cNvPr id="33" name="Text 31"/>
          <p:cNvSpPr txBox="1"/>
          <p:nvPr/>
        </p:nvSpPr>
        <p:spPr>
          <a:xfrm>
            <a:off x="548640" y="5870448"/>
            <a:ext cx="11094415" cy="411480"/>
          </a:xfrm>
          <a:prstGeom prst="rect">
            <a:avLst/>
          </a:prstGeom>
          <a:noFill/>
          <a:ln/>
        </p:spPr>
        <p:txBody>
          <a:bodyPr wrap="square" lIns="0" tIns="0" rIns="0" bIns="0" rtlCol="0" anchor="ctr"/>
          <a:lstStyle/>
          <a:p>
            <a:pPr indent="0" marL="0">
              <a:buNone/>
            </a:pPr>
            <a:r>
              <a:rPr lang="en-US" sz="1300" i="1" dirty="0">
                <a:solidFill>
                  <a:srgbClr val="8C3A27"/>
                </a:solidFill>
                <a:latin typeface="Calibri" pitchFamily="34" charset="0"/>
                <a:ea typeface="Calibri" pitchFamily="34" charset="-122"/>
                <a:cs typeface="Calibri" pitchFamily="34" charset="-120"/>
              </a:rPr>
              <a:t>Fil conducteur du gestionnaire de paie : assiette, CSG-CRDS, forfait social, bulletin, DSN et réduction générale.</a:t>
            </a:r>
            <a:endParaRPr lang="en-US" sz="1300" dirty="0"/>
          </a:p>
        </p:txBody>
      </p:sp>
      <p:sp>
        <p:nvSpPr>
          <p:cNvPr id="34" name="Text 3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35" name="Text 3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La participation : qui, quand, combien</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Obligatoire dans les entreprises d'au moins 50 salariés pendant 5 années civiles consécutives ; l'obligation s'applique au premier exercice ouvert après cette période (loi Pacte).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Formule légale : RSP = 1/2 × (B − 5 % C) × S / VA, avec B le bénéfice net fiscal, C les capitaux propres, S les salaires et VA la valeur ajoutée. Formule dérogatoire possible si au moins aussi favorable ; à titre expérimental, les entreprises de moins de 50 salariés peuvent adopter une formule moins favorable par accord de branche (loi du 29 novembre 2023).</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Répartition : uniforme, proportionnelle au salaire (salaire retenu dans la limite de 3 PASS), proportionnelle à la durée de présence, ou combinaison. Plafond individuel : 75 % du PASS, soit 36 045 € en 2026.</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Choix du salarié dans les 15 jours : perception immédiate (imposable) ou affectation au plan (exonérée d'IR) ; à défaut de choix, affectation par défaut, pour moitié au PERECO s'il existe.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Versement au plus tard le dernier jour du 5e mois suivant la clôture (31 mai pour un exercice civil) ; au-delà, intérêts de retard au taux de 1,33 fois le TMOP.</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Régime : exonération de cotisations ; CSG-CRDS 9,7 % sans abattement, précomptée par l'employeur ; forfait social 20 % dans les entreprises de 50 salariés et plus, 0 % en dessous.</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L'intéressement : souplesse et pièges</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Accord collectif de 1 à 5 ans (accord, CSE ou ratification aux 2/3), conclu avant le premier jour de la seconde moitié de la période de calcul (30 juin pour un exercice civil) et déposé dans les 15 jours.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Depuis la loi du 29 novembre 2023, les entreprises de moins de 50 salariés sans délégué syndical ni CSE, ou après échec des négociations, peuvent le mettre en place par décision unilatérale.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Formule aléatoire liée aux résultats ou aux performances ; plafond collectif de 20 % de la masse salariale brute ; plafond individuel de 75 % du PASS (36 045 € en 2026).</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Répartition uniforme, proportionnelle au salaire (limité à 3 PASS) ou au temps de présence ; les congés de maternité, de paternité, d'adoption et les arrêts AT/MP sont assimilés à de la présence.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Avances possibles en cours d'exercice (loi 2023) ; versement au plus tard le dernier jour du 5e mois suivant la clôture, sinon intérêts de retard.</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Régime : exonération de cotisations ; CSG-CRDS 9,7 % ; forfait social 0 % sous 250 salariés, 20 % à partir de 250 ; IR exonéré si placé sur un plan dans les 15 jours, imposable si perçu.</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PEE, PERECO et abondement : les chiffres 2026</a:t>
            </a:r>
            <a:endParaRPr lang="en-US" sz="28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117439"/>
                <a:gridCol w="4034333"/>
                <a:gridCol w="3942643"/>
              </a:tblGrid>
              <a:tr h="0">
                <a:tc>
                  <a:txBody>
                    <a:bodyPr/>
                    <a:lstStyle/>
                    <a:p>
                      <a:pPr algn="l" indent="0" marL="0">
                        <a:buNone/>
                      </a:pP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PEE / PEI</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PERECO / PERECO-I</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Horizon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Sommes bloquées 5 ans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Jusqu'à la retraite (capital ou rente)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Versements du salarié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Volontaires, limités à 25 % de la rémunération brute annuelle ; participation, intéressement, PPV, jours de repos non pris (CET)</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Idem, plus transferts et jours de repos (10 par an au plus)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Abondement maximal</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300 % du versement, dans la limite de 8 % du PASS : 3 844,80 €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300 % du versement, dans la limite de 16 % du PASS : 7 689,60 € ; abondement unilatéral possible sans versement du salarié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Régime de l'abondement</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Exonéré de cotisations ; CSG-CRDS 9,7 % ; forfait social 20 % (0 % sous 50 salariés)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Idem ; forfait social réduit à 16 % en gestion pilotée investie en titres de PME-ETI</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Déblocage anticipé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Mariage ou PACS, 3e enfant, divorce avec garde, invalidité, décès, rupture du contrat, surendettement, création d'entreprise, résidence principale (acquisition, travaux, rénovation énergétique), violences conjugales, proche aidant, achat d'un véhicule propre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Décès du conjoint, invalidité, surendettement, fin de droits chômage, cessation d'activité non salariée, résidence principale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Frais et gestion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Tenue de compte à la charge de l'employeur ; au moins un fonds solidaire et un fonds labellisé (transition écologique ou socialement responsable)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Gestion pilotée par défaut ; information annuelle du bénéficiaire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bl>
          </a:graphicData>
        </a:graphic>
      </p:graphicFrame>
      <p:sp>
        <p:nvSpPr>
          <p:cNvPr id="4" name="Text 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La PPV : 2026 contre 2027</a:t>
            </a:r>
            <a:endParaRPr lang="en-US" sz="28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2934060"/>
                <a:gridCol w="4126022"/>
                <a:gridCol w="4034333"/>
              </a:tblGrid>
              <a:tr h="0">
                <a:tc>
                  <a:txBody>
                    <a:bodyPr/>
                    <a:lstStyle/>
                    <a:p>
                      <a:pPr algn="l" indent="0" marL="0">
                        <a:buNone/>
                      </a:pP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Jusqu'au 31 décembre 2026</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À compter du 1er janvier 2027</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435369"/>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Plafond d'exonération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3 000 € par an et par salarié ; 6 000 € avec un accord d'intéressement ou de participation volontaire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Inchangé : 3 000 € ou 6 000 €</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Cotisations sociales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Exonérées dans le plafond</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Exonérées dans le plafond</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CSG-CRDS et impôt sur le revenu</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Entreprises de moins de 50 salariés, salariés payés moins de 3 SMIC : exonérés. Autres cas : CSG-CRDS 9,7 % et IR dus, sauf placement sur un plan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Dus pour tous ; IR exonéré si la prime est affectée à un PEE ou un PERECO</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Forfait social</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20 % à partir de 250 salariés ; 0 % en dessous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Inchangé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Réduction générale</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La PPV est intégrée dans la rémunération retenue pour la RGDU depuis 2025</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Inchangé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Modalités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Accord ou décision unilatérale ; 2 primes par an au plus ; modulation selon rémunération, classification, ancienneté, durée de présence ou temps de travail</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Inchangé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6F4"/>
                    </a:solidFill>
                  </a:tcPr>
                </a:tc>
              </a:tr>
              <a:tr h="0">
                <a:tc>
                  <a:txBody>
                    <a:bodyPr/>
                    <a:lstStyle/>
                    <a:p>
                      <a:pPr algn="l" indent="0" marL="0">
                        <a:buNone/>
                      </a:pPr>
                      <a:r>
                        <a:rPr lang="en-US" sz="1300" b="1" dirty="0">
                          <a:solidFill>
                            <a:srgbClr val="435369"/>
                          </a:solidFill>
                          <a:latin typeface="Calibri" pitchFamily="34" charset="0"/>
                          <a:ea typeface="Calibri" pitchFamily="34" charset="-122"/>
                          <a:cs typeface="Calibri" pitchFamily="34" charset="-120"/>
                        </a:rPr>
                        <a:t>DSN</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Bloc S21.G00.52, types 904 (exonérée et non imposable), 905 (exonérée mais imposable), 906 (placée, soumise partiellement à CSG-CRDS)</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c>
                  <a:txBody>
                    <a:bodyPr/>
                    <a:lstStyle/>
                    <a:p>
                      <a:pPr algn="l" indent="0" marL="0">
                        <a:buNone/>
                      </a:pPr>
                      <a:r>
                        <a:rPr lang="en-US" sz="1300" dirty="0">
                          <a:solidFill>
                            <a:srgbClr val="2B2B2B"/>
                          </a:solidFill>
                          <a:latin typeface="Calibri" pitchFamily="34" charset="0"/>
                          <a:ea typeface="Calibri" pitchFamily="34" charset="-122"/>
                          <a:cs typeface="Calibri" pitchFamily="34" charset="-120"/>
                        </a:rPr>
                        <a:t>Inchangé</a:t>
                      </a:r>
                      <a:endParaRPr lang="en-US" sz="1300" dirty="0">
                        <a:latin typeface="Calibri" charset="0"/>
                        <a:ea typeface="Calibri" charset="0"/>
                        <a:cs typeface="Calibri" charset="0"/>
                      </a:endParaRPr>
                    </a:p>
                  </a:txBody>
                  <a:tcPr marL="76200" marR="76200" marT="50800" marB="50800" anchor="ctr">
                    <a:lnL w="9525" cap="flat" cmpd="sng" algn="ctr">
                      <a:solidFill>
                        <a:srgbClr val="E7E5E5"/>
                      </a:solidFill>
                      <a:prstDash val="solid"/>
                      <a:round/>
                      <a:headEnd type="none" w="med" len="med"/>
                      <a:tailEnd type="none" w="med" len="med"/>
                    </a:lnL>
                    <a:lnR w="9525" cap="flat" cmpd="sng" algn="ctr">
                      <a:solidFill>
                        <a:srgbClr val="E7E5E5"/>
                      </a:solidFill>
                      <a:prstDash val="solid"/>
                      <a:round/>
                      <a:headEnd type="none" w="med" len="med"/>
                      <a:tailEnd type="none" w="med" len="med"/>
                    </a:lnR>
                    <a:lnT w="9525" cap="flat" cmpd="sng" algn="ctr">
                      <a:solidFill>
                        <a:srgbClr val="E7E5E5"/>
                      </a:solidFill>
                      <a:prstDash val="solid"/>
                      <a:round/>
                      <a:headEnd type="none" w="med" len="med"/>
                      <a:tailEnd type="none" w="med" len="med"/>
                    </a:lnT>
                    <a:lnB w="9525" cap="flat" cmpd="sng" algn="ctr">
                      <a:solidFill>
                        <a:srgbClr val="E7E5E5"/>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48</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Loi du 29 novembre 2023 : les obligations en vigueur</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Entreprises de 11 à 49 salariés : lorsque le bénéfice net fiscal atteint au moins 1 % du chiffre d'affaires pendant 3 exercices consécutifs, obligation de mettre en place un dispositif au titre de l'exercice suivant : participation, intéressement, abondement ou PPV (expérimentation de 5 ans depuis le 1er janvier 2025).</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Entreprises de 50 salariés et plus dotées d'un délégué syndical et d'un accord de participation ou d'intéressement : négociation obligatoire sur la définition du « bénéfice exceptionnel » et ses conséquences.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PPV : possibilité de la placer sur un plan d'épargne (exonération d'IR), deux primes par an, versement possible via un accord d'intéressement pour atteindre 6 000 €.</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Plan de partage de la valorisation de l'entreprise (PPVE) : prime collective indexée sur la valorisation de l'entreprise sur 3 ans, exonérée de cotisations, soumise à une contribution patronale de 20 %.</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Intéressement par décision unilatérale dans les entreprises de moins de 50 salariés ; participation dérogatoire moins favorable par accord de branche ; fonds labellisés obligatoires dans les plans.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Contrôle : l'absence de dispositif dans une entreprise de 11 à 49 salariés éligible n'est pas sanctionnée par une pénalité financière, mais expose à un contentieux avec le CSE et les salariés.</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49</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Déblocage exceptionnel 2026 : où en est le texte ?</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Proposition de loi « visant au renforcement de l'attractivité de l'épargne salariale et à la mise en œuvre d'une procédure de déblocage exceptionnelle » : adoptée par l'Assemblée nationale puis par le Sénat en première lecture le 7 avril 2026 ; navette en cours, non promulguée au 12 septembre 2026.</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Mesure phare : déblocage anticipé jusqu'à 5 000 € nets par bénéficiaire, sans condition de ressources, des sommes issues de la participation et de l'intéressement affectées à un PEE ou un PEI avant le 1er janvier 2026.</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Exclusions : sommes placées sur un PER ou un PERECO, sommes investies en fonds solidaires ; déblocage soumis à accord collectif ou décision unilatérale lorsque les sommes sont investies en titres de l'entreprise.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Fenêtre : demande dans les 12 mois suivant la promulgation ; les sommes conservent leur exonération de cotisations et d'IR (CSG-CRDS déjà acquittées).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Obligation employeur : informer tous les bénéficiaires de l'existence de la procédure dans les 2 mois suivant la promulgation ; le teneur de compte exécute les demandes.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Autres apports du texte : déblocage anticipé dès la naissance ou l'adoption du premier enfant (au lieu du troisième), mesures d'attractivité des plans.</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50</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L'épargne salariale en paie et en DSN</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Bulletin de paie : la participation et l'intéressement ne figurent pas obligatoirement sur le bulletin ; une fiche distincte (montant, CSG-CRDS, choix d'affectation, délais) est obligatoire. La PPV apparaît sur le bulletin sur une ligne dédiée, hors brut soumis.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CSG-CRDS : précompte de 9,7 % sur 100 % des sommes (pas d'abattement de 1,75 %), à la date du versement ; la part CSG déductible (6,8 %) réduit le net imposable si la somme est perçue.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Forfait social : à la charge de l'employeur, déclaré sur les CTP dédiés selon le taux (20 %, 16 %, 10 %, 8 %) ; exonération de plein droit sous 50 salariés pour la participation, l'intéressement et l'abondement, sous 250 pour l'intéressement.</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DSN : les primes d'épargne salariale se déclarent en bloc 52 avec leur type ; les sommes placées ne sont pas imposables et n'entrent pas dans l'assiette du PAS ; les sommes perçues immédiatement sont soumises au PAS.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RGDU : la PPV est réintégrée à la rémunération annuelle de référence ; l'intéressement, la participation et l'abondement ne le sont pas.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Contrôle Urssaf : accord déposé, caractère collectif, respect des plafonds, délais de versement et information des salariés sont les cinq points vérifiés en priorité.</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752825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Cas pratique 4 : la Menuiserie Dubois</a:t>
            </a:r>
            <a:endParaRPr lang="en-US" sz="2800" dirty="0"/>
          </a:p>
        </p:txBody>
      </p:sp>
      <p:sp>
        <p:nvSpPr>
          <p:cNvPr id="3" name="Shape 1"/>
          <p:cNvSpPr/>
          <p:nvPr/>
        </p:nvSpPr>
        <p:spPr>
          <a:xfrm>
            <a:off x="8351215" y="457200"/>
            <a:ext cx="1737360" cy="310896"/>
          </a:xfrm>
          <a:prstGeom prst="roundRect">
            <a:avLst>
              <a:gd name="adj" fmla="val 50000"/>
            </a:avLst>
          </a:prstGeom>
          <a:solidFill>
            <a:srgbClr val="183F1E"/>
          </a:solidFill>
          <a:ln w="12700">
            <a:solidFill>
              <a:srgbClr val="183F1E"/>
            </a:solidFill>
            <a:prstDash val="solid"/>
          </a:ln>
        </p:spPr>
      </p:sp>
      <p:sp>
        <p:nvSpPr>
          <p:cNvPr id="4" name="Text 2"/>
          <p:cNvSpPr txBox="1"/>
          <p:nvPr/>
        </p:nvSpPr>
        <p:spPr>
          <a:xfrm>
            <a:off x="835121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CAS PRATIQUE 4</a:t>
            </a:r>
            <a:endParaRPr lang="en-US" sz="1000" dirty="0"/>
          </a:p>
        </p:txBody>
      </p:sp>
      <p:sp>
        <p:nvSpPr>
          <p:cNvPr id="5" name="Shape 3"/>
          <p:cNvSpPr/>
          <p:nvPr/>
        </p:nvSpPr>
        <p:spPr>
          <a:xfrm>
            <a:off x="10271455" y="457200"/>
            <a:ext cx="1371600" cy="310896"/>
          </a:xfrm>
          <a:prstGeom prst="roundRect">
            <a:avLst>
              <a:gd name="adj" fmla="val 50000"/>
            </a:avLst>
          </a:prstGeom>
          <a:solidFill>
            <a:srgbClr val="8C3A27"/>
          </a:solidFill>
          <a:ln w="12700">
            <a:solidFill>
              <a:srgbClr val="8C3A27"/>
            </a:solidFill>
            <a:prstDash val="solid"/>
          </a:ln>
        </p:spPr>
      </p:sp>
      <p:sp>
        <p:nvSpPr>
          <p:cNvPr id="6" name="Text 4"/>
          <p:cNvSpPr txBox="1"/>
          <p:nvPr/>
        </p:nvSpPr>
        <p:spPr>
          <a:xfrm>
            <a:off x="10271455" y="457200"/>
            <a:ext cx="137160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25 min</a:t>
            </a:r>
            <a:endParaRPr lang="en-US" sz="1000" dirty="0"/>
          </a:p>
        </p:txBody>
      </p:sp>
      <p:sp>
        <p:nvSpPr>
          <p:cNvPr id="7" name="Shape 5"/>
          <p:cNvSpPr/>
          <p:nvPr/>
        </p:nvSpPr>
        <p:spPr>
          <a:xfrm>
            <a:off x="548640" y="1325880"/>
            <a:ext cx="11094415" cy="1080135"/>
          </a:xfrm>
          <a:prstGeom prst="roundRect">
            <a:avLst>
              <a:gd name="adj" fmla="val 10159"/>
            </a:avLst>
          </a:prstGeom>
          <a:solidFill>
            <a:srgbClr val="DCE8DD"/>
          </a:solidFill>
          <a:ln w="12700">
            <a:solidFill>
              <a:srgbClr val="DCE8DD"/>
            </a:solidFill>
            <a:prstDash val="solid"/>
          </a:ln>
        </p:spPr>
      </p:sp>
      <p:sp>
        <p:nvSpPr>
          <p:cNvPr id="8" name="Text 6"/>
          <p:cNvSpPr txBox="1"/>
          <p:nvPr/>
        </p:nvSpPr>
        <p:spPr>
          <a:xfrm>
            <a:off x="777240" y="1325880"/>
            <a:ext cx="10637215" cy="1080135"/>
          </a:xfrm>
          <a:prstGeom prst="rect">
            <a:avLst/>
          </a:prstGeom>
          <a:noFill/>
          <a:ln/>
        </p:spPr>
        <p:txBody>
          <a:bodyPr wrap="square" lIns="0" tIns="0" rIns="0" bIns="0" rtlCol="0" anchor="ctr"/>
          <a:lstStyle/>
          <a:p>
            <a:pPr indent="0" marL="0">
              <a:buNone/>
            </a:pPr>
            <a:r>
              <a:rPr lang="en-US" sz="1500" dirty="0">
                <a:solidFill>
                  <a:srgbClr val="2B2B2B"/>
                </a:solidFill>
                <a:latin typeface="Calibri" pitchFamily="34" charset="0"/>
                <a:ea typeface="Calibri" pitchFamily="34" charset="-122"/>
                <a:cs typeface="Calibri" pitchFamily="34" charset="-120"/>
              </a:rPr>
              <a:t>Menuiserie Dubois, SARL de 32 salariés, exercice civil, sans accord d'intéressement ni de participation. Bénéfice net fiscal : 2,4 % du chiffre d'affaires en 2023, 1,8 % en 2024, 2,1 % en 2025. Nadia, employée, perçoit 2 400 € brut par mois.</a:t>
            </a:r>
            <a:endParaRPr lang="en-US" sz="1500" dirty="0"/>
          </a:p>
        </p:txBody>
      </p:sp>
      <p:sp>
        <p:nvSpPr>
          <p:cNvPr id="9" name="Shape 7"/>
          <p:cNvSpPr/>
          <p:nvPr/>
        </p:nvSpPr>
        <p:spPr>
          <a:xfrm>
            <a:off x="548640" y="2726055"/>
            <a:ext cx="384048" cy="384048"/>
          </a:xfrm>
          <a:prstGeom prst="ellipse">
            <a:avLst/>
          </a:prstGeom>
          <a:solidFill>
            <a:srgbClr val="183F1E"/>
          </a:solidFill>
          <a:ln w="12700">
            <a:solidFill>
              <a:srgbClr val="183F1E"/>
            </a:solidFill>
            <a:prstDash val="solid"/>
          </a:ln>
        </p:spPr>
      </p:sp>
      <p:sp>
        <p:nvSpPr>
          <p:cNvPr id="10" name="Text 8"/>
          <p:cNvSpPr txBox="1"/>
          <p:nvPr/>
        </p:nvSpPr>
        <p:spPr>
          <a:xfrm>
            <a:off x="548640" y="2726055"/>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1" name="Text 9"/>
          <p:cNvSpPr txBox="1"/>
          <p:nvPr/>
        </p:nvSpPr>
        <p:spPr>
          <a:xfrm>
            <a:off x="1143000" y="2680335"/>
            <a:ext cx="10500055" cy="895826"/>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L'entreprise est-elle tenue de mettre en place un dispositif de partage de la valeur ? Lequel conseillez-vous et pourquoi ?</a:t>
            </a:r>
            <a:endParaRPr lang="en-US" sz="1700" dirty="0"/>
          </a:p>
        </p:txBody>
      </p:sp>
      <p:sp>
        <p:nvSpPr>
          <p:cNvPr id="12" name="Shape 10"/>
          <p:cNvSpPr/>
          <p:nvPr/>
        </p:nvSpPr>
        <p:spPr>
          <a:xfrm>
            <a:off x="548640" y="3621881"/>
            <a:ext cx="384048" cy="384048"/>
          </a:xfrm>
          <a:prstGeom prst="ellipse">
            <a:avLst/>
          </a:prstGeom>
          <a:solidFill>
            <a:srgbClr val="183F1E"/>
          </a:solidFill>
          <a:ln w="12700">
            <a:solidFill>
              <a:srgbClr val="183F1E"/>
            </a:solidFill>
            <a:prstDash val="solid"/>
          </a:ln>
        </p:spPr>
      </p:sp>
      <p:sp>
        <p:nvSpPr>
          <p:cNvPr id="13" name="Text 11"/>
          <p:cNvSpPr txBox="1"/>
          <p:nvPr/>
        </p:nvSpPr>
        <p:spPr>
          <a:xfrm>
            <a:off x="548640" y="3621881"/>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4" name="Text 12"/>
          <p:cNvSpPr txBox="1"/>
          <p:nvPr/>
        </p:nvSpPr>
        <p:spPr>
          <a:xfrm>
            <a:off x="1143000" y="3576161"/>
            <a:ext cx="10500055" cy="895826"/>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Le gérant choisit une PPV de 1 500 € pour tous. Calculez ce que Nadia perçoit si la prime est versée en décembre 2026, puis en janvier 2027 (prime perçue, non placée).</a:t>
            </a:r>
            <a:endParaRPr lang="en-US" sz="1700" dirty="0"/>
          </a:p>
        </p:txBody>
      </p:sp>
      <p:sp>
        <p:nvSpPr>
          <p:cNvPr id="15" name="Shape 13"/>
          <p:cNvSpPr/>
          <p:nvPr/>
        </p:nvSpPr>
        <p:spPr>
          <a:xfrm>
            <a:off x="548640" y="4517708"/>
            <a:ext cx="384048" cy="384048"/>
          </a:xfrm>
          <a:prstGeom prst="ellipse">
            <a:avLst/>
          </a:prstGeom>
          <a:solidFill>
            <a:srgbClr val="183F1E"/>
          </a:solidFill>
          <a:ln w="12700">
            <a:solidFill>
              <a:srgbClr val="183F1E"/>
            </a:solidFill>
            <a:prstDash val="solid"/>
          </a:ln>
        </p:spPr>
      </p:sp>
      <p:sp>
        <p:nvSpPr>
          <p:cNvPr id="16" name="Text 14"/>
          <p:cNvSpPr txBox="1"/>
          <p:nvPr/>
        </p:nvSpPr>
        <p:spPr>
          <a:xfrm>
            <a:off x="548640" y="45177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7" name="Text 15"/>
          <p:cNvSpPr txBox="1"/>
          <p:nvPr/>
        </p:nvSpPr>
        <p:spPr>
          <a:xfrm>
            <a:off x="1143000" y="4471988"/>
            <a:ext cx="10500055" cy="895826"/>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Nadia verse 1 000 € sur le PEE en 2026 ; le règlement prévoit un abondement de 200 %. Calculez l'abondement, son régime et le montant net porté au plan.</a:t>
            </a:r>
            <a:endParaRPr lang="en-US" sz="1700" dirty="0"/>
          </a:p>
        </p:txBody>
      </p:sp>
      <p:sp>
        <p:nvSpPr>
          <p:cNvPr id="18" name="Shape 16"/>
          <p:cNvSpPr/>
          <p:nvPr/>
        </p:nvSpPr>
        <p:spPr>
          <a:xfrm>
            <a:off x="548640" y="5413534"/>
            <a:ext cx="384048" cy="384048"/>
          </a:xfrm>
          <a:prstGeom prst="ellipse">
            <a:avLst/>
          </a:prstGeom>
          <a:solidFill>
            <a:srgbClr val="183F1E"/>
          </a:solidFill>
          <a:ln w="12700">
            <a:solidFill>
              <a:srgbClr val="183F1E"/>
            </a:solidFill>
            <a:prstDash val="solid"/>
          </a:ln>
        </p:spPr>
      </p:sp>
      <p:sp>
        <p:nvSpPr>
          <p:cNvPr id="19" name="Text 17"/>
          <p:cNvSpPr txBox="1"/>
          <p:nvPr/>
        </p:nvSpPr>
        <p:spPr>
          <a:xfrm>
            <a:off x="548640" y="541353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0" name="Text 18"/>
          <p:cNvSpPr txBox="1"/>
          <p:nvPr/>
        </p:nvSpPr>
        <p:spPr>
          <a:xfrm>
            <a:off x="1143000" y="5367814"/>
            <a:ext cx="10500055" cy="895826"/>
          </a:xfrm>
          <a:prstGeom prst="rect">
            <a:avLst/>
          </a:prstGeom>
          <a:noFill/>
          <a:ln/>
        </p:spPr>
        <p:txBody>
          <a:bodyPr wrap="square" lIns="0" tIns="0" rIns="0" bIns="0" rtlCol="0" anchor="t"/>
          <a:lstStyle/>
          <a:p>
            <a:pPr indent="0" marL="0">
              <a:spcBef>
                <a:spcPts val="300"/>
              </a:spcBef>
              <a:buNone/>
            </a:pPr>
            <a:r>
              <a:rPr lang="en-US" sz="1700" dirty="0">
                <a:solidFill>
                  <a:srgbClr val="2B2B2B"/>
                </a:solidFill>
                <a:latin typeface="Calibri" pitchFamily="34" charset="0"/>
                <a:ea typeface="Calibri" pitchFamily="34" charset="-122"/>
                <a:cs typeface="Calibri" pitchFamily="34" charset="-120"/>
              </a:rPr>
              <a:t>L'entreprise décide de verser une participation volontaire au titre de 2026 le 20 juin 2027. Que signalez-vous ?</a:t>
            </a:r>
            <a:endParaRPr lang="en-US" sz="1700" dirty="0"/>
          </a:p>
        </p:txBody>
      </p:sp>
      <p:sp>
        <p:nvSpPr>
          <p:cNvPr id="21" name="Text 19"/>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2" name="Text 20"/>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52</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Corrigé du cas pratique 4</a:t>
            </a:r>
            <a:endParaRPr lang="en-US" sz="2800" dirty="0"/>
          </a:p>
        </p:txBody>
      </p:sp>
      <p:sp>
        <p:nvSpPr>
          <p:cNvPr id="3" name="Shape 1"/>
          <p:cNvSpPr/>
          <p:nvPr/>
        </p:nvSpPr>
        <p:spPr>
          <a:xfrm>
            <a:off x="9905695" y="457200"/>
            <a:ext cx="1737360" cy="310896"/>
          </a:xfrm>
          <a:prstGeom prst="roundRect">
            <a:avLst>
              <a:gd name="adj" fmla="val 50000"/>
            </a:avLst>
          </a:prstGeom>
          <a:solidFill>
            <a:srgbClr val="183F1E"/>
          </a:solidFill>
          <a:ln w="12700">
            <a:solidFill>
              <a:srgbClr val="183F1E"/>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CORRIGÉ</a:t>
            </a:r>
            <a:endParaRPr lang="en-US" sz="1000" dirty="0"/>
          </a:p>
        </p:txBody>
      </p:sp>
      <p:sp>
        <p:nvSpPr>
          <p:cNvPr id="5" name="Shape 3"/>
          <p:cNvSpPr/>
          <p:nvPr/>
        </p:nvSpPr>
        <p:spPr>
          <a:xfrm>
            <a:off x="548640" y="1325880"/>
            <a:ext cx="11094415" cy="1110996"/>
          </a:xfrm>
          <a:prstGeom prst="roundRect">
            <a:avLst>
              <a:gd name="adj" fmla="val 8230"/>
            </a:avLst>
          </a:prstGeom>
          <a:solidFill>
            <a:srgbClr val="FFF6F4"/>
          </a:solidFill>
          <a:ln w="12700">
            <a:solidFill>
              <a:srgbClr val="FFF6F4"/>
            </a:solidFill>
            <a:prstDash val="solid"/>
          </a:ln>
        </p:spPr>
      </p:sp>
      <p:sp>
        <p:nvSpPr>
          <p:cNvPr id="6" name="Shape 4"/>
          <p:cNvSpPr/>
          <p:nvPr/>
        </p:nvSpPr>
        <p:spPr>
          <a:xfrm>
            <a:off x="685800" y="1463040"/>
            <a:ext cx="384048" cy="384048"/>
          </a:xfrm>
          <a:prstGeom prst="ellipse">
            <a:avLst/>
          </a:prstGeom>
          <a:solidFill>
            <a:srgbClr val="183F1E"/>
          </a:solidFill>
          <a:ln w="12700">
            <a:solidFill>
              <a:srgbClr val="183F1E"/>
            </a:solidFill>
            <a:prstDash val="solid"/>
          </a:ln>
        </p:spPr>
      </p:sp>
      <p:sp>
        <p:nvSpPr>
          <p:cNvPr id="7" name="Text 5"/>
          <p:cNvSpPr txBox="1"/>
          <p:nvPr/>
        </p:nvSpPr>
        <p:spPr>
          <a:xfrm>
            <a:off x="685800" y="146304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99032"/>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Obligation</a:t>
            </a:r>
            <a:endParaRPr lang="en-US" sz="1400" dirty="0"/>
          </a:p>
        </p:txBody>
      </p:sp>
      <p:sp>
        <p:nvSpPr>
          <p:cNvPr id="9" name="Text 7"/>
          <p:cNvSpPr txBox="1"/>
          <p:nvPr/>
        </p:nvSpPr>
        <p:spPr>
          <a:xfrm>
            <a:off x="3383280" y="1399032"/>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300" dirty="0">
                <a:solidFill>
                  <a:srgbClr val="2B2B2B"/>
                </a:solidFill>
                <a:latin typeface="Calibri" pitchFamily="34" charset="0"/>
                <a:ea typeface="Calibri" pitchFamily="34" charset="-122"/>
                <a:cs typeface="Calibri" pitchFamily="34" charset="-120"/>
              </a:rPr>
              <a:t>Oui : 11 à 49 salariés et bénéfice net fiscal ≥ 1 % du CA sur 3 exercices consécutifs (2023, 2024, 2025) → dispositif obligatoire au titre de l'exercice 2026. La PPV est la plus simple (décision unilatérale) ; un intéressement par DUE permettrait de porter le plafond de la PPV à 6 000 € et d'exonérer d'IR les sommes placées.</a:t>
            </a:r>
            <a:endParaRPr lang="en-US" sz="1300" dirty="0"/>
          </a:p>
        </p:txBody>
      </p:sp>
      <p:sp>
        <p:nvSpPr>
          <p:cNvPr id="10" name="Shape 8"/>
          <p:cNvSpPr/>
          <p:nvPr/>
        </p:nvSpPr>
        <p:spPr>
          <a:xfrm>
            <a:off x="548640" y="2601468"/>
            <a:ext cx="11094415" cy="1110996"/>
          </a:xfrm>
          <a:prstGeom prst="roundRect">
            <a:avLst>
              <a:gd name="adj" fmla="val 8230"/>
            </a:avLst>
          </a:prstGeom>
          <a:solidFill>
            <a:srgbClr val="FFF6F4"/>
          </a:solidFill>
          <a:ln w="12700">
            <a:solidFill>
              <a:srgbClr val="FFF6F4"/>
            </a:solidFill>
            <a:prstDash val="solid"/>
          </a:ln>
        </p:spPr>
      </p:sp>
      <p:sp>
        <p:nvSpPr>
          <p:cNvPr id="11" name="Shape 9"/>
          <p:cNvSpPr/>
          <p:nvPr/>
        </p:nvSpPr>
        <p:spPr>
          <a:xfrm>
            <a:off x="685800" y="2738628"/>
            <a:ext cx="384048" cy="384048"/>
          </a:xfrm>
          <a:prstGeom prst="ellipse">
            <a:avLst/>
          </a:prstGeom>
          <a:solidFill>
            <a:srgbClr val="183F1E"/>
          </a:solidFill>
          <a:ln w="12700">
            <a:solidFill>
              <a:srgbClr val="183F1E"/>
            </a:solidFill>
            <a:prstDash val="solid"/>
          </a:ln>
        </p:spPr>
      </p:sp>
      <p:sp>
        <p:nvSpPr>
          <p:cNvPr id="12" name="Text 10"/>
          <p:cNvSpPr txBox="1"/>
          <p:nvPr/>
        </p:nvSpPr>
        <p:spPr>
          <a:xfrm>
            <a:off x="685800" y="27386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3" name="Text 11"/>
          <p:cNvSpPr txBox="1"/>
          <p:nvPr/>
        </p:nvSpPr>
        <p:spPr>
          <a:xfrm>
            <a:off x="1188720" y="2674620"/>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PPV de Nadia</a:t>
            </a:r>
            <a:endParaRPr lang="en-US" sz="1400" dirty="0"/>
          </a:p>
        </p:txBody>
      </p:sp>
      <p:sp>
        <p:nvSpPr>
          <p:cNvPr id="14" name="Text 12"/>
          <p:cNvSpPr txBox="1"/>
          <p:nvPr/>
        </p:nvSpPr>
        <p:spPr>
          <a:xfrm>
            <a:off x="3383280" y="2674620"/>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400" dirty="0">
                <a:solidFill>
                  <a:srgbClr val="2B2B2B"/>
                </a:solidFill>
                <a:latin typeface="Calibri" pitchFamily="34" charset="0"/>
                <a:ea typeface="Calibri" pitchFamily="34" charset="-122"/>
                <a:cs typeface="Calibri" pitchFamily="34" charset="-120"/>
              </a:rPr>
              <a:t>Décembre 2026 : entreprise de moins de 50 salariés, rémunération inférieure à 3 SMIC → 1 500 € nets, exonérés de cotisations, de CSG-CRDS et d'IR. Janvier 2027 : CSG-CRDS 9,7 % = 145,50 € → 1 354,50 € nets, et prime imposable (sauf affectation à un plan).</a:t>
            </a:r>
            <a:endParaRPr lang="en-US" sz="1400" dirty="0"/>
          </a:p>
        </p:txBody>
      </p:sp>
      <p:sp>
        <p:nvSpPr>
          <p:cNvPr id="15" name="Shape 13"/>
          <p:cNvSpPr/>
          <p:nvPr/>
        </p:nvSpPr>
        <p:spPr>
          <a:xfrm>
            <a:off x="548640" y="3877056"/>
            <a:ext cx="11094415" cy="1110996"/>
          </a:xfrm>
          <a:prstGeom prst="roundRect">
            <a:avLst>
              <a:gd name="adj" fmla="val 8230"/>
            </a:avLst>
          </a:prstGeom>
          <a:solidFill>
            <a:srgbClr val="FFF6F4"/>
          </a:solidFill>
          <a:ln w="12700">
            <a:solidFill>
              <a:srgbClr val="FFF6F4"/>
            </a:solidFill>
            <a:prstDash val="solid"/>
          </a:ln>
        </p:spPr>
      </p:sp>
      <p:sp>
        <p:nvSpPr>
          <p:cNvPr id="16" name="Shape 14"/>
          <p:cNvSpPr/>
          <p:nvPr/>
        </p:nvSpPr>
        <p:spPr>
          <a:xfrm>
            <a:off x="685800" y="4014216"/>
            <a:ext cx="384048" cy="384048"/>
          </a:xfrm>
          <a:prstGeom prst="ellipse">
            <a:avLst/>
          </a:prstGeom>
          <a:solidFill>
            <a:srgbClr val="183F1E"/>
          </a:solidFill>
          <a:ln w="12700">
            <a:solidFill>
              <a:srgbClr val="183F1E"/>
            </a:solidFill>
            <a:prstDash val="solid"/>
          </a:ln>
        </p:spPr>
      </p:sp>
      <p:sp>
        <p:nvSpPr>
          <p:cNvPr id="17" name="Text 15"/>
          <p:cNvSpPr txBox="1"/>
          <p:nvPr/>
        </p:nvSpPr>
        <p:spPr>
          <a:xfrm>
            <a:off x="685800" y="401421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8" name="Text 16"/>
          <p:cNvSpPr txBox="1"/>
          <p:nvPr/>
        </p:nvSpPr>
        <p:spPr>
          <a:xfrm>
            <a:off x="1188720" y="3950208"/>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Abondement</a:t>
            </a:r>
            <a:endParaRPr lang="en-US" sz="1400" dirty="0"/>
          </a:p>
        </p:txBody>
      </p:sp>
      <p:sp>
        <p:nvSpPr>
          <p:cNvPr id="19" name="Text 17"/>
          <p:cNvSpPr txBox="1"/>
          <p:nvPr/>
        </p:nvSpPr>
        <p:spPr>
          <a:xfrm>
            <a:off x="3383280" y="3950208"/>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200 % × 1 000 = 2 000 €, sous le plafond de 3 844,80 € (8 % du PASS) et de 300 %. Exonéré de cotisations et de forfait social (moins de 50 salariés) ; CSG-CRDS 9,7 % = 194 € précomptée : 1 806 € nets portés au plan, exonérés d'IR.</a:t>
            </a:r>
            <a:endParaRPr lang="en-US" sz="1500" dirty="0"/>
          </a:p>
        </p:txBody>
      </p:sp>
      <p:sp>
        <p:nvSpPr>
          <p:cNvPr id="20" name="Shape 18"/>
          <p:cNvSpPr/>
          <p:nvPr/>
        </p:nvSpPr>
        <p:spPr>
          <a:xfrm>
            <a:off x="548640" y="5152644"/>
            <a:ext cx="11094415" cy="1110996"/>
          </a:xfrm>
          <a:prstGeom prst="roundRect">
            <a:avLst>
              <a:gd name="adj" fmla="val 8230"/>
            </a:avLst>
          </a:prstGeom>
          <a:solidFill>
            <a:srgbClr val="FFF6F4"/>
          </a:solidFill>
          <a:ln w="12700">
            <a:solidFill>
              <a:srgbClr val="FFF6F4"/>
            </a:solidFill>
            <a:prstDash val="solid"/>
          </a:ln>
        </p:spPr>
      </p:sp>
      <p:sp>
        <p:nvSpPr>
          <p:cNvPr id="21" name="Shape 19"/>
          <p:cNvSpPr/>
          <p:nvPr/>
        </p:nvSpPr>
        <p:spPr>
          <a:xfrm>
            <a:off x="685800" y="5289804"/>
            <a:ext cx="384048" cy="384048"/>
          </a:xfrm>
          <a:prstGeom prst="ellipse">
            <a:avLst/>
          </a:prstGeom>
          <a:solidFill>
            <a:srgbClr val="183F1E"/>
          </a:solidFill>
          <a:ln w="12700">
            <a:solidFill>
              <a:srgbClr val="183F1E"/>
            </a:solidFill>
            <a:prstDash val="solid"/>
          </a:ln>
        </p:spPr>
      </p:sp>
      <p:sp>
        <p:nvSpPr>
          <p:cNvPr id="22" name="Text 20"/>
          <p:cNvSpPr txBox="1"/>
          <p:nvPr/>
        </p:nvSpPr>
        <p:spPr>
          <a:xfrm>
            <a:off x="685800" y="52898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3" name="Text 21"/>
          <p:cNvSpPr txBox="1"/>
          <p:nvPr/>
        </p:nvSpPr>
        <p:spPr>
          <a:xfrm>
            <a:off x="1188720" y="5225796"/>
            <a:ext cx="2103120" cy="964692"/>
          </a:xfrm>
          <a:prstGeom prst="rect">
            <a:avLst/>
          </a:prstGeom>
          <a:noFill/>
          <a:ln/>
        </p:spPr>
        <p:txBody>
          <a:bodyPr wrap="square" lIns="0" tIns="0" rIns="0" bIns="0" rtlCol="0" anchor="t"/>
          <a:lstStyle/>
          <a:p>
            <a:pPr indent="0" marL="0">
              <a:spcBef>
                <a:spcPts val="400"/>
              </a:spcBef>
              <a:buNone/>
            </a:pPr>
            <a:r>
              <a:rPr lang="en-US" sz="1400" b="1" dirty="0">
                <a:solidFill>
                  <a:srgbClr val="183F1E"/>
                </a:solidFill>
                <a:latin typeface="Cambria" pitchFamily="34" charset="0"/>
                <a:ea typeface="Cambria" pitchFamily="34" charset="-122"/>
                <a:cs typeface="Cambria" pitchFamily="34" charset="-120"/>
              </a:rPr>
              <a:t>Participation tardive</a:t>
            </a:r>
            <a:endParaRPr lang="en-US" sz="1400" dirty="0"/>
          </a:p>
        </p:txBody>
      </p:sp>
      <p:sp>
        <p:nvSpPr>
          <p:cNvPr id="24" name="Text 22"/>
          <p:cNvSpPr txBox="1"/>
          <p:nvPr/>
        </p:nvSpPr>
        <p:spPr>
          <a:xfrm>
            <a:off x="3383280" y="5225796"/>
            <a:ext cx="8076895" cy="964692"/>
          </a:xfrm>
          <a:prstGeom prst="rect">
            <a:avLst/>
          </a:prstGeom>
          <a:noFill/>
          <a:ln/>
        </p:spPr>
        <p:txBody>
          <a:bodyPr wrap="square" lIns="0" tIns="0" rIns="0" bIns="0" rtlCol="0" anchor="t"/>
          <a:lstStyle/>
          <a:p>
            <a:pPr indent="0" marL="0">
              <a:lnSpc>
                <a:spcPct val="105000"/>
              </a:lnSpc>
              <a:spcBef>
                <a:spcPts val="400"/>
              </a:spcBef>
              <a:buNone/>
            </a:pPr>
            <a:r>
              <a:rPr lang="en-US" sz="1500" dirty="0">
                <a:solidFill>
                  <a:srgbClr val="2B2B2B"/>
                </a:solidFill>
                <a:latin typeface="Calibri" pitchFamily="34" charset="0"/>
                <a:ea typeface="Calibri" pitchFamily="34" charset="-122"/>
                <a:cs typeface="Calibri" pitchFamily="34" charset="-120"/>
              </a:rPr>
              <a:t>Le versement devait intervenir au plus tard le 31 mai 2027 (dernier jour du 5e mois suivant la clôture). Un versement le 20 juin déclenche des intérêts de retard au taux de 1,33 fois le TMOP, à la charge de l'entreprise, calculés à compter du 1er juin.</a:t>
            </a:r>
            <a:endParaRPr lang="en-US" sz="1500" dirty="0"/>
          </a:p>
        </p:txBody>
      </p:sp>
      <p:sp>
        <p:nvSpPr>
          <p:cNvPr id="25" name="Text 2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6" name="Text 2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53</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2E5D8"/>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Quiz 5 : épargne salariale</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QUIZ 5</a:t>
            </a:r>
            <a:endParaRPr lang="en-US" sz="1000" dirty="0"/>
          </a:p>
        </p:txBody>
      </p:sp>
      <p:sp>
        <p:nvSpPr>
          <p:cNvPr id="5" name="Shape 3"/>
          <p:cNvSpPr/>
          <p:nvPr/>
        </p:nvSpPr>
        <p:spPr>
          <a:xfrm>
            <a:off x="548640" y="1325880"/>
            <a:ext cx="11094415" cy="877824"/>
          </a:xfrm>
          <a:prstGeom prst="roundRect">
            <a:avLst>
              <a:gd name="adj" fmla="val 10417"/>
            </a:avLst>
          </a:prstGeom>
          <a:solidFill>
            <a:srgbClr val="FFFFFF"/>
          </a:solidFill>
          <a:ln w="12700">
            <a:solidFill>
              <a:srgbClr val="FFFFFF"/>
            </a:solidFill>
            <a:prstDash val="solid"/>
          </a:ln>
        </p:spPr>
      </p:sp>
      <p:sp>
        <p:nvSpPr>
          <p:cNvPr id="6" name="Shape 4"/>
          <p:cNvSpPr/>
          <p:nvPr/>
        </p:nvSpPr>
        <p:spPr>
          <a:xfrm>
            <a:off x="685800" y="1444752"/>
            <a:ext cx="384048" cy="384048"/>
          </a:xfrm>
          <a:prstGeom prst="ellipse">
            <a:avLst/>
          </a:prstGeom>
          <a:solidFill>
            <a:srgbClr val="8C3A27"/>
          </a:solidFill>
          <a:ln w="12700">
            <a:solidFill>
              <a:srgbClr val="8C3A27"/>
            </a:solidFill>
            <a:prstDash val="solid"/>
          </a:ln>
        </p:spPr>
      </p:sp>
      <p:sp>
        <p:nvSpPr>
          <p:cNvPr id="7" name="Text 5"/>
          <p:cNvSpPr txBox="1"/>
          <p:nvPr/>
        </p:nvSpPr>
        <p:spPr>
          <a:xfrm>
            <a:off x="68580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99032"/>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Le plafond individuel d'intéressement et de participation en 2026 est de :</a:t>
            </a:r>
            <a:endParaRPr lang="en-US" sz="1400" dirty="0"/>
          </a:p>
        </p:txBody>
      </p:sp>
      <p:sp>
        <p:nvSpPr>
          <p:cNvPr id="9" name="Shape 7"/>
          <p:cNvSpPr/>
          <p:nvPr/>
        </p:nvSpPr>
        <p:spPr>
          <a:xfrm>
            <a:off x="1188720" y="1758696"/>
            <a:ext cx="3301898" cy="371856"/>
          </a:xfrm>
          <a:prstGeom prst="roundRect">
            <a:avLst>
              <a:gd name="adj" fmla="val 19672"/>
            </a:avLst>
          </a:prstGeom>
          <a:solidFill>
            <a:srgbClr val="FFF6F4"/>
          </a:solidFill>
          <a:ln w="9525">
            <a:solidFill>
              <a:srgbClr val="F0C8BC"/>
            </a:solidFill>
            <a:prstDash val="solid"/>
          </a:ln>
        </p:spPr>
      </p:sp>
      <p:sp>
        <p:nvSpPr>
          <p:cNvPr id="10" name="Text 8"/>
          <p:cNvSpPr txBox="1"/>
          <p:nvPr/>
        </p:nvSpPr>
        <p:spPr>
          <a:xfrm>
            <a:off x="1261872" y="1758696"/>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11" name="Text 9"/>
          <p:cNvSpPr txBox="1"/>
          <p:nvPr/>
        </p:nvSpPr>
        <p:spPr>
          <a:xfrm>
            <a:off x="1572768" y="1758696"/>
            <a:ext cx="2844698" cy="371856"/>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36 045 € (75 % du PASS)</a:t>
            </a:r>
            <a:endParaRPr lang="en-US" sz="1200" dirty="0"/>
          </a:p>
        </p:txBody>
      </p:sp>
      <p:sp>
        <p:nvSpPr>
          <p:cNvPr id="12" name="Shape 10"/>
          <p:cNvSpPr/>
          <p:nvPr/>
        </p:nvSpPr>
        <p:spPr>
          <a:xfrm>
            <a:off x="4673498" y="1758696"/>
            <a:ext cx="3301898" cy="371856"/>
          </a:xfrm>
          <a:prstGeom prst="roundRect">
            <a:avLst>
              <a:gd name="adj" fmla="val 19672"/>
            </a:avLst>
          </a:prstGeom>
          <a:solidFill>
            <a:srgbClr val="FFF6F4"/>
          </a:solidFill>
          <a:ln w="9525">
            <a:solidFill>
              <a:srgbClr val="F0C8BC"/>
            </a:solidFill>
            <a:prstDash val="solid"/>
          </a:ln>
        </p:spPr>
      </p:sp>
      <p:sp>
        <p:nvSpPr>
          <p:cNvPr id="13" name="Text 11"/>
          <p:cNvSpPr txBox="1"/>
          <p:nvPr/>
        </p:nvSpPr>
        <p:spPr>
          <a:xfrm>
            <a:off x="4746650" y="1758696"/>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14" name="Text 12"/>
          <p:cNvSpPr txBox="1"/>
          <p:nvPr/>
        </p:nvSpPr>
        <p:spPr>
          <a:xfrm>
            <a:off x="5057546" y="1758696"/>
            <a:ext cx="2844698" cy="371856"/>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48 060 € (1 PASS)</a:t>
            </a:r>
            <a:endParaRPr lang="en-US" sz="1200" dirty="0"/>
          </a:p>
        </p:txBody>
      </p:sp>
      <p:sp>
        <p:nvSpPr>
          <p:cNvPr id="15" name="Shape 13"/>
          <p:cNvSpPr/>
          <p:nvPr/>
        </p:nvSpPr>
        <p:spPr>
          <a:xfrm>
            <a:off x="8158277" y="1758696"/>
            <a:ext cx="3301898" cy="371856"/>
          </a:xfrm>
          <a:prstGeom prst="roundRect">
            <a:avLst>
              <a:gd name="adj" fmla="val 19672"/>
            </a:avLst>
          </a:prstGeom>
          <a:solidFill>
            <a:srgbClr val="FFF6F4"/>
          </a:solidFill>
          <a:ln w="9525">
            <a:solidFill>
              <a:srgbClr val="F0C8BC"/>
            </a:solidFill>
            <a:prstDash val="solid"/>
          </a:ln>
        </p:spPr>
      </p:sp>
      <p:sp>
        <p:nvSpPr>
          <p:cNvPr id="16" name="Text 14"/>
          <p:cNvSpPr txBox="1"/>
          <p:nvPr/>
        </p:nvSpPr>
        <p:spPr>
          <a:xfrm>
            <a:off x="8231429" y="1758696"/>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17" name="Text 15"/>
          <p:cNvSpPr txBox="1"/>
          <p:nvPr/>
        </p:nvSpPr>
        <p:spPr>
          <a:xfrm>
            <a:off x="8542325" y="1758696"/>
            <a:ext cx="2844698" cy="371856"/>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3 844,80 € (8 % du PASS)</a:t>
            </a:r>
            <a:endParaRPr lang="en-US" sz="1200" dirty="0"/>
          </a:p>
        </p:txBody>
      </p:sp>
      <p:sp>
        <p:nvSpPr>
          <p:cNvPr id="18" name="Shape 16"/>
          <p:cNvSpPr/>
          <p:nvPr/>
        </p:nvSpPr>
        <p:spPr>
          <a:xfrm>
            <a:off x="548640" y="2340864"/>
            <a:ext cx="11094415" cy="877824"/>
          </a:xfrm>
          <a:prstGeom prst="roundRect">
            <a:avLst>
              <a:gd name="adj" fmla="val 10417"/>
            </a:avLst>
          </a:prstGeom>
          <a:solidFill>
            <a:srgbClr val="FFFFFF"/>
          </a:solidFill>
          <a:ln w="12700">
            <a:solidFill>
              <a:srgbClr val="FFFFFF"/>
            </a:solidFill>
            <a:prstDash val="solid"/>
          </a:ln>
        </p:spPr>
      </p:sp>
      <p:sp>
        <p:nvSpPr>
          <p:cNvPr id="19" name="Shape 17"/>
          <p:cNvSpPr/>
          <p:nvPr/>
        </p:nvSpPr>
        <p:spPr>
          <a:xfrm>
            <a:off x="685800" y="2459736"/>
            <a:ext cx="384048" cy="384048"/>
          </a:xfrm>
          <a:prstGeom prst="ellipse">
            <a:avLst/>
          </a:prstGeom>
          <a:solidFill>
            <a:srgbClr val="8C3A27"/>
          </a:solidFill>
          <a:ln w="12700">
            <a:solidFill>
              <a:srgbClr val="8C3A27"/>
            </a:solidFill>
            <a:prstDash val="solid"/>
          </a:ln>
        </p:spPr>
      </p:sp>
      <p:sp>
        <p:nvSpPr>
          <p:cNvPr id="20" name="Text 18"/>
          <p:cNvSpPr txBox="1"/>
          <p:nvPr/>
        </p:nvSpPr>
        <p:spPr>
          <a:xfrm>
            <a:off x="685800" y="24597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21" name="Text 19"/>
          <p:cNvSpPr txBox="1"/>
          <p:nvPr/>
        </p:nvSpPr>
        <p:spPr>
          <a:xfrm>
            <a:off x="1188720" y="2414016"/>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La CSG-CRDS sur l'intéressement est calculée :</a:t>
            </a:r>
            <a:endParaRPr lang="en-US" sz="1400" dirty="0"/>
          </a:p>
        </p:txBody>
      </p:sp>
      <p:sp>
        <p:nvSpPr>
          <p:cNvPr id="22" name="Shape 20"/>
          <p:cNvSpPr/>
          <p:nvPr/>
        </p:nvSpPr>
        <p:spPr>
          <a:xfrm>
            <a:off x="1188720" y="2773680"/>
            <a:ext cx="3301898" cy="371856"/>
          </a:xfrm>
          <a:prstGeom prst="roundRect">
            <a:avLst>
              <a:gd name="adj" fmla="val 19672"/>
            </a:avLst>
          </a:prstGeom>
          <a:solidFill>
            <a:srgbClr val="FFF6F4"/>
          </a:solidFill>
          <a:ln w="9525">
            <a:solidFill>
              <a:srgbClr val="F0C8BC"/>
            </a:solidFill>
            <a:prstDash val="solid"/>
          </a:ln>
        </p:spPr>
      </p:sp>
      <p:sp>
        <p:nvSpPr>
          <p:cNvPr id="23" name="Text 21"/>
          <p:cNvSpPr txBox="1"/>
          <p:nvPr/>
        </p:nvSpPr>
        <p:spPr>
          <a:xfrm>
            <a:off x="1261872" y="2773680"/>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24" name="Text 22"/>
          <p:cNvSpPr txBox="1"/>
          <p:nvPr/>
        </p:nvSpPr>
        <p:spPr>
          <a:xfrm>
            <a:off x="1572768" y="2773680"/>
            <a:ext cx="2844698" cy="371856"/>
          </a:xfrm>
          <a:prstGeom prst="rect">
            <a:avLst/>
          </a:prstGeom>
          <a:noFill/>
          <a:ln/>
        </p:spPr>
        <p:txBody>
          <a:bodyPr wrap="square" lIns="0" tIns="0" rIns="0" bIns="0" rtlCol="0" anchor="ctr"/>
          <a:lstStyle/>
          <a:p>
            <a:pPr indent="0" marL="0">
              <a:buNone/>
            </a:pPr>
            <a:r>
              <a:rPr lang="en-US" sz="1100" dirty="0">
                <a:solidFill>
                  <a:srgbClr val="2B2B2B"/>
                </a:solidFill>
                <a:latin typeface="Calibri" pitchFamily="34" charset="0"/>
                <a:ea typeface="Calibri" pitchFamily="34" charset="-122"/>
                <a:cs typeface="Calibri" pitchFamily="34" charset="-120"/>
              </a:rPr>
              <a:t>Sur 98,25 % de la somme, comme un salaire</a:t>
            </a:r>
            <a:endParaRPr lang="en-US" sz="1100" dirty="0"/>
          </a:p>
        </p:txBody>
      </p:sp>
      <p:sp>
        <p:nvSpPr>
          <p:cNvPr id="25" name="Shape 23"/>
          <p:cNvSpPr/>
          <p:nvPr/>
        </p:nvSpPr>
        <p:spPr>
          <a:xfrm>
            <a:off x="4673498" y="2773680"/>
            <a:ext cx="3301898" cy="371856"/>
          </a:xfrm>
          <a:prstGeom prst="roundRect">
            <a:avLst>
              <a:gd name="adj" fmla="val 19672"/>
            </a:avLst>
          </a:prstGeom>
          <a:solidFill>
            <a:srgbClr val="FFF6F4"/>
          </a:solidFill>
          <a:ln w="9525">
            <a:solidFill>
              <a:srgbClr val="F0C8BC"/>
            </a:solidFill>
            <a:prstDash val="solid"/>
          </a:ln>
        </p:spPr>
      </p:sp>
      <p:sp>
        <p:nvSpPr>
          <p:cNvPr id="26" name="Text 24"/>
          <p:cNvSpPr txBox="1"/>
          <p:nvPr/>
        </p:nvSpPr>
        <p:spPr>
          <a:xfrm>
            <a:off x="4746650" y="2773680"/>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27" name="Text 25"/>
          <p:cNvSpPr txBox="1"/>
          <p:nvPr/>
        </p:nvSpPr>
        <p:spPr>
          <a:xfrm>
            <a:off x="5057546" y="2773680"/>
            <a:ext cx="2844698" cy="371856"/>
          </a:xfrm>
          <a:prstGeom prst="rect">
            <a:avLst/>
          </a:prstGeom>
          <a:noFill/>
          <a:ln/>
        </p:spPr>
        <p:txBody>
          <a:bodyPr wrap="square" lIns="0" tIns="0" rIns="0" bIns="0" rtlCol="0" anchor="ctr"/>
          <a:lstStyle/>
          <a:p>
            <a:pPr indent="0" marL="0">
              <a:buNone/>
            </a:pPr>
            <a:r>
              <a:rPr lang="en-US" sz="1100" dirty="0">
                <a:solidFill>
                  <a:srgbClr val="2B2B2B"/>
                </a:solidFill>
                <a:latin typeface="Calibri" pitchFamily="34" charset="0"/>
                <a:ea typeface="Calibri" pitchFamily="34" charset="-122"/>
                <a:cs typeface="Calibri" pitchFamily="34" charset="-120"/>
              </a:rPr>
              <a:t>Sur 100 % de la somme, au taux de 9,7 %</a:t>
            </a:r>
            <a:endParaRPr lang="en-US" sz="1100" dirty="0"/>
          </a:p>
        </p:txBody>
      </p:sp>
      <p:sp>
        <p:nvSpPr>
          <p:cNvPr id="28" name="Shape 26"/>
          <p:cNvSpPr/>
          <p:nvPr/>
        </p:nvSpPr>
        <p:spPr>
          <a:xfrm>
            <a:off x="8158277" y="2773680"/>
            <a:ext cx="3301898" cy="371856"/>
          </a:xfrm>
          <a:prstGeom prst="roundRect">
            <a:avLst>
              <a:gd name="adj" fmla="val 19672"/>
            </a:avLst>
          </a:prstGeom>
          <a:solidFill>
            <a:srgbClr val="FFF6F4"/>
          </a:solidFill>
          <a:ln w="9525">
            <a:solidFill>
              <a:srgbClr val="F0C8BC"/>
            </a:solidFill>
            <a:prstDash val="solid"/>
          </a:ln>
        </p:spPr>
      </p:sp>
      <p:sp>
        <p:nvSpPr>
          <p:cNvPr id="29" name="Text 27"/>
          <p:cNvSpPr txBox="1"/>
          <p:nvPr/>
        </p:nvSpPr>
        <p:spPr>
          <a:xfrm>
            <a:off x="8231429" y="2773680"/>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30" name="Text 28"/>
          <p:cNvSpPr txBox="1"/>
          <p:nvPr/>
        </p:nvSpPr>
        <p:spPr>
          <a:xfrm>
            <a:off x="8542325" y="2773680"/>
            <a:ext cx="2844698" cy="371856"/>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Seulement si la somme est perçue</a:t>
            </a:r>
            <a:endParaRPr lang="en-US" sz="1200" dirty="0"/>
          </a:p>
        </p:txBody>
      </p:sp>
      <p:sp>
        <p:nvSpPr>
          <p:cNvPr id="31" name="Shape 29"/>
          <p:cNvSpPr/>
          <p:nvPr/>
        </p:nvSpPr>
        <p:spPr>
          <a:xfrm>
            <a:off x="548640" y="3355848"/>
            <a:ext cx="11094415" cy="877824"/>
          </a:xfrm>
          <a:prstGeom prst="roundRect">
            <a:avLst>
              <a:gd name="adj" fmla="val 10417"/>
            </a:avLst>
          </a:prstGeom>
          <a:solidFill>
            <a:srgbClr val="FFFFFF"/>
          </a:solidFill>
          <a:ln w="12700">
            <a:solidFill>
              <a:srgbClr val="FFFFFF"/>
            </a:solidFill>
            <a:prstDash val="solid"/>
          </a:ln>
        </p:spPr>
      </p:sp>
      <p:sp>
        <p:nvSpPr>
          <p:cNvPr id="32" name="Shape 30"/>
          <p:cNvSpPr/>
          <p:nvPr/>
        </p:nvSpPr>
        <p:spPr>
          <a:xfrm>
            <a:off x="685800" y="3474720"/>
            <a:ext cx="384048" cy="384048"/>
          </a:xfrm>
          <a:prstGeom prst="ellipse">
            <a:avLst/>
          </a:prstGeom>
          <a:solidFill>
            <a:srgbClr val="8C3A27"/>
          </a:solidFill>
          <a:ln w="12700">
            <a:solidFill>
              <a:srgbClr val="8C3A27"/>
            </a:solidFill>
            <a:prstDash val="solid"/>
          </a:ln>
        </p:spPr>
      </p:sp>
      <p:sp>
        <p:nvSpPr>
          <p:cNvPr id="33" name="Text 31"/>
          <p:cNvSpPr txBox="1"/>
          <p:nvPr/>
        </p:nvSpPr>
        <p:spPr>
          <a:xfrm>
            <a:off x="685800" y="3474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34" name="Text 32"/>
          <p:cNvSpPr txBox="1"/>
          <p:nvPr/>
        </p:nvSpPr>
        <p:spPr>
          <a:xfrm>
            <a:off x="1188720" y="3429000"/>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Une entreprise de 120 salariés verse un intéressement. Le forfait social est de :</a:t>
            </a:r>
            <a:endParaRPr lang="en-US" sz="1400" dirty="0"/>
          </a:p>
        </p:txBody>
      </p:sp>
      <p:sp>
        <p:nvSpPr>
          <p:cNvPr id="35" name="Shape 33"/>
          <p:cNvSpPr/>
          <p:nvPr/>
        </p:nvSpPr>
        <p:spPr>
          <a:xfrm>
            <a:off x="1188720" y="3788664"/>
            <a:ext cx="3301898" cy="371856"/>
          </a:xfrm>
          <a:prstGeom prst="roundRect">
            <a:avLst>
              <a:gd name="adj" fmla="val 19672"/>
            </a:avLst>
          </a:prstGeom>
          <a:solidFill>
            <a:srgbClr val="FFF6F4"/>
          </a:solidFill>
          <a:ln w="9525">
            <a:solidFill>
              <a:srgbClr val="F0C8BC"/>
            </a:solidFill>
            <a:prstDash val="solid"/>
          </a:ln>
        </p:spPr>
      </p:sp>
      <p:sp>
        <p:nvSpPr>
          <p:cNvPr id="36" name="Text 34"/>
          <p:cNvSpPr txBox="1"/>
          <p:nvPr/>
        </p:nvSpPr>
        <p:spPr>
          <a:xfrm>
            <a:off x="1261872" y="3788664"/>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37" name="Text 35"/>
          <p:cNvSpPr txBox="1"/>
          <p:nvPr/>
        </p:nvSpPr>
        <p:spPr>
          <a:xfrm>
            <a:off x="1572768" y="3788664"/>
            <a:ext cx="2844698" cy="371856"/>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20 %</a:t>
            </a:r>
            <a:endParaRPr lang="en-US" sz="1200" dirty="0"/>
          </a:p>
        </p:txBody>
      </p:sp>
      <p:sp>
        <p:nvSpPr>
          <p:cNvPr id="38" name="Shape 36"/>
          <p:cNvSpPr/>
          <p:nvPr/>
        </p:nvSpPr>
        <p:spPr>
          <a:xfrm>
            <a:off x="4673498" y="3788664"/>
            <a:ext cx="3301898" cy="371856"/>
          </a:xfrm>
          <a:prstGeom prst="roundRect">
            <a:avLst>
              <a:gd name="adj" fmla="val 19672"/>
            </a:avLst>
          </a:prstGeom>
          <a:solidFill>
            <a:srgbClr val="FFF6F4"/>
          </a:solidFill>
          <a:ln w="9525">
            <a:solidFill>
              <a:srgbClr val="F0C8BC"/>
            </a:solidFill>
            <a:prstDash val="solid"/>
          </a:ln>
        </p:spPr>
      </p:sp>
      <p:sp>
        <p:nvSpPr>
          <p:cNvPr id="39" name="Text 37"/>
          <p:cNvSpPr txBox="1"/>
          <p:nvPr/>
        </p:nvSpPr>
        <p:spPr>
          <a:xfrm>
            <a:off x="4746650" y="3788664"/>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40" name="Text 38"/>
          <p:cNvSpPr txBox="1"/>
          <p:nvPr/>
        </p:nvSpPr>
        <p:spPr>
          <a:xfrm>
            <a:off x="5057546" y="3788664"/>
            <a:ext cx="2844698" cy="371856"/>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0 %</a:t>
            </a:r>
            <a:endParaRPr lang="en-US" sz="1200" dirty="0"/>
          </a:p>
        </p:txBody>
      </p:sp>
      <p:sp>
        <p:nvSpPr>
          <p:cNvPr id="41" name="Shape 39"/>
          <p:cNvSpPr/>
          <p:nvPr/>
        </p:nvSpPr>
        <p:spPr>
          <a:xfrm>
            <a:off x="8158277" y="3788664"/>
            <a:ext cx="3301898" cy="371856"/>
          </a:xfrm>
          <a:prstGeom prst="roundRect">
            <a:avLst>
              <a:gd name="adj" fmla="val 19672"/>
            </a:avLst>
          </a:prstGeom>
          <a:solidFill>
            <a:srgbClr val="FFF6F4"/>
          </a:solidFill>
          <a:ln w="9525">
            <a:solidFill>
              <a:srgbClr val="F0C8BC"/>
            </a:solidFill>
            <a:prstDash val="solid"/>
          </a:ln>
        </p:spPr>
      </p:sp>
      <p:sp>
        <p:nvSpPr>
          <p:cNvPr id="42" name="Text 40"/>
          <p:cNvSpPr txBox="1"/>
          <p:nvPr/>
        </p:nvSpPr>
        <p:spPr>
          <a:xfrm>
            <a:off x="8231429" y="3788664"/>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43" name="Text 41"/>
          <p:cNvSpPr txBox="1"/>
          <p:nvPr/>
        </p:nvSpPr>
        <p:spPr>
          <a:xfrm>
            <a:off x="8542325" y="3788664"/>
            <a:ext cx="2844698" cy="371856"/>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8 %</a:t>
            </a:r>
            <a:endParaRPr lang="en-US" sz="1200" dirty="0"/>
          </a:p>
        </p:txBody>
      </p:sp>
      <p:sp>
        <p:nvSpPr>
          <p:cNvPr id="44" name="Shape 42"/>
          <p:cNvSpPr/>
          <p:nvPr/>
        </p:nvSpPr>
        <p:spPr>
          <a:xfrm>
            <a:off x="548640" y="4370832"/>
            <a:ext cx="11094415" cy="877824"/>
          </a:xfrm>
          <a:prstGeom prst="roundRect">
            <a:avLst>
              <a:gd name="adj" fmla="val 10417"/>
            </a:avLst>
          </a:prstGeom>
          <a:solidFill>
            <a:srgbClr val="FFFFFF"/>
          </a:solidFill>
          <a:ln w="12700">
            <a:solidFill>
              <a:srgbClr val="FFFFFF"/>
            </a:solidFill>
            <a:prstDash val="solid"/>
          </a:ln>
        </p:spPr>
      </p:sp>
      <p:sp>
        <p:nvSpPr>
          <p:cNvPr id="45" name="Shape 43"/>
          <p:cNvSpPr/>
          <p:nvPr/>
        </p:nvSpPr>
        <p:spPr>
          <a:xfrm>
            <a:off x="685800" y="4489704"/>
            <a:ext cx="384048" cy="384048"/>
          </a:xfrm>
          <a:prstGeom prst="ellipse">
            <a:avLst/>
          </a:prstGeom>
          <a:solidFill>
            <a:srgbClr val="8C3A27"/>
          </a:solidFill>
          <a:ln w="12700">
            <a:solidFill>
              <a:srgbClr val="8C3A27"/>
            </a:solidFill>
            <a:prstDash val="solid"/>
          </a:ln>
        </p:spPr>
      </p:sp>
      <p:sp>
        <p:nvSpPr>
          <p:cNvPr id="46" name="Text 44"/>
          <p:cNvSpPr txBox="1"/>
          <p:nvPr/>
        </p:nvSpPr>
        <p:spPr>
          <a:xfrm>
            <a:off x="685800" y="44897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47" name="Text 45"/>
          <p:cNvSpPr txBox="1"/>
          <p:nvPr/>
        </p:nvSpPr>
        <p:spPr>
          <a:xfrm>
            <a:off x="1188720" y="4443984"/>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Le déblocage exceptionnel de 5 000 € de l'épargne salariale :</a:t>
            </a:r>
            <a:endParaRPr lang="en-US" sz="1400" dirty="0"/>
          </a:p>
        </p:txBody>
      </p:sp>
      <p:sp>
        <p:nvSpPr>
          <p:cNvPr id="48" name="Shape 46"/>
          <p:cNvSpPr/>
          <p:nvPr/>
        </p:nvSpPr>
        <p:spPr>
          <a:xfrm>
            <a:off x="1188720" y="4803648"/>
            <a:ext cx="3301898" cy="371856"/>
          </a:xfrm>
          <a:prstGeom prst="roundRect">
            <a:avLst>
              <a:gd name="adj" fmla="val 19672"/>
            </a:avLst>
          </a:prstGeom>
          <a:solidFill>
            <a:srgbClr val="FFF6F4"/>
          </a:solidFill>
          <a:ln w="9525">
            <a:solidFill>
              <a:srgbClr val="F0C8BC"/>
            </a:solidFill>
            <a:prstDash val="solid"/>
          </a:ln>
        </p:spPr>
      </p:sp>
      <p:sp>
        <p:nvSpPr>
          <p:cNvPr id="49" name="Text 47"/>
          <p:cNvSpPr txBox="1"/>
          <p:nvPr/>
        </p:nvSpPr>
        <p:spPr>
          <a:xfrm>
            <a:off x="1261872" y="4803648"/>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50" name="Text 48"/>
          <p:cNvSpPr txBox="1"/>
          <p:nvPr/>
        </p:nvSpPr>
        <p:spPr>
          <a:xfrm>
            <a:off x="1572768" y="4803648"/>
            <a:ext cx="2844698" cy="371856"/>
          </a:xfrm>
          <a:prstGeom prst="rect">
            <a:avLst/>
          </a:prstGeom>
          <a:noFill/>
          <a:ln/>
        </p:spPr>
        <p:txBody>
          <a:bodyPr wrap="square" lIns="0" tIns="0" rIns="0" bIns="0" rtlCol="0" anchor="ctr"/>
          <a:lstStyle/>
          <a:p>
            <a:pPr indent="0" marL="0">
              <a:buNone/>
            </a:pPr>
            <a:r>
              <a:rPr lang="en-US" sz="1100" dirty="0">
                <a:solidFill>
                  <a:srgbClr val="2B2B2B"/>
                </a:solidFill>
                <a:latin typeface="Calibri" pitchFamily="34" charset="0"/>
                <a:ea typeface="Calibri" pitchFamily="34" charset="-122"/>
                <a:cs typeface="Calibri" pitchFamily="34" charset="-120"/>
              </a:rPr>
              <a:t>Est applicable depuis le 1er juillet 2026</a:t>
            </a:r>
            <a:endParaRPr lang="en-US" sz="1100" dirty="0"/>
          </a:p>
        </p:txBody>
      </p:sp>
      <p:sp>
        <p:nvSpPr>
          <p:cNvPr id="51" name="Shape 49"/>
          <p:cNvSpPr/>
          <p:nvPr/>
        </p:nvSpPr>
        <p:spPr>
          <a:xfrm>
            <a:off x="4673498" y="4803648"/>
            <a:ext cx="3301898" cy="371856"/>
          </a:xfrm>
          <a:prstGeom prst="roundRect">
            <a:avLst>
              <a:gd name="adj" fmla="val 19672"/>
            </a:avLst>
          </a:prstGeom>
          <a:solidFill>
            <a:srgbClr val="FFF6F4"/>
          </a:solidFill>
          <a:ln w="9525">
            <a:solidFill>
              <a:srgbClr val="F0C8BC"/>
            </a:solidFill>
            <a:prstDash val="solid"/>
          </a:ln>
        </p:spPr>
      </p:sp>
      <p:sp>
        <p:nvSpPr>
          <p:cNvPr id="52" name="Text 50"/>
          <p:cNvSpPr txBox="1"/>
          <p:nvPr/>
        </p:nvSpPr>
        <p:spPr>
          <a:xfrm>
            <a:off x="4746650" y="4803648"/>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53" name="Text 51"/>
          <p:cNvSpPr txBox="1"/>
          <p:nvPr/>
        </p:nvSpPr>
        <p:spPr>
          <a:xfrm>
            <a:off x="5057546" y="4803648"/>
            <a:ext cx="2844698" cy="371856"/>
          </a:xfrm>
          <a:prstGeom prst="rect">
            <a:avLst/>
          </a:prstGeom>
          <a:noFill/>
          <a:ln/>
        </p:spPr>
        <p:txBody>
          <a:bodyPr wrap="square" lIns="0" tIns="0" rIns="0" bIns="0" rtlCol="0" anchor="ctr"/>
          <a:lstStyle/>
          <a:p>
            <a:pPr indent="0" marL="0">
              <a:buNone/>
            </a:pPr>
            <a:r>
              <a:rPr lang="en-US" sz="1100" dirty="0">
                <a:solidFill>
                  <a:srgbClr val="2B2B2B"/>
                </a:solidFill>
                <a:latin typeface="Calibri" pitchFamily="34" charset="0"/>
                <a:ea typeface="Calibri" pitchFamily="34" charset="-122"/>
                <a:cs typeface="Calibri" pitchFamily="34" charset="-120"/>
              </a:rPr>
              <a:t>N'est pas encore promulgué au 12 septembre 2026</a:t>
            </a:r>
            <a:endParaRPr lang="en-US" sz="1100" dirty="0"/>
          </a:p>
        </p:txBody>
      </p:sp>
      <p:sp>
        <p:nvSpPr>
          <p:cNvPr id="54" name="Shape 52"/>
          <p:cNvSpPr/>
          <p:nvPr/>
        </p:nvSpPr>
        <p:spPr>
          <a:xfrm>
            <a:off x="8158277" y="4803648"/>
            <a:ext cx="3301898" cy="371856"/>
          </a:xfrm>
          <a:prstGeom prst="roundRect">
            <a:avLst>
              <a:gd name="adj" fmla="val 19672"/>
            </a:avLst>
          </a:prstGeom>
          <a:solidFill>
            <a:srgbClr val="FFF6F4"/>
          </a:solidFill>
          <a:ln w="9525">
            <a:solidFill>
              <a:srgbClr val="F0C8BC"/>
            </a:solidFill>
            <a:prstDash val="solid"/>
          </a:ln>
        </p:spPr>
      </p:sp>
      <p:sp>
        <p:nvSpPr>
          <p:cNvPr id="55" name="Text 53"/>
          <p:cNvSpPr txBox="1"/>
          <p:nvPr/>
        </p:nvSpPr>
        <p:spPr>
          <a:xfrm>
            <a:off x="8231429" y="4803648"/>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56" name="Text 54"/>
          <p:cNvSpPr txBox="1"/>
          <p:nvPr/>
        </p:nvSpPr>
        <p:spPr>
          <a:xfrm>
            <a:off x="8542325" y="4803648"/>
            <a:ext cx="2844698" cy="371856"/>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Concerne les sommes versées en 2026</a:t>
            </a:r>
            <a:endParaRPr lang="en-US" sz="1200" dirty="0"/>
          </a:p>
        </p:txBody>
      </p:sp>
      <p:sp>
        <p:nvSpPr>
          <p:cNvPr id="57" name="Shape 55"/>
          <p:cNvSpPr/>
          <p:nvPr/>
        </p:nvSpPr>
        <p:spPr>
          <a:xfrm>
            <a:off x="548640" y="5385816"/>
            <a:ext cx="11094415" cy="877824"/>
          </a:xfrm>
          <a:prstGeom prst="roundRect">
            <a:avLst>
              <a:gd name="adj" fmla="val 10417"/>
            </a:avLst>
          </a:prstGeom>
          <a:solidFill>
            <a:srgbClr val="FFFFFF"/>
          </a:solidFill>
          <a:ln w="12700">
            <a:solidFill>
              <a:srgbClr val="FFFFFF"/>
            </a:solidFill>
            <a:prstDash val="solid"/>
          </a:ln>
        </p:spPr>
      </p:sp>
      <p:sp>
        <p:nvSpPr>
          <p:cNvPr id="58" name="Shape 56"/>
          <p:cNvSpPr/>
          <p:nvPr/>
        </p:nvSpPr>
        <p:spPr>
          <a:xfrm>
            <a:off x="685800" y="5504688"/>
            <a:ext cx="384048" cy="384048"/>
          </a:xfrm>
          <a:prstGeom prst="ellipse">
            <a:avLst/>
          </a:prstGeom>
          <a:solidFill>
            <a:srgbClr val="8C3A27"/>
          </a:solidFill>
          <a:ln w="12700">
            <a:solidFill>
              <a:srgbClr val="8C3A27"/>
            </a:solidFill>
            <a:prstDash val="solid"/>
          </a:ln>
        </p:spPr>
      </p:sp>
      <p:sp>
        <p:nvSpPr>
          <p:cNvPr id="59" name="Text 57"/>
          <p:cNvSpPr txBox="1"/>
          <p:nvPr/>
        </p:nvSpPr>
        <p:spPr>
          <a:xfrm>
            <a:off x="685800" y="55046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60" name="Text 58"/>
          <p:cNvSpPr txBox="1"/>
          <p:nvPr/>
        </p:nvSpPr>
        <p:spPr>
          <a:xfrm>
            <a:off x="1188720" y="5458968"/>
            <a:ext cx="10271455" cy="323088"/>
          </a:xfrm>
          <a:prstGeom prst="rect">
            <a:avLst/>
          </a:prstGeom>
          <a:noFill/>
          <a:ln/>
        </p:spPr>
        <p:txBody>
          <a:bodyPr wrap="square" lIns="0" tIns="0" rIns="0" bIns="0" rtlCol="0" anchor="t"/>
          <a:lstStyle/>
          <a:p>
            <a:pPr indent="0" marL="0">
              <a:buNone/>
            </a:pPr>
            <a:r>
              <a:rPr lang="en-US" sz="1400" b="1" dirty="0">
                <a:solidFill>
                  <a:srgbClr val="435369"/>
                </a:solidFill>
                <a:latin typeface="Calibri" pitchFamily="34" charset="0"/>
                <a:ea typeface="Calibri" pitchFamily="34" charset="-122"/>
                <a:cs typeface="Calibri" pitchFamily="34" charset="-120"/>
              </a:rPr>
              <a:t>Une PPV de 2 000 € versée en 2026 à un salarié d'une entreprise de 80 salariés est :</a:t>
            </a:r>
            <a:endParaRPr lang="en-US" sz="1400" dirty="0"/>
          </a:p>
        </p:txBody>
      </p:sp>
      <p:sp>
        <p:nvSpPr>
          <p:cNvPr id="61" name="Shape 59"/>
          <p:cNvSpPr/>
          <p:nvPr/>
        </p:nvSpPr>
        <p:spPr>
          <a:xfrm>
            <a:off x="1188720" y="5818632"/>
            <a:ext cx="3301898" cy="371856"/>
          </a:xfrm>
          <a:prstGeom prst="roundRect">
            <a:avLst>
              <a:gd name="adj" fmla="val 19672"/>
            </a:avLst>
          </a:prstGeom>
          <a:solidFill>
            <a:srgbClr val="FFF6F4"/>
          </a:solidFill>
          <a:ln w="9525">
            <a:solidFill>
              <a:srgbClr val="F0C8BC"/>
            </a:solidFill>
            <a:prstDash val="solid"/>
          </a:ln>
        </p:spPr>
      </p:sp>
      <p:sp>
        <p:nvSpPr>
          <p:cNvPr id="62" name="Text 60"/>
          <p:cNvSpPr txBox="1"/>
          <p:nvPr/>
        </p:nvSpPr>
        <p:spPr>
          <a:xfrm>
            <a:off x="1261872" y="5818632"/>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A</a:t>
            </a:r>
            <a:endParaRPr lang="en-US" sz="1300" dirty="0"/>
          </a:p>
        </p:txBody>
      </p:sp>
      <p:sp>
        <p:nvSpPr>
          <p:cNvPr id="63" name="Text 61"/>
          <p:cNvSpPr txBox="1"/>
          <p:nvPr/>
        </p:nvSpPr>
        <p:spPr>
          <a:xfrm>
            <a:off x="1572768" y="5818632"/>
            <a:ext cx="2844698" cy="371856"/>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Exonérée de tout</a:t>
            </a:r>
            <a:endParaRPr lang="en-US" sz="1200" dirty="0"/>
          </a:p>
        </p:txBody>
      </p:sp>
      <p:sp>
        <p:nvSpPr>
          <p:cNvPr id="64" name="Shape 62"/>
          <p:cNvSpPr/>
          <p:nvPr/>
        </p:nvSpPr>
        <p:spPr>
          <a:xfrm>
            <a:off x="4673498" y="5818632"/>
            <a:ext cx="3301898" cy="371856"/>
          </a:xfrm>
          <a:prstGeom prst="roundRect">
            <a:avLst>
              <a:gd name="adj" fmla="val 19672"/>
            </a:avLst>
          </a:prstGeom>
          <a:solidFill>
            <a:srgbClr val="FFF6F4"/>
          </a:solidFill>
          <a:ln w="9525">
            <a:solidFill>
              <a:srgbClr val="F0C8BC"/>
            </a:solidFill>
            <a:prstDash val="solid"/>
          </a:ln>
        </p:spPr>
      </p:sp>
      <p:sp>
        <p:nvSpPr>
          <p:cNvPr id="65" name="Text 63"/>
          <p:cNvSpPr txBox="1"/>
          <p:nvPr/>
        </p:nvSpPr>
        <p:spPr>
          <a:xfrm>
            <a:off x="4746650" y="5818632"/>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B</a:t>
            </a:r>
            <a:endParaRPr lang="en-US" sz="1300" dirty="0"/>
          </a:p>
        </p:txBody>
      </p:sp>
      <p:sp>
        <p:nvSpPr>
          <p:cNvPr id="66" name="Text 64"/>
          <p:cNvSpPr txBox="1"/>
          <p:nvPr/>
        </p:nvSpPr>
        <p:spPr>
          <a:xfrm>
            <a:off x="5057546" y="5818632"/>
            <a:ext cx="2844698" cy="371856"/>
          </a:xfrm>
          <a:prstGeom prst="rect">
            <a:avLst/>
          </a:prstGeom>
          <a:noFill/>
          <a:ln/>
        </p:spPr>
        <p:txBody>
          <a:bodyPr wrap="square" lIns="0" tIns="0" rIns="0" bIns="0" rtlCol="0" anchor="ctr"/>
          <a:lstStyle/>
          <a:p>
            <a:pPr indent="0" marL="0">
              <a:buNone/>
            </a:pPr>
            <a:r>
              <a:rPr lang="en-US" sz="1100" dirty="0">
                <a:solidFill>
                  <a:srgbClr val="2B2B2B"/>
                </a:solidFill>
                <a:latin typeface="Calibri" pitchFamily="34" charset="0"/>
                <a:ea typeface="Calibri" pitchFamily="34" charset="-122"/>
                <a:cs typeface="Calibri" pitchFamily="34" charset="-120"/>
              </a:rPr>
              <a:t>Exonérée de cotisations ; CSG-CRDS et IR dus sauf placement</a:t>
            </a:r>
            <a:endParaRPr lang="en-US" sz="1100" dirty="0"/>
          </a:p>
        </p:txBody>
      </p:sp>
      <p:sp>
        <p:nvSpPr>
          <p:cNvPr id="67" name="Shape 65"/>
          <p:cNvSpPr/>
          <p:nvPr/>
        </p:nvSpPr>
        <p:spPr>
          <a:xfrm>
            <a:off x="8158277" y="5818632"/>
            <a:ext cx="3301898" cy="371856"/>
          </a:xfrm>
          <a:prstGeom prst="roundRect">
            <a:avLst>
              <a:gd name="adj" fmla="val 19672"/>
            </a:avLst>
          </a:prstGeom>
          <a:solidFill>
            <a:srgbClr val="FFF6F4"/>
          </a:solidFill>
          <a:ln w="9525">
            <a:solidFill>
              <a:srgbClr val="F0C8BC"/>
            </a:solidFill>
            <a:prstDash val="solid"/>
          </a:ln>
        </p:spPr>
      </p:sp>
      <p:sp>
        <p:nvSpPr>
          <p:cNvPr id="68" name="Text 66"/>
          <p:cNvSpPr txBox="1"/>
          <p:nvPr/>
        </p:nvSpPr>
        <p:spPr>
          <a:xfrm>
            <a:off x="8231429" y="5818632"/>
            <a:ext cx="320040" cy="371856"/>
          </a:xfrm>
          <a:prstGeom prst="rect">
            <a:avLst/>
          </a:prstGeom>
          <a:noFill/>
          <a:ln/>
        </p:spPr>
        <p:txBody>
          <a:bodyPr wrap="square" lIns="0" tIns="0" rIns="0" bIns="0" rtlCol="0" anchor="ctr"/>
          <a:lstStyle/>
          <a:p>
            <a:pPr indent="0" marL="0">
              <a:buNone/>
            </a:pPr>
            <a:r>
              <a:rPr lang="en-US" sz="1300" b="1" dirty="0">
                <a:solidFill>
                  <a:srgbClr val="8C3A27"/>
                </a:solidFill>
                <a:latin typeface="Cambria" pitchFamily="34" charset="0"/>
                <a:ea typeface="Cambria" pitchFamily="34" charset="-122"/>
                <a:cs typeface="Cambria" pitchFamily="34" charset="-120"/>
              </a:rPr>
              <a:t>C</a:t>
            </a:r>
            <a:endParaRPr lang="en-US" sz="1300" dirty="0"/>
          </a:p>
        </p:txBody>
      </p:sp>
      <p:sp>
        <p:nvSpPr>
          <p:cNvPr id="69" name="Text 67"/>
          <p:cNvSpPr txBox="1"/>
          <p:nvPr/>
        </p:nvSpPr>
        <p:spPr>
          <a:xfrm>
            <a:off x="8542325" y="5818632"/>
            <a:ext cx="2844698" cy="371856"/>
          </a:xfrm>
          <a:prstGeom prst="rect">
            <a:avLst/>
          </a:prstGeom>
          <a:noFill/>
          <a:ln/>
        </p:spPr>
        <p:txBody>
          <a:bodyPr wrap="square" lIns="0" tIns="0" rIns="0" bIns="0" rtlCol="0" anchor="ctr"/>
          <a:lstStyle/>
          <a:p>
            <a:pPr indent="0" marL="0">
              <a:buNone/>
            </a:pPr>
            <a:r>
              <a:rPr lang="en-US" sz="1200" dirty="0">
                <a:solidFill>
                  <a:srgbClr val="2B2B2B"/>
                </a:solidFill>
                <a:latin typeface="Calibri" pitchFamily="34" charset="0"/>
                <a:ea typeface="Calibri" pitchFamily="34" charset="-122"/>
                <a:cs typeface="Calibri" pitchFamily="34" charset="-120"/>
              </a:rPr>
              <a:t>Soumise à cotisations</a:t>
            </a:r>
            <a:endParaRPr lang="en-US" sz="1200" dirty="0"/>
          </a:p>
        </p:txBody>
      </p:sp>
      <p:sp>
        <p:nvSpPr>
          <p:cNvPr id="70" name="Text 68"/>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71" name="Text 69"/>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54</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Réponses du quiz 5 : épargne salariale</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RÉPONSES</a:t>
            </a:r>
            <a:endParaRPr lang="en-US" sz="1000" dirty="0"/>
          </a:p>
        </p:txBody>
      </p:sp>
      <p:sp>
        <p:nvSpPr>
          <p:cNvPr id="5" name="Shape 3"/>
          <p:cNvSpPr/>
          <p:nvPr/>
        </p:nvSpPr>
        <p:spPr>
          <a:xfrm>
            <a:off x="548640" y="1325880"/>
            <a:ext cx="11094415" cy="877824"/>
          </a:xfrm>
          <a:prstGeom prst="roundRect">
            <a:avLst>
              <a:gd name="adj" fmla="val 10417"/>
            </a:avLst>
          </a:prstGeom>
          <a:solidFill>
            <a:srgbClr val="FFF6F4"/>
          </a:solidFill>
          <a:ln w="12700">
            <a:solidFill>
              <a:srgbClr val="FFF6F4"/>
            </a:solidFill>
            <a:prstDash val="solid"/>
          </a:ln>
        </p:spPr>
      </p:sp>
      <p:sp>
        <p:nvSpPr>
          <p:cNvPr id="6" name="Shape 4"/>
          <p:cNvSpPr/>
          <p:nvPr/>
        </p:nvSpPr>
        <p:spPr>
          <a:xfrm>
            <a:off x="685800" y="1444752"/>
            <a:ext cx="384048" cy="384048"/>
          </a:xfrm>
          <a:prstGeom prst="ellipse">
            <a:avLst/>
          </a:prstGeom>
          <a:solidFill>
            <a:srgbClr val="8C3A27"/>
          </a:solidFill>
          <a:ln w="12700">
            <a:solidFill>
              <a:srgbClr val="8C3A27"/>
            </a:solidFill>
            <a:prstDash val="solid"/>
          </a:ln>
        </p:spPr>
      </p:sp>
      <p:sp>
        <p:nvSpPr>
          <p:cNvPr id="7" name="Text 5"/>
          <p:cNvSpPr txBox="1"/>
          <p:nvPr/>
        </p:nvSpPr>
        <p:spPr>
          <a:xfrm>
            <a:off x="685800" y="14447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8" name="Text 6"/>
          <p:cNvSpPr txBox="1"/>
          <p:nvPr/>
        </p:nvSpPr>
        <p:spPr>
          <a:xfrm>
            <a:off x="1188720" y="1380744"/>
            <a:ext cx="10271455" cy="768096"/>
          </a:xfrm>
          <a:prstGeom prst="rect">
            <a:avLst/>
          </a:prstGeom>
          <a:noFill/>
          <a:ln/>
        </p:spPr>
        <p:txBody>
          <a:bodyPr wrap="square" lIns="0" tIns="0" rIns="0" bIns="0" rtlCol="0" anchor="ctr"/>
          <a:lstStyle/>
          <a:p>
            <a:pPr indent="0" marL="0">
              <a:spcAft>
                <a:spcPts val="300"/>
              </a:spcAft>
              <a:buNone/>
            </a:pPr>
            <a:r>
              <a:rPr lang="en-US" sz="1400" b="1" dirty="0">
                <a:solidFill>
                  <a:srgbClr val="8C3A27"/>
                </a:solidFill>
                <a:latin typeface="Calibri" pitchFamily="34" charset="0"/>
                <a:ea typeface="Calibri" pitchFamily="34" charset="-122"/>
                <a:cs typeface="Calibri" pitchFamily="34" charset="-120"/>
              </a:rPr>
              <a:t>A · 36 045 € (75 % du PASS)</a:t>
            </a:r>
            <a:endParaRPr lang="en-US" sz="1400" dirty="0"/>
          </a:p>
          <a:p>
            <a:pPr indent="0" marL="0">
              <a:buNone/>
            </a:pPr>
            <a:r>
              <a:rPr lang="en-US" sz="1400" dirty="0">
                <a:solidFill>
                  <a:srgbClr val="2B2B2B"/>
                </a:solidFill>
                <a:latin typeface="Calibri" pitchFamily="34" charset="0"/>
                <a:ea typeface="Calibri" pitchFamily="34" charset="-122"/>
                <a:cs typeface="Calibri" pitchFamily="34" charset="-120"/>
              </a:rPr>
              <a:t>75 % du PASS 2026. Le montant de 3 844,80 € est le plafond d'abondement sur le PEE.</a:t>
            </a:r>
            <a:endParaRPr lang="en-US" sz="1400" dirty="0"/>
          </a:p>
        </p:txBody>
      </p:sp>
      <p:sp>
        <p:nvSpPr>
          <p:cNvPr id="9" name="Shape 7"/>
          <p:cNvSpPr/>
          <p:nvPr/>
        </p:nvSpPr>
        <p:spPr>
          <a:xfrm>
            <a:off x="548640" y="2340864"/>
            <a:ext cx="11094415" cy="877824"/>
          </a:xfrm>
          <a:prstGeom prst="roundRect">
            <a:avLst>
              <a:gd name="adj" fmla="val 10417"/>
            </a:avLst>
          </a:prstGeom>
          <a:solidFill>
            <a:srgbClr val="FFF6F4"/>
          </a:solidFill>
          <a:ln w="12700">
            <a:solidFill>
              <a:srgbClr val="FFF6F4"/>
            </a:solidFill>
            <a:prstDash val="solid"/>
          </a:ln>
        </p:spPr>
      </p:sp>
      <p:sp>
        <p:nvSpPr>
          <p:cNvPr id="10" name="Shape 8"/>
          <p:cNvSpPr/>
          <p:nvPr/>
        </p:nvSpPr>
        <p:spPr>
          <a:xfrm>
            <a:off x="685800" y="2459736"/>
            <a:ext cx="384048" cy="384048"/>
          </a:xfrm>
          <a:prstGeom prst="ellipse">
            <a:avLst/>
          </a:prstGeom>
          <a:solidFill>
            <a:srgbClr val="8C3A27"/>
          </a:solidFill>
          <a:ln w="12700">
            <a:solidFill>
              <a:srgbClr val="8C3A27"/>
            </a:solidFill>
            <a:prstDash val="solid"/>
          </a:ln>
        </p:spPr>
      </p:sp>
      <p:sp>
        <p:nvSpPr>
          <p:cNvPr id="11" name="Text 9"/>
          <p:cNvSpPr txBox="1"/>
          <p:nvPr/>
        </p:nvSpPr>
        <p:spPr>
          <a:xfrm>
            <a:off x="685800" y="24597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2" name="Text 10"/>
          <p:cNvSpPr txBox="1"/>
          <p:nvPr/>
        </p:nvSpPr>
        <p:spPr>
          <a:xfrm>
            <a:off x="1188720" y="2395728"/>
            <a:ext cx="10271455" cy="768096"/>
          </a:xfrm>
          <a:prstGeom prst="rect">
            <a:avLst/>
          </a:prstGeom>
          <a:noFill/>
          <a:ln/>
        </p:spPr>
        <p:txBody>
          <a:bodyPr wrap="square" lIns="0" tIns="0" rIns="0" bIns="0" rtlCol="0" anchor="ctr"/>
          <a:lstStyle/>
          <a:p>
            <a:pPr indent="0" marL="0">
              <a:spcAft>
                <a:spcPts val="300"/>
              </a:spcAft>
              <a:buNone/>
            </a:pPr>
            <a:r>
              <a:rPr lang="en-US" sz="1300" b="1" dirty="0">
                <a:solidFill>
                  <a:srgbClr val="8C3A27"/>
                </a:solidFill>
                <a:latin typeface="Calibri" pitchFamily="34" charset="0"/>
                <a:ea typeface="Calibri" pitchFamily="34" charset="-122"/>
                <a:cs typeface="Calibri" pitchFamily="34" charset="-120"/>
              </a:rPr>
              <a:t>B · Sur 100 % de la somme, au taux de 9,7 %</a:t>
            </a:r>
            <a:endParaRPr lang="en-US" sz="1300" dirty="0"/>
          </a:p>
          <a:p>
            <a:pPr indent="0" marL="0">
              <a:buNone/>
            </a:pPr>
            <a:r>
              <a:rPr lang="en-US" sz="1300" dirty="0">
                <a:solidFill>
                  <a:srgbClr val="2B2B2B"/>
                </a:solidFill>
                <a:latin typeface="Calibri" pitchFamily="34" charset="0"/>
                <a:ea typeface="Calibri" pitchFamily="34" charset="-122"/>
                <a:cs typeface="Calibri" pitchFamily="34" charset="-120"/>
              </a:rPr>
              <a:t>Pas d'abattement pour frais professionnels sur l'épargne salariale ; la CSG-CRDS est due que la somme soit placée ou perçue.</a:t>
            </a:r>
            <a:endParaRPr lang="en-US" sz="1300" dirty="0"/>
          </a:p>
        </p:txBody>
      </p:sp>
      <p:sp>
        <p:nvSpPr>
          <p:cNvPr id="13" name="Shape 11"/>
          <p:cNvSpPr/>
          <p:nvPr/>
        </p:nvSpPr>
        <p:spPr>
          <a:xfrm>
            <a:off x="548640" y="3355848"/>
            <a:ext cx="11094415" cy="877824"/>
          </a:xfrm>
          <a:prstGeom prst="roundRect">
            <a:avLst>
              <a:gd name="adj" fmla="val 10417"/>
            </a:avLst>
          </a:prstGeom>
          <a:solidFill>
            <a:srgbClr val="FFF6F4"/>
          </a:solidFill>
          <a:ln w="12700">
            <a:solidFill>
              <a:srgbClr val="FFF6F4"/>
            </a:solidFill>
            <a:prstDash val="solid"/>
          </a:ln>
        </p:spPr>
      </p:sp>
      <p:sp>
        <p:nvSpPr>
          <p:cNvPr id="14" name="Shape 12"/>
          <p:cNvSpPr/>
          <p:nvPr/>
        </p:nvSpPr>
        <p:spPr>
          <a:xfrm>
            <a:off x="685800" y="3474720"/>
            <a:ext cx="384048" cy="384048"/>
          </a:xfrm>
          <a:prstGeom prst="ellipse">
            <a:avLst/>
          </a:prstGeom>
          <a:solidFill>
            <a:srgbClr val="8C3A27"/>
          </a:solidFill>
          <a:ln w="12700">
            <a:solidFill>
              <a:srgbClr val="8C3A27"/>
            </a:solidFill>
            <a:prstDash val="solid"/>
          </a:ln>
        </p:spPr>
      </p:sp>
      <p:sp>
        <p:nvSpPr>
          <p:cNvPr id="15" name="Text 13"/>
          <p:cNvSpPr txBox="1"/>
          <p:nvPr/>
        </p:nvSpPr>
        <p:spPr>
          <a:xfrm>
            <a:off x="685800" y="347472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6" name="Text 14"/>
          <p:cNvSpPr txBox="1"/>
          <p:nvPr/>
        </p:nvSpPr>
        <p:spPr>
          <a:xfrm>
            <a:off x="1188720" y="3410712"/>
            <a:ext cx="10271455" cy="768096"/>
          </a:xfrm>
          <a:prstGeom prst="rect">
            <a:avLst/>
          </a:prstGeom>
          <a:noFill/>
          <a:ln/>
        </p:spPr>
        <p:txBody>
          <a:bodyPr wrap="square" lIns="0" tIns="0" rIns="0" bIns="0" rtlCol="0" anchor="ctr"/>
          <a:lstStyle/>
          <a:p>
            <a:pPr indent="0" marL="0">
              <a:spcAft>
                <a:spcPts val="300"/>
              </a:spcAft>
              <a:buNone/>
            </a:pPr>
            <a:r>
              <a:rPr lang="en-US" sz="1250" b="1" dirty="0">
                <a:solidFill>
                  <a:srgbClr val="8C3A27"/>
                </a:solidFill>
                <a:latin typeface="Calibri" pitchFamily="34" charset="0"/>
                <a:ea typeface="Calibri" pitchFamily="34" charset="-122"/>
                <a:cs typeface="Calibri" pitchFamily="34" charset="-120"/>
              </a:rPr>
              <a:t>B · 0 %</a:t>
            </a:r>
            <a:endParaRPr lang="en-US" sz="1250" dirty="0"/>
          </a:p>
          <a:p>
            <a:pPr indent="0" marL="0">
              <a:buNone/>
            </a:pPr>
            <a:r>
              <a:rPr lang="en-US" sz="1250" dirty="0">
                <a:solidFill>
                  <a:srgbClr val="2B2B2B"/>
                </a:solidFill>
                <a:latin typeface="Calibri" pitchFamily="34" charset="0"/>
                <a:ea typeface="Calibri" pitchFamily="34" charset="-122"/>
                <a:cs typeface="Calibri" pitchFamily="34" charset="-120"/>
              </a:rPr>
              <a:t>Exonération de forfait social sur l'intéressement sous 250 salariés (loi Pacte). La participation y serait soumise à 20 % (entreprise de 50 salariés et plus).</a:t>
            </a:r>
            <a:endParaRPr lang="en-US" sz="1250" dirty="0"/>
          </a:p>
        </p:txBody>
      </p:sp>
      <p:sp>
        <p:nvSpPr>
          <p:cNvPr id="17" name="Shape 15"/>
          <p:cNvSpPr/>
          <p:nvPr/>
        </p:nvSpPr>
        <p:spPr>
          <a:xfrm>
            <a:off x="548640" y="4370832"/>
            <a:ext cx="11094415" cy="877824"/>
          </a:xfrm>
          <a:prstGeom prst="roundRect">
            <a:avLst>
              <a:gd name="adj" fmla="val 10417"/>
            </a:avLst>
          </a:prstGeom>
          <a:solidFill>
            <a:srgbClr val="FFF6F4"/>
          </a:solidFill>
          <a:ln w="12700">
            <a:solidFill>
              <a:srgbClr val="FFF6F4"/>
            </a:solidFill>
            <a:prstDash val="solid"/>
          </a:ln>
        </p:spPr>
      </p:sp>
      <p:sp>
        <p:nvSpPr>
          <p:cNvPr id="18" name="Shape 16"/>
          <p:cNvSpPr/>
          <p:nvPr/>
        </p:nvSpPr>
        <p:spPr>
          <a:xfrm>
            <a:off x="685800" y="4489704"/>
            <a:ext cx="384048" cy="384048"/>
          </a:xfrm>
          <a:prstGeom prst="ellipse">
            <a:avLst/>
          </a:prstGeom>
          <a:solidFill>
            <a:srgbClr val="8C3A27"/>
          </a:solidFill>
          <a:ln w="12700">
            <a:solidFill>
              <a:srgbClr val="8C3A27"/>
            </a:solidFill>
            <a:prstDash val="solid"/>
          </a:ln>
        </p:spPr>
      </p:sp>
      <p:sp>
        <p:nvSpPr>
          <p:cNvPr id="19" name="Text 17"/>
          <p:cNvSpPr txBox="1"/>
          <p:nvPr/>
        </p:nvSpPr>
        <p:spPr>
          <a:xfrm>
            <a:off x="685800" y="448970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0" name="Text 18"/>
          <p:cNvSpPr txBox="1"/>
          <p:nvPr/>
        </p:nvSpPr>
        <p:spPr>
          <a:xfrm>
            <a:off x="1188720" y="4425696"/>
            <a:ext cx="10271455" cy="768096"/>
          </a:xfrm>
          <a:prstGeom prst="rect">
            <a:avLst/>
          </a:prstGeom>
          <a:noFill/>
          <a:ln/>
        </p:spPr>
        <p:txBody>
          <a:bodyPr wrap="square" lIns="0" tIns="0" rIns="0" bIns="0" rtlCol="0" anchor="ctr"/>
          <a:lstStyle/>
          <a:p>
            <a:pPr indent="0" marL="0">
              <a:spcAft>
                <a:spcPts val="300"/>
              </a:spcAft>
              <a:buNone/>
            </a:pPr>
            <a:r>
              <a:rPr lang="en-US" sz="1250" b="1" dirty="0">
                <a:solidFill>
                  <a:srgbClr val="8C3A27"/>
                </a:solidFill>
                <a:latin typeface="Calibri" pitchFamily="34" charset="0"/>
                <a:ea typeface="Calibri" pitchFamily="34" charset="-122"/>
                <a:cs typeface="Calibri" pitchFamily="34" charset="-120"/>
              </a:rPr>
              <a:t>B · N'est pas encore promulgué au 12 septembre 2026</a:t>
            </a:r>
            <a:endParaRPr lang="en-US" sz="1250" dirty="0"/>
          </a:p>
          <a:p>
            <a:pPr indent="0" marL="0">
              <a:buNone/>
            </a:pPr>
            <a:r>
              <a:rPr lang="en-US" sz="1250" dirty="0">
                <a:solidFill>
                  <a:srgbClr val="2B2B2B"/>
                </a:solidFill>
                <a:latin typeface="Calibri" pitchFamily="34" charset="0"/>
                <a:ea typeface="Calibri" pitchFamily="34" charset="-122"/>
                <a:cs typeface="Calibri" pitchFamily="34" charset="-120"/>
              </a:rPr>
              <a:t>Proposition de loi adoptée par le Sénat le 7 avril 2026 en première lecture ; elle vise les sommes affectées avant le 1er janvier 2026.</a:t>
            </a:r>
            <a:endParaRPr lang="en-US" sz="1250" dirty="0"/>
          </a:p>
        </p:txBody>
      </p:sp>
      <p:sp>
        <p:nvSpPr>
          <p:cNvPr id="21" name="Shape 19"/>
          <p:cNvSpPr/>
          <p:nvPr/>
        </p:nvSpPr>
        <p:spPr>
          <a:xfrm>
            <a:off x="548640" y="5385816"/>
            <a:ext cx="11094415" cy="877824"/>
          </a:xfrm>
          <a:prstGeom prst="roundRect">
            <a:avLst>
              <a:gd name="adj" fmla="val 10417"/>
            </a:avLst>
          </a:prstGeom>
          <a:solidFill>
            <a:srgbClr val="FFF6F4"/>
          </a:solidFill>
          <a:ln w="12700">
            <a:solidFill>
              <a:srgbClr val="FFF6F4"/>
            </a:solidFill>
            <a:prstDash val="solid"/>
          </a:ln>
        </p:spPr>
      </p:sp>
      <p:sp>
        <p:nvSpPr>
          <p:cNvPr id="22" name="Shape 20"/>
          <p:cNvSpPr/>
          <p:nvPr/>
        </p:nvSpPr>
        <p:spPr>
          <a:xfrm>
            <a:off x="685800" y="5504688"/>
            <a:ext cx="384048" cy="384048"/>
          </a:xfrm>
          <a:prstGeom prst="ellipse">
            <a:avLst/>
          </a:prstGeom>
          <a:solidFill>
            <a:srgbClr val="8C3A27"/>
          </a:solidFill>
          <a:ln w="12700">
            <a:solidFill>
              <a:srgbClr val="8C3A27"/>
            </a:solidFill>
            <a:prstDash val="solid"/>
          </a:ln>
        </p:spPr>
      </p:sp>
      <p:sp>
        <p:nvSpPr>
          <p:cNvPr id="23" name="Text 21"/>
          <p:cNvSpPr txBox="1"/>
          <p:nvPr/>
        </p:nvSpPr>
        <p:spPr>
          <a:xfrm>
            <a:off x="685800" y="550468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4" name="Text 22"/>
          <p:cNvSpPr txBox="1"/>
          <p:nvPr/>
        </p:nvSpPr>
        <p:spPr>
          <a:xfrm>
            <a:off x="1188720" y="5440680"/>
            <a:ext cx="10271455" cy="768096"/>
          </a:xfrm>
          <a:prstGeom prst="rect">
            <a:avLst/>
          </a:prstGeom>
          <a:noFill/>
          <a:ln/>
        </p:spPr>
        <p:txBody>
          <a:bodyPr wrap="square" lIns="0" tIns="0" rIns="0" bIns="0" rtlCol="0" anchor="ctr"/>
          <a:lstStyle/>
          <a:p>
            <a:pPr indent="0" marL="0">
              <a:spcAft>
                <a:spcPts val="300"/>
              </a:spcAft>
              <a:buNone/>
            </a:pPr>
            <a:r>
              <a:rPr lang="en-US" sz="1300" b="1" dirty="0">
                <a:solidFill>
                  <a:srgbClr val="8C3A27"/>
                </a:solidFill>
                <a:latin typeface="Calibri" pitchFamily="34" charset="0"/>
                <a:ea typeface="Calibri" pitchFamily="34" charset="-122"/>
                <a:cs typeface="Calibri" pitchFamily="34" charset="-120"/>
              </a:rPr>
              <a:t>B · Exonérée de cotisations ; CSG-CRDS et IR dus sauf placement</a:t>
            </a:r>
            <a:endParaRPr lang="en-US" sz="1300" dirty="0"/>
          </a:p>
          <a:p>
            <a:pPr indent="0" marL="0">
              <a:buNone/>
            </a:pPr>
            <a:r>
              <a:rPr lang="en-US" sz="1300" dirty="0">
                <a:solidFill>
                  <a:srgbClr val="2B2B2B"/>
                </a:solidFill>
                <a:latin typeface="Calibri" pitchFamily="34" charset="0"/>
                <a:ea typeface="Calibri" pitchFamily="34" charset="-122"/>
                <a:cs typeface="Calibri" pitchFamily="34" charset="-120"/>
              </a:rPr>
              <a:t>Le régime renforcé ne concerne que les entreprises de moins de 50 salariés. Placée sur un PEE, la prime est exonérée d'IR.</a:t>
            </a:r>
            <a:endParaRPr lang="en-US" sz="1300" dirty="0"/>
          </a:p>
        </p:txBody>
      </p:sp>
      <p:sp>
        <p:nvSpPr>
          <p:cNvPr id="25" name="Text 2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6" name="Text 2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55</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435369"/>
        </a:solidFill>
      </p:bgPr>
    </p:bg>
    <p:spTree>
      <p:nvGrpSpPr>
        <p:cNvPr id="1" name=""/>
        <p:cNvGrpSpPr/>
        <p:nvPr/>
      </p:nvGrpSpPr>
      <p:grpSpPr>
        <a:xfrm>
          <a:off x="0" y="0"/>
          <a:ext cx="0" cy="0"/>
          <a:chOff x="0" y="0"/>
          <a:chExt cx="0" cy="0"/>
        </a:xfrm>
      </p:grpSpPr>
      <p:sp>
        <p:nvSpPr>
          <p:cNvPr id="2" name="Shape 0"/>
          <p:cNvSpPr/>
          <p:nvPr/>
        </p:nvSpPr>
        <p:spPr>
          <a:xfrm>
            <a:off x="9235440" y="822960"/>
            <a:ext cx="4206240" cy="4206240"/>
          </a:xfrm>
          <a:prstGeom prst="ellipse">
            <a:avLst/>
          </a:prstGeom>
          <a:solidFill>
            <a:srgbClr val="8C3A27"/>
          </a:solidFill>
          <a:ln w="12700">
            <a:solidFill>
              <a:srgbClr val="8C3A27"/>
            </a:solidFill>
            <a:prstDash val="solid"/>
          </a:ln>
        </p:spPr>
      </p:sp>
      <p:sp>
        <p:nvSpPr>
          <p:cNvPr id="3" name="Text 1"/>
          <p:cNvSpPr txBox="1"/>
          <p:nvPr/>
        </p:nvSpPr>
        <p:spPr>
          <a:xfrm>
            <a:off x="9235440" y="822960"/>
            <a:ext cx="4206240" cy="4206240"/>
          </a:xfrm>
          <a:prstGeom prst="rect">
            <a:avLst/>
          </a:prstGeom>
          <a:noFill/>
          <a:ln/>
        </p:spPr>
        <p:txBody>
          <a:bodyPr wrap="square" lIns="0" tIns="0" rIns="0" bIns="0" rtlCol="0" anchor="ctr"/>
          <a:lstStyle/>
          <a:p>
            <a:pPr algn="ctr" indent="0" marL="0">
              <a:buNone/>
            </a:pPr>
            <a:r>
              <a:rPr lang="en-US" sz="9600" b="1" dirty="0">
                <a:solidFill>
                  <a:srgbClr val="FFFFFF"/>
                </a:solidFill>
                <a:latin typeface="Cambria" pitchFamily="34" charset="0"/>
                <a:ea typeface="Cambria" pitchFamily="34" charset="-122"/>
                <a:cs typeface="Cambria" pitchFamily="34" charset="-120"/>
              </a:rPr>
              <a:t>06</a:t>
            </a:r>
            <a:endParaRPr lang="en-US" sz="9600" dirty="0"/>
          </a:p>
        </p:txBody>
      </p:sp>
      <p:sp>
        <p:nvSpPr>
          <p:cNvPr id="4" name="Text 2"/>
          <p:cNvSpPr txBox="1"/>
          <p:nvPr/>
        </p:nvSpPr>
        <p:spPr>
          <a:xfrm>
            <a:off x="548640" y="1554480"/>
            <a:ext cx="5486400" cy="457200"/>
          </a:xfrm>
          <a:prstGeom prst="rect">
            <a:avLst/>
          </a:prstGeom>
          <a:noFill/>
          <a:ln/>
        </p:spPr>
        <p:txBody>
          <a:bodyPr wrap="square" lIns="0" tIns="0" rIns="0" bIns="0" rtlCol="0" anchor="ctr"/>
          <a:lstStyle/>
          <a:p>
            <a:pPr indent="0" marL="0">
              <a:buNone/>
            </a:pPr>
            <a:r>
              <a:rPr lang="en-US" sz="1600" spc="300" kern="0" dirty="0">
                <a:solidFill>
                  <a:srgbClr val="D9A390"/>
                </a:solidFill>
                <a:latin typeface="Calibri" pitchFamily="34" charset="0"/>
                <a:ea typeface="Calibri" pitchFamily="34" charset="-122"/>
                <a:cs typeface="Calibri" pitchFamily="34" charset="-120"/>
              </a:rPr>
              <a:t>Séquence</a:t>
            </a:r>
            <a:endParaRPr lang="en-US" sz="1600" dirty="0"/>
          </a:p>
        </p:txBody>
      </p:sp>
      <p:sp>
        <p:nvSpPr>
          <p:cNvPr id="5" name="Text 3"/>
          <p:cNvSpPr txBox="1"/>
          <p:nvPr/>
        </p:nvSpPr>
        <p:spPr>
          <a:xfrm>
            <a:off x="548640" y="2011680"/>
            <a:ext cx="8046720" cy="1554480"/>
          </a:xfrm>
          <a:prstGeom prst="rect">
            <a:avLst/>
          </a:prstGeom>
          <a:noFill/>
          <a:ln/>
        </p:spPr>
        <p:txBody>
          <a:bodyPr wrap="square" lIns="0" tIns="0" rIns="0" bIns="0" rtlCol="0" anchor="ctr">
            <a:normAutofit/>
          </a:bodyPr>
          <a:lstStyle/>
          <a:p>
            <a:pPr indent="0" marL="0">
              <a:buNone/>
            </a:pPr>
            <a:r>
              <a:rPr lang="en-US" sz="3800" b="1" dirty="0">
                <a:solidFill>
                  <a:srgbClr val="FFFFFF"/>
                </a:solidFill>
                <a:latin typeface="Cambria" pitchFamily="34" charset="0"/>
                <a:ea typeface="Cambria" pitchFamily="34" charset="-122"/>
                <a:cs typeface="Cambria" pitchFamily="34" charset="-120"/>
              </a:rPr>
              <a:t>Agenda de rentrée, quiz final et évaluation</a:t>
            </a:r>
            <a:endParaRPr lang="en-US" sz="3800" dirty="0"/>
          </a:p>
        </p:txBody>
      </p:sp>
      <p:sp>
        <p:nvSpPr>
          <p:cNvPr id="6" name="Text 4"/>
          <p:cNvSpPr txBox="1"/>
          <p:nvPr/>
        </p:nvSpPr>
        <p:spPr>
          <a:xfrm>
            <a:off x="548640" y="3657600"/>
            <a:ext cx="8046720" cy="1005840"/>
          </a:xfrm>
          <a:prstGeom prst="rect">
            <a:avLst/>
          </a:prstGeom>
          <a:noFill/>
          <a:ln/>
        </p:spPr>
        <p:txBody>
          <a:bodyPr wrap="square" lIns="0" tIns="0" rIns="0" bIns="0" rtlCol="0" anchor="t"/>
          <a:lstStyle/>
          <a:p>
            <a:pPr indent="0" marL="0">
              <a:buNone/>
            </a:pPr>
            <a:r>
              <a:rPr lang="en-US" sz="1700" dirty="0">
                <a:solidFill>
                  <a:srgbClr val="F2E5D8"/>
                </a:solidFill>
                <a:latin typeface="Calibri" pitchFamily="34" charset="0"/>
                <a:ea typeface="Calibri" pitchFamily="34" charset="-122"/>
                <a:cs typeface="Calibri" pitchFamily="34" charset="-120"/>
              </a:rPr>
              <a:t>Les échéances de septembre à janvier, les textes à surveiller et la synthèse de la journée</a:t>
            </a:r>
            <a:endParaRPr lang="en-US" sz="1700" dirty="0"/>
          </a:p>
        </p:txBody>
      </p:sp>
      <p:sp>
        <p:nvSpPr>
          <p:cNvPr id="7" name="Shape 5"/>
          <p:cNvSpPr/>
          <p:nvPr/>
        </p:nvSpPr>
        <p:spPr>
          <a:xfrm>
            <a:off x="548640" y="5029200"/>
            <a:ext cx="3840480" cy="310896"/>
          </a:xfrm>
          <a:prstGeom prst="roundRect">
            <a:avLst>
              <a:gd name="adj" fmla="val 50000"/>
            </a:avLst>
          </a:prstGeom>
          <a:solidFill>
            <a:srgbClr val="8C3A27"/>
          </a:solidFill>
          <a:ln w="12700">
            <a:solidFill>
              <a:srgbClr val="8C3A27"/>
            </a:solidFill>
            <a:prstDash val="solid"/>
          </a:ln>
        </p:spPr>
      </p:sp>
      <p:sp>
        <p:nvSpPr>
          <p:cNvPr id="8" name="Text 6"/>
          <p:cNvSpPr txBox="1"/>
          <p:nvPr/>
        </p:nvSpPr>
        <p:spPr>
          <a:xfrm>
            <a:off x="548640" y="5029200"/>
            <a:ext cx="384048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25 min · quiz final par équipes</a:t>
            </a:r>
            <a:endParaRPr lang="en-US" sz="1000" dirty="0"/>
          </a:p>
        </p:txBody>
      </p:sp>
      <p:sp>
        <p:nvSpPr>
          <p:cNvPr id="9" name="Text 7"/>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D9A390"/>
                </a:solidFill>
                <a:latin typeface="Calibri" pitchFamily="34" charset="0"/>
                <a:ea typeface="Calibri" pitchFamily="34" charset="-122"/>
                <a:cs typeface="Calibri" pitchFamily="34" charset="-120"/>
              </a:rPr>
              <a:t>Actualité paie · juin – septembre 2026</a:t>
            </a:r>
            <a:endParaRPr lang="en-US" sz="900" dirty="0"/>
          </a:p>
        </p:txBody>
      </p:sp>
      <p:sp>
        <p:nvSpPr>
          <p:cNvPr id="10" name="Text 8"/>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D9A390"/>
                </a:solidFill>
                <a:latin typeface="Calibri" pitchFamily="34" charset="0"/>
                <a:ea typeface="Calibri" pitchFamily="34" charset="-122"/>
                <a:cs typeface="Calibri" pitchFamily="34" charset="-120"/>
              </a:rPr>
              <a:t>56</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L'agenda de la rentrée</a:t>
            </a:r>
            <a:endParaRPr lang="en-US" sz="2800" dirty="0"/>
          </a:p>
        </p:txBody>
      </p:sp>
      <p:sp>
        <p:nvSpPr>
          <p:cNvPr id="3" name="Shape 1"/>
          <p:cNvSpPr/>
          <p:nvPr/>
        </p:nvSpPr>
        <p:spPr>
          <a:xfrm>
            <a:off x="2697480" y="1554480"/>
            <a:ext cx="0" cy="4323806"/>
          </a:xfrm>
          <a:prstGeom prst="line">
            <a:avLst/>
          </a:prstGeom>
          <a:noFill/>
          <a:ln w="38100">
            <a:solidFill>
              <a:srgbClr val="F0C8BC"/>
            </a:solidFill>
            <a:prstDash val="solid"/>
          </a:ln>
        </p:spPr>
      </p:sp>
      <p:sp>
        <p:nvSpPr>
          <p:cNvPr id="4" name="Text 2"/>
          <p:cNvSpPr txBox="1"/>
          <p:nvPr/>
        </p:nvSpPr>
        <p:spPr>
          <a:xfrm>
            <a:off x="548640" y="1325880"/>
            <a:ext cx="1920240" cy="705394"/>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1er septembre 2026</a:t>
            </a:r>
            <a:endParaRPr lang="en-US" sz="1400" dirty="0"/>
          </a:p>
        </p:txBody>
      </p:sp>
      <p:sp>
        <p:nvSpPr>
          <p:cNvPr id="5" name="Shape 3"/>
          <p:cNvSpPr/>
          <p:nvPr/>
        </p:nvSpPr>
        <p:spPr>
          <a:xfrm>
            <a:off x="2551176" y="1417320"/>
            <a:ext cx="292608" cy="292608"/>
          </a:xfrm>
          <a:prstGeom prst="ellipse">
            <a:avLst/>
          </a:prstGeom>
          <a:solidFill>
            <a:srgbClr val="8C3A27"/>
          </a:solidFill>
          <a:ln w="25400">
            <a:solidFill>
              <a:srgbClr val="FFFFFF"/>
            </a:solidFill>
            <a:prstDash val="solid"/>
          </a:ln>
        </p:spPr>
      </p:sp>
      <p:sp>
        <p:nvSpPr>
          <p:cNvPr id="6" name="Text 4"/>
          <p:cNvSpPr txBox="1"/>
          <p:nvPr/>
        </p:nvSpPr>
        <p:spPr>
          <a:xfrm>
            <a:off x="3063240" y="1325880"/>
            <a:ext cx="8579815" cy="705394"/>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Nouveaux taux de PAS ; durées maximales des arrêts de travail ; suspension de la réforme des retraites ; trimestres enfants pour les carrières longues ; versement mobilité Poher Communauté.</a:t>
            </a:r>
            <a:endParaRPr lang="en-US" sz="1400" dirty="0"/>
          </a:p>
        </p:txBody>
      </p:sp>
      <p:sp>
        <p:nvSpPr>
          <p:cNvPr id="7" name="Text 5"/>
          <p:cNvSpPr txBox="1"/>
          <p:nvPr/>
        </p:nvSpPr>
        <p:spPr>
          <a:xfrm>
            <a:off x="548640" y="2031274"/>
            <a:ext cx="1920240" cy="705394"/>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3 septembre – 21 octobre</a:t>
            </a:r>
            <a:endParaRPr lang="en-US" sz="1400" dirty="0"/>
          </a:p>
        </p:txBody>
      </p:sp>
      <p:sp>
        <p:nvSpPr>
          <p:cNvPr id="8" name="Shape 6"/>
          <p:cNvSpPr/>
          <p:nvPr/>
        </p:nvSpPr>
        <p:spPr>
          <a:xfrm>
            <a:off x="2551176" y="2122714"/>
            <a:ext cx="292608" cy="292608"/>
          </a:xfrm>
          <a:prstGeom prst="ellipse">
            <a:avLst/>
          </a:prstGeom>
          <a:solidFill>
            <a:srgbClr val="8C3A27"/>
          </a:solidFill>
          <a:ln w="25400">
            <a:solidFill>
              <a:srgbClr val="FFFFFF"/>
            </a:solidFill>
            <a:prstDash val="solid"/>
          </a:ln>
        </p:spPr>
      </p:sp>
      <p:sp>
        <p:nvSpPr>
          <p:cNvPr id="9" name="Text 7"/>
          <p:cNvSpPr txBox="1"/>
          <p:nvPr/>
        </p:nvSpPr>
        <p:spPr>
          <a:xfrm>
            <a:off x="3063240" y="2031274"/>
            <a:ext cx="8579815" cy="705394"/>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Deuxième période de répartition du solde de la taxe d'apprentissage sur SOLTéA.</a:t>
            </a:r>
            <a:endParaRPr lang="en-US" sz="1400" dirty="0"/>
          </a:p>
        </p:txBody>
      </p:sp>
      <p:sp>
        <p:nvSpPr>
          <p:cNvPr id="10" name="Text 8"/>
          <p:cNvSpPr txBox="1"/>
          <p:nvPr/>
        </p:nvSpPr>
        <p:spPr>
          <a:xfrm>
            <a:off x="548640" y="2736669"/>
            <a:ext cx="1920240" cy="705394"/>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9 septembre 2026</a:t>
            </a:r>
            <a:endParaRPr lang="en-US" sz="1400" dirty="0"/>
          </a:p>
        </p:txBody>
      </p:sp>
      <p:sp>
        <p:nvSpPr>
          <p:cNvPr id="11" name="Shape 9"/>
          <p:cNvSpPr/>
          <p:nvPr/>
        </p:nvSpPr>
        <p:spPr>
          <a:xfrm>
            <a:off x="2551176" y="2828109"/>
            <a:ext cx="292608" cy="292608"/>
          </a:xfrm>
          <a:prstGeom prst="ellipse">
            <a:avLst/>
          </a:prstGeom>
          <a:solidFill>
            <a:srgbClr val="8C3A27"/>
          </a:solidFill>
          <a:ln w="25400">
            <a:solidFill>
              <a:srgbClr val="FFFFFF"/>
            </a:solidFill>
            <a:prstDash val="solid"/>
          </a:ln>
        </p:spPr>
      </p:sp>
      <p:sp>
        <p:nvSpPr>
          <p:cNvPr id="12" name="Text 10"/>
          <p:cNvSpPr txBox="1"/>
          <p:nvPr/>
        </p:nvSpPr>
        <p:spPr>
          <a:xfrm>
            <a:off x="3063240" y="2736669"/>
            <a:ext cx="8579815" cy="705394"/>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Projet de loi de transposition de la directive sur la transparence des rémunérations présenté en Conseil des ministres.</a:t>
            </a:r>
            <a:endParaRPr lang="en-US" sz="1400" dirty="0"/>
          </a:p>
        </p:txBody>
      </p:sp>
      <p:sp>
        <p:nvSpPr>
          <p:cNvPr id="13" name="Text 11"/>
          <p:cNvSpPr txBox="1"/>
          <p:nvPr/>
        </p:nvSpPr>
        <p:spPr>
          <a:xfrm>
            <a:off x="548640" y="3442063"/>
            <a:ext cx="1920240" cy="705394"/>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Fin septembre 2026</a:t>
            </a:r>
            <a:endParaRPr lang="en-US" sz="1400" dirty="0"/>
          </a:p>
        </p:txBody>
      </p:sp>
      <p:sp>
        <p:nvSpPr>
          <p:cNvPr id="14" name="Shape 12"/>
          <p:cNvSpPr/>
          <p:nvPr/>
        </p:nvSpPr>
        <p:spPr>
          <a:xfrm>
            <a:off x="2551176" y="3533503"/>
            <a:ext cx="292608" cy="292608"/>
          </a:xfrm>
          <a:prstGeom prst="ellipse">
            <a:avLst/>
          </a:prstGeom>
          <a:solidFill>
            <a:srgbClr val="8C3A27"/>
          </a:solidFill>
          <a:ln w="25400">
            <a:solidFill>
              <a:srgbClr val="FFFFFF"/>
            </a:solidFill>
            <a:prstDash val="solid"/>
          </a:ln>
        </p:spPr>
      </p:sp>
      <p:sp>
        <p:nvSpPr>
          <p:cNvPr id="15" name="Text 13"/>
          <p:cNvSpPr txBox="1"/>
          <p:nvPr/>
        </p:nvSpPr>
        <p:spPr>
          <a:xfrm>
            <a:off x="3063240" y="3442063"/>
            <a:ext cx="8579815" cy="705394"/>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Présentation du PLF et du PLFSS 2027 : plafond des IJ, fiscalisation des IJ AT/MP, mesures sur les cotisations à suivre.</a:t>
            </a:r>
            <a:endParaRPr lang="en-US" sz="1400" dirty="0"/>
          </a:p>
        </p:txBody>
      </p:sp>
      <p:sp>
        <p:nvSpPr>
          <p:cNvPr id="16" name="Text 14"/>
          <p:cNvSpPr txBox="1"/>
          <p:nvPr/>
        </p:nvSpPr>
        <p:spPr>
          <a:xfrm>
            <a:off x="548640" y="4147457"/>
            <a:ext cx="1920240" cy="705394"/>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1er octobre 2026</a:t>
            </a:r>
            <a:endParaRPr lang="en-US" sz="1400" dirty="0"/>
          </a:p>
        </p:txBody>
      </p:sp>
      <p:sp>
        <p:nvSpPr>
          <p:cNvPr id="17" name="Shape 15"/>
          <p:cNvSpPr/>
          <p:nvPr/>
        </p:nvSpPr>
        <p:spPr>
          <a:xfrm>
            <a:off x="2551176" y="4238897"/>
            <a:ext cx="292608" cy="292608"/>
          </a:xfrm>
          <a:prstGeom prst="ellipse">
            <a:avLst/>
          </a:prstGeom>
          <a:solidFill>
            <a:srgbClr val="8C3A27"/>
          </a:solidFill>
          <a:ln w="25400">
            <a:solidFill>
              <a:srgbClr val="FFFFFF"/>
            </a:solidFill>
            <a:prstDash val="solid"/>
          </a:ln>
        </p:spPr>
      </p:sp>
      <p:sp>
        <p:nvSpPr>
          <p:cNvPr id="18" name="Text 16"/>
          <p:cNvSpPr txBox="1"/>
          <p:nvPr/>
        </p:nvSpPr>
        <p:spPr>
          <a:xfrm>
            <a:off x="3063240" y="4147457"/>
            <a:ext cx="8579815" cy="705394"/>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Décret n° 2026-683 : opposition à contrainte, procédure prud'homale, médiation.</a:t>
            </a:r>
            <a:endParaRPr lang="en-US" sz="1400" dirty="0"/>
          </a:p>
        </p:txBody>
      </p:sp>
      <p:sp>
        <p:nvSpPr>
          <p:cNvPr id="19" name="Text 17"/>
          <p:cNvSpPr txBox="1"/>
          <p:nvPr/>
        </p:nvSpPr>
        <p:spPr>
          <a:xfrm>
            <a:off x="548640" y="4852851"/>
            <a:ext cx="1920240" cy="705394"/>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31 décembre 2026</a:t>
            </a:r>
            <a:endParaRPr lang="en-US" sz="1400" dirty="0"/>
          </a:p>
        </p:txBody>
      </p:sp>
      <p:sp>
        <p:nvSpPr>
          <p:cNvPr id="20" name="Shape 18"/>
          <p:cNvSpPr/>
          <p:nvPr/>
        </p:nvSpPr>
        <p:spPr>
          <a:xfrm>
            <a:off x="2551176" y="4944291"/>
            <a:ext cx="292608" cy="292608"/>
          </a:xfrm>
          <a:prstGeom prst="ellipse">
            <a:avLst/>
          </a:prstGeom>
          <a:solidFill>
            <a:srgbClr val="8C3A27"/>
          </a:solidFill>
          <a:ln w="25400">
            <a:solidFill>
              <a:srgbClr val="FFFFFF"/>
            </a:solidFill>
            <a:prstDash val="solid"/>
          </a:ln>
        </p:spPr>
      </p:sp>
      <p:sp>
        <p:nvSpPr>
          <p:cNvPr id="21" name="Text 19"/>
          <p:cNvSpPr txBox="1"/>
          <p:nvPr/>
        </p:nvSpPr>
        <p:spPr>
          <a:xfrm>
            <a:off x="3063240" y="4852851"/>
            <a:ext cx="8579815" cy="705394"/>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Fin du régime renforcé de la PPV ; fin de l'APLD classique ; dernier mois du modèle provisoire de bulletin.</a:t>
            </a:r>
            <a:endParaRPr lang="en-US" sz="1400" dirty="0"/>
          </a:p>
        </p:txBody>
      </p:sp>
      <p:sp>
        <p:nvSpPr>
          <p:cNvPr id="22" name="Text 20"/>
          <p:cNvSpPr txBox="1"/>
          <p:nvPr/>
        </p:nvSpPr>
        <p:spPr>
          <a:xfrm>
            <a:off x="548640" y="5558246"/>
            <a:ext cx="1920240" cy="705394"/>
          </a:xfrm>
          <a:prstGeom prst="rect">
            <a:avLst/>
          </a:prstGeom>
          <a:noFill/>
          <a:ln/>
        </p:spPr>
        <p:txBody>
          <a:bodyPr wrap="square" lIns="0" tIns="0" rIns="0" bIns="0" rtlCol="0" anchor="t"/>
          <a:lstStyle/>
          <a:p>
            <a:pPr indent="0" marL="0">
              <a:spcBef>
                <a:spcPts val="200"/>
              </a:spcBef>
              <a:buNone/>
            </a:pPr>
            <a:r>
              <a:rPr lang="en-US" sz="1400" b="1" dirty="0">
                <a:solidFill>
                  <a:srgbClr val="8C3A27"/>
                </a:solidFill>
                <a:latin typeface="Cambria" pitchFamily="34" charset="0"/>
                <a:ea typeface="Cambria" pitchFamily="34" charset="-122"/>
                <a:cs typeface="Cambria" pitchFamily="34" charset="-120"/>
              </a:rPr>
              <a:t>1er janvier 2027</a:t>
            </a:r>
            <a:endParaRPr lang="en-US" sz="1400" dirty="0"/>
          </a:p>
        </p:txBody>
      </p:sp>
      <p:sp>
        <p:nvSpPr>
          <p:cNvPr id="23" name="Shape 21"/>
          <p:cNvSpPr/>
          <p:nvPr/>
        </p:nvSpPr>
        <p:spPr>
          <a:xfrm>
            <a:off x="2551176" y="5649686"/>
            <a:ext cx="292608" cy="292608"/>
          </a:xfrm>
          <a:prstGeom prst="ellipse">
            <a:avLst/>
          </a:prstGeom>
          <a:solidFill>
            <a:srgbClr val="8C3A27"/>
          </a:solidFill>
          <a:ln w="25400">
            <a:solidFill>
              <a:srgbClr val="FFFFFF"/>
            </a:solidFill>
            <a:prstDash val="solid"/>
          </a:ln>
        </p:spPr>
      </p:sp>
      <p:sp>
        <p:nvSpPr>
          <p:cNvPr id="24" name="Text 22"/>
          <p:cNvSpPr txBox="1"/>
          <p:nvPr/>
        </p:nvSpPr>
        <p:spPr>
          <a:xfrm>
            <a:off x="3063240" y="5558246"/>
            <a:ext cx="8579815" cy="705394"/>
          </a:xfrm>
          <a:prstGeom prst="rect">
            <a:avLst/>
          </a:prstGeom>
          <a:noFill/>
          <a:ln/>
        </p:spPr>
        <p:txBody>
          <a:bodyPr wrap="square" lIns="0" tIns="0" rIns="0" bIns="0" rtlCol="0" anchor="t"/>
          <a:lstStyle/>
          <a:p>
            <a:pPr indent="0" marL="0">
              <a:spcBef>
                <a:spcPts val="200"/>
              </a:spcBef>
              <a:buNone/>
            </a:pPr>
            <a:r>
              <a:rPr lang="en-US" sz="1400" dirty="0">
                <a:solidFill>
                  <a:srgbClr val="2B2B2B"/>
                </a:solidFill>
                <a:latin typeface="Calibri" pitchFamily="34" charset="0"/>
                <a:ea typeface="Calibri" pitchFamily="34" charset="-122"/>
                <a:cs typeface="Calibri" pitchFamily="34" charset="-120"/>
              </a:rPr>
              <a:t>Bulletin de paie clarifié obligatoire (arrêté du 11 août 2025) ; norme DSN P27 ; nouveau régime de la PPV ; PASS et SMIC 2027.</a:t>
            </a:r>
            <a:endParaRPr lang="en-US" sz="1400" dirty="0"/>
          </a:p>
        </p:txBody>
      </p:sp>
      <p:sp>
        <p:nvSpPr>
          <p:cNvPr id="25" name="Text 2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26" name="Text 2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57</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Transparence des rémunérations : se préparer dès maintenant</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Directive (UE) 2023/970 : transposition attendue avant le 7 juin 2026 ; projet de loi de 22 articles transmis au Conseil d'État le 6 juin et présenté en Conseil des ministres le 9 septembre 2026 ; examen parlementaire fin 2026, entrée en vigueur visée au 1er janvier 2028.</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Toutes les entreprises : rémunération ou fourchette affichée dans les offres d'emploi, interdiction de demander l'historique salarial, droit du salarié à connaître son niveau de rémunération et la moyenne par sexe pour un travail de valeur égale.</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Critères de fixation et de progression de la rémunération objectifs, non sexistes et accessibles aux salariés.</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Entreprises de 100 salariés et plus : rapport sur les écarts de rémunération selon une périodicité liée à la taille ; écart non justifié de plus de 5 % → évaluation conjointe avec les représentants du personnel.</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Charge de la preuve inversée en cas de litige : l'employeur démontre l'absence de discrimination.</a:t>
            </a:r>
            <a:endParaRPr lang="en-US" sz="1700" dirty="0"/>
          </a:p>
          <a:p>
            <a:pPr marL="228600" indent="-228600">
              <a:lnSpc>
                <a:spcPct val="105000"/>
              </a:lnSpc>
              <a:spcAft>
                <a:spcPts val="850"/>
              </a:spcAft>
              <a:buSzPct val="100000"/>
              <a:buChar char="■"/>
            </a:pPr>
            <a:r>
              <a:rPr lang="en-US" sz="1700" dirty="0">
                <a:solidFill>
                  <a:srgbClr val="2B2B2B"/>
                </a:solidFill>
                <a:latin typeface="Calibri" pitchFamily="34" charset="0"/>
                <a:ea typeface="Calibri" pitchFamily="34" charset="-122"/>
                <a:cs typeface="Calibri" pitchFamily="34" charset="-120"/>
              </a:rPr>
              <a:t>Chantiers paie : fiabiliser les classifications, isoler les composantes de rémunération, documenter les primes individuelles, préparer les extractions par catégorie et par sexe.</a:t>
            </a:r>
            <a:endParaRPr lang="en-US" sz="17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58</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2E5D8"/>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Quiz final : 10 affirmations, une minute chacune</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QUIZ FINAL</a:t>
            </a:r>
            <a:endParaRPr lang="en-US" sz="1000" dirty="0"/>
          </a:p>
        </p:txBody>
      </p:sp>
      <p:sp>
        <p:nvSpPr>
          <p:cNvPr id="5" name="Shape 3"/>
          <p:cNvSpPr/>
          <p:nvPr/>
        </p:nvSpPr>
        <p:spPr>
          <a:xfrm>
            <a:off x="548640" y="1325880"/>
            <a:ext cx="9311335" cy="411480"/>
          </a:xfrm>
          <a:prstGeom prst="roundRect">
            <a:avLst>
              <a:gd name="adj" fmla="val 17778"/>
            </a:avLst>
          </a:prstGeom>
          <a:solidFill>
            <a:srgbClr val="FFFFFF"/>
          </a:solidFill>
          <a:ln w="12700">
            <a:solidFill>
              <a:srgbClr val="FFFFFF"/>
            </a:solidFill>
            <a:prstDash val="solid"/>
          </a:ln>
        </p:spPr>
      </p:sp>
      <p:sp>
        <p:nvSpPr>
          <p:cNvPr id="6" name="Shape 4"/>
          <p:cNvSpPr/>
          <p:nvPr/>
        </p:nvSpPr>
        <p:spPr>
          <a:xfrm>
            <a:off x="658368" y="1357884"/>
            <a:ext cx="347472" cy="347472"/>
          </a:xfrm>
          <a:prstGeom prst="ellipse">
            <a:avLst/>
          </a:prstGeom>
          <a:solidFill>
            <a:srgbClr val="8C3A27"/>
          </a:solidFill>
          <a:ln w="12700">
            <a:solidFill>
              <a:srgbClr val="8C3A27"/>
            </a:solidFill>
            <a:prstDash val="solid"/>
          </a:ln>
        </p:spPr>
      </p:sp>
      <p:sp>
        <p:nvSpPr>
          <p:cNvPr id="7" name="Text 5"/>
          <p:cNvSpPr txBox="1"/>
          <p:nvPr/>
        </p:nvSpPr>
        <p:spPr>
          <a:xfrm>
            <a:off x="658368" y="135788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Text 6"/>
          <p:cNvSpPr txBox="1"/>
          <p:nvPr/>
        </p:nvSpPr>
        <p:spPr>
          <a:xfrm>
            <a:off x="1115568" y="1325880"/>
            <a:ext cx="8671255" cy="41148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Le SMIC mensuel brut pour 151,67 h est de 1 867,02 € depuis le 1er juin 2026.</a:t>
            </a:r>
            <a:endParaRPr lang="en-US" sz="1400" dirty="0"/>
          </a:p>
        </p:txBody>
      </p:sp>
      <p:sp>
        <p:nvSpPr>
          <p:cNvPr id="9" name="Shape 7"/>
          <p:cNvSpPr/>
          <p:nvPr/>
        </p:nvSpPr>
        <p:spPr>
          <a:xfrm>
            <a:off x="9997135" y="1380744"/>
            <a:ext cx="777240" cy="301752"/>
          </a:xfrm>
          <a:prstGeom prst="roundRect">
            <a:avLst>
              <a:gd name="adj" fmla="val 24242"/>
            </a:avLst>
          </a:prstGeom>
          <a:solidFill>
            <a:srgbClr val="FFF6F4"/>
          </a:solidFill>
          <a:ln w="9525">
            <a:solidFill>
              <a:srgbClr val="F0C8BC"/>
            </a:solidFill>
            <a:prstDash val="solid"/>
          </a:ln>
        </p:spPr>
      </p:sp>
      <p:sp>
        <p:nvSpPr>
          <p:cNvPr id="10" name="Text 8"/>
          <p:cNvSpPr txBox="1"/>
          <p:nvPr/>
        </p:nvSpPr>
        <p:spPr>
          <a:xfrm>
            <a:off x="9997135" y="138074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11" name="Shape 9"/>
          <p:cNvSpPr/>
          <p:nvPr/>
        </p:nvSpPr>
        <p:spPr>
          <a:xfrm>
            <a:off x="10838383" y="1380744"/>
            <a:ext cx="777240" cy="301752"/>
          </a:xfrm>
          <a:prstGeom prst="roundRect">
            <a:avLst>
              <a:gd name="adj" fmla="val 24242"/>
            </a:avLst>
          </a:prstGeom>
          <a:solidFill>
            <a:srgbClr val="FFF6F4"/>
          </a:solidFill>
          <a:ln w="9525">
            <a:solidFill>
              <a:srgbClr val="F0C8BC"/>
            </a:solidFill>
            <a:prstDash val="solid"/>
          </a:ln>
        </p:spPr>
      </p:sp>
      <p:sp>
        <p:nvSpPr>
          <p:cNvPr id="12" name="Text 10"/>
          <p:cNvSpPr txBox="1"/>
          <p:nvPr/>
        </p:nvSpPr>
        <p:spPr>
          <a:xfrm>
            <a:off x="10838383" y="138074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13" name="Shape 11"/>
          <p:cNvSpPr/>
          <p:nvPr/>
        </p:nvSpPr>
        <p:spPr>
          <a:xfrm>
            <a:off x="548640" y="1828800"/>
            <a:ext cx="9311335" cy="411480"/>
          </a:xfrm>
          <a:prstGeom prst="roundRect">
            <a:avLst>
              <a:gd name="adj" fmla="val 17778"/>
            </a:avLst>
          </a:prstGeom>
          <a:solidFill>
            <a:srgbClr val="FFFFFF"/>
          </a:solidFill>
          <a:ln w="12700">
            <a:solidFill>
              <a:srgbClr val="FFFFFF"/>
            </a:solidFill>
            <a:prstDash val="solid"/>
          </a:ln>
        </p:spPr>
      </p:sp>
      <p:sp>
        <p:nvSpPr>
          <p:cNvPr id="14" name="Shape 12"/>
          <p:cNvSpPr/>
          <p:nvPr/>
        </p:nvSpPr>
        <p:spPr>
          <a:xfrm>
            <a:off x="658368" y="1860804"/>
            <a:ext cx="347472" cy="347472"/>
          </a:xfrm>
          <a:prstGeom prst="ellipse">
            <a:avLst/>
          </a:prstGeom>
          <a:solidFill>
            <a:srgbClr val="8C3A27"/>
          </a:solidFill>
          <a:ln w="12700">
            <a:solidFill>
              <a:srgbClr val="8C3A27"/>
            </a:solidFill>
            <a:prstDash val="solid"/>
          </a:ln>
        </p:spPr>
      </p:sp>
      <p:sp>
        <p:nvSpPr>
          <p:cNvPr id="15" name="Text 13"/>
          <p:cNvSpPr txBox="1"/>
          <p:nvPr/>
        </p:nvSpPr>
        <p:spPr>
          <a:xfrm>
            <a:off x="658368" y="18608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6" name="Text 14"/>
          <p:cNvSpPr txBox="1"/>
          <p:nvPr/>
        </p:nvSpPr>
        <p:spPr>
          <a:xfrm>
            <a:off x="1115568" y="1828800"/>
            <a:ext cx="8671255" cy="41148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Le SMIC de référence de la RGDU a été revalorisé au 1er juin 2026.</a:t>
            </a:r>
            <a:endParaRPr lang="en-US" sz="1400" dirty="0"/>
          </a:p>
        </p:txBody>
      </p:sp>
      <p:sp>
        <p:nvSpPr>
          <p:cNvPr id="17" name="Shape 15"/>
          <p:cNvSpPr/>
          <p:nvPr/>
        </p:nvSpPr>
        <p:spPr>
          <a:xfrm>
            <a:off x="9997135" y="1883664"/>
            <a:ext cx="777240" cy="301752"/>
          </a:xfrm>
          <a:prstGeom prst="roundRect">
            <a:avLst>
              <a:gd name="adj" fmla="val 24242"/>
            </a:avLst>
          </a:prstGeom>
          <a:solidFill>
            <a:srgbClr val="FFF6F4"/>
          </a:solidFill>
          <a:ln w="9525">
            <a:solidFill>
              <a:srgbClr val="F0C8BC"/>
            </a:solidFill>
            <a:prstDash val="solid"/>
          </a:ln>
        </p:spPr>
      </p:sp>
      <p:sp>
        <p:nvSpPr>
          <p:cNvPr id="18" name="Text 16"/>
          <p:cNvSpPr txBox="1"/>
          <p:nvPr/>
        </p:nvSpPr>
        <p:spPr>
          <a:xfrm>
            <a:off x="9997135" y="188366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19" name="Shape 17"/>
          <p:cNvSpPr/>
          <p:nvPr/>
        </p:nvSpPr>
        <p:spPr>
          <a:xfrm>
            <a:off x="10838383" y="1883664"/>
            <a:ext cx="777240" cy="301752"/>
          </a:xfrm>
          <a:prstGeom prst="roundRect">
            <a:avLst>
              <a:gd name="adj" fmla="val 24242"/>
            </a:avLst>
          </a:prstGeom>
          <a:solidFill>
            <a:srgbClr val="FFF6F4"/>
          </a:solidFill>
          <a:ln w="9525">
            <a:solidFill>
              <a:srgbClr val="F0C8BC"/>
            </a:solidFill>
            <a:prstDash val="solid"/>
          </a:ln>
        </p:spPr>
      </p:sp>
      <p:sp>
        <p:nvSpPr>
          <p:cNvPr id="20" name="Text 18"/>
          <p:cNvSpPr txBox="1"/>
          <p:nvPr/>
        </p:nvSpPr>
        <p:spPr>
          <a:xfrm>
            <a:off x="10838383" y="188366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21" name="Shape 19"/>
          <p:cNvSpPr/>
          <p:nvPr/>
        </p:nvSpPr>
        <p:spPr>
          <a:xfrm>
            <a:off x="548640" y="2331720"/>
            <a:ext cx="9311335" cy="411480"/>
          </a:xfrm>
          <a:prstGeom prst="roundRect">
            <a:avLst>
              <a:gd name="adj" fmla="val 17778"/>
            </a:avLst>
          </a:prstGeom>
          <a:solidFill>
            <a:srgbClr val="FFFFFF"/>
          </a:solidFill>
          <a:ln w="12700">
            <a:solidFill>
              <a:srgbClr val="FFFFFF"/>
            </a:solidFill>
            <a:prstDash val="solid"/>
          </a:ln>
        </p:spPr>
      </p:sp>
      <p:sp>
        <p:nvSpPr>
          <p:cNvPr id="22" name="Shape 20"/>
          <p:cNvSpPr/>
          <p:nvPr/>
        </p:nvSpPr>
        <p:spPr>
          <a:xfrm>
            <a:off x="658368" y="2363724"/>
            <a:ext cx="347472" cy="347472"/>
          </a:xfrm>
          <a:prstGeom prst="ellipse">
            <a:avLst/>
          </a:prstGeom>
          <a:solidFill>
            <a:srgbClr val="8C3A27"/>
          </a:solidFill>
          <a:ln w="12700">
            <a:solidFill>
              <a:srgbClr val="8C3A27"/>
            </a:solidFill>
            <a:prstDash val="solid"/>
          </a:ln>
        </p:spPr>
      </p:sp>
      <p:sp>
        <p:nvSpPr>
          <p:cNvPr id="23" name="Text 21"/>
          <p:cNvSpPr txBox="1"/>
          <p:nvPr/>
        </p:nvSpPr>
        <p:spPr>
          <a:xfrm>
            <a:off x="658368" y="23637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4" name="Text 22"/>
          <p:cNvSpPr txBox="1"/>
          <p:nvPr/>
        </p:nvSpPr>
        <p:spPr>
          <a:xfrm>
            <a:off x="1115568" y="2331720"/>
            <a:ext cx="8671255" cy="41148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Le congé supplémentaire de naissance est indemnisé par l'employeur à hauteur de 70 %.</a:t>
            </a:r>
            <a:endParaRPr lang="en-US" sz="1400" dirty="0"/>
          </a:p>
        </p:txBody>
      </p:sp>
      <p:sp>
        <p:nvSpPr>
          <p:cNvPr id="25" name="Shape 23"/>
          <p:cNvSpPr/>
          <p:nvPr/>
        </p:nvSpPr>
        <p:spPr>
          <a:xfrm>
            <a:off x="9997135" y="2386584"/>
            <a:ext cx="777240" cy="301752"/>
          </a:xfrm>
          <a:prstGeom prst="roundRect">
            <a:avLst>
              <a:gd name="adj" fmla="val 24242"/>
            </a:avLst>
          </a:prstGeom>
          <a:solidFill>
            <a:srgbClr val="FFF6F4"/>
          </a:solidFill>
          <a:ln w="9525">
            <a:solidFill>
              <a:srgbClr val="F0C8BC"/>
            </a:solidFill>
            <a:prstDash val="solid"/>
          </a:ln>
        </p:spPr>
      </p:sp>
      <p:sp>
        <p:nvSpPr>
          <p:cNvPr id="26" name="Text 24"/>
          <p:cNvSpPr txBox="1"/>
          <p:nvPr/>
        </p:nvSpPr>
        <p:spPr>
          <a:xfrm>
            <a:off x="9997135" y="238658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27" name="Shape 25"/>
          <p:cNvSpPr/>
          <p:nvPr/>
        </p:nvSpPr>
        <p:spPr>
          <a:xfrm>
            <a:off x="10838383" y="2386584"/>
            <a:ext cx="777240" cy="301752"/>
          </a:xfrm>
          <a:prstGeom prst="roundRect">
            <a:avLst>
              <a:gd name="adj" fmla="val 24242"/>
            </a:avLst>
          </a:prstGeom>
          <a:solidFill>
            <a:srgbClr val="FFF6F4"/>
          </a:solidFill>
          <a:ln w="9525">
            <a:solidFill>
              <a:srgbClr val="F0C8BC"/>
            </a:solidFill>
            <a:prstDash val="solid"/>
          </a:ln>
        </p:spPr>
      </p:sp>
      <p:sp>
        <p:nvSpPr>
          <p:cNvPr id="28" name="Text 26"/>
          <p:cNvSpPr txBox="1"/>
          <p:nvPr/>
        </p:nvSpPr>
        <p:spPr>
          <a:xfrm>
            <a:off x="10838383" y="238658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29" name="Shape 27"/>
          <p:cNvSpPr/>
          <p:nvPr/>
        </p:nvSpPr>
        <p:spPr>
          <a:xfrm>
            <a:off x="548640" y="2834640"/>
            <a:ext cx="9311335" cy="411480"/>
          </a:xfrm>
          <a:prstGeom prst="roundRect">
            <a:avLst>
              <a:gd name="adj" fmla="val 17778"/>
            </a:avLst>
          </a:prstGeom>
          <a:solidFill>
            <a:srgbClr val="FFFFFF"/>
          </a:solidFill>
          <a:ln w="12700">
            <a:solidFill>
              <a:srgbClr val="FFFFFF"/>
            </a:solidFill>
            <a:prstDash val="solid"/>
          </a:ln>
        </p:spPr>
      </p:sp>
      <p:sp>
        <p:nvSpPr>
          <p:cNvPr id="30" name="Shape 28"/>
          <p:cNvSpPr/>
          <p:nvPr/>
        </p:nvSpPr>
        <p:spPr>
          <a:xfrm>
            <a:off x="658368" y="2866644"/>
            <a:ext cx="347472" cy="347472"/>
          </a:xfrm>
          <a:prstGeom prst="ellipse">
            <a:avLst/>
          </a:prstGeom>
          <a:solidFill>
            <a:srgbClr val="8C3A27"/>
          </a:solidFill>
          <a:ln w="12700">
            <a:solidFill>
              <a:srgbClr val="8C3A27"/>
            </a:solidFill>
            <a:prstDash val="solid"/>
          </a:ln>
        </p:spPr>
      </p:sp>
      <p:sp>
        <p:nvSpPr>
          <p:cNvPr id="31" name="Text 29"/>
          <p:cNvSpPr txBox="1"/>
          <p:nvPr/>
        </p:nvSpPr>
        <p:spPr>
          <a:xfrm>
            <a:off x="658368" y="28666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32" name="Text 30"/>
          <p:cNvSpPr txBox="1"/>
          <p:nvPr/>
        </p:nvSpPr>
        <p:spPr>
          <a:xfrm>
            <a:off x="1115568" y="2834640"/>
            <a:ext cx="8671255" cy="41148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Depuis le 1er septembre 2026, une prolongation d'arrêt de travail ne peut dépasser 62 jours sauf justification.</a:t>
            </a:r>
            <a:endParaRPr lang="en-US" sz="1250" dirty="0"/>
          </a:p>
        </p:txBody>
      </p:sp>
      <p:sp>
        <p:nvSpPr>
          <p:cNvPr id="33" name="Shape 31"/>
          <p:cNvSpPr/>
          <p:nvPr/>
        </p:nvSpPr>
        <p:spPr>
          <a:xfrm>
            <a:off x="9997135" y="2889504"/>
            <a:ext cx="777240" cy="301752"/>
          </a:xfrm>
          <a:prstGeom prst="roundRect">
            <a:avLst>
              <a:gd name="adj" fmla="val 24242"/>
            </a:avLst>
          </a:prstGeom>
          <a:solidFill>
            <a:srgbClr val="FFF6F4"/>
          </a:solidFill>
          <a:ln w="9525">
            <a:solidFill>
              <a:srgbClr val="F0C8BC"/>
            </a:solidFill>
            <a:prstDash val="solid"/>
          </a:ln>
        </p:spPr>
      </p:sp>
      <p:sp>
        <p:nvSpPr>
          <p:cNvPr id="34" name="Text 32"/>
          <p:cNvSpPr txBox="1"/>
          <p:nvPr/>
        </p:nvSpPr>
        <p:spPr>
          <a:xfrm>
            <a:off x="9997135" y="288950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35" name="Shape 33"/>
          <p:cNvSpPr/>
          <p:nvPr/>
        </p:nvSpPr>
        <p:spPr>
          <a:xfrm>
            <a:off x="10838383" y="2889504"/>
            <a:ext cx="777240" cy="301752"/>
          </a:xfrm>
          <a:prstGeom prst="roundRect">
            <a:avLst>
              <a:gd name="adj" fmla="val 24242"/>
            </a:avLst>
          </a:prstGeom>
          <a:solidFill>
            <a:srgbClr val="FFF6F4"/>
          </a:solidFill>
          <a:ln w="9525">
            <a:solidFill>
              <a:srgbClr val="F0C8BC"/>
            </a:solidFill>
            <a:prstDash val="solid"/>
          </a:ln>
        </p:spPr>
      </p:sp>
      <p:sp>
        <p:nvSpPr>
          <p:cNvPr id="36" name="Text 34"/>
          <p:cNvSpPr txBox="1"/>
          <p:nvPr/>
        </p:nvSpPr>
        <p:spPr>
          <a:xfrm>
            <a:off x="10838383" y="288950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37" name="Shape 35"/>
          <p:cNvSpPr/>
          <p:nvPr/>
        </p:nvSpPr>
        <p:spPr>
          <a:xfrm>
            <a:off x="548640" y="3337560"/>
            <a:ext cx="9311335" cy="411480"/>
          </a:xfrm>
          <a:prstGeom prst="roundRect">
            <a:avLst>
              <a:gd name="adj" fmla="val 17778"/>
            </a:avLst>
          </a:prstGeom>
          <a:solidFill>
            <a:srgbClr val="FFFFFF"/>
          </a:solidFill>
          <a:ln w="12700">
            <a:solidFill>
              <a:srgbClr val="FFFFFF"/>
            </a:solidFill>
            <a:prstDash val="solid"/>
          </a:ln>
        </p:spPr>
      </p:sp>
      <p:sp>
        <p:nvSpPr>
          <p:cNvPr id="38" name="Shape 36"/>
          <p:cNvSpPr/>
          <p:nvPr/>
        </p:nvSpPr>
        <p:spPr>
          <a:xfrm>
            <a:off x="658368" y="3369564"/>
            <a:ext cx="347472" cy="347472"/>
          </a:xfrm>
          <a:prstGeom prst="ellipse">
            <a:avLst/>
          </a:prstGeom>
          <a:solidFill>
            <a:srgbClr val="8C3A27"/>
          </a:solidFill>
          <a:ln w="12700">
            <a:solidFill>
              <a:srgbClr val="8C3A27"/>
            </a:solidFill>
            <a:prstDash val="solid"/>
          </a:ln>
        </p:spPr>
      </p:sp>
      <p:sp>
        <p:nvSpPr>
          <p:cNvPr id="39" name="Text 37"/>
          <p:cNvSpPr txBox="1"/>
          <p:nvPr/>
        </p:nvSpPr>
        <p:spPr>
          <a:xfrm>
            <a:off x="658368" y="33695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40" name="Text 38"/>
          <p:cNvSpPr txBox="1"/>
          <p:nvPr/>
        </p:nvSpPr>
        <p:spPr>
          <a:xfrm>
            <a:off x="1115568" y="3337560"/>
            <a:ext cx="8671255" cy="41148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Le taux de la cotisation AGS est passé à 0,30 % au 1er juillet 2026.</a:t>
            </a:r>
            <a:endParaRPr lang="en-US" sz="1400" dirty="0"/>
          </a:p>
        </p:txBody>
      </p:sp>
      <p:sp>
        <p:nvSpPr>
          <p:cNvPr id="41" name="Shape 39"/>
          <p:cNvSpPr/>
          <p:nvPr/>
        </p:nvSpPr>
        <p:spPr>
          <a:xfrm>
            <a:off x="9997135" y="3392424"/>
            <a:ext cx="777240" cy="301752"/>
          </a:xfrm>
          <a:prstGeom prst="roundRect">
            <a:avLst>
              <a:gd name="adj" fmla="val 24242"/>
            </a:avLst>
          </a:prstGeom>
          <a:solidFill>
            <a:srgbClr val="FFF6F4"/>
          </a:solidFill>
          <a:ln w="9525">
            <a:solidFill>
              <a:srgbClr val="F0C8BC"/>
            </a:solidFill>
            <a:prstDash val="solid"/>
          </a:ln>
        </p:spPr>
      </p:sp>
      <p:sp>
        <p:nvSpPr>
          <p:cNvPr id="42" name="Text 40"/>
          <p:cNvSpPr txBox="1"/>
          <p:nvPr/>
        </p:nvSpPr>
        <p:spPr>
          <a:xfrm>
            <a:off x="9997135" y="339242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43" name="Shape 41"/>
          <p:cNvSpPr/>
          <p:nvPr/>
        </p:nvSpPr>
        <p:spPr>
          <a:xfrm>
            <a:off x="10838383" y="3392424"/>
            <a:ext cx="777240" cy="301752"/>
          </a:xfrm>
          <a:prstGeom prst="roundRect">
            <a:avLst>
              <a:gd name="adj" fmla="val 24242"/>
            </a:avLst>
          </a:prstGeom>
          <a:solidFill>
            <a:srgbClr val="FFF6F4"/>
          </a:solidFill>
          <a:ln w="9525">
            <a:solidFill>
              <a:srgbClr val="F0C8BC"/>
            </a:solidFill>
            <a:prstDash val="solid"/>
          </a:ln>
        </p:spPr>
      </p:sp>
      <p:sp>
        <p:nvSpPr>
          <p:cNvPr id="44" name="Text 42"/>
          <p:cNvSpPr txBox="1"/>
          <p:nvPr/>
        </p:nvSpPr>
        <p:spPr>
          <a:xfrm>
            <a:off x="10838383" y="339242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45" name="Shape 43"/>
          <p:cNvSpPr/>
          <p:nvPr/>
        </p:nvSpPr>
        <p:spPr>
          <a:xfrm>
            <a:off x="548640" y="3840480"/>
            <a:ext cx="9311335" cy="411480"/>
          </a:xfrm>
          <a:prstGeom prst="roundRect">
            <a:avLst>
              <a:gd name="adj" fmla="val 17778"/>
            </a:avLst>
          </a:prstGeom>
          <a:solidFill>
            <a:srgbClr val="FFFFFF"/>
          </a:solidFill>
          <a:ln w="12700">
            <a:solidFill>
              <a:srgbClr val="FFFFFF"/>
            </a:solidFill>
            <a:prstDash val="solid"/>
          </a:ln>
        </p:spPr>
      </p:sp>
      <p:sp>
        <p:nvSpPr>
          <p:cNvPr id="46" name="Shape 44"/>
          <p:cNvSpPr/>
          <p:nvPr/>
        </p:nvSpPr>
        <p:spPr>
          <a:xfrm>
            <a:off x="658368" y="3872484"/>
            <a:ext cx="347472" cy="347472"/>
          </a:xfrm>
          <a:prstGeom prst="ellipse">
            <a:avLst/>
          </a:prstGeom>
          <a:solidFill>
            <a:srgbClr val="8C3A27"/>
          </a:solidFill>
          <a:ln w="12700">
            <a:solidFill>
              <a:srgbClr val="8C3A27"/>
            </a:solidFill>
            <a:prstDash val="solid"/>
          </a:ln>
        </p:spPr>
      </p:sp>
      <p:sp>
        <p:nvSpPr>
          <p:cNvPr id="47" name="Text 45"/>
          <p:cNvSpPr txBox="1"/>
          <p:nvPr/>
        </p:nvSpPr>
        <p:spPr>
          <a:xfrm>
            <a:off x="658368" y="387248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6</a:t>
            </a:r>
            <a:endParaRPr lang="en-US" sz="1100" dirty="0"/>
          </a:p>
        </p:txBody>
      </p:sp>
      <p:sp>
        <p:nvSpPr>
          <p:cNvPr id="48" name="Text 46"/>
          <p:cNvSpPr txBox="1"/>
          <p:nvPr/>
        </p:nvSpPr>
        <p:spPr>
          <a:xfrm>
            <a:off x="1115568" y="3840480"/>
            <a:ext cx="8671255" cy="41148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Dans un accord d'annualisation, une semaine de maladie réduit le seuil annuel des heures supplémentaires de 35 h.</a:t>
            </a:r>
            <a:endParaRPr lang="en-US" sz="1250" dirty="0"/>
          </a:p>
        </p:txBody>
      </p:sp>
      <p:sp>
        <p:nvSpPr>
          <p:cNvPr id="49" name="Shape 47"/>
          <p:cNvSpPr/>
          <p:nvPr/>
        </p:nvSpPr>
        <p:spPr>
          <a:xfrm>
            <a:off x="9997135" y="3895344"/>
            <a:ext cx="777240" cy="301752"/>
          </a:xfrm>
          <a:prstGeom prst="roundRect">
            <a:avLst>
              <a:gd name="adj" fmla="val 24242"/>
            </a:avLst>
          </a:prstGeom>
          <a:solidFill>
            <a:srgbClr val="FFF6F4"/>
          </a:solidFill>
          <a:ln w="9525">
            <a:solidFill>
              <a:srgbClr val="F0C8BC"/>
            </a:solidFill>
            <a:prstDash val="solid"/>
          </a:ln>
        </p:spPr>
      </p:sp>
      <p:sp>
        <p:nvSpPr>
          <p:cNvPr id="50" name="Text 48"/>
          <p:cNvSpPr txBox="1"/>
          <p:nvPr/>
        </p:nvSpPr>
        <p:spPr>
          <a:xfrm>
            <a:off x="9997135" y="389534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51" name="Shape 49"/>
          <p:cNvSpPr/>
          <p:nvPr/>
        </p:nvSpPr>
        <p:spPr>
          <a:xfrm>
            <a:off x="10838383" y="3895344"/>
            <a:ext cx="777240" cy="301752"/>
          </a:xfrm>
          <a:prstGeom prst="roundRect">
            <a:avLst>
              <a:gd name="adj" fmla="val 24242"/>
            </a:avLst>
          </a:prstGeom>
          <a:solidFill>
            <a:srgbClr val="FFF6F4"/>
          </a:solidFill>
          <a:ln w="9525">
            <a:solidFill>
              <a:srgbClr val="F0C8BC"/>
            </a:solidFill>
            <a:prstDash val="solid"/>
          </a:ln>
        </p:spPr>
      </p:sp>
      <p:sp>
        <p:nvSpPr>
          <p:cNvPr id="52" name="Text 50"/>
          <p:cNvSpPr txBox="1"/>
          <p:nvPr/>
        </p:nvSpPr>
        <p:spPr>
          <a:xfrm>
            <a:off x="10838383" y="389534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53" name="Shape 51"/>
          <p:cNvSpPr/>
          <p:nvPr/>
        </p:nvSpPr>
        <p:spPr>
          <a:xfrm>
            <a:off x="548640" y="4343400"/>
            <a:ext cx="9311335" cy="411480"/>
          </a:xfrm>
          <a:prstGeom prst="roundRect">
            <a:avLst>
              <a:gd name="adj" fmla="val 17778"/>
            </a:avLst>
          </a:prstGeom>
          <a:solidFill>
            <a:srgbClr val="FFFFFF"/>
          </a:solidFill>
          <a:ln w="12700">
            <a:solidFill>
              <a:srgbClr val="FFFFFF"/>
            </a:solidFill>
            <a:prstDash val="solid"/>
          </a:ln>
        </p:spPr>
      </p:sp>
      <p:sp>
        <p:nvSpPr>
          <p:cNvPr id="54" name="Shape 52"/>
          <p:cNvSpPr/>
          <p:nvPr/>
        </p:nvSpPr>
        <p:spPr>
          <a:xfrm>
            <a:off x="658368" y="4375404"/>
            <a:ext cx="347472" cy="347472"/>
          </a:xfrm>
          <a:prstGeom prst="ellipse">
            <a:avLst/>
          </a:prstGeom>
          <a:solidFill>
            <a:srgbClr val="8C3A27"/>
          </a:solidFill>
          <a:ln w="12700">
            <a:solidFill>
              <a:srgbClr val="8C3A27"/>
            </a:solidFill>
            <a:prstDash val="solid"/>
          </a:ln>
        </p:spPr>
      </p:sp>
      <p:sp>
        <p:nvSpPr>
          <p:cNvPr id="55" name="Text 53"/>
          <p:cNvSpPr txBox="1"/>
          <p:nvPr/>
        </p:nvSpPr>
        <p:spPr>
          <a:xfrm>
            <a:off x="658368" y="43754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7</a:t>
            </a:r>
            <a:endParaRPr lang="en-US" sz="1100" dirty="0"/>
          </a:p>
        </p:txBody>
      </p:sp>
      <p:sp>
        <p:nvSpPr>
          <p:cNvPr id="56" name="Text 54"/>
          <p:cNvSpPr txBox="1"/>
          <p:nvPr/>
        </p:nvSpPr>
        <p:spPr>
          <a:xfrm>
            <a:off x="1115568" y="4343400"/>
            <a:ext cx="867125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La contribution patronale de 40 % s'applique à la totalité de l'indemnité de rupture conventionnelle.</a:t>
            </a:r>
            <a:endParaRPr lang="en-US" sz="1300" dirty="0"/>
          </a:p>
        </p:txBody>
      </p:sp>
      <p:sp>
        <p:nvSpPr>
          <p:cNvPr id="57" name="Shape 55"/>
          <p:cNvSpPr/>
          <p:nvPr/>
        </p:nvSpPr>
        <p:spPr>
          <a:xfrm>
            <a:off x="9997135" y="4398264"/>
            <a:ext cx="777240" cy="301752"/>
          </a:xfrm>
          <a:prstGeom prst="roundRect">
            <a:avLst>
              <a:gd name="adj" fmla="val 24242"/>
            </a:avLst>
          </a:prstGeom>
          <a:solidFill>
            <a:srgbClr val="FFF6F4"/>
          </a:solidFill>
          <a:ln w="9525">
            <a:solidFill>
              <a:srgbClr val="F0C8BC"/>
            </a:solidFill>
            <a:prstDash val="solid"/>
          </a:ln>
        </p:spPr>
      </p:sp>
      <p:sp>
        <p:nvSpPr>
          <p:cNvPr id="58" name="Text 56"/>
          <p:cNvSpPr txBox="1"/>
          <p:nvPr/>
        </p:nvSpPr>
        <p:spPr>
          <a:xfrm>
            <a:off x="9997135" y="439826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59" name="Shape 57"/>
          <p:cNvSpPr/>
          <p:nvPr/>
        </p:nvSpPr>
        <p:spPr>
          <a:xfrm>
            <a:off x="10838383" y="4398264"/>
            <a:ext cx="777240" cy="301752"/>
          </a:xfrm>
          <a:prstGeom prst="roundRect">
            <a:avLst>
              <a:gd name="adj" fmla="val 24242"/>
            </a:avLst>
          </a:prstGeom>
          <a:solidFill>
            <a:srgbClr val="FFF6F4"/>
          </a:solidFill>
          <a:ln w="9525">
            <a:solidFill>
              <a:srgbClr val="F0C8BC"/>
            </a:solidFill>
            <a:prstDash val="solid"/>
          </a:ln>
        </p:spPr>
      </p:sp>
      <p:sp>
        <p:nvSpPr>
          <p:cNvPr id="60" name="Text 58"/>
          <p:cNvSpPr txBox="1"/>
          <p:nvPr/>
        </p:nvSpPr>
        <p:spPr>
          <a:xfrm>
            <a:off x="10838383" y="439826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61" name="Shape 59"/>
          <p:cNvSpPr/>
          <p:nvPr/>
        </p:nvSpPr>
        <p:spPr>
          <a:xfrm>
            <a:off x="548640" y="4846320"/>
            <a:ext cx="9311335" cy="411480"/>
          </a:xfrm>
          <a:prstGeom prst="roundRect">
            <a:avLst>
              <a:gd name="adj" fmla="val 17778"/>
            </a:avLst>
          </a:prstGeom>
          <a:solidFill>
            <a:srgbClr val="FFFFFF"/>
          </a:solidFill>
          <a:ln w="12700">
            <a:solidFill>
              <a:srgbClr val="FFFFFF"/>
            </a:solidFill>
            <a:prstDash val="solid"/>
          </a:ln>
        </p:spPr>
      </p:sp>
      <p:sp>
        <p:nvSpPr>
          <p:cNvPr id="62" name="Shape 60"/>
          <p:cNvSpPr/>
          <p:nvPr/>
        </p:nvSpPr>
        <p:spPr>
          <a:xfrm>
            <a:off x="658368" y="4878324"/>
            <a:ext cx="347472" cy="347472"/>
          </a:xfrm>
          <a:prstGeom prst="ellipse">
            <a:avLst/>
          </a:prstGeom>
          <a:solidFill>
            <a:srgbClr val="8C3A27"/>
          </a:solidFill>
          <a:ln w="12700">
            <a:solidFill>
              <a:srgbClr val="8C3A27"/>
            </a:solidFill>
            <a:prstDash val="solid"/>
          </a:ln>
        </p:spPr>
      </p:sp>
      <p:sp>
        <p:nvSpPr>
          <p:cNvPr id="63" name="Text 61"/>
          <p:cNvSpPr txBox="1"/>
          <p:nvPr/>
        </p:nvSpPr>
        <p:spPr>
          <a:xfrm>
            <a:off x="658368" y="48783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8</a:t>
            </a:r>
            <a:endParaRPr lang="en-US" sz="1100" dirty="0"/>
          </a:p>
        </p:txBody>
      </p:sp>
      <p:sp>
        <p:nvSpPr>
          <p:cNvPr id="64" name="Text 62"/>
          <p:cNvSpPr txBox="1"/>
          <p:nvPr/>
        </p:nvSpPr>
        <p:spPr>
          <a:xfrm>
            <a:off x="1115568" y="4846320"/>
            <a:ext cx="8671255" cy="411480"/>
          </a:xfrm>
          <a:prstGeom prst="rect">
            <a:avLst/>
          </a:prstGeom>
          <a:noFill/>
          <a:ln/>
        </p:spPr>
        <p:txBody>
          <a:bodyPr wrap="square" lIns="0" tIns="0" rIns="0" bIns="0" rtlCol="0" anchor="ctr"/>
          <a:lstStyle/>
          <a:p>
            <a:pPr indent="0" marL="0">
              <a:buNone/>
            </a:pPr>
            <a:r>
              <a:rPr lang="en-US" sz="1250" dirty="0">
                <a:solidFill>
                  <a:srgbClr val="2B2B2B"/>
                </a:solidFill>
                <a:latin typeface="Calibri" pitchFamily="34" charset="0"/>
                <a:ea typeface="Calibri" pitchFamily="34" charset="-122"/>
                <a:cs typeface="Calibri" pitchFamily="34" charset="-120"/>
              </a:rPr>
              <a:t>Une entreprise de 40 salariés dont le bénéfice net fiscal atteint 1,5 % du CA sur 2023, 2024 et 2025 doit mettre en place un dispositif de partage de la valeur en 2026.</a:t>
            </a:r>
            <a:endParaRPr lang="en-US" sz="1250" dirty="0"/>
          </a:p>
        </p:txBody>
      </p:sp>
      <p:sp>
        <p:nvSpPr>
          <p:cNvPr id="65" name="Shape 63"/>
          <p:cNvSpPr/>
          <p:nvPr/>
        </p:nvSpPr>
        <p:spPr>
          <a:xfrm>
            <a:off x="9997135" y="4901184"/>
            <a:ext cx="777240" cy="301752"/>
          </a:xfrm>
          <a:prstGeom prst="roundRect">
            <a:avLst>
              <a:gd name="adj" fmla="val 24242"/>
            </a:avLst>
          </a:prstGeom>
          <a:solidFill>
            <a:srgbClr val="FFF6F4"/>
          </a:solidFill>
          <a:ln w="9525">
            <a:solidFill>
              <a:srgbClr val="F0C8BC"/>
            </a:solidFill>
            <a:prstDash val="solid"/>
          </a:ln>
        </p:spPr>
      </p:sp>
      <p:sp>
        <p:nvSpPr>
          <p:cNvPr id="66" name="Text 64"/>
          <p:cNvSpPr txBox="1"/>
          <p:nvPr/>
        </p:nvSpPr>
        <p:spPr>
          <a:xfrm>
            <a:off x="9997135" y="490118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67" name="Shape 65"/>
          <p:cNvSpPr/>
          <p:nvPr/>
        </p:nvSpPr>
        <p:spPr>
          <a:xfrm>
            <a:off x="10838383" y="4901184"/>
            <a:ext cx="777240" cy="301752"/>
          </a:xfrm>
          <a:prstGeom prst="roundRect">
            <a:avLst>
              <a:gd name="adj" fmla="val 24242"/>
            </a:avLst>
          </a:prstGeom>
          <a:solidFill>
            <a:srgbClr val="FFF6F4"/>
          </a:solidFill>
          <a:ln w="9525">
            <a:solidFill>
              <a:srgbClr val="F0C8BC"/>
            </a:solidFill>
            <a:prstDash val="solid"/>
          </a:ln>
        </p:spPr>
      </p:sp>
      <p:sp>
        <p:nvSpPr>
          <p:cNvPr id="68" name="Text 66"/>
          <p:cNvSpPr txBox="1"/>
          <p:nvPr/>
        </p:nvSpPr>
        <p:spPr>
          <a:xfrm>
            <a:off x="10838383" y="490118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69" name="Shape 67"/>
          <p:cNvSpPr/>
          <p:nvPr/>
        </p:nvSpPr>
        <p:spPr>
          <a:xfrm>
            <a:off x="548640" y="5349240"/>
            <a:ext cx="9311335" cy="411480"/>
          </a:xfrm>
          <a:prstGeom prst="roundRect">
            <a:avLst>
              <a:gd name="adj" fmla="val 17778"/>
            </a:avLst>
          </a:prstGeom>
          <a:solidFill>
            <a:srgbClr val="FFFFFF"/>
          </a:solidFill>
          <a:ln w="12700">
            <a:solidFill>
              <a:srgbClr val="FFFFFF"/>
            </a:solidFill>
            <a:prstDash val="solid"/>
          </a:ln>
        </p:spPr>
      </p:sp>
      <p:sp>
        <p:nvSpPr>
          <p:cNvPr id="70" name="Shape 68"/>
          <p:cNvSpPr/>
          <p:nvPr/>
        </p:nvSpPr>
        <p:spPr>
          <a:xfrm>
            <a:off x="658368" y="5381244"/>
            <a:ext cx="347472" cy="347472"/>
          </a:xfrm>
          <a:prstGeom prst="ellipse">
            <a:avLst/>
          </a:prstGeom>
          <a:solidFill>
            <a:srgbClr val="8C3A27"/>
          </a:solidFill>
          <a:ln w="12700">
            <a:solidFill>
              <a:srgbClr val="8C3A27"/>
            </a:solidFill>
            <a:prstDash val="solid"/>
          </a:ln>
        </p:spPr>
      </p:sp>
      <p:sp>
        <p:nvSpPr>
          <p:cNvPr id="71" name="Text 69"/>
          <p:cNvSpPr txBox="1"/>
          <p:nvPr/>
        </p:nvSpPr>
        <p:spPr>
          <a:xfrm>
            <a:off x="658368" y="53812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9</a:t>
            </a:r>
            <a:endParaRPr lang="en-US" sz="1100" dirty="0"/>
          </a:p>
        </p:txBody>
      </p:sp>
      <p:sp>
        <p:nvSpPr>
          <p:cNvPr id="72" name="Text 70"/>
          <p:cNvSpPr txBox="1"/>
          <p:nvPr/>
        </p:nvSpPr>
        <p:spPr>
          <a:xfrm>
            <a:off x="1115568" y="5349240"/>
            <a:ext cx="8671255" cy="41148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L'abondement maximal sur un PERECO est de 3 844,80 € en 2026.</a:t>
            </a:r>
            <a:endParaRPr lang="en-US" sz="1400" dirty="0"/>
          </a:p>
        </p:txBody>
      </p:sp>
      <p:sp>
        <p:nvSpPr>
          <p:cNvPr id="73" name="Shape 71"/>
          <p:cNvSpPr/>
          <p:nvPr/>
        </p:nvSpPr>
        <p:spPr>
          <a:xfrm>
            <a:off x="9997135" y="5404104"/>
            <a:ext cx="777240" cy="301752"/>
          </a:xfrm>
          <a:prstGeom prst="roundRect">
            <a:avLst>
              <a:gd name="adj" fmla="val 24242"/>
            </a:avLst>
          </a:prstGeom>
          <a:solidFill>
            <a:srgbClr val="FFF6F4"/>
          </a:solidFill>
          <a:ln w="9525">
            <a:solidFill>
              <a:srgbClr val="F0C8BC"/>
            </a:solidFill>
            <a:prstDash val="solid"/>
          </a:ln>
        </p:spPr>
      </p:sp>
      <p:sp>
        <p:nvSpPr>
          <p:cNvPr id="74" name="Text 72"/>
          <p:cNvSpPr txBox="1"/>
          <p:nvPr/>
        </p:nvSpPr>
        <p:spPr>
          <a:xfrm>
            <a:off x="9997135" y="540410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75" name="Shape 73"/>
          <p:cNvSpPr/>
          <p:nvPr/>
        </p:nvSpPr>
        <p:spPr>
          <a:xfrm>
            <a:off x="10838383" y="5404104"/>
            <a:ext cx="777240" cy="301752"/>
          </a:xfrm>
          <a:prstGeom prst="roundRect">
            <a:avLst>
              <a:gd name="adj" fmla="val 24242"/>
            </a:avLst>
          </a:prstGeom>
          <a:solidFill>
            <a:srgbClr val="FFF6F4"/>
          </a:solidFill>
          <a:ln w="9525">
            <a:solidFill>
              <a:srgbClr val="F0C8BC"/>
            </a:solidFill>
            <a:prstDash val="solid"/>
          </a:ln>
        </p:spPr>
      </p:sp>
      <p:sp>
        <p:nvSpPr>
          <p:cNvPr id="76" name="Text 74"/>
          <p:cNvSpPr txBox="1"/>
          <p:nvPr/>
        </p:nvSpPr>
        <p:spPr>
          <a:xfrm>
            <a:off x="10838383" y="540410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77" name="Shape 75"/>
          <p:cNvSpPr/>
          <p:nvPr/>
        </p:nvSpPr>
        <p:spPr>
          <a:xfrm>
            <a:off x="548640" y="5852160"/>
            <a:ext cx="9311335" cy="411480"/>
          </a:xfrm>
          <a:prstGeom prst="roundRect">
            <a:avLst>
              <a:gd name="adj" fmla="val 17778"/>
            </a:avLst>
          </a:prstGeom>
          <a:solidFill>
            <a:srgbClr val="FFFFFF"/>
          </a:solidFill>
          <a:ln w="12700">
            <a:solidFill>
              <a:srgbClr val="FFFFFF"/>
            </a:solidFill>
            <a:prstDash val="solid"/>
          </a:ln>
        </p:spPr>
      </p:sp>
      <p:sp>
        <p:nvSpPr>
          <p:cNvPr id="78" name="Shape 76"/>
          <p:cNvSpPr/>
          <p:nvPr/>
        </p:nvSpPr>
        <p:spPr>
          <a:xfrm>
            <a:off x="658368" y="5884164"/>
            <a:ext cx="347472" cy="347472"/>
          </a:xfrm>
          <a:prstGeom prst="ellipse">
            <a:avLst/>
          </a:prstGeom>
          <a:solidFill>
            <a:srgbClr val="8C3A27"/>
          </a:solidFill>
          <a:ln w="12700">
            <a:solidFill>
              <a:srgbClr val="8C3A27"/>
            </a:solidFill>
            <a:prstDash val="solid"/>
          </a:ln>
        </p:spPr>
      </p:sp>
      <p:sp>
        <p:nvSpPr>
          <p:cNvPr id="79" name="Text 77"/>
          <p:cNvSpPr txBox="1"/>
          <p:nvPr/>
        </p:nvSpPr>
        <p:spPr>
          <a:xfrm>
            <a:off x="658368" y="58841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10</a:t>
            </a:r>
            <a:endParaRPr lang="en-US" sz="1100" dirty="0"/>
          </a:p>
        </p:txBody>
      </p:sp>
      <p:sp>
        <p:nvSpPr>
          <p:cNvPr id="80" name="Text 78"/>
          <p:cNvSpPr txBox="1"/>
          <p:nvPr/>
        </p:nvSpPr>
        <p:spPr>
          <a:xfrm>
            <a:off x="1115568" y="5852160"/>
            <a:ext cx="8671255" cy="411480"/>
          </a:xfrm>
          <a:prstGeom prst="rect">
            <a:avLst/>
          </a:prstGeom>
          <a:noFill/>
          <a:ln/>
        </p:spPr>
        <p:txBody>
          <a:bodyPr wrap="square" lIns="0" tIns="0" rIns="0" bIns="0" rtlCol="0" anchor="ctr"/>
          <a:lstStyle/>
          <a:p>
            <a:pPr indent="0" marL="0">
              <a:buNone/>
            </a:pPr>
            <a:r>
              <a:rPr lang="en-US" sz="1400" dirty="0">
                <a:solidFill>
                  <a:srgbClr val="2B2B2B"/>
                </a:solidFill>
                <a:latin typeface="Calibri" pitchFamily="34" charset="0"/>
                <a:ea typeface="Calibri" pitchFamily="34" charset="-122"/>
                <a:cs typeface="Calibri" pitchFamily="34" charset="-120"/>
              </a:rPr>
              <a:t>Le nouveau modèle de bulletin de paie devient obligatoire le 1er janvier 2027.</a:t>
            </a:r>
            <a:endParaRPr lang="en-US" sz="1400" dirty="0"/>
          </a:p>
        </p:txBody>
      </p:sp>
      <p:sp>
        <p:nvSpPr>
          <p:cNvPr id="81" name="Shape 79"/>
          <p:cNvSpPr/>
          <p:nvPr/>
        </p:nvSpPr>
        <p:spPr>
          <a:xfrm>
            <a:off x="9997135" y="5907024"/>
            <a:ext cx="777240" cy="301752"/>
          </a:xfrm>
          <a:prstGeom prst="roundRect">
            <a:avLst>
              <a:gd name="adj" fmla="val 24242"/>
            </a:avLst>
          </a:prstGeom>
          <a:solidFill>
            <a:srgbClr val="FFF6F4"/>
          </a:solidFill>
          <a:ln w="9525">
            <a:solidFill>
              <a:srgbClr val="F0C8BC"/>
            </a:solidFill>
            <a:prstDash val="solid"/>
          </a:ln>
        </p:spPr>
      </p:sp>
      <p:sp>
        <p:nvSpPr>
          <p:cNvPr id="82" name="Text 80"/>
          <p:cNvSpPr txBox="1"/>
          <p:nvPr/>
        </p:nvSpPr>
        <p:spPr>
          <a:xfrm>
            <a:off x="9997135" y="590702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VRAI</a:t>
            </a:r>
            <a:endParaRPr lang="en-US" sz="1100" dirty="0"/>
          </a:p>
        </p:txBody>
      </p:sp>
      <p:sp>
        <p:nvSpPr>
          <p:cNvPr id="83" name="Shape 81"/>
          <p:cNvSpPr/>
          <p:nvPr/>
        </p:nvSpPr>
        <p:spPr>
          <a:xfrm>
            <a:off x="10838383" y="5907024"/>
            <a:ext cx="777240" cy="301752"/>
          </a:xfrm>
          <a:prstGeom prst="roundRect">
            <a:avLst>
              <a:gd name="adj" fmla="val 24242"/>
            </a:avLst>
          </a:prstGeom>
          <a:solidFill>
            <a:srgbClr val="FFF6F4"/>
          </a:solidFill>
          <a:ln w="9525">
            <a:solidFill>
              <a:srgbClr val="F0C8BC"/>
            </a:solidFill>
            <a:prstDash val="solid"/>
          </a:ln>
        </p:spPr>
      </p:sp>
      <p:sp>
        <p:nvSpPr>
          <p:cNvPr id="84" name="Text 82"/>
          <p:cNvSpPr txBox="1"/>
          <p:nvPr/>
        </p:nvSpPr>
        <p:spPr>
          <a:xfrm>
            <a:off x="10838383" y="5907024"/>
            <a:ext cx="777240" cy="301752"/>
          </a:xfrm>
          <a:prstGeom prst="rect">
            <a:avLst/>
          </a:prstGeom>
          <a:noFill/>
          <a:ln/>
        </p:spPr>
        <p:txBody>
          <a:bodyPr wrap="square" lIns="0" tIns="0" rIns="0" bIns="0" rtlCol="0" anchor="ctr"/>
          <a:lstStyle/>
          <a:p>
            <a:pPr algn="ctr" indent="0" marL="0">
              <a:buNone/>
            </a:pPr>
            <a:r>
              <a:rPr lang="en-US" sz="1100" b="1" dirty="0">
                <a:solidFill>
                  <a:srgbClr val="435369"/>
                </a:solidFill>
                <a:latin typeface="Cambria" pitchFamily="34" charset="0"/>
                <a:ea typeface="Cambria" pitchFamily="34" charset="-122"/>
                <a:cs typeface="Cambria" pitchFamily="34" charset="-120"/>
              </a:rPr>
              <a:t>FAUX</a:t>
            </a:r>
            <a:endParaRPr lang="en-US" sz="1100" dirty="0"/>
          </a:p>
        </p:txBody>
      </p:sp>
      <p:sp>
        <p:nvSpPr>
          <p:cNvPr id="85" name="Text 8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86" name="Text 8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59</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908273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Réponses : quiz final</a:t>
            </a:r>
            <a:endParaRPr lang="en-US" sz="2800" dirty="0"/>
          </a:p>
        </p:txBody>
      </p:sp>
      <p:sp>
        <p:nvSpPr>
          <p:cNvPr id="3" name="Shape 1"/>
          <p:cNvSpPr/>
          <p:nvPr/>
        </p:nvSpPr>
        <p:spPr>
          <a:xfrm>
            <a:off x="9905695" y="457200"/>
            <a:ext cx="1737360" cy="310896"/>
          </a:xfrm>
          <a:prstGeom prst="roundRect">
            <a:avLst>
              <a:gd name="adj" fmla="val 50000"/>
            </a:avLst>
          </a:prstGeom>
          <a:solidFill>
            <a:srgbClr val="8C3A27"/>
          </a:solidFill>
          <a:ln w="12700">
            <a:solidFill>
              <a:srgbClr val="8C3A27"/>
            </a:solidFill>
            <a:prstDash val="solid"/>
          </a:ln>
        </p:spPr>
      </p:sp>
      <p:sp>
        <p:nvSpPr>
          <p:cNvPr id="4" name="Text 2"/>
          <p:cNvSpPr txBox="1"/>
          <p:nvPr/>
        </p:nvSpPr>
        <p:spPr>
          <a:xfrm>
            <a:off x="9905695" y="457200"/>
            <a:ext cx="173736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RÉPONSES</a:t>
            </a:r>
            <a:endParaRPr lang="en-US" sz="1000" dirty="0"/>
          </a:p>
        </p:txBody>
      </p:sp>
      <p:sp>
        <p:nvSpPr>
          <p:cNvPr id="5" name="Shape 3"/>
          <p:cNvSpPr/>
          <p:nvPr/>
        </p:nvSpPr>
        <p:spPr>
          <a:xfrm>
            <a:off x="548640" y="1325880"/>
            <a:ext cx="11094415" cy="411480"/>
          </a:xfrm>
          <a:prstGeom prst="roundRect">
            <a:avLst>
              <a:gd name="adj" fmla="val 17778"/>
            </a:avLst>
          </a:prstGeom>
          <a:solidFill>
            <a:srgbClr val="FFF6F4"/>
          </a:solidFill>
          <a:ln w="12700">
            <a:solidFill>
              <a:srgbClr val="FFF6F4"/>
            </a:solidFill>
            <a:prstDash val="solid"/>
          </a:ln>
        </p:spPr>
      </p:sp>
      <p:sp>
        <p:nvSpPr>
          <p:cNvPr id="6" name="Shape 4"/>
          <p:cNvSpPr/>
          <p:nvPr/>
        </p:nvSpPr>
        <p:spPr>
          <a:xfrm>
            <a:off x="658368" y="1357884"/>
            <a:ext cx="347472" cy="347472"/>
          </a:xfrm>
          <a:prstGeom prst="ellipse">
            <a:avLst/>
          </a:prstGeom>
          <a:solidFill>
            <a:srgbClr val="8C3A27"/>
          </a:solidFill>
          <a:ln w="12700">
            <a:solidFill>
              <a:srgbClr val="8C3A27"/>
            </a:solidFill>
            <a:prstDash val="solid"/>
          </a:ln>
        </p:spPr>
      </p:sp>
      <p:sp>
        <p:nvSpPr>
          <p:cNvPr id="7" name="Text 5"/>
          <p:cNvSpPr txBox="1"/>
          <p:nvPr/>
        </p:nvSpPr>
        <p:spPr>
          <a:xfrm>
            <a:off x="658368" y="135788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8" name="Shape 6"/>
          <p:cNvSpPr/>
          <p:nvPr/>
        </p:nvSpPr>
        <p:spPr>
          <a:xfrm>
            <a:off x="1115568" y="1399032"/>
            <a:ext cx="777240" cy="265176"/>
          </a:xfrm>
          <a:prstGeom prst="roundRect">
            <a:avLst>
              <a:gd name="adj" fmla="val 27586"/>
            </a:avLst>
          </a:prstGeom>
          <a:solidFill>
            <a:srgbClr val="183F1E"/>
          </a:solidFill>
          <a:ln w="12700">
            <a:solidFill>
              <a:srgbClr val="183F1E"/>
            </a:solidFill>
            <a:prstDash val="solid"/>
          </a:ln>
        </p:spPr>
      </p:sp>
      <p:sp>
        <p:nvSpPr>
          <p:cNvPr id="9" name="Text 7"/>
          <p:cNvSpPr txBox="1"/>
          <p:nvPr/>
        </p:nvSpPr>
        <p:spPr>
          <a:xfrm>
            <a:off x="1115568" y="1399032"/>
            <a:ext cx="77724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VRAI</a:t>
            </a:r>
            <a:endParaRPr lang="en-US" sz="1100" dirty="0"/>
          </a:p>
        </p:txBody>
      </p:sp>
      <p:sp>
        <p:nvSpPr>
          <p:cNvPr id="10" name="Text 8"/>
          <p:cNvSpPr txBox="1"/>
          <p:nvPr/>
        </p:nvSpPr>
        <p:spPr>
          <a:xfrm>
            <a:off x="2057400" y="1325880"/>
            <a:ext cx="944849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12,31 € × 151,67 h.</a:t>
            </a:r>
            <a:endParaRPr lang="en-US" sz="1300" dirty="0"/>
          </a:p>
        </p:txBody>
      </p:sp>
      <p:sp>
        <p:nvSpPr>
          <p:cNvPr id="11" name="Shape 9"/>
          <p:cNvSpPr/>
          <p:nvPr/>
        </p:nvSpPr>
        <p:spPr>
          <a:xfrm>
            <a:off x="548640" y="1828800"/>
            <a:ext cx="11094415" cy="411480"/>
          </a:xfrm>
          <a:prstGeom prst="roundRect">
            <a:avLst>
              <a:gd name="adj" fmla="val 17778"/>
            </a:avLst>
          </a:prstGeom>
          <a:solidFill>
            <a:srgbClr val="FFF6F4"/>
          </a:solidFill>
          <a:ln w="12700">
            <a:solidFill>
              <a:srgbClr val="FFF6F4"/>
            </a:solidFill>
            <a:prstDash val="solid"/>
          </a:ln>
        </p:spPr>
      </p:sp>
      <p:sp>
        <p:nvSpPr>
          <p:cNvPr id="12" name="Shape 10"/>
          <p:cNvSpPr/>
          <p:nvPr/>
        </p:nvSpPr>
        <p:spPr>
          <a:xfrm>
            <a:off x="658368" y="1860804"/>
            <a:ext cx="347472" cy="347472"/>
          </a:xfrm>
          <a:prstGeom prst="ellipse">
            <a:avLst/>
          </a:prstGeom>
          <a:solidFill>
            <a:srgbClr val="8C3A27"/>
          </a:solidFill>
          <a:ln w="12700">
            <a:solidFill>
              <a:srgbClr val="8C3A27"/>
            </a:solidFill>
            <a:prstDash val="solid"/>
          </a:ln>
        </p:spPr>
      </p:sp>
      <p:sp>
        <p:nvSpPr>
          <p:cNvPr id="13" name="Text 11"/>
          <p:cNvSpPr txBox="1"/>
          <p:nvPr/>
        </p:nvSpPr>
        <p:spPr>
          <a:xfrm>
            <a:off x="658368" y="18608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4" name="Shape 12"/>
          <p:cNvSpPr/>
          <p:nvPr/>
        </p:nvSpPr>
        <p:spPr>
          <a:xfrm>
            <a:off x="1115568" y="1901952"/>
            <a:ext cx="777240" cy="265176"/>
          </a:xfrm>
          <a:prstGeom prst="roundRect">
            <a:avLst>
              <a:gd name="adj" fmla="val 27586"/>
            </a:avLst>
          </a:prstGeom>
          <a:solidFill>
            <a:srgbClr val="8C3A27"/>
          </a:solidFill>
          <a:ln w="12700">
            <a:solidFill>
              <a:srgbClr val="8C3A27"/>
            </a:solidFill>
            <a:prstDash val="solid"/>
          </a:ln>
        </p:spPr>
      </p:sp>
      <p:sp>
        <p:nvSpPr>
          <p:cNvPr id="15" name="Text 13"/>
          <p:cNvSpPr txBox="1"/>
          <p:nvPr/>
        </p:nvSpPr>
        <p:spPr>
          <a:xfrm>
            <a:off x="1115568" y="1901952"/>
            <a:ext cx="77724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FAUX</a:t>
            </a:r>
            <a:endParaRPr lang="en-US" sz="1100" dirty="0"/>
          </a:p>
        </p:txBody>
      </p:sp>
      <p:sp>
        <p:nvSpPr>
          <p:cNvPr id="16" name="Text 14"/>
          <p:cNvSpPr txBox="1"/>
          <p:nvPr/>
        </p:nvSpPr>
        <p:spPr>
          <a:xfrm>
            <a:off x="2057400" y="1828800"/>
            <a:ext cx="944849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Gel au SMIC du 1er janvier 2026, confirmé par décret du 12 juin 2026.</a:t>
            </a:r>
            <a:endParaRPr lang="en-US" sz="1300" dirty="0"/>
          </a:p>
        </p:txBody>
      </p:sp>
      <p:sp>
        <p:nvSpPr>
          <p:cNvPr id="17" name="Shape 15"/>
          <p:cNvSpPr/>
          <p:nvPr/>
        </p:nvSpPr>
        <p:spPr>
          <a:xfrm>
            <a:off x="548640" y="2331720"/>
            <a:ext cx="11094415" cy="411480"/>
          </a:xfrm>
          <a:prstGeom prst="roundRect">
            <a:avLst>
              <a:gd name="adj" fmla="val 17778"/>
            </a:avLst>
          </a:prstGeom>
          <a:solidFill>
            <a:srgbClr val="FFF6F4"/>
          </a:solidFill>
          <a:ln w="12700">
            <a:solidFill>
              <a:srgbClr val="FFF6F4"/>
            </a:solidFill>
            <a:prstDash val="solid"/>
          </a:ln>
        </p:spPr>
      </p:sp>
      <p:sp>
        <p:nvSpPr>
          <p:cNvPr id="18" name="Shape 16"/>
          <p:cNvSpPr/>
          <p:nvPr/>
        </p:nvSpPr>
        <p:spPr>
          <a:xfrm>
            <a:off x="658368" y="2363724"/>
            <a:ext cx="347472" cy="347472"/>
          </a:xfrm>
          <a:prstGeom prst="ellipse">
            <a:avLst/>
          </a:prstGeom>
          <a:solidFill>
            <a:srgbClr val="8C3A27"/>
          </a:solidFill>
          <a:ln w="12700">
            <a:solidFill>
              <a:srgbClr val="8C3A27"/>
            </a:solidFill>
            <a:prstDash val="solid"/>
          </a:ln>
        </p:spPr>
      </p:sp>
      <p:sp>
        <p:nvSpPr>
          <p:cNvPr id="19" name="Text 17"/>
          <p:cNvSpPr txBox="1"/>
          <p:nvPr/>
        </p:nvSpPr>
        <p:spPr>
          <a:xfrm>
            <a:off x="658368" y="23637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Shape 18"/>
          <p:cNvSpPr/>
          <p:nvPr/>
        </p:nvSpPr>
        <p:spPr>
          <a:xfrm>
            <a:off x="1115568" y="2404872"/>
            <a:ext cx="777240" cy="265176"/>
          </a:xfrm>
          <a:prstGeom prst="roundRect">
            <a:avLst>
              <a:gd name="adj" fmla="val 27586"/>
            </a:avLst>
          </a:prstGeom>
          <a:solidFill>
            <a:srgbClr val="8C3A27"/>
          </a:solidFill>
          <a:ln w="12700">
            <a:solidFill>
              <a:srgbClr val="8C3A27"/>
            </a:solidFill>
            <a:prstDash val="solid"/>
          </a:ln>
        </p:spPr>
      </p:sp>
      <p:sp>
        <p:nvSpPr>
          <p:cNvPr id="21" name="Text 19"/>
          <p:cNvSpPr txBox="1"/>
          <p:nvPr/>
        </p:nvSpPr>
        <p:spPr>
          <a:xfrm>
            <a:off x="1115568" y="2404872"/>
            <a:ext cx="77724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FAUX</a:t>
            </a:r>
            <a:endParaRPr lang="en-US" sz="1100" dirty="0"/>
          </a:p>
        </p:txBody>
      </p:sp>
      <p:sp>
        <p:nvSpPr>
          <p:cNvPr id="22" name="Text 20"/>
          <p:cNvSpPr txBox="1"/>
          <p:nvPr/>
        </p:nvSpPr>
        <p:spPr>
          <a:xfrm>
            <a:off x="2057400" y="2331720"/>
            <a:ext cx="944849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Indemnité versée par la CPAM : 70 % puis 60 % du salaire net, sans maintien légal par l'employeur.</a:t>
            </a:r>
            <a:endParaRPr lang="en-US" sz="1300" dirty="0"/>
          </a:p>
        </p:txBody>
      </p:sp>
      <p:sp>
        <p:nvSpPr>
          <p:cNvPr id="23" name="Shape 21"/>
          <p:cNvSpPr/>
          <p:nvPr/>
        </p:nvSpPr>
        <p:spPr>
          <a:xfrm>
            <a:off x="548640" y="2834640"/>
            <a:ext cx="11094415" cy="411480"/>
          </a:xfrm>
          <a:prstGeom prst="roundRect">
            <a:avLst>
              <a:gd name="adj" fmla="val 17778"/>
            </a:avLst>
          </a:prstGeom>
          <a:solidFill>
            <a:srgbClr val="FFF6F4"/>
          </a:solidFill>
          <a:ln w="12700">
            <a:solidFill>
              <a:srgbClr val="FFF6F4"/>
            </a:solidFill>
            <a:prstDash val="solid"/>
          </a:ln>
        </p:spPr>
      </p:sp>
      <p:sp>
        <p:nvSpPr>
          <p:cNvPr id="24" name="Shape 22"/>
          <p:cNvSpPr/>
          <p:nvPr/>
        </p:nvSpPr>
        <p:spPr>
          <a:xfrm>
            <a:off x="658368" y="2866644"/>
            <a:ext cx="347472" cy="347472"/>
          </a:xfrm>
          <a:prstGeom prst="ellipse">
            <a:avLst/>
          </a:prstGeom>
          <a:solidFill>
            <a:srgbClr val="8C3A27"/>
          </a:solidFill>
          <a:ln w="12700">
            <a:solidFill>
              <a:srgbClr val="8C3A27"/>
            </a:solidFill>
            <a:prstDash val="solid"/>
          </a:ln>
        </p:spPr>
      </p:sp>
      <p:sp>
        <p:nvSpPr>
          <p:cNvPr id="25" name="Text 23"/>
          <p:cNvSpPr txBox="1"/>
          <p:nvPr/>
        </p:nvSpPr>
        <p:spPr>
          <a:xfrm>
            <a:off x="658368" y="28666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6" name="Shape 24"/>
          <p:cNvSpPr/>
          <p:nvPr/>
        </p:nvSpPr>
        <p:spPr>
          <a:xfrm>
            <a:off x="1115568" y="2907792"/>
            <a:ext cx="777240" cy="265176"/>
          </a:xfrm>
          <a:prstGeom prst="roundRect">
            <a:avLst>
              <a:gd name="adj" fmla="val 27586"/>
            </a:avLst>
          </a:prstGeom>
          <a:solidFill>
            <a:srgbClr val="183F1E"/>
          </a:solidFill>
          <a:ln w="12700">
            <a:solidFill>
              <a:srgbClr val="183F1E"/>
            </a:solidFill>
            <a:prstDash val="solid"/>
          </a:ln>
        </p:spPr>
      </p:sp>
      <p:sp>
        <p:nvSpPr>
          <p:cNvPr id="27" name="Text 25"/>
          <p:cNvSpPr txBox="1"/>
          <p:nvPr/>
        </p:nvSpPr>
        <p:spPr>
          <a:xfrm>
            <a:off x="1115568" y="2907792"/>
            <a:ext cx="77724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VRAI</a:t>
            </a:r>
            <a:endParaRPr lang="en-US" sz="1100" dirty="0"/>
          </a:p>
        </p:txBody>
      </p:sp>
      <p:sp>
        <p:nvSpPr>
          <p:cNvPr id="28" name="Text 26"/>
          <p:cNvSpPr txBox="1"/>
          <p:nvPr/>
        </p:nvSpPr>
        <p:spPr>
          <a:xfrm>
            <a:off x="2057400" y="2834640"/>
            <a:ext cx="944849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Décret n° 2026-498 du 12 juin 2026.</a:t>
            </a:r>
            <a:endParaRPr lang="en-US" sz="1300" dirty="0"/>
          </a:p>
        </p:txBody>
      </p:sp>
      <p:sp>
        <p:nvSpPr>
          <p:cNvPr id="29" name="Shape 27"/>
          <p:cNvSpPr/>
          <p:nvPr/>
        </p:nvSpPr>
        <p:spPr>
          <a:xfrm>
            <a:off x="548640" y="3337560"/>
            <a:ext cx="11094415" cy="411480"/>
          </a:xfrm>
          <a:prstGeom prst="roundRect">
            <a:avLst>
              <a:gd name="adj" fmla="val 17778"/>
            </a:avLst>
          </a:prstGeom>
          <a:solidFill>
            <a:srgbClr val="FFF6F4"/>
          </a:solidFill>
          <a:ln w="12700">
            <a:solidFill>
              <a:srgbClr val="FFF6F4"/>
            </a:solidFill>
            <a:prstDash val="solid"/>
          </a:ln>
        </p:spPr>
      </p:sp>
      <p:sp>
        <p:nvSpPr>
          <p:cNvPr id="30" name="Shape 28"/>
          <p:cNvSpPr/>
          <p:nvPr/>
        </p:nvSpPr>
        <p:spPr>
          <a:xfrm>
            <a:off x="658368" y="3369564"/>
            <a:ext cx="347472" cy="347472"/>
          </a:xfrm>
          <a:prstGeom prst="ellipse">
            <a:avLst/>
          </a:prstGeom>
          <a:solidFill>
            <a:srgbClr val="8C3A27"/>
          </a:solidFill>
          <a:ln w="12700">
            <a:solidFill>
              <a:srgbClr val="8C3A27"/>
            </a:solidFill>
            <a:prstDash val="solid"/>
          </a:ln>
        </p:spPr>
      </p:sp>
      <p:sp>
        <p:nvSpPr>
          <p:cNvPr id="31" name="Text 29"/>
          <p:cNvSpPr txBox="1"/>
          <p:nvPr/>
        </p:nvSpPr>
        <p:spPr>
          <a:xfrm>
            <a:off x="658368" y="33695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5</a:t>
            </a:r>
            <a:endParaRPr lang="en-US" sz="1100" dirty="0"/>
          </a:p>
        </p:txBody>
      </p:sp>
      <p:sp>
        <p:nvSpPr>
          <p:cNvPr id="32" name="Shape 30"/>
          <p:cNvSpPr/>
          <p:nvPr/>
        </p:nvSpPr>
        <p:spPr>
          <a:xfrm>
            <a:off x="1115568" y="3410712"/>
            <a:ext cx="777240" cy="265176"/>
          </a:xfrm>
          <a:prstGeom prst="roundRect">
            <a:avLst>
              <a:gd name="adj" fmla="val 27586"/>
            </a:avLst>
          </a:prstGeom>
          <a:solidFill>
            <a:srgbClr val="8C3A27"/>
          </a:solidFill>
          <a:ln w="12700">
            <a:solidFill>
              <a:srgbClr val="8C3A27"/>
            </a:solidFill>
            <a:prstDash val="solid"/>
          </a:ln>
        </p:spPr>
      </p:sp>
      <p:sp>
        <p:nvSpPr>
          <p:cNvPr id="33" name="Text 31"/>
          <p:cNvSpPr txBox="1"/>
          <p:nvPr/>
        </p:nvSpPr>
        <p:spPr>
          <a:xfrm>
            <a:off x="1115568" y="3410712"/>
            <a:ext cx="77724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FAUX</a:t>
            </a:r>
            <a:endParaRPr lang="en-US" sz="1100" dirty="0"/>
          </a:p>
        </p:txBody>
      </p:sp>
      <p:sp>
        <p:nvSpPr>
          <p:cNvPr id="34" name="Text 32"/>
          <p:cNvSpPr txBox="1"/>
          <p:nvPr/>
        </p:nvSpPr>
        <p:spPr>
          <a:xfrm>
            <a:off x="2057400" y="3337560"/>
            <a:ext cx="944849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Maintien à 0,25 %.</a:t>
            </a:r>
            <a:endParaRPr lang="en-US" sz="1300" dirty="0"/>
          </a:p>
        </p:txBody>
      </p:sp>
      <p:sp>
        <p:nvSpPr>
          <p:cNvPr id="35" name="Shape 33"/>
          <p:cNvSpPr/>
          <p:nvPr/>
        </p:nvSpPr>
        <p:spPr>
          <a:xfrm>
            <a:off x="548640" y="3840480"/>
            <a:ext cx="11094415" cy="411480"/>
          </a:xfrm>
          <a:prstGeom prst="roundRect">
            <a:avLst>
              <a:gd name="adj" fmla="val 17778"/>
            </a:avLst>
          </a:prstGeom>
          <a:solidFill>
            <a:srgbClr val="FFF6F4"/>
          </a:solidFill>
          <a:ln w="12700">
            <a:solidFill>
              <a:srgbClr val="FFF6F4"/>
            </a:solidFill>
            <a:prstDash val="solid"/>
          </a:ln>
        </p:spPr>
      </p:sp>
      <p:sp>
        <p:nvSpPr>
          <p:cNvPr id="36" name="Shape 34"/>
          <p:cNvSpPr/>
          <p:nvPr/>
        </p:nvSpPr>
        <p:spPr>
          <a:xfrm>
            <a:off x="658368" y="3872484"/>
            <a:ext cx="347472" cy="347472"/>
          </a:xfrm>
          <a:prstGeom prst="ellipse">
            <a:avLst/>
          </a:prstGeom>
          <a:solidFill>
            <a:srgbClr val="8C3A27"/>
          </a:solidFill>
          <a:ln w="12700">
            <a:solidFill>
              <a:srgbClr val="8C3A27"/>
            </a:solidFill>
            <a:prstDash val="solid"/>
          </a:ln>
        </p:spPr>
      </p:sp>
      <p:sp>
        <p:nvSpPr>
          <p:cNvPr id="37" name="Text 35"/>
          <p:cNvSpPr txBox="1"/>
          <p:nvPr/>
        </p:nvSpPr>
        <p:spPr>
          <a:xfrm>
            <a:off x="658368" y="387248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6</a:t>
            </a:r>
            <a:endParaRPr lang="en-US" sz="1100" dirty="0"/>
          </a:p>
        </p:txBody>
      </p:sp>
      <p:sp>
        <p:nvSpPr>
          <p:cNvPr id="38" name="Shape 36"/>
          <p:cNvSpPr/>
          <p:nvPr/>
        </p:nvSpPr>
        <p:spPr>
          <a:xfrm>
            <a:off x="1115568" y="3913632"/>
            <a:ext cx="777240" cy="265176"/>
          </a:xfrm>
          <a:prstGeom prst="roundRect">
            <a:avLst>
              <a:gd name="adj" fmla="val 27586"/>
            </a:avLst>
          </a:prstGeom>
          <a:solidFill>
            <a:srgbClr val="183F1E"/>
          </a:solidFill>
          <a:ln w="12700">
            <a:solidFill>
              <a:srgbClr val="183F1E"/>
            </a:solidFill>
            <a:prstDash val="solid"/>
          </a:ln>
        </p:spPr>
      </p:sp>
      <p:sp>
        <p:nvSpPr>
          <p:cNvPr id="39" name="Text 37"/>
          <p:cNvSpPr txBox="1"/>
          <p:nvPr/>
        </p:nvSpPr>
        <p:spPr>
          <a:xfrm>
            <a:off x="1115568" y="3913632"/>
            <a:ext cx="77724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VRAI</a:t>
            </a:r>
            <a:endParaRPr lang="en-US" sz="1100" dirty="0"/>
          </a:p>
        </p:txBody>
      </p:sp>
      <p:sp>
        <p:nvSpPr>
          <p:cNvPr id="40" name="Text 38"/>
          <p:cNvSpPr txBox="1"/>
          <p:nvPr/>
        </p:nvSpPr>
        <p:spPr>
          <a:xfrm>
            <a:off x="2057400" y="3840480"/>
            <a:ext cx="944849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Cass. soc. 3 juin 2026 : durée hebdomadaire moyenne, pas l'horaire planifié.</a:t>
            </a:r>
            <a:endParaRPr lang="en-US" sz="1300" dirty="0"/>
          </a:p>
        </p:txBody>
      </p:sp>
      <p:sp>
        <p:nvSpPr>
          <p:cNvPr id="41" name="Shape 39"/>
          <p:cNvSpPr/>
          <p:nvPr/>
        </p:nvSpPr>
        <p:spPr>
          <a:xfrm>
            <a:off x="548640" y="4343400"/>
            <a:ext cx="11094415" cy="411480"/>
          </a:xfrm>
          <a:prstGeom prst="roundRect">
            <a:avLst>
              <a:gd name="adj" fmla="val 17778"/>
            </a:avLst>
          </a:prstGeom>
          <a:solidFill>
            <a:srgbClr val="FFF6F4"/>
          </a:solidFill>
          <a:ln w="12700">
            <a:solidFill>
              <a:srgbClr val="FFF6F4"/>
            </a:solidFill>
            <a:prstDash val="solid"/>
          </a:ln>
        </p:spPr>
      </p:sp>
      <p:sp>
        <p:nvSpPr>
          <p:cNvPr id="42" name="Shape 40"/>
          <p:cNvSpPr/>
          <p:nvPr/>
        </p:nvSpPr>
        <p:spPr>
          <a:xfrm>
            <a:off x="658368" y="4375404"/>
            <a:ext cx="347472" cy="347472"/>
          </a:xfrm>
          <a:prstGeom prst="ellipse">
            <a:avLst/>
          </a:prstGeom>
          <a:solidFill>
            <a:srgbClr val="8C3A27"/>
          </a:solidFill>
          <a:ln w="12700">
            <a:solidFill>
              <a:srgbClr val="8C3A27"/>
            </a:solidFill>
            <a:prstDash val="solid"/>
          </a:ln>
        </p:spPr>
      </p:sp>
      <p:sp>
        <p:nvSpPr>
          <p:cNvPr id="43" name="Text 41"/>
          <p:cNvSpPr txBox="1"/>
          <p:nvPr/>
        </p:nvSpPr>
        <p:spPr>
          <a:xfrm>
            <a:off x="658368" y="437540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7</a:t>
            </a:r>
            <a:endParaRPr lang="en-US" sz="1100" dirty="0"/>
          </a:p>
        </p:txBody>
      </p:sp>
      <p:sp>
        <p:nvSpPr>
          <p:cNvPr id="44" name="Shape 42"/>
          <p:cNvSpPr/>
          <p:nvPr/>
        </p:nvSpPr>
        <p:spPr>
          <a:xfrm>
            <a:off x="1115568" y="4416552"/>
            <a:ext cx="777240" cy="265176"/>
          </a:xfrm>
          <a:prstGeom prst="roundRect">
            <a:avLst>
              <a:gd name="adj" fmla="val 27586"/>
            </a:avLst>
          </a:prstGeom>
          <a:solidFill>
            <a:srgbClr val="8C3A27"/>
          </a:solidFill>
          <a:ln w="12700">
            <a:solidFill>
              <a:srgbClr val="8C3A27"/>
            </a:solidFill>
            <a:prstDash val="solid"/>
          </a:ln>
        </p:spPr>
      </p:sp>
      <p:sp>
        <p:nvSpPr>
          <p:cNvPr id="45" name="Text 43"/>
          <p:cNvSpPr txBox="1"/>
          <p:nvPr/>
        </p:nvSpPr>
        <p:spPr>
          <a:xfrm>
            <a:off x="1115568" y="4416552"/>
            <a:ext cx="77724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FAUX</a:t>
            </a:r>
            <a:endParaRPr lang="en-US" sz="1100" dirty="0"/>
          </a:p>
        </p:txBody>
      </p:sp>
      <p:sp>
        <p:nvSpPr>
          <p:cNvPr id="46" name="Text 44"/>
          <p:cNvSpPr txBox="1"/>
          <p:nvPr/>
        </p:nvSpPr>
        <p:spPr>
          <a:xfrm>
            <a:off x="2057400" y="4343400"/>
            <a:ext cx="944849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Seulement à la part exonérée de cotisations de Sécurité sociale.</a:t>
            </a:r>
            <a:endParaRPr lang="en-US" sz="1300" dirty="0"/>
          </a:p>
        </p:txBody>
      </p:sp>
      <p:sp>
        <p:nvSpPr>
          <p:cNvPr id="47" name="Shape 45"/>
          <p:cNvSpPr/>
          <p:nvPr/>
        </p:nvSpPr>
        <p:spPr>
          <a:xfrm>
            <a:off x="548640" y="4846320"/>
            <a:ext cx="11094415" cy="411480"/>
          </a:xfrm>
          <a:prstGeom prst="roundRect">
            <a:avLst>
              <a:gd name="adj" fmla="val 17778"/>
            </a:avLst>
          </a:prstGeom>
          <a:solidFill>
            <a:srgbClr val="FFF6F4"/>
          </a:solidFill>
          <a:ln w="12700">
            <a:solidFill>
              <a:srgbClr val="FFF6F4"/>
            </a:solidFill>
            <a:prstDash val="solid"/>
          </a:ln>
        </p:spPr>
      </p:sp>
      <p:sp>
        <p:nvSpPr>
          <p:cNvPr id="48" name="Shape 46"/>
          <p:cNvSpPr/>
          <p:nvPr/>
        </p:nvSpPr>
        <p:spPr>
          <a:xfrm>
            <a:off x="658368" y="4878324"/>
            <a:ext cx="347472" cy="347472"/>
          </a:xfrm>
          <a:prstGeom prst="ellipse">
            <a:avLst/>
          </a:prstGeom>
          <a:solidFill>
            <a:srgbClr val="8C3A27"/>
          </a:solidFill>
          <a:ln w="12700">
            <a:solidFill>
              <a:srgbClr val="8C3A27"/>
            </a:solidFill>
            <a:prstDash val="solid"/>
          </a:ln>
        </p:spPr>
      </p:sp>
      <p:sp>
        <p:nvSpPr>
          <p:cNvPr id="49" name="Text 47"/>
          <p:cNvSpPr txBox="1"/>
          <p:nvPr/>
        </p:nvSpPr>
        <p:spPr>
          <a:xfrm>
            <a:off x="658368" y="487832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8</a:t>
            </a:r>
            <a:endParaRPr lang="en-US" sz="1100" dirty="0"/>
          </a:p>
        </p:txBody>
      </p:sp>
      <p:sp>
        <p:nvSpPr>
          <p:cNvPr id="50" name="Shape 48"/>
          <p:cNvSpPr/>
          <p:nvPr/>
        </p:nvSpPr>
        <p:spPr>
          <a:xfrm>
            <a:off x="1115568" y="4919472"/>
            <a:ext cx="777240" cy="265176"/>
          </a:xfrm>
          <a:prstGeom prst="roundRect">
            <a:avLst>
              <a:gd name="adj" fmla="val 27586"/>
            </a:avLst>
          </a:prstGeom>
          <a:solidFill>
            <a:srgbClr val="183F1E"/>
          </a:solidFill>
          <a:ln w="12700">
            <a:solidFill>
              <a:srgbClr val="183F1E"/>
            </a:solidFill>
            <a:prstDash val="solid"/>
          </a:ln>
        </p:spPr>
      </p:sp>
      <p:sp>
        <p:nvSpPr>
          <p:cNvPr id="51" name="Text 49"/>
          <p:cNvSpPr txBox="1"/>
          <p:nvPr/>
        </p:nvSpPr>
        <p:spPr>
          <a:xfrm>
            <a:off x="1115568" y="4919472"/>
            <a:ext cx="77724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VRAI</a:t>
            </a:r>
            <a:endParaRPr lang="en-US" sz="1100" dirty="0"/>
          </a:p>
        </p:txBody>
      </p:sp>
      <p:sp>
        <p:nvSpPr>
          <p:cNvPr id="52" name="Text 50"/>
          <p:cNvSpPr txBox="1"/>
          <p:nvPr/>
        </p:nvSpPr>
        <p:spPr>
          <a:xfrm>
            <a:off x="2057400" y="4846320"/>
            <a:ext cx="944849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Loi du 29 novembre 2023, entreprises de 11 à 49 salariés.</a:t>
            </a:r>
            <a:endParaRPr lang="en-US" sz="1300" dirty="0"/>
          </a:p>
        </p:txBody>
      </p:sp>
      <p:sp>
        <p:nvSpPr>
          <p:cNvPr id="53" name="Shape 51"/>
          <p:cNvSpPr/>
          <p:nvPr/>
        </p:nvSpPr>
        <p:spPr>
          <a:xfrm>
            <a:off x="548640" y="5349240"/>
            <a:ext cx="11094415" cy="411480"/>
          </a:xfrm>
          <a:prstGeom prst="roundRect">
            <a:avLst>
              <a:gd name="adj" fmla="val 17778"/>
            </a:avLst>
          </a:prstGeom>
          <a:solidFill>
            <a:srgbClr val="FFF6F4"/>
          </a:solidFill>
          <a:ln w="12700">
            <a:solidFill>
              <a:srgbClr val="FFF6F4"/>
            </a:solidFill>
            <a:prstDash val="solid"/>
          </a:ln>
        </p:spPr>
      </p:sp>
      <p:sp>
        <p:nvSpPr>
          <p:cNvPr id="54" name="Shape 52"/>
          <p:cNvSpPr/>
          <p:nvPr/>
        </p:nvSpPr>
        <p:spPr>
          <a:xfrm>
            <a:off x="658368" y="5381244"/>
            <a:ext cx="347472" cy="347472"/>
          </a:xfrm>
          <a:prstGeom prst="ellipse">
            <a:avLst/>
          </a:prstGeom>
          <a:solidFill>
            <a:srgbClr val="8C3A27"/>
          </a:solidFill>
          <a:ln w="12700">
            <a:solidFill>
              <a:srgbClr val="8C3A27"/>
            </a:solidFill>
            <a:prstDash val="solid"/>
          </a:ln>
        </p:spPr>
      </p:sp>
      <p:sp>
        <p:nvSpPr>
          <p:cNvPr id="55" name="Text 53"/>
          <p:cNvSpPr txBox="1"/>
          <p:nvPr/>
        </p:nvSpPr>
        <p:spPr>
          <a:xfrm>
            <a:off x="658368" y="538124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9</a:t>
            </a:r>
            <a:endParaRPr lang="en-US" sz="1100" dirty="0"/>
          </a:p>
        </p:txBody>
      </p:sp>
      <p:sp>
        <p:nvSpPr>
          <p:cNvPr id="56" name="Shape 54"/>
          <p:cNvSpPr/>
          <p:nvPr/>
        </p:nvSpPr>
        <p:spPr>
          <a:xfrm>
            <a:off x="1115568" y="5422392"/>
            <a:ext cx="777240" cy="265176"/>
          </a:xfrm>
          <a:prstGeom prst="roundRect">
            <a:avLst>
              <a:gd name="adj" fmla="val 27586"/>
            </a:avLst>
          </a:prstGeom>
          <a:solidFill>
            <a:srgbClr val="8C3A27"/>
          </a:solidFill>
          <a:ln w="12700">
            <a:solidFill>
              <a:srgbClr val="8C3A27"/>
            </a:solidFill>
            <a:prstDash val="solid"/>
          </a:ln>
        </p:spPr>
      </p:sp>
      <p:sp>
        <p:nvSpPr>
          <p:cNvPr id="57" name="Text 55"/>
          <p:cNvSpPr txBox="1"/>
          <p:nvPr/>
        </p:nvSpPr>
        <p:spPr>
          <a:xfrm>
            <a:off x="1115568" y="5422392"/>
            <a:ext cx="77724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FAUX</a:t>
            </a:r>
            <a:endParaRPr lang="en-US" sz="1100" dirty="0"/>
          </a:p>
        </p:txBody>
      </p:sp>
      <p:sp>
        <p:nvSpPr>
          <p:cNvPr id="58" name="Text 56"/>
          <p:cNvSpPr txBox="1"/>
          <p:nvPr/>
        </p:nvSpPr>
        <p:spPr>
          <a:xfrm>
            <a:off x="2057400" y="5349240"/>
            <a:ext cx="944849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16 % du PASS : 7 689,60 € ; 3 844,80 € est le plafond du PEE.</a:t>
            </a:r>
            <a:endParaRPr lang="en-US" sz="1300" dirty="0"/>
          </a:p>
        </p:txBody>
      </p:sp>
      <p:sp>
        <p:nvSpPr>
          <p:cNvPr id="59" name="Shape 57"/>
          <p:cNvSpPr/>
          <p:nvPr/>
        </p:nvSpPr>
        <p:spPr>
          <a:xfrm>
            <a:off x="548640" y="5852160"/>
            <a:ext cx="11094415" cy="411480"/>
          </a:xfrm>
          <a:prstGeom prst="roundRect">
            <a:avLst>
              <a:gd name="adj" fmla="val 17778"/>
            </a:avLst>
          </a:prstGeom>
          <a:solidFill>
            <a:srgbClr val="FFF6F4"/>
          </a:solidFill>
          <a:ln w="12700">
            <a:solidFill>
              <a:srgbClr val="FFF6F4"/>
            </a:solidFill>
            <a:prstDash val="solid"/>
          </a:ln>
        </p:spPr>
      </p:sp>
      <p:sp>
        <p:nvSpPr>
          <p:cNvPr id="60" name="Shape 58"/>
          <p:cNvSpPr/>
          <p:nvPr/>
        </p:nvSpPr>
        <p:spPr>
          <a:xfrm>
            <a:off x="658368" y="5884164"/>
            <a:ext cx="347472" cy="347472"/>
          </a:xfrm>
          <a:prstGeom prst="ellipse">
            <a:avLst/>
          </a:prstGeom>
          <a:solidFill>
            <a:srgbClr val="8C3A27"/>
          </a:solidFill>
          <a:ln w="12700">
            <a:solidFill>
              <a:srgbClr val="8C3A27"/>
            </a:solidFill>
            <a:prstDash val="solid"/>
          </a:ln>
        </p:spPr>
      </p:sp>
      <p:sp>
        <p:nvSpPr>
          <p:cNvPr id="61" name="Text 59"/>
          <p:cNvSpPr txBox="1"/>
          <p:nvPr/>
        </p:nvSpPr>
        <p:spPr>
          <a:xfrm>
            <a:off x="658368" y="5884164"/>
            <a:ext cx="34747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10</a:t>
            </a:r>
            <a:endParaRPr lang="en-US" sz="1100" dirty="0"/>
          </a:p>
        </p:txBody>
      </p:sp>
      <p:sp>
        <p:nvSpPr>
          <p:cNvPr id="62" name="Shape 60"/>
          <p:cNvSpPr/>
          <p:nvPr/>
        </p:nvSpPr>
        <p:spPr>
          <a:xfrm>
            <a:off x="1115568" y="5925312"/>
            <a:ext cx="777240" cy="265176"/>
          </a:xfrm>
          <a:prstGeom prst="roundRect">
            <a:avLst>
              <a:gd name="adj" fmla="val 27586"/>
            </a:avLst>
          </a:prstGeom>
          <a:solidFill>
            <a:srgbClr val="183F1E"/>
          </a:solidFill>
          <a:ln w="12700">
            <a:solidFill>
              <a:srgbClr val="183F1E"/>
            </a:solidFill>
            <a:prstDash val="solid"/>
          </a:ln>
        </p:spPr>
      </p:sp>
      <p:sp>
        <p:nvSpPr>
          <p:cNvPr id="63" name="Text 61"/>
          <p:cNvSpPr txBox="1"/>
          <p:nvPr/>
        </p:nvSpPr>
        <p:spPr>
          <a:xfrm>
            <a:off x="1115568" y="5925312"/>
            <a:ext cx="777240"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VRAI</a:t>
            </a:r>
            <a:endParaRPr lang="en-US" sz="1100" dirty="0"/>
          </a:p>
        </p:txBody>
      </p:sp>
      <p:sp>
        <p:nvSpPr>
          <p:cNvPr id="64" name="Text 62"/>
          <p:cNvSpPr txBox="1"/>
          <p:nvPr/>
        </p:nvSpPr>
        <p:spPr>
          <a:xfrm>
            <a:off x="2057400" y="5852160"/>
            <a:ext cx="9448495" cy="411480"/>
          </a:xfrm>
          <a:prstGeom prst="rect">
            <a:avLst/>
          </a:prstGeom>
          <a:noFill/>
          <a:ln/>
        </p:spPr>
        <p:txBody>
          <a:bodyPr wrap="square" lIns="0" tIns="0" rIns="0" bIns="0" rtlCol="0" anchor="ctr"/>
          <a:lstStyle/>
          <a:p>
            <a:pPr indent="0" marL="0">
              <a:buNone/>
            </a:pPr>
            <a:r>
              <a:rPr lang="en-US" sz="1300" dirty="0">
                <a:solidFill>
                  <a:srgbClr val="2B2B2B"/>
                </a:solidFill>
                <a:latin typeface="Calibri" pitchFamily="34" charset="0"/>
                <a:ea typeface="Calibri" pitchFamily="34" charset="-122"/>
                <a:cs typeface="Calibri" pitchFamily="34" charset="-120"/>
              </a:rPr>
              <a:t>Arrêté du 11 août 2025 ; le modèle provisoire reste autorisé jusqu'au 31 décembre 2026.</a:t>
            </a:r>
            <a:endParaRPr lang="en-US" sz="1300" dirty="0"/>
          </a:p>
        </p:txBody>
      </p:sp>
      <p:sp>
        <p:nvSpPr>
          <p:cNvPr id="65" name="Text 63"/>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66" name="Text 64"/>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60</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Les 10 réflexes à emporter</a:t>
            </a:r>
            <a:endParaRPr lang="en-US" sz="2800" dirty="0"/>
          </a:p>
        </p:txBody>
      </p:sp>
      <p:sp>
        <p:nvSpPr>
          <p:cNvPr id="3" name="Shape 1"/>
          <p:cNvSpPr/>
          <p:nvPr/>
        </p:nvSpPr>
        <p:spPr>
          <a:xfrm>
            <a:off x="548640" y="1325880"/>
            <a:ext cx="5364328" cy="826618"/>
          </a:xfrm>
          <a:prstGeom prst="roundRect">
            <a:avLst>
              <a:gd name="adj" fmla="val 11062"/>
            </a:avLst>
          </a:prstGeom>
          <a:solidFill>
            <a:srgbClr val="FFF6F4"/>
          </a:solidFill>
          <a:ln w="12700">
            <a:solidFill>
              <a:srgbClr val="FFF6F4"/>
            </a:solidFill>
            <a:prstDash val="solid"/>
          </a:ln>
        </p:spPr>
      </p:sp>
      <p:sp>
        <p:nvSpPr>
          <p:cNvPr id="4" name="Shape 2"/>
          <p:cNvSpPr/>
          <p:nvPr/>
        </p:nvSpPr>
        <p:spPr>
          <a:xfrm>
            <a:off x="685800" y="1547165"/>
            <a:ext cx="384048" cy="384048"/>
          </a:xfrm>
          <a:prstGeom prst="ellipse">
            <a:avLst/>
          </a:prstGeom>
          <a:solidFill>
            <a:srgbClr val="8C3A27"/>
          </a:solidFill>
          <a:ln w="12700">
            <a:solidFill>
              <a:srgbClr val="8C3A27"/>
            </a:solidFill>
            <a:prstDash val="solid"/>
          </a:ln>
        </p:spPr>
      </p:sp>
      <p:sp>
        <p:nvSpPr>
          <p:cNvPr id="5" name="Text 3"/>
          <p:cNvSpPr txBox="1"/>
          <p:nvPr/>
        </p:nvSpPr>
        <p:spPr>
          <a:xfrm>
            <a:off x="685800" y="1547165"/>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6" name="Text 4"/>
          <p:cNvSpPr txBox="1"/>
          <p:nvPr/>
        </p:nvSpPr>
        <p:spPr>
          <a:xfrm>
            <a:off x="1207008" y="1325880"/>
            <a:ext cx="4541368" cy="82661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Contrôler chaque bulletin de juin au nouveau SMIC, sans toucher au SMIC de référence de la RGDU.</a:t>
            </a:r>
            <a:endParaRPr lang="en-US" sz="1350" dirty="0"/>
          </a:p>
        </p:txBody>
      </p:sp>
      <p:sp>
        <p:nvSpPr>
          <p:cNvPr id="7" name="Shape 5"/>
          <p:cNvSpPr/>
          <p:nvPr/>
        </p:nvSpPr>
        <p:spPr>
          <a:xfrm>
            <a:off x="548640" y="2353666"/>
            <a:ext cx="5364328" cy="826618"/>
          </a:xfrm>
          <a:prstGeom prst="roundRect">
            <a:avLst>
              <a:gd name="adj" fmla="val 11062"/>
            </a:avLst>
          </a:prstGeom>
          <a:solidFill>
            <a:srgbClr val="FFF6F4"/>
          </a:solidFill>
          <a:ln w="12700">
            <a:solidFill>
              <a:srgbClr val="FFF6F4"/>
            </a:solidFill>
            <a:prstDash val="solid"/>
          </a:ln>
        </p:spPr>
      </p:sp>
      <p:sp>
        <p:nvSpPr>
          <p:cNvPr id="8" name="Shape 6"/>
          <p:cNvSpPr/>
          <p:nvPr/>
        </p:nvSpPr>
        <p:spPr>
          <a:xfrm>
            <a:off x="685800" y="2574950"/>
            <a:ext cx="384048" cy="384048"/>
          </a:xfrm>
          <a:prstGeom prst="ellipse">
            <a:avLst/>
          </a:prstGeom>
          <a:solidFill>
            <a:srgbClr val="8C3A27"/>
          </a:solidFill>
          <a:ln w="12700">
            <a:solidFill>
              <a:srgbClr val="8C3A27"/>
            </a:solidFill>
            <a:prstDash val="solid"/>
          </a:ln>
        </p:spPr>
      </p:sp>
      <p:sp>
        <p:nvSpPr>
          <p:cNvPr id="9" name="Text 7"/>
          <p:cNvSpPr txBox="1"/>
          <p:nvPr/>
        </p:nvSpPr>
        <p:spPr>
          <a:xfrm>
            <a:off x="685800" y="257495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0" name="Text 8"/>
          <p:cNvSpPr txBox="1"/>
          <p:nvPr/>
        </p:nvSpPr>
        <p:spPr>
          <a:xfrm>
            <a:off x="1207008" y="2353666"/>
            <a:ext cx="4541368" cy="82661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Créer le motif « congé supplémentaire de naissance » (DSN code 20) et vérifier la convention collective sur le maintien.</a:t>
            </a:r>
            <a:endParaRPr lang="en-US" sz="1350" dirty="0"/>
          </a:p>
        </p:txBody>
      </p:sp>
      <p:sp>
        <p:nvSpPr>
          <p:cNvPr id="11" name="Shape 9"/>
          <p:cNvSpPr/>
          <p:nvPr/>
        </p:nvSpPr>
        <p:spPr>
          <a:xfrm>
            <a:off x="548640" y="3381451"/>
            <a:ext cx="5364328" cy="826618"/>
          </a:xfrm>
          <a:prstGeom prst="roundRect">
            <a:avLst>
              <a:gd name="adj" fmla="val 11062"/>
            </a:avLst>
          </a:prstGeom>
          <a:solidFill>
            <a:srgbClr val="FFF6F4"/>
          </a:solidFill>
          <a:ln w="12700">
            <a:solidFill>
              <a:srgbClr val="FFF6F4"/>
            </a:solidFill>
            <a:prstDash val="solid"/>
          </a:ln>
        </p:spPr>
      </p:sp>
      <p:sp>
        <p:nvSpPr>
          <p:cNvPr id="12" name="Shape 10"/>
          <p:cNvSpPr/>
          <p:nvPr/>
        </p:nvSpPr>
        <p:spPr>
          <a:xfrm>
            <a:off x="685800" y="3602736"/>
            <a:ext cx="384048" cy="384048"/>
          </a:xfrm>
          <a:prstGeom prst="ellipse">
            <a:avLst/>
          </a:prstGeom>
          <a:solidFill>
            <a:srgbClr val="8C3A27"/>
          </a:solidFill>
          <a:ln w="12700">
            <a:solidFill>
              <a:srgbClr val="8C3A27"/>
            </a:solidFill>
            <a:prstDash val="solid"/>
          </a:ln>
        </p:spPr>
      </p:sp>
      <p:sp>
        <p:nvSpPr>
          <p:cNvPr id="13" name="Text 11"/>
          <p:cNvSpPr txBox="1"/>
          <p:nvPr/>
        </p:nvSpPr>
        <p:spPr>
          <a:xfrm>
            <a:off x="685800" y="36027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14" name="Text 12"/>
          <p:cNvSpPr txBox="1"/>
          <p:nvPr/>
        </p:nvSpPr>
        <p:spPr>
          <a:xfrm>
            <a:off x="1207008" y="3381451"/>
            <a:ext cx="4541368" cy="82661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Depuis le 1er septembre, refuser les arrêts non conformes et sécuriser le maintien de salaire sur les IJ réellement versées.</a:t>
            </a:r>
            <a:endParaRPr lang="en-US" sz="1350" dirty="0"/>
          </a:p>
        </p:txBody>
      </p:sp>
      <p:sp>
        <p:nvSpPr>
          <p:cNvPr id="15" name="Shape 13"/>
          <p:cNvSpPr/>
          <p:nvPr/>
        </p:nvSpPr>
        <p:spPr>
          <a:xfrm>
            <a:off x="548640" y="4409237"/>
            <a:ext cx="5364328" cy="826618"/>
          </a:xfrm>
          <a:prstGeom prst="roundRect">
            <a:avLst>
              <a:gd name="adj" fmla="val 11062"/>
            </a:avLst>
          </a:prstGeom>
          <a:solidFill>
            <a:srgbClr val="FFF6F4"/>
          </a:solidFill>
          <a:ln w="12700">
            <a:solidFill>
              <a:srgbClr val="FFF6F4"/>
            </a:solidFill>
            <a:prstDash val="solid"/>
          </a:ln>
        </p:spPr>
      </p:sp>
      <p:sp>
        <p:nvSpPr>
          <p:cNvPr id="16" name="Shape 14"/>
          <p:cNvSpPr/>
          <p:nvPr/>
        </p:nvSpPr>
        <p:spPr>
          <a:xfrm>
            <a:off x="685800" y="4630522"/>
            <a:ext cx="384048" cy="384048"/>
          </a:xfrm>
          <a:prstGeom prst="ellipse">
            <a:avLst/>
          </a:prstGeom>
          <a:solidFill>
            <a:srgbClr val="8C3A27"/>
          </a:solidFill>
          <a:ln w="12700">
            <a:solidFill>
              <a:srgbClr val="8C3A27"/>
            </a:solidFill>
            <a:prstDash val="solid"/>
          </a:ln>
        </p:spPr>
      </p:sp>
      <p:sp>
        <p:nvSpPr>
          <p:cNvPr id="17" name="Text 15"/>
          <p:cNvSpPr txBox="1"/>
          <p:nvPr/>
        </p:nvSpPr>
        <p:spPr>
          <a:xfrm>
            <a:off x="685800" y="463052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18" name="Text 16"/>
          <p:cNvSpPr txBox="1"/>
          <p:nvPr/>
        </p:nvSpPr>
        <p:spPr>
          <a:xfrm>
            <a:off x="1207008" y="4409237"/>
            <a:ext cx="4541368" cy="82661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Recalculer les dates de départ à la retraite des générations 1964 à 1968.</a:t>
            </a:r>
            <a:endParaRPr lang="en-US" sz="1350" dirty="0"/>
          </a:p>
        </p:txBody>
      </p:sp>
      <p:sp>
        <p:nvSpPr>
          <p:cNvPr id="19" name="Shape 17"/>
          <p:cNvSpPr/>
          <p:nvPr/>
        </p:nvSpPr>
        <p:spPr>
          <a:xfrm>
            <a:off x="548640" y="5437022"/>
            <a:ext cx="5364328" cy="826618"/>
          </a:xfrm>
          <a:prstGeom prst="roundRect">
            <a:avLst>
              <a:gd name="adj" fmla="val 11062"/>
            </a:avLst>
          </a:prstGeom>
          <a:solidFill>
            <a:srgbClr val="FFF6F4"/>
          </a:solidFill>
          <a:ln w="12700">
            <a:solidFill>
              <a:srgbClr val="FFF6F4"/>
            </a:solidFill>
            <a:prstDash val="solid"/>
          </a:ln>
        </p:spPr>
      </p:sp>
      <p:sp>
        <p:nvSpPr>
          <p:cNvPr id="20" name="Shape 18"/>
          <p:cNvSpPr/>
          <p:nvPr/>
        </p:nvSpPr>
        <p:spPr>
          <a:xfrm>
            <a:off x="685800" y="5658307"/>
            <a:ext cx="384048" cy="384048"/>
          </a:xfrm>
          <a:prstGeom prst="ellipse">
            <a:avLst/>
          </a:prstGeom>
          <a:solidFill>
            <a:srgbClr val="8C3A27"/>
          </a:solidFill>
          <a:ln w="12700">
            <a:solidFill>
              <a:srgbClr val="8C3A27"/>
            </a:solidFill>
            <a:prstDash val="solid"/>
          </a:ln>
        </p:spPr>
      </p:sp>
      <p:sp>
        <p:nvSpPr>
          <p:cNvPr id="21" name="Text 19"/>
          <p:cNvSpPr txBox="1"/>
          <p:nvPr/>
        </p:nvSpPr>
        <p:spPr>
          <a:xfrm>
            <a:off x="685800" y="5658307"/>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22" name="Text 20"/>
          <p:cNvSpPr txBox="1"/>
          <p:nvPr/>
        </p:nvSpPr>
        <p:spPr>
          <a:xfrm>
            <a:off x="1207008" y="5437022"/>
            <a:ext cx="4541368" cy="82661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Paramétrer le versement mobilité de chaque établissement avant la DSN de septembre.</a:t>
            </a:r>
            <a:endParaRPr lang="en-US" sz="1350" dirty="0"/>
          </a:p>
        </p:txBody>
      </p:sp>
      <p:sp>
        <p:nvSpPr>
          <p:cNvPr id="23" name="Shape 21"/>
          <p:cNvSpPr/>
          <p:nvPr/>
        </p:nvSpPr>
        <p:spPr>
          <a:xfrm>
            <a:off x="6278728" y="1325880"/>
            <a:ext cx="5364328" cy="826618"/>
          </a:xfrm>
          <a:prstGeom prst="roundRect">
            <a:avLst>
              <a:gd name="adj" fmla="val 11062"/>
            </a:avLst>
          </a:prstGeom>
          <a:solidFill>
            <a:srgbClr val="FFF6F4"/>
          </a:solidFill>
          <a:ln w="12700">
            <a:solidFill>
              <a:srgbClr val="FFF6F4"/>
            </a:solidFill>
            <a:prstDash val="solid"/>
          </a:ln>
        </p:spPr>
      </p:sp>
      <p:sp>
        <p:nvSpPr>
          <p:cNvPr id="24" name="Shape 22"/>
          <p:cNvSpPr/>
          <p:nvPr/>
        </p:nvSpPr>
        <p:spPr>
          <a:xfrm>
            <a:off x="6415888" y="1547165"/>
            <a:ext cx="384048" cy="384048"/>
          </a:xfrm>
          <a:prstGeom prst="ellipse">
            <a:avLst/>
          </a:prstGeom>
          <a:solidFill>
            <a:srgbClr val="8C3A27"/>
          </a:solidFill>
          <a:ln w="12700">
            <a:solidFill>
              <a:srgbClr val="8C3A27"/>
            </a:solidFill>
            <a:prstDash val="solid"/>
          </a:ln>
        </p:spPr>
      </p:sp>
      <p:sp>
        <p:nvSpPr>
          <p:cNvPr id="25" name="Text 23"/>
          <p:cNvSpPr txBox="1"/>
          <p:nvPr/>
        </p:nvSpPr>
        <p:spPr>
          <a:xfrm>
            <a:off x="6415888" y="1547165"/>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26" name="Text 24"/>
          <p:cNvSpPr txBox="1"/>
          <p:nvPr/>
        </p:nvSpPr>
        <p:spPr>
          <a:xfrm>
            <a:off x="6937096" y="1325880"/>
            <a:ext cx="4541368" cy="82661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Lire chaque CRM dans les deux mois : la DSN de substitution sanctionne l'inaction, pas l'erreur.</a:t>
            </a:r>
            <a:endParaRPr lang="en-US" sz="1350" dirty="0"/>
          </a:p>
        </p:txBody>
      </p:sp>
      <p:sp>
        <p:nvSpPr>
          <p:cNvPr id="27" name="Shape 25"/>
          <p:cNvSpPr/>
          <p:nvPr/>
        </p:nvSpPr>
        <p:spPr>
          <a:xfrm>
            <a:off x="6278728" y="2353666"/>
            <a:ext cx="5364328" cy="826618"/>
          </a:xfrm>
          <a:prstGeom prst="roundRect">
            <a:avLst>
              <a:gd name="adj" fmla="val 11062"/>
            </a:avLst>
          </a:prstGeom>
          <a:solidFill>
            <a:srgbClr val="FFF6F4"/>
          </a:solidFill>
          <a:ln w="12700">
            <a:solidFill>
              <a:srgbClr val="FFF6F4"/>
            </a:solidFill>
            <a:prstDash val="solid"/>
          </a:ln>
        </p:spPr>
      </p:sp>
      <p:sp>
        <p:nvSpPr>
          <p:cNvPr id="28" name="Shape 26"/>
          <p:cNvSpPr/>
          <p:nvPr/>
        </p:nvSpPr>
        <p:spPr>
          <a:xfrm>
            <a:off x="6415888" y="2574950"/>
            <a:ext cx="384048" cy="384048"/>
          </a:xfrm>
          <a:prstGeom prst="ellipse">
            <a:avLst/>
          </a:prstGeom>
          <a:solidFill>
            <a:srgbClr val="8C3A27"/>
          </a:solidFill>
          <a:ln w="12700">
            <a:solidFill>
              <a:srgbClr val="8C3A27"/>
            </a:solidFill>
            <a:prstDash val="solid"/>
          </a:ln>
        </p:spPr>
      </p:sp>
      <p:sp>
        <p:nvSpPr>
          <p:cNvPr id="29" name="Text 27"/>
          <p:cNvSpPr txBox="1"/>
          <p:nvPr/>
        </p:nvSpPr>
        <p:spPr>
          <a:xfrm>
            <a:off x="6415888" y="257495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7</a:t>
            </a:r>
            <a:endParaRPr lang="en-US" sz="1200" dirty="0"/>
          </a:p>
        </p:txBody>
      </p:sp>
      <p:sp>
        <p:nvSpPr>
          <p:cNvPr id="30" name="Text 28"/>
          <p:cNvSpPr txBox="1"/>
          <p:nvPr/>
        </p:nvSpPr>
        <p:spPr>
          <a:xfrm>
            <a:off x="6937096" y="2353666"/>
            <a:ext cx="4541368" cy="82661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Dans les accords d'annualisation, réduire le seuil des heures supplémentaires de 35 h par semaine de maladie.</a:t>
            </a:r>
            <a:endParaRPr lang="en-US" sz="1350" dirty="0"/>
          </a:p>
        </p:txBody>
      </p:sp>
      <p:sp>
        <p:nvSpPr>
          <p:cNvPr id="31" name="Shape 29"/>
          <p:cNvSpPr/>
          <p:nvPr/>
        </p:nvSpPr>
        <p:spPr>
          <a:xfrm>
            <a:off x="6278728" y="3381451"/>
            <a:ext cx="5364328" cy="826618"/>
          </a:xfrm>
          <a:prstGeom prst="roundRect">
            <a:avLst>
              <a:gd name="adj" fmla="val 11062"/>
            </a:avLst>
          </a:prstGeom>
          <a:solidFill>
            <a:srgbClr val="FFF6F4"/>
          </a:solidFill>
          <a:ln w="12700">
            <a:solidFill>
              <a:srgbClr val="FFF6F4"/>
            </a:solidFill>
            <a:prstDash val="solid"/>
          </a:ln>
        </p:spPr>
      </p:sp>
      <p:sp>
        <p:nvSpPr>
          <p:cNvPr id="32" name="Shape 30"/>
          <p:cNvSpPr/>
          <p:nvPr/>
        </p:nvSpPr>
        <p:spPr>
          <a:xfrm>
            <a:off x="6415888" y="3602736"/>
            <a:ext cx="384048" cy="384048"/>
          </a:xfrm>
          <a:prstGeom prst="ellipse">
            <a:avLst/>
          </a:prstGeom>
          <a:solidFill>
            <a:srgbClr val="8C3A27"/>
          </a:solidFill>
          <a:ln w="12700">
            <a:solidFill>
              <a:srgbClr val="8C3A27"/>
            </a:solidFill>
            <a:prstDash val="solid"/>
          </a:ln>
        </p:spPr>
      </p:sp>
      <p:sp>
        <p:nvSpPr>
          <p:cNvPr id="33" name="Text 31"/>
          <p:cNvSpPr txBox="1"/>
          <p:nvPr/>
        </p:nvSpPr>
        <p:spPr>
          <a:xfrm>
            <a:off x="6415888" y="36027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8</a:t>
            </a:r>
            <a:endParaRPr lang="en-US" sz="1200" dirty="0"/>
          </a:p>
        </p:txBody>
      </p:sp>
      <p:sp>
        <p:nvSpPr>
          <p:cNvPr id="34" name="Text 32"/>
          <p:cNvSpPr txBox="1"/>
          <p:nvPr/>
        </p:nvSpPr>
        <p:spPr>
          <a:xfrm>
            <a:off x="6937096" y="3381451"/>
            <a:ext cx="4541368" cy="82661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Chiffrer chaque rupture conventionnelle avec la contribution de 40 % et l'indemnité de l'accord d'entreprise.</a:t>
            </a:r>
            <a:endParaRPr lang="en-US" sz="1350" dirty="0"/>
          </a:p>
        </p:txBody>
      </p:sp>
      <p:sp>
        <p:nvSpPr>
          <p:cNvPr id="35" name="Shape 33"/>
          <p:cNvSpPr/>
          <p:nvPr/>
        </p:nvSpPr>
        <p:spPr>
          <a:xfrm>
            <a:off x="6278728" y="4409237"/>
            <a:ext cx="5364328" cy="826618"/>
          </a:xfrm>
          <a:prstGeom prst="roundRect">
            <a:avLst>
              <a:gd name="adj" fmla="val 11062"/>
            </a:avLst>
          </a:prstGeom>
          <a:solidFill>
            <a:srgbClr val="FFF6F4"/>
          </a:solidFill>
          <a:ln w="12700">
            <a:solidFill>
              <a:srgbClr val="FFF6F4"/>
            </a:solidFill>
            <a:prstDash val="solid"/>
          </a:ln>
        </p:spPr>
      </p:sp>
      <p:sp>
        <p:nvSpPr>
          <p:cNvPr id="36" name="Shape 34"/>
          <p:cNvSpPr/>
          <p:nvPr/>
        </p:nvSpPr>
        <p:spPr>
          <a:xfrm>
            <a:off x="6415888" y="4630522"/>
            <a:ext cx="384048" cy="384048"/>
          </a:xfrm>
          <a:prstGeom prst="ellipse">
            <a:avLst/>
          </a:prstGeom>
          <a:solidFill>
            <a:srgbClr val="8C3A27"/>
          </a:solidFill>
          <a:ln w="12700">
            <a:solidFill>
              <a:srgbClr val="8C3A27"/>
            </a:solidFill>
            <a:prstDash val="solid"/>
          </a:ln>
        </p:spPr>
      </p:sp>
      <p:sp>
        <p:nvSpPr>
          <p:cNvPr id="37" name="Text 35"/>
          <p:cNvSpPr txBox="1"/>
          <p:nvPr/>
        </p:nvSpPr>
        <p:spPr>
          <a:xfrm>
            <a:off x="6415888" y="463052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9</a:t>
            </a:r>
            <a:endParaRPr lang="en-US" sz="1200" dirty="0"/>
          </a:p>
        </p:txBody>
      </p:sp>
      <p:sp>
        <p:nvSpPr>
          <p:cNvPr id="38" name="Text 36"/>
          <p:cNvSpPr txBox="1"/>
          <p:nvPr/>
        </p:nvSpPr>
        <p:spPr>
          <a:xfrm>
            <a:off x="6937096" y="4409237"/>
            <a:ext cx="4541368" cy="82661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Repérer les clients de 11 à 49 salariés soumis à l'obligation de partage de la valeur.</a:t>
            </a:r>
            <a:endParaRPr lang="en-US" sz="1350" dirty="0"/>
          </a:p>
        </p:txBody>
      </p:sp>
      <p:sp>
        <p:nvSpPr>
          <p:cNvPr id="39" name="Shape 37"/>
          <p:cNvSpPr/>
          <p:nvPr/>
        </p:nvSpPr>
        <p:spPr>
          <a:xfrm>
            <a:off x="6278728" y="5437022"/>
            <a:ext cx="5364328" cy="826618"/>
          </a:xfrm>
          <a:prstGeom prst="roundRect">
            <a:avLst>
              <a:gd name="adj" fmla="val 11062"/>
            </a:avLst>
          </a:prstGeom>
          <a:solidFill>
            <a:srgbClr val="FFF6F4"/>
          </a:solidFill>
          <a:ln w="12700">
            <a:solidFill>
              <a:srgbClr val="FFF6F4"/>
            </a:solidFill>
            <a:prstDash val="solid"/>
          </a:ln>
        </p:spPr>
      </p:sp>
      <p:sp>
        <p:nvSpPr>
          <p:cNvPr id="40" name="Shape 38"/>
          <p:cNvSpPr/>
          <p:nvPr/>
        </p:nvSpPr>
        <p:spPr>
          <a:xfrm>
            <a:off x="6415888" y="5658307"/>
            <a:ext cx="384048" cy="384048"/>
          </a:xfrm>
          <a:prstGeom prst="ellipse">
            <a:avLst/>
          </a:prstGeom>
          <a:solidFill>
            <a:srgbClr val="8C3A27"/>
          </a:solidFill>
          <a:ln w="12700">
            <a:solidFill>
              <a:srgbClr val="8C3A27"/>
            </a:solidFill>
            <a:prstDash val="solid"/>
          </a:ln>
        </p:spPr>
      </p:sp>
      <p:sp>
        <p:nvSpPr>
          <p:cNvPr id="41" name="Text 39"/>
          <p:cNvSpPr txBox="1"/>
          <p:nvPr/>
        </p:nvSpPr>
        <p:spPr>
          <a:xfrm>
            <a:off x="6415888" y="5658307"/>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10</a:t>
            </a:r>
            <a:endParaRPr lang="en-US" sz="1200" dirty="0"/>
          </a:p>
        </p:txBody>
      </p:sp>
      <p:sp>
        <p:nvSpPr>
          <p:cNvPr id="42" name="Text 40"/>
          <p:cNvSpPr txBox="1"/>
          <p:nvPr/>
        </p:nvSpPr>
        <p:spPr>
          <a:xfrm>
            <a:off x="6937096" y="5437022"/>
            <a:ext cx="4541368" cy="826618"/>
          </a:xfrm>
          <a:prstGeom prst="rect">
            <a:avLst/>
          </a:prstGeom>
          <a:noFill/>
          <a:ln/>
        </p:spPr>
        <p:txBody>
          <a:bodyPr wrap="square" lIns="0" tIns="0" rIns="0" bIns="0" rtlCol="0" anchor="ctr"/>
          <a:lstStyle/>
          <a:p>
            <a:pPr indent="0" marL="0">
              <a:buNone/>
            </a:pPr>
            <a:r>
              <a:rPr lang="en-US" sz="1350" dirty="0">
                <a:solidFill>
                  <a:srgbClr val="2B2B2B"/>
                </a:solidFill>
                <a:latin typeface="Calibri" pitchFamily="34" charset="0"/>
                <a:ea typeface="Calibri" pitchFamily="34" charset="-122"/>
                <a:cs typeface="Calibri" pitchFamily="34" charset="-120"/>
              </a:rPr>
              <a:t>Anticiper la fin du régime renforcé de la PPV au 31 décembre 2026 et le bulletin clarifié au 1er janvier 2027.</a:t>
            </a:r>
            <a:endParaRPr lang="en-US" sz="1350" dirty="0"/>
          </a:p>
        </p:txBody>
      </p:sp>
      <p:sp>
        <p:nvSpPr>
          <p:cNvPr id="43" name="Text 41"/>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44" name="Text 42"/>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61</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94415" cy="777240"/>
          </a:xfrm>
          <a:prstGeom prst="rect">
            <a:avLst/>
          </a:prstGeom>
          <a:noFill/>
          <a:ln/>
        </p:spPr>
        <p:txBody>
          <a:bodyPr wrap="square" lIns="0" tIns="0" rIns="0" bIns="0" rtlCol="0" anchor="ctr">
            <a:normAutofit/>
          </a:bodyPr>
          <a:lstStyle/>
          <a:p>
            <a:pPr indent="0" marL="0">
              <a:buNone/>
            </a:pPr>
            <a:r>
              <a:rPr lang="en-US" sz="2800" b="1" dirty="0">
                <a:solidFill>
                  <a:srgbClr val="435369"/>
                </a:solidFill>
                <a:latin typeface="Cambria" pitchFamily="34" charset="0"/>
                <a:ea typeface="Cambria" pitchFamily="34" charset="-122"/>
                <a:cs typeface="Cambria" pitchFamily="34" charset="-120"/>
              </a:rPr>
              <a:t>Textes et sources de référence</a:t>
            </a:r>
            <a:endParaRPr lang="en-US" sz="2800" dirty="0"/>
          </a:p>
        </p:txBody>
      </p:sp>
      <p:sp>
        <p:nvSpPr>
          <p:cNvPr id="3" name="Text 1"/>
          <p:cNvSpPr txBox="1"/>
          <p:nvPr/>
        </p:nvSpPr>
        <p:spPr>
          <a:xfrm>
            <a:off x="548640" y="1325880"/>
            <a:ext cx="11094415" cy="4937760"/>
          </a:xfrm>
          <a:prstGeom prst="rect">
            <a:avLst/>
          </a:prstGeom>
          <a:noFill/>
          <a:ln/>
        </p:spPr>
        <p:txBody>
          <a:bodyPr wrap="square" lIns="635" tIns="635" rIns="635" bIns="635" rtlCol="0" anchor="t"/>
          <a:lstStyle/>
          <a:p>
            <a:pPr marL="228600" indent="-228600">
              <a:lnSpc>
                <a:spcPct val="105000"/>
              </a:lnSpc>
              <a:spcAft>
                <a:spcPts val="650"/>
              </a:spcAft>
              <a:buSzPct val="100000"/>
              <a:buChar char="■"/>
            </a:pPr>
            <a:r>
              <a:rPr lang="en-US" sz="1300" dirty="0">
                <a:solidFill>
                  <a:srgbClr val="2B2B2B"/>
                </a:solidFill>
                <a:latin typeface="Calibri" pitchFamily="34" charset="0"/>
                <a:ea typeface="Calibri" pitchFamily="34" charset="-122"/>
                <a:cs typeface="Calibri" pitchFamily="34" charset="-120"/>
              </a:rPr>
              <a:t>Arrêté du 22 mai 2026 relatif au relèvement du SMIC (JO du 24 mai 2026) ; Urssaf.fr « Le Smic et le minimum garanti augmentent au 1er juin 2026 ».</a:t>
            </a:r>
            <a:endParaRPr lang="en-US" sz="1300" dirty="0"/>
          </a:p>
          <a:p>
            <a:pPr marL="228600" indent="-228600">
              <a:lnSpc>
                <a:spcPct val="105000"/>
              </a:lnSpc>
              <a:spcAft>
                <a:spcPts val="650"/>
              </a:spcAft>
              <a:buSzPct val="100000"/>
              <a:buChar char="■"/>
            </a:pPr>
            <a:r>
              <a:rPr lang="en-US" sz="1300" dirty="0">
                <a:solidFill>
                  <a:srgbClr val="2B2B2B"/>
                </a:solidFill>
                <a:latin typeface="Calibri" pitchFamily="34" charset="0"/>
                <a:ea typeface="Calibri" pitchFamily="34" charset="-122"/>
                <a:cs typeface="Calibri" pitchFamily="34" charset="-120"/>
              </a:rPr>
              <a:t>LFSS 2026 : loi n° 2025-1403 du 30 décembre 2025 (art. 99 congé supplémentaire de naissance, art. 105 suspension de la réforme des retraites, contribution rupture conventionnelle, déduction forfaitaire heures supplémentaires).</a:t>
            </a:r>
            <a:endParaRPr lang="en-US" sz="1300" dirty="0"/>
          </a:p>
          <a:p>
            <a:pPr marL="228600" indent="-228600">
              <a:lnSpc>
                <a:spcPct val="105000"/>
              </a:lnSpc>
              <a:spcAft>
                <a:spcPts val="650"/>
              </a:spcAft>
              <a:buSzPct val="100000"/>
              <a:buChar char="■"/>
            </a:pPr>
            <a:r>
              <a:rPr lang="en-US" sz="1300" dirty="0">
                <a:solidFill>
                  <a:srgbClr val="2B2B2B"/>
                </a:solidFill>
                <a:latin typeface="Calibri" pitchFamily="34" charset="0"/>
                <a:ea typeface="Calibri" pitchFamily="34" charset="-122"/>
                <a:cs typeface="Calibri" pitchFamily="34" charset="-120"/>
              </a:rPr>
              <a:t>Décrets n° 2026-419 et n° 2026-425 du 30 mai 2026 (congé supplémentaire de naissance) ; décret n° 2026-498 du 12 juin 2026 (arrêts de travail) ; décret n° 2026-700 du 29 juillet 2026 (retraite des parents) ; décret n° 2026-683 du 27 juillet 2026 (procédures).</a:t>
            </a:r>
            <a:endParaRPr lang="en-US" sz="1300" dirty="0"/>
          </a:p>
          <a:p>
            <a:pPr marL="228600" indent="-228600">
              <a:lnSpc>
                <a:spcPct val="105000"/>
              </a:lnSpc>
              <a:spcAft>
                <a:spcPts val="650"/>
              </a:spcAft>
              <a:buSzPct val="100000"/>
              <a:buChar char="■"/>
            </a:pPr>
            <a:r>
              <a:rPr lang="en-US" sz="1300" dirty="0">
                <a:solidFill>
                  <a:srgbClr val="2B2B2B"/>
                </a:solidFill>
                <a:latin typeface="Calibri" pitchFamily="34" charset="0"/>
                <a:ea typeface="Calibri" pitchFamily="34" charset="-122"/>
                <a:cs typeface="Calibri" pitchFamily="34" charset="-120"/>
              </a:rPr>
              <a:t>Loi n° 2026-534 du 25 juin 2026 relative à la lutte contre les fraudes sociales et fiscales.</a:t>
            </a:r>
            <a:endParaRPr lang="en-US" sz="1300" dirty="0"/>
          </a:p>
          <a:p>
            <a:pPr marL="228600" indent="-228600">
              <a:lnSpc>
                <a:spcPct val="105000"/>
              </a:lnSpc>
              <a:spcAft>
                <a:spcPts val="650"/>
              </a:spcAft>
              <a:buSzPct val="100000"/>
              <a:buChar char="■"/>
            </a:pPr>
            <a:r>
              <a:rPr lang="en-US" sz="1300" dirty="0">
                <a:solidFill>
                  <a:srgbClr val="2B2B2B"/>
                </a:solidFill>
                <a:latin typeface="Calibri" pitchFamily="34" charset="0"/>
                <a:ea typeface="Calibri" pitchFamily="34" charset="-122"/>
                <a:cs typeface="Calibri" pitchFamily="34" charset="-120"/>
              </a:rPr>
              <a:t>Décrets n° 2025-887 du 4 septembre 2025 et n° 2025-1446 du 31 décembre 2025 (RGDU) ; décret du 12 juin 2026 (gel du SMIC RGDU) ; Urssaf.fr « Point sur l'application de la RGDU en 2026 ».</a:t>
            </a:r>
            <a:endParaRPr lang="en-US" sz="1300" dirty="0"/>
          </a:p>
          <a:p>
            <a:pPr marL="228600" indent="-228600">
              <a:lnSpc>
                <a:spcPct val="105000"/>
              </a:lnSpc>
              <a:spcAft>
                <a:spcPts val="650"/>
              </a:spcAft>
              <a:buSzPct val="100000"/>
              <a:buChar char="■"/>
            </a:pPr>
            <a:r>
              <a:rPr lang="en-US" sz="1300" dirty="0">
                <a:solidFill>
                  <a:srgbClr val="2B2B2B"/>
                </a:solidFill>
                <a:latin typeface="Calibri" pitchFamily="34" charset="0"/>
                <a:ea typeface="Calibri" pitchFamily="34" charset="-122"/>
                <a:cs typeface="Calibri" pitchFamily="34" charset="-120"/>
              </a:rPr>
              <a:t>Cass. soc. 20 mai 2026 ; Cass. soc. 3 juin 2026, n° 24-19.545 ; Cass. 2e civ. 25 juin 2026, n° 24-12.393 ; Cass. soc. 1er juillet 2026, n° 25-14.861 et n° 25-15.732 ; Cass. soc. 10 septembre 2025, n° 23-14.455 ; Cass. soc. 8 octobre 2025 (titres-restaurant) ; Défenseur des droits, décision n° 2026-113 du 20 mai 2026.</a:t>
            </a:r>
            <a:endParaRPr lang="en-US" sz="1300" dirty="0"/>
          </a:p>
          <a:p>
            <a:pPr marL="228600" indent="-228600">
              <a:lnSpc>
                <a:spcPct val="105000"/>
              </a:lnSpc>
              <a:spcAft>
                <a:spcPts val="650"/>
              </a:spcAft>
              <a:buSzPct val="100000"/>
              <a:buChar char="■"/>
            </a:pPr>
            <a:r>
              <a:rPr lang="en-US" sz="1300" dirty="0">
                <a:solidFill>
                  <a:srgbClr val="2B2B2B"/>
                </a:solidFill>
                <a:latin typeface="Calibri" pitchFamily="34" charset="0"/>
                <a:ea typeface="Calibri" pitchFamily="34" charset="-122"/>
                <a:cs typeface="Calibri" pitchFamily="34" charset="-120"/>
              </a:rPr>
              <a:t>Loi n° 2023-1107 du 29 novembre 2023 (partage de la valeur) ; proposition de loi « attractivité de l'épargne salariale et déblocage exceptionnel » (Sénat, 7 avril 2026) ; Urssaf.fr « La prime de partage de la valeur » ; BOSS (frais professionnels, épargne salariale).</a:t>
            </a:r>
            <a:endParaRPr lang="en-US" sz="1300" dirty="0"/>
          </a:p>
          <a:p>
            <a:pPr marL="228600" indent="-228600">
              <a:lnSpc>
                <a:spcPct val="105000"/>
              </a:lnSpc>
              <a:spcAft>
                <a:spcPts val="650"/>
              </a:spcAft>
              <a:buSzPct val="100000"/>
              <a:buChar char="■"/>
            </a:pPr>
            <a:r>
              <a:rPr lang="en-US" sz="1300" dirty="0">
                <a:solidFill>
                  <a:srgbClr val="2B2B2B"/>
                </a:solidFill>
                <a:latin typeface="Calibri" pitchFamily="34" charset="0"/>
                <a:ea typeface="Calibri" pitchFamily="34" charset="-122"/>
                <a:cs typeface="Calibri" pitchFamily="34" charset="-120"/>
              </a:rPr>
              <a:t>Questions-réponses du ministère du travail sur l'activité partielle (mise à jour du 25 juin 2026) ; ameli.fr (congé supplémentaire de naissance, arrêts de travail au 1er septembre 2026) ; net-entreprises.fr (fiches DSN).</a:t>
            </a:r>
            <a:endParaRPr lang="en-US" sz="1300" dirty="0"/>
          </a:p>
        </p:txBody>
      </p:sp>
      <p:sp>
        <p:nvSpPr>
          <p:cNvPr id="4" name="Text 2"/>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Actualité paie · juin – septembre 2026</a:t>
            </a:r>
            <a:endParaRPr lang="en-US" sz="900" dirty="0"/>
          </a:p>
        </p:txBody>
      </p:sp>
      <p:sp>
        <p:nvSpPr>
          <p:cNvPr id="5" name="Text 3"/>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62</a:t>
            </a:r>
            <a:endParaRPr lang="en-US" sz="9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435369"/>
        </a:solidFill>
      </p:bgPr>
    </p:bg>
    <p:spTree>
      <p:nvGrpSpPr>
        <p:cNvPr id="1" name=""/>
        <p:cNvGrpSpPr/>
        <p:nvPr/>
      </p:nvGrpSpPr>
      <p:grpSpPr>
        <a:xfrm>
          <a:off x="0" y="0"/>
          <a:ext cx="0" cy="0"/>
          <a:chOff x="0" y="0"/>
          <a:chExt cx="0" cy="0"/>
        </a:xfrm>
      </p:grpSpPr>
      <p:sp>
        <p:nvSpPr>
          <p:cNvPr id="2" name="Shape 0"/>
          <p:cNvSpPr/>
          <p:nvPr/>
        </p:nvSpPr>
        <p:spPr>
          <a:xfrm>
            <a:off x="-1645920" y="-2011680"/>
            <a:ext cx="4754880" cy="4754880"/>
          </a:xfrm>
          <a:prstGeom prst="ellipse">
            <a:avLst/>
          </a:prstGeom>
          <a:solidFill>
            <a:srgbClr val="8C3A27"/>
          </a:solidFill>
          <a:ln w="12700">
            <a:solidFill>
              <a:srgbClr val="8C3A27"/>
            </a:solidFill>
            <a:prstDash val="solid"/>
          </a:ln>
        </p:spPr>
      </p:sp>
      <p:sp>
        <p:nvSpPr>
          <p:cNvPr id="3" name="Shape 1"/>
          <p:cNvSpPr/>
          <p:nvPr/>
        </p:nvSpPr>
        <p:spPr>
          <a:xfrm>
            <a:off x="9966960" y="4480560"/>
            <a:ext cx="3291840" cy="3291840"/>
          </a:xfrm>
          <a:prstGeom prst="ellipse">
            <a:avLst/>
          </a:prstGeom>
          <a:solidFill>
            <a:srgbClr val="D9A390"/>
          </a:solidFill>
          <a:ln w="12700">
            <a:solidFill>
              <a:srgbClr val="D9A390"/>
            </a:solidFill>
            <a:prstDash val="solid"/>
          </a:ln>
        </p:spPr>
      </p:sp>
      <p:sp>
        <p:nvSpPr>
          <p:cNvPr id="4" name="Text 2"/>
          <p:cNvSpPr txBox="1"/>
          <p:nvPr/>
        </p:nvSpPr>
        <p:spPr>
          <a:xfrm>
            <a:off x="548640" y="2194560"/>
            <a:ext cx="10972800" cy="1280160"/>
          </a:xfrm>
          <a:prstGeom prst="rect">
            <a:avLst/>
          </a:prstGeom>
          <a:noFill/>
          <a:ln/>
        </p:spPr>
        <p:txBody>
          <a:bodyPr wrap="square" lIns="0" tIns="0" rIns="0" bIns="0" rtlCol="0" anchor="ctr"/>
          <a:lstStyle/>
          <a:p>
            <a:pPr algn="ctr" indent="0" marL="0">
              <a:buNone/>
            </a:pPr>
            <a:r>
              <a:rPr lang="en-US" sz="5400" b="1" dirty="0">
                <a:solidFill>
                  <a:srgbClr val="FFFFFF"/>
                </a:solidFill>
                <a:latin typeface="Cambria" pitchFamily="34" charset="0"/>
                <a:ea typeface="Cambria" pitchFamily="34" charset="-122"/>
                <a:cs typeface="Cambria" pitchFamily="34" charset="-120"/>
              </a:rPr>
              <a:t>Merci</a:t>
            </a:r>
            <a:endParaRPr lang="en-US" sz="5400" dirty="0"/>
          </a:p>
        </p:txBody>
      </p:sp>
      <p:sp>
        <p:nvSpPr>
          <p:cNvPr id="5" name="Text 3"/>
          <p:cNvSpPr txBox="1"/>
          <p:nvPr/>
        </p:nvSpPr>
        <p:spPr>
          <a:xfrm>
            <a:off x="1371600" y="3566160"/>
            <a:ext cx="9418320" cy="548640"/>
          </a:xfrm>
          <a:prstGeom prst="rect">
            <a:avLst/>
          </a:prstGeom>
          <a:noFill/>
          <a:ln/>
        </p:spPr>
        <p:txBody>
          <a:bodyPr wrap="square" lIns="0" tIns="0" rIns="0" bIns="0" rtlCol="0" anchor="ctr"/>
          <a:lstStyle/>
          <a:p>
            <a:pPr algn="ctr" indent="0" marL="0">
              <a:buNone/>
            </a:pPr>
            <a:r>
              <a:rPr lang="en-US" sz="2000" dirty="0">
                <a:solidFill>
                  <a:srgbClr val="F2E5D8"/>
                </a:solidFill>
                <a:latin typeface="Calibri" pitchFamily="34" charset="0"/>
                <a:ea typeface="Calibri" pitchFamily="34" charset="-122"/>
                <a:cs typeface="Calibri" pitchFamily="34" charset="-120"/>
              </a:rPr>
              <a:t>Évaluation à chaud, remise du support et de la check-list de rentrée</a:t>
            </a:r>
            <a:endParaRPr lang="en-US" sz="2000" dirty="0"/>
          </a:p>
        </p:txBody>
      </p:sp>
      <p:sp>
        <p:nvSpPr>
          <p:cNvPr id="6" name="Text 4"/>
          <p:cNvSpPr txBox="1"/>
          <p:nvPr/>
        </p:nvSpPr>
        <p:spPr>
          <a:xfrm>
            <a:off x="1371600" y="4206240"/>
            <a:ext cx="9418320" cy="548640"/>
          </a:xfrm>
          <a:prstGeom prst="rect">
            <a:avLst/>
          </a:prstGeom>
          <a:noFill/>
          <a:ln/>
        </p:spPr>
        <p:txBody>
          <a:bodyPr wrap="square" lIns="0" tIns="0" rIns="0" bIns="0" rtlCol="0" anchor="ctr"/>
          <a:lstStyle/>
          <a:p>
            <a:pPr algn="ctr" indent="0" marL="0">
              <a:buNone/>
            </a:pPr>
            <a:r>
              <a:rPr lang="en-US" sz="1400" dirty="0">
                <a:solidFill>
                  <a:srgbClr val="D9A390"/>
                </a:solidFill>
                <a:latin typeface="Calibri" pitchFamily="34" charset="0"/>
                <a:ea typeface="Calibri" pitchFamily="34" charset="-122"/>
                <a:cs typeface="Calibri" pitchFamily="34" charset="-120"/>
              </a:rPr>
              <a:t>Prochaine actualité paie : les mesures de la LFSS 2027 et le bulletin clarifié, janvier 2027</a:t>
            </a:r>
            <a:endParaRPr lang="en-US" sz="1400" dirty="0"/>
          </a:p>
        </p:txBody>
      </p:sp>
      <p:sp>
        <p:nvSpPr>
          <p:cNvPr id="7" name="Text 5"/>
          <p:cNvSpPr txBox="1"/>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D9A390"/>
                </a:solidFill>
                <a:latin typeface="Calibri" pitchFamily="34" charset="0"/>
                <a:ea typeface="Calibri" pitchFamily="34" charset="-122"/>
                <a:cs typeface="Calibri" pitchFamily="34" charset="-120"/>
              </a:rPr>
              <a:t>Actualité paie · juin – septembre 2026</a:t>
            </a:r>
            <a:endParaRPr lang="en-US" sz="900" dirty="0"/>
          </a:p>
        </p:txBody>
      </p:sp>
      <p:sp>
        <p:nvSpPr>
          <p:cNvPr id="8" name="Text 6"/>
          <p:cNvSpPr txBox="1"/>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D9A390"/>
                </a:solidFill>
                <a:latin typeface="Calibri" pitchFamily="34" charset="0"/>
                <a:ea typeface="Calibri" pitchFamily="34" charset="-122"/>
                <a:cs typeface="Calibri" pitchFamily="34" charset="-120"/>
              </a:rPr>
              <a:t>63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Actualité paie juin – septembre 2026</dc:title>
  <dc:subject>PptxGenJS Presentation</dc:subject>
  <dc:creator>Formation paie</dc:creator>
  <cp:lastModifiedBy>Formation paie</cp:lastModifiedBy>
  <cp:revision>1</cp:revision>
  <dcterms:created xsi:type="dcterms:W3CDTF">2026-09-12T12:40:52Z</dcterms:created>
  <dcterms:modified xsi:type="dcterms:W3CDTF">2026-09-12T12:40:52Z</dcterms:modified>
</cp:coreProperties>
</file>