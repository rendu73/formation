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1.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5.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6.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25.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33.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34.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notesSlides/notesSlide41.xml" ContentType="application/vnd.openxmlformats-officedocument.presentationml.notesSlide+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notesSlides/notesSlide42.xml" ContentType="application/vnd.openxmlformats-officedocument.presentationml.notesSlide+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notesSlides/notesSlide57.xml" ContentType="application/vnd.openxmlformats-officedocument.presentationml.notesSlide+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notesSlides/notesSlide61.xml" ContentType="application/vnd.openxmlformats-officedocument.presentationml.notesSlide+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notesSlides/notesSlide62.xml" ContentType="application/vnd.openxmlformats-officedocument.presentationml.notesSlide+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notesSlides/notesSlide63.xml" ContentType="application/vnd.openxmlformats-officedocument.presentationml.notesSlide+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notesSlides/notesSlide64.xml" ContentType="application/vnd.openxmlformats-officedocument.presentationml.notesSlide+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diagrams/data28.xml" ContentType="application/vnd.openxmlformats-officedocument.drawingml.diagramData+xml"/>
  <Override PartName="/ppt/diagrams/layout28.xml" ContentType="application/vnd.openxmlformats-officedocument.drawingml.diagramLayout+xml"/>
  <Override PartName="/ppt/diagrams/quickStyle28.xml" ContentType="application/vnd.openxmlformats-officedocument.drawingml.diagramStyle+xml"/>
  <Override PartName="/ppt/diagrams/colors28.xml" ContentType="application/vnd.openxmlformats-officedocument.drawingml.diagramColors+xml"/>
  <Override PartName="/ppt/diagrams/drawing28.xml" ContentType="application/vnd.ms-office.drawingml.diagramDrawing+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diagrams/data29.xml" ContentType="application/vnd.openxmlformats-officedocument.drawingml.diagramData+xml"/>
  <Override PartName="/ppt/diagrams/layout29.xml" ContentType="application/vnd.openxmlformats-officedocument.drawingml.diagramLayout+xml"/>
  <Override PartName="/ppt/diagrams/quickStyle29.xml" ContentType="application/vnd.openxmlformats-officedocument.drawingml.diagramStyle+xml"/>
  <Override PartName="/ppt/diagrams/colors29.xml" ContentType="application/vnd.openxmlformats-officedocument.drawingml.diagramColors+xml"/>
  <Override PartName="/ppt/diagrams/drawing29.xml" ContentType="application/vnd.ms-office.drawingml.diagramDrawing+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diagrams/data30.xml" ContentType="application/vnd.openxmlformats-officedocument.drawingml.diagramData+xml"/>
  <Override PartName="/ppt/diagrams/layout30.xml" ContentType="application/vnd.openxmlformats-officedocument.drawingml.diagramLayout+xml"/>
  <Override PartName="/ppt/diagrams/quickStyle30.xml" ContentType="application/vnd.openxmlformats-officedocument.drawingml.diagramStyle+xml"/>
  <Override PartName="/ppt/diagrams/colors30.xml" ContentType="application/vnd.openxmlformats-officedocument.drawingml.diagramColors+xml"/>
  <Override PartName="/ppt/diagrams/drawing30.xml" ContentType="application/vnd.ms-office.drawingml.diagramDrawing+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diagrams/data31.xml" ContentType="application/vnd.openxmlformats-officedocument.drawingml.diagramData+xml"/>
  <Override PartName="/ppt/diagrams/layout31.xml" ContentType="application/vnd.openxmlformats-officedocument.drawingml.diagramLayout+xml"/>
  <Override PartName="/ppt/diagrams/quickStyle31.xml" ContentType="application/vnd.openxmlformats-officedocument.drawingml.diagramStyle+xml"/>
  <Override PartName="/ppt/diagrams/colors31.xml" ContentType="application/vnd.openxmlformats-officedocument.drawingml.diagramColors+xml"/>
  <Override PartName="/ppt/diagrams/drawing31.xml" ContentType="application/vnd.ms-office.drawingml.diagramDrawing+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diagrams/data32.xml" ContentType="application/vnd.openxmlformats-officedocument.drawingml.diagramData+xml"/>
  <Override PartName="/ppt/diagrams/layout32.xml" ContentType="application/vnd.openxmlformats-officedocument.drawingml.diagramLayout+xml"/>
  <Override PartName="/ppt/diagrams/quickStyle32.xml" ContentType="application/vnd.openxmlformats-officedocument.drawingml.diagramStyle+xml"/>
  <Override PartName="/ppt/diagrams/colors32.xml" ContentType="application/vnd.openxmlformats-officedocument.drawingml.diagramColors+xml"/>
  <Override PartName="/ppt/diagrams/drawing32.xml" ContentType="application/vnd.ms-office.drawingml.diagramDrawing+xml"/>
  <Override PartName="/ppt/notesSlides/notesSlide83.xml" ContentType="application/vnd.openxmlformats-officedocument.presentationml.notesSlide+xml"/>
  <Override PartName="/ppt/diagrams/data33.xml" ContentType="application/vnd.openxmlformats-officedocument.drawingml.diagramData+xml"/>
  <Override PartName="/ppt/diagrams/layout33.xml" ContentType="application/vnd.openxmlformats-officedocument.drawingml.diagramLayout+xml"/>
  <Override PartName="/ppt/diagrams/quickStyle33.xml" ContentType="application/vnd.openxmlformats-officedocument.drawingml.diagramStyle+xml"/>
  <Override PartName="/ppt/diagrams/colors33.xml" ContentType="application/vnd.openxmlformats-officedocument.drawingml.diagramColors+xml"/>
  <Override PartName="/ppt/diagrams/drawing33.xml" ContentType="application/vnd.ms-office.drawingml.diagramDrawing+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diagrams/data34.xml" ContentType="application/vnd.openxmlformats-officedocument.drawingml.diagramData+xml"/>
  <Override PartName="/ppt/diagrams/layout34.xml" ContentType="application/vnd.openxmlformats-officedocument.drawingml.diagramLayout+xml"/>
  <Override PartName="/ppt/diagrams/quickStyle34.xml" ContentType="application/vnd.openxmlformats-officedocument.drawingml.diagramStyle+xml"/>
  <Override PartName="/ppt/diagrams/colors34.xml" ContentType="application/vnd.openxmlformats-officedocument.drawingml.diagramColors+xml"/>
  <Override PartName="/ppt/diagrams/drawing34.xml" ContentType="application/vnd.ms-office.drawingml.diagramDrawing+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diagrams/data35.xml" ContentType="application/vnd.openxmlformats-officedocument.drawingml.diagramData+xml"/>
  <Override PartName="/ppt/diagrams/layout35.xml" ContentType="application/vnd.openxmlformats-officedocument.drawingml.diagramLayout+xml"/>
  <Override PartName="/ppt/diagrams/quickStyle35.xml" ContentType="application/vnd.openxmlformats-officedocument.drawingml.diagramStyle+xml"/>
  <Override PartName="/ppt/diagrams/colors35.xml" ContentType="application/vnd.openxmlformats-officedocument.drawingml.diagramColors+xml"/>
  <Override PartName="/ppt/diagrams/drawing35.xml" ContentType="application/vnd.ms-office.drawingml.diagramDrawing+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diagrams/data36.xml" ContentType="application/vnd.openxmlformats-officedocument.drawingml.diagramData+xml"/>
  <Override PartName="/ppt/diagrams/layout36.xml" ContentType="application/vnd.openxmlformats-officedocument.drawingml.diagramLayout+xml"/>
  <Override PartName="/ppt/diagrams/quickStyle36.xml" ContentType="application/vnd.openxmlformats-officedocument.drawingml.diagramStyle+xml"/>
  <Override PartName="/ppt/diagrams/colors36.xml" ContentType="application/vnd.openxmlformats-officedocument.drawingml.diagramColors+xml"/>
  <Override PartName="/ppt/diagrams/drawing36.xml" ContentType="application/vnd.ms-office.drawingml.diagramDrawing+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diagrams/data37.xml" ContentType="application/vnd.openxmlformats-officedocument.drawingml.diagramData+xml"/>
  <Override PartName="/ppt/diagrams/layout37.xml" ContentType="application/vnd.openxmlformats-officedocument.drawingml.diagramLayout+xml"/>
  <Override PartName="/ppt/diagrams/quickStyle37.xml" ContentType="application/vnd.openxmlformats-officedocument.drawingml.diagramStyle+xml"/>
  <Override PartName="/ppt/diagrams/colors37.xml" ContentType="application/vnd.openxmlformats-officedocument.drawingml.diagramColors+xml"/>
  <Override PartName="/ppt/diagrams/drawing37.xml" ContentType="application/vnd.ms-office.drawingml.diagramDrawing+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diagrams/data38.xml" ContentType="application/vnd.openxmlformats-officedocument.drawingml.diagramData+xml"/>
  <Override PartName="/ppt/diagrams/layout38.xml" ContentType="application/vnd.openxmlformats-officedocument.drawingml.diagramLayout+xml"/>
  <Override PartName="/ppt/diagrams/quickStyle38.xml" ContentType="application/vnd.openxmlformats-officedocument.drawingml.diagramStyle+xml"/>
  <Override PartName="/ppt/diagrams/colors38.xml" ContentType="application/vnd.openxmlformats-officedocument.drawingml.diagramColors+xml"/>
  <Override PartName="/ppt/diagrams/drawing38.xml" ContentType="application/vnd.ms-office.drawingml.diagramDrawing+xml"/>
  <Override PartName="/ppt/notesSlides/notesSlide98.xml" ContentType="application/vnd.openxmlformats-officedocument.presentationml.notesSlide+xml"/>
  <Override PartName="/ppt/diagrams/data39.xml" ContentType="application/vnd.openxmlformats-officedocument.drawingml.diagramData+xml"/>
  <Override PartName="/ppt/diagrams/layout39.xml" ContentType="application/vnd.openxmlformats-officedocument.drawingml.diagramLayout+xml"/>
  <Override PartName="/ppt/diagrams/quickStyle39.xml" ContentType="application/vnd.openxmlformats-officedocument.drawingml.diagramStyle+xml"/>
  <Override PartName="/ppt/diagrams/colors39.xml" ContentType="application/vnd.openxmlformats-officedocument.drawingml.diagramColors+xml"/>
  <Override PartName="/ppt/diagrams/drawing39.xml" ContentType="application/vnd.ms-office.drawingml.diagramDrawing+xml"/>
  <Override PartName="/ppt/notesSlides/notesSlide99.xml" ContentType="application/vnd.openxmlformats-officedocument.presentationml.notesSlide+xml"/>
  <Override PartName="/ppt/diagrams/data40.xml" ContentType="application/vnd.openxmlformats-officedocument.drawingml.diagramData+xml"/>
  <Override PartName="/ppt/diagrams/layout40.xml" ContentType="application/vnd.openxmlformats-officedocument.drawingml.diagramLayout+xml"/>
  <Override PartName="/ppt/diagrams/quickStyle40.xml" ContentType="application/vnd.openxmlformats-officedocument.drawingml.diagramStyle+xml"/>
  <Override PartName="/ppt/diagrams/colors40.xml" ContentType="application/vnd.openxmlformats-officedocument.drawingml.diagramColors+xml"/>
  <Override PartName="/ppt/diagrams/drawing40.xml" ContentType="application/vnd.ms-office.drawingml.diagramDrawing+xml"/>
  <Override PartName="/ppt/notesSlides/notesSlide100.xml" ContentType="application/vnd.openxmlformats-officedocument.presentationml.notesSlide+xml"/>
  <Override PartName="/ppt/diagrams/data41.xml" ContentType="application/vnd.openxmlformats-officedocument.drawingml.diagramData+xml"/>
  <Override PartName="/ppt/diagrams/layout41.xml" ContentType="application/vnd.openxmlformats-officedocument.drawingml.diagramLayout+xml"/>
  <Override PartName="/ppt/diagrams/quickStyle41.xml" ContentType="application/vnd.openxmlformats-officedocument.drawingml.diagramStyle+xml"/>
  <Override PartName="/ppt/diagrams/colors41.xml" ContentType="application/vnd.openxmlformats-officedocument.drawingml.diagramColors+xml"/>
  <Override PartName="/ppt/diagrams/drawing41.xml" ContentType="application/vnd.ms-office.drawingml.diagramDrawing+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diagrams/data42.xml" ContentType="application/vnd.openxmlformats-officedocument.drawingml.diagramData+xml"/>
  <Override PartName="/ppt/diagrams/layout42.xml" ContentType="application/vnd.openxmlformats-officedocument.drawingml.diagramLayout+xml"/>
  <Override PartName="/ppt/diagrams/quickStyle42.xml" ContentType="application/vnd.openxmlformats-officedocument.drawingml.diagramStyle+xml"/>
  <Override PartName="/ppt/diagrams/colors42.xml" ContentType="application/vnd.openxmlformats-officedocument.drawingml.diagramColors+xml"/>
  <Override PartName="/ppt/diagrams/drawing42.xml" ContentType="application/vnd.ms-office.drawingml.diagramDrawing+xml"/>
  <Override PartName="/ppt/notesSlides/notesSlide105.xml" ContentType="application/vnd.openxmlformats-officedocument.presentationml.notesSlide+xml"/>
  <Override PartName="/ppt/diagrams/data43.xml" ContentType="application/vnd.openxmlformats-officedocument.drawingml.diagramData+xml"/>
  <Override PartName="/ppt/diagrams/layout43.xml" ContentType="application/vnd.openxmlformats-officedocument.drawingml.diagramLayout+xml"/>
  <Override PartName="/ppt/diagrams/quickStyle43.xml" ContentType="application/vnd.openxmlformats-officedocument.drawingml.diagramStyle+xml"/>
  <Override PartName="/ppt/diagrams/colors43.xml" ContentType="application/vnd.openxmlformats-officedocument.drawingml.diagramColors+xml"/>
  <Override PartName="/ppt/diagrams/drawing43.xml" ContentType="application/vnd.ms-office.drawingml.diagramDrawing+xml"/>
  <Override PartName="/ppt/notesSlides/notesSlide106.xml" ContentType="application/vnd.openxmlformats-officedocument.presentationml.notesSlide+xml"/>
  <Override PartName="/ppt/diagrams/data44.xml" ContentType="application/vnd.openxmlformats-officedocument.drawingml.diagramData+xml"/>
  <Override PartName="/ppt/diagrams/layout44.xml" ContentType="application/vnd.openxmlformats-officedocument.drawingml.diagramLayout+xml"/>
  <Override PartName="/ppt/diagrams/quickStyle44.xml" ContentType="application/vnd.openxmlformats-officedocument.drawingml.diagramStyle+xml"/>
  <Override PartName="/ppt/diagrams/colors44.xml" ContentType="application/vnd.openxmlformats-officedocument.drawingml.diagramColors+xml"/>
  <Override PartName="/ppt/diagrams/drawing44.xml" ContentType="application/vnd.ms-office.drawingml.diagramDrawing+xml"/>
  <Override PartName="/ppt/notesSlides/notesSlide107.xml" ContentType="application/vnd.openxmlformats-officedocument.presentationml.notesSlide+xml"/>
  <Override PartName="/ppt/diagrams/data45.xml" ContentType="application/vnd.openxmlformats-officedocument.drawingml.diagramData+xml"/>
  <Override PartName="/ppt/diagrams/layout45.xml" ContentType="application/vnd.openxmlformats-officedocument.drawingml.diagramLayout+xml"/>
  <Override PartName="/ppt/diagrams/quickStyle45.xml" ContentType="application/vnd.openxmlformats-officedocument.drawingml.diagramStyle+xml"/>
  <Override PartName="/ppt/diagrams/colors45.xml" ContentType="application/vnd.openxmlformats-officedocument.drawingml.diagramColors+xml"/>
  <Override PartName="/ppt/diagrams/drawing45.xml" ContentType="application/vnd.ms-office.drawingml.diagramDrawing+xml"/>
  <Override PartName="/ppt/notesSlides/notesSlide108.xml" ContentType="application/vnd.openxmlformats-officedocument.presentationml.notesSlide+xml"/>
  <Override PartName="/ppt/diagrams/data46.xml" ContentType="application/vnd.openxmlformats-officedocument.drawingml.diagramData+xml"/>
  <Override PartName="/ppt/diagrams/layout46.xml" ContentType="application/vnd.openxmlformats-officedocument.drawingml.diagramLayout+xml"/>
  <Override PartName="/ppt/diagrams/quickStyle46.xml" ContentType="application/vnd.openxmlformats-officedocument.drawingml.diagramStyle+xml"/>
  <Override PartName="/ppt/diagrams/colors46.xml" ContentType="application/vnd.openxmlformats-officedocument.drawingml.diagramColors+xml"/>
  <Override PartName="/ppt/diagrams/drawing46.xml" ContentType="application/vnd.ms-office.drawingml.diagramDrawing+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29"/>
  </p:notesMasterIdLst>
  <p:handoutMasterIdLst>
    <p:handoutMasterId r:id="rId130"/>
  </p:handoutMasterIdLst>
  <p:sldIdLst>
    <p:sldId id="288" r:id="rId5"/>
    <p:sldId id="351" r:id="rId6"/>
    <p:sldId id="352" r:id="rId7"/>
    <p:sldId id="359" r:id="rId8"/>
    <p:sldId id="405" r:id="rId9"/>
    <p:sldId id="260" r:id="rId10"/>
    <p:sldId id="370" r:id="rId11"/>
    <p:sldId id="416" r:id="rId12"/>
    <p:sldId id="427" r:id="rId13"/>
    <p:sldId id="261" r:id="rId14"/>
    <p:sldId id="262" r:id="rId15"/>
    <p:sldId id="263" r:id="rId16"/>
    <p:sldId id="264" r:id="rId17"/>
    <p:sldId id="265" r:id="rId18"/>
    <p:sldId id="266" r:id="rId19"/>
    <p:sldId id="269" r:id="rId20"/>
    <p:sldId id="417" r:id="rId21"/>
    <p:sldId id="272" r:id="rId22"/>
    <p:sldId id="271" r:id="rId23"/>
    <p:sldId id="426" r:id="rId24"/>
    <p:sldId id="428" r:id="rId25"/>
    <p:sldId id="274" r:id="rId26"/>
    <p:sldId id="429" r:id="rId27"/>
    <p:sldId id="430" r:id="rId28"/>
    <p:sldId id="431" r:id="rId29"/>
    <p:sldId id="432" r:id="rId30"/>
    <p:sldId id="279" r:id="rId31"/>
    <p:sldId id="280" r:id="rId32"/>
    <p:sldId id="409" r:id="rId33"/>
    <p:sldId id="385" r:id="rId34"/>
    <p:sldId id="419" r:id="rId35"/>
    <p:sldId id="433" r:id="rId36"/>
    <p:sldId id="369" r:id="rId37"/>
    <p:sldId id="434" r:id="rId38"/>
    <p:sldId id="435" r:id="rId39"/>
    <p:sldId id="436" r:id="rId40"/>
    <p:sldId id="373" r:id="rId41"/>
    <p:sldId id="285" r:id="rId42"/>
    <p:sldId id="375" r:id="rId43"/>
    <p:sldId id="286" r:id="rId44"/>
    <p:sldId id="437" r:id="rId45"/>
    <p:sldId id="438" r:id="rId46"/>
    <p:sldId id="376" r:id="rId47"/>
    <p:sldId id="290" r:id="rId48"/>
    <p:sldId id="291" r:id="rId49"/>
    <p:sldId id="439" r:id="rId50"/>
    <p:sldId id="292" r:id="rId51"/>
    <p:sldId id="397" r:id="rId52"/>
    <p:sldId id="293" r:id="rId53"/>
    <p:sldId id="294" r:id="rId54"/>
    <p:sldId id="295" r:id="rId55"/>
    <p:sldId id="296" r:id="rId56"/>
    <p:sldId id="297" r:id="rId57"/>
    <p:sldId id="387" r:id="rId58"/>
    <p:sldId id="298" r:id="rId59"/>
    <p:sldId id="299" r:id="rId60"/>
    <p:sldId id="353" r:id="rId61"/>
    <p:sldId id="300" r:id="rId62"/>
    <p:sldId id="301" r:id="rId63"/>
    <p:sldId id="421" r:id="rId64"/>
    <p:sldId id="422" r:id="rId65"/>
    <p:sldId id="303" r:id="rId66"/>
    <p:sldId id="304" r:id="rId67"/>
    <p:sldId id="380" r:id="rId68"/>
    <p:sldId id="306" r:id="rId69"/>
    <p:sldId id="425" r:id="rId70"/>
    <p:sldId id="355" r:id="rId71"/>
    <p:sldId id="388" r:id="rId72"/>
    <p:sldId id="309" r:id="rId73"/>
    <p:sldId id="399" r:id="rId74"/>
    <p:sldId id="400" r:id="rId75"/>
    <p:sldId id="310" r:id="rId76"/>
    <p:sldId id="311" r:id="rId77"/>
    <p:sldId id="401" r:id="rId78"/>
    <p:sldId id="312" r:id="rId79"/>
    <p:sldId id="313" r:id="rId80"/>
    <p:sldId id="314" r:id="rId81"/>
    <p:sldId id="315" r:id="rId82"/>
    <p:sldId id="316" r:id="rId83"/>
    <p:sldId id="356" r:id="rId84"/>
    <p:sldId id="317" r:id="rId85"/>
    <p:sldId id="318" r:id="rId86"/>
    <p:sldId id="319" r:id="rId87"/>
    <p:sldId id="320" r:id="rId88"/>
    <p:sldId id="321" r:id="rId89"/>
    <p:sldId id="322" r:id="rId90"/>
    <p:sldId id="323" r:id="rId91"/>
    <p:sldId id="324" r:id="rId92"/>
    <p:sldId id="326" r:id="rId93"/>
    <p:sldId id="327" r:id="rId94"/>
    <p:sldId id="328" r:id="rId95"/>
    <p:sldId id="329" r:id="rId96"/>
    <p:sldId id="330" r:id="rId97"/>
    <p:sldId id="331" r:id="rId98"/>
    <p:sldId id="332" r:id="rId99"/>
    <p:sldId id="333" r:id="rId100"/>
    <p:sldId id="334" r:id="rId101"/>
    <p:sldId id="424" r:id="rId102"/>
    <p:sldId id="357" r:id="rId103"/>
    <p:sldId id="335" r:id="rId104"/>
    <p:sldId id="336" r:id="rId105"/>
    <p:sldId id="337" r:id="rId106"/>
    <p:sldId id="381" r:id="rId107"/>
    <p:sldId id="338" r:id="rId108"/>
    <p:sldId id="440" r:id="rId109"/>
    <p:sldId id="339" r:id="rId110"/>
    <p:sldId id="441" r:id="rId111"/>
    <p:sldId id="442" r:id="rId112"/>
    <p:sldId id="391" r:id="rId113"/>
    <p:sldId id="392" r:id="rId114"/>
    <p:sldId id="393" r:id="rId115"/>
    <p:sldId id="394" r:id="rId116"/>
    <p:sldId id="273" r:id="rId117"/>
    <p:sldId id="275" r:id="rId118"/>
    <p:sldId id="259" r:id="rId119"/>
    <p:sldId id="282" r:id="rId120"/>
    <p:sldId id="287" r:id="rId121"/>
    <p:sldId id="281" r:id="rId122"/>
    <p:sldId id="283" r:id="rId123"/>
    <p:sldId id="284" r:id="rId124"/>
    <p:sldId id="276" r:id="rId125"/>
    <p:sldId id="277" r:id="rId126"/>
    <p:sldId id="267" r:id="rId127"/>
    <p:sldId id="278" r:id="rId128"/>
  </p:sldIdLst>
  <p:sldSz cx="12192000" cy="6858000"/>
  <p:notesSz cx="6858000" cy="9144000"/>
  <p:defaultTextStyle>
    <a:defPPr rtl="0">
      <a:defRPr lang="fr-FR"/>
    </a:defPPr>
    <a:lvl1pPr marL="0" algn="l" defTabSz="914400" rtl="0" eaLnBrk="1" latinLnBrk="0" hangingPunct="1">
      <a:defRPr lang="fr-FR" sz="1800" kern="1200">
        <a:solidFill>
          <a:schemeClr val="tx1"/>
        </a:solidFill>
        <a:latin typeface="+mn-lt"/>
        <a:ea typeface="+mn-ea"/>
        <a:cs typeface="+mn-cs"/>
      </a:defRPr>
    </a:lvl1pPr>
    <a:lvl2pPr marL="457200" algn="l" defTabSz="914400" rtl="0" eaLnBrk="1" latinLnBrk="0" hangingPunct="1">
      <a:defRPr lang="fr-FR" sz="1800" kern="1200">
        <a:solidFill>
          <a:schemeClr val="tx1"/>
        </a:solidFill>
        <a:latin typeface="+mn-lt"/>
        <a:ea typeface="+mn-ea"/>
        <a:cs typeface="+mn-cs"/>
      </a:defRPr>
    </a:lvl2pPr>
    <a:lvl3pPr marL="914400" algn="l" defTabSz="914400" rtl="0" eaLnBrk="1" latinLnBrk="0" hangingPunct="1">
      <a:defRPr lang="fr-FR" sz="1800" kern="1200">
        <a:solidFill>
          <a:schemeClr val="tx1"/>
        </a:solidFill>
        <a:latin typeface="+mn-lt"/>
        <a:ea typeface="+mn-ea"/>
        <a:cs typeface="+mn-cs"/>
      </a:defRPr>
    </a:lvl3pPr>
    <a:lvl4pPr marL="1371600" algn="l" defTabSz="914400" rtl="0" eaLnBrk="1" latinLnBrk="0" hangingPunct="1">
      <a:defRPr lang="fr-FR" sz="1800" kern="1200">
        <a:solidFill>
          <a:schemeClr val="tx1"/>
        </a:solidFill>
        <a:latin typeface="+mn-lt"/>
        <a:ea typeface="+mn-ea"/>
        <a:cs typeface="+mn-cs"/>
      </a:defRPr>
    </a:lvl4pPr>
    <a:lvl5pPr marL="1828800" algn="l" defTabSz="914400" rtl="0" eaLnBrk="1" latinLnBrk="0" hangingPunct="1">
      <a:defRPr lang="fr-FR" sz="1800" kern="1200">
        <a:solidFill>
          <a:schemeClr val="tx1"/>
        </a:solidFill>
        <a:latin typeface="+mn-lt"/>
        <a:ea typeface="+mn-ea"/>
        <a:cs typeface="+mn-cs"/>
      </a:defRPr>
    </a:lvl5pPr>
    <a:lvl6pPr marL="2286000" algn="l" defTabSz="914400" rtl="0" eaLnBrk="1" latinLnBrk="0" hangingPunct="1">
      <a:defRPr lang="fr-FR" sz="1800" kern="1200">
        <a:solidFill>
          <a:schemeClr val="tx1"/>
        </a:solidFill>
        <a:latin typeface="+mn-lt"/>
        <a:ea typeface="+mn-ea"/>
        <a:cs typeface="+mn-cs"/>
      </a:defRPr>
    </a:lvl6pPr>
    <a:lvl7pPr marL="2743200" algn="l" defTabSz="914400" rtl="0" eaLnBrk="1" latinLnBrk="0" hangingPunct="1">
      <a:defRPr lang="fr-FR" sz="1800" kern="1200">
        <a:solidFill>
          <a:schemeClr val="tx1"/>
        </a:solidFill>
        <a:latin typeface="+mn-lt"/>
        <a:ea typeface="+mn-ea"/>
        <a:cs typeface="+mn-cs"/>
      </a:defRPr>
    </a:lvl7pPr>
    <a:lvl8pPr marL="3200400" algn="l" defTabSz="914400" rtl="0" eaLnBrk="1" latinLnBrk="0" hangingPunct="1">
      <a:defRPr lang="fr-FR" sz="1800" kern="1200">
        <a:solidFill>
          <a:schemeClr val="tx1"/>
        </a:solidFill>
        <a:latin typeface="+mn-lt"/>
        <a:ea typeface="+mn-ea"/>
        <a:cs typeface="+mn-cs"/>
      </a:defRPr>
    </a:lvl8pPr>
    <a:lvl9pPr marL="3657600" algn="l" defTabSz="914400" rtl="0" eaLnBrk="1" latinLnBrk="0" hangingPunct="1">
      <a:defRPr lang="fr-F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12C8C85-51F0-491E-9774-3900AFEF0F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94" autoAdjust="0"/>
  </p:normalViewPr>
  <p:slideViewPr>
    <p:cSldViewPr snapToGrid="0">
      <p:cViewPr varScale="1">
        <p:scale>
          <a:sx n="105" d="100"/>
          <a:sy n="105" d="100"/>
        </p:scale>
        <p:origin x="834" y="96"/>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92" d="100"/>
          <a:sy n="92" d="100"/>
        </p:scale>
        <p:origin x="3732" y="342"/>
      </p:cViewPr>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1" Type="http://schemas.openxmlformats.org/officeDocument/2006/relationships/slide" Target="slides/slide17.xml"/><Relationship Id="rId42" Type="http://schemas.openxmlformats.org/officeDocument/2006/relationships/slide" Target="slides/slide38.xml"/><Relationship Id="rId63" Type="http://schemas.openxmlformats.org/officeDocument/2006/relationships/slide" Target="slides/slide59.xml"/><Relationship Id="rId84" Type="http://schemas.openxmlformats.org/officeDocument/2006/relationships/slide" Target="slides/slide80.xml"/><Relationship Id="rId16" Type="http://schemas.openxmlformats.org/officeDocument/2006/relationships/slide" Target="slides/slide12.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28" Type="http://schemas.openxmlformats.org/officeDocument/2006/relationships/slide" Target="slides/slide124.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113" Type="http://schemas.openxmlformats.org/officeDocument/2006/relationships/slide" Target="slides/slide109.xml"/><Relationship Id="rId118" Type="http://schemas.openxmlformats.org/officeDocument/2006/relationships/slide" Target="slides/slide114.xml"/><Relationship Id="rId134" Type="http://schemas.openxmlformats.org/officeDocument/2006/relationships/tableStyles" Target="tableStyles.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slide" Target="slides/slide104.xml"/><Relationship Id="rId124" Type="http://schemas.openxmlformats.org/officeDocument/2006/relationships/slide" Target="slides/slide120.xml"/><Relationship Id="rId129" Type="http://schemas.openxmlformats.org/officeDocument/2006/relationships/notesMaster" Target="notesMasters/notesMaster1.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23" Type="http://schemas.openxmlformats.org/officeDocument/2006/relationships/slide" Target="slides/slide19.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119" Type="http://schemas.openxmlformats.org/officeDocument/2006/relationships/slide" Target="slides/slide115.xml"/><Relationship Id="rId44" Type="http://schemas.openxmlformats.org/officeDocument/2006/relationships/slide" Target="slides/slide40.xml"/><Relationship Id="rId60" Type="http://schemas.openxmlformats.org/officeDocument/2006/relationships/slide" Target="slides/slide56.xml"/><Relationship Id="rId65" Type="http://schemas.openxmlformats.org/officeDocument/2006/relationships/slide" Target="slides/slide61.xml"/><Relationship Id="rId81" Type="http://schemas.openxmlformats.org/officeDocument/2006/relationships/slide" Target="slides/slide77.xml"/><Relationship Id="rId86" Type="http://schemas.openxmlformats.org/officeDocument/2006/relationships/slide" Target="slides/slide82.xml"/><Relationship Id="rId130" Type="http://schemas.openxmlformats.org/officeDocument/2006/relationships/handoutMaster" Target="handoutMasters/handoutMaster1.xml"/><Relationship Id="rId135" Type="http://schemas.microsoft.com/office/2018/10/relationships/authors" Target="authors.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120" Type="http://schemas.openxmlformats.org/officeDocument/2006/relationships/slide" Target="slides/slide116.xml"/><Relationship Id="rId125" Type="http://schemas.openxmlformats.org/officeDocument/2006/relationships/slide" Target="slides/slide121.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slide" Target="slides/slide111.xml"/><Relationship Id="rId131" Type="http://schemas.openxmlformats.org/officeDocument/2006/relationships/presProps" Target="presProps.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126" Type="http://schemas.openxmlformats.org/officeDocument/2006/relationships/slide" Target="slides/slide122.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slide" Target="slides/slide117.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slide" Target="slides/slide112.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32" Type="http://schemas.openxmlformats.org/officeDocument/2006/relationships/viewProps" Target="viewProps.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27" Type="http://schemas.openxmlformats.org/officeDocument/2006/relationships/slide" Target="slides/slide123.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4" Type="http://schemas.openxmlformats.org/officeDocument/2006/relationships/slideMaster" Target="slideMasters/slideMaster1.xml"/><Relationship Id="rId9" Type="http://schemas.openxmlformats.org/officeDocument/2006/relationships/slide" Target="slides/slide5.xml"/><Relationship Id="rId26" Type="http://schemas.openxmlformats.org/officeDocument/2006/relationships/slide" Target="slides/slide22.xml"/><Relationship Id="rId47" Type="http://schemas.openxmlformats.org/officeDocument/2006/relationships/slide" Target="slides/slide43.xml"/><Relationship Id="rId68" Type="http://schemas.openxmlformats.org/officeDocument/2006/relationships/slide" Target="slides/slide64.xml"/><Relationship Id="rId89" Type="http://schemas.openxmlformats.org/officeDocument/2006/relationships/slide" Target="slides/slide85.xml"/><Relationship Id="rId112" Type="http://schemas.openxmlformats.org/officeDocument/2006/relationships/slide" Target="slides/slide108.xml"/><Relationship Id="rId133" Type="http://schemas.openxmlformats.org/officeDocument/2006/relationships/theme" Target="theme/theme1.xml"/></Relationships>
</file>

<file path=ppt/diagrams/_rels/data39.xml.rels><?xml version="1.0" encoding="UTF-8" standalone="yes"?>
<Relationships xmlns="http://schemas.openxmlformats.org/package/2006/relationships"><Relationship Id="rId1" Type="http://schemas.openxmlformats.org/officeDocument/2006/relationships/hyperlink" Target="http://www.editions-tissot.fr/actualite/droit-du-travail.aspx?actualite=ch%C3%B4mage+intemp%C3%A9ries&amp;secteur=BTP&amp;mode=mot&amp;idmot=264" TargetMode="External"/></Relationships>
</file>

<file path=ppt/diagrams/_rels/drawing39.xml.rels><?xml version="1.0" encoding="UTF-8" standalone="yes"?>
<Relationships xmlns="http://schemas.openxmlformats.org/package/2006/relationships"><Relationship Id="rId1" Type="http://schemas.openxmlformats.org/officeDocument/2006/relationships/hyperlink" Target="http://www.editions-tissot.fr/actualite/droit-du-travail.aspx?actualite=ch%C3%B4mage+intemp%C3%A9ries&amp;secteur=BTP&amp;mode=mot&amp;idmot=264" TargetMode="External"/></Relationships>
</file>

<file path=ppt/diagrams/colors1.xml><?xml version="1.0" encoding="utf-8"?>
<dgm:colorsDef xmlns:dgm="http://schemas.openxmlformats.org/drawingml/2006/diagram" xmlns:a="http://schemas.openxmlformats.org/drawingml/2006/main" uniqueId="urn:microsoft.com/office/officeart/2005/8/colors/accent1_2#77">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78">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79">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80">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8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8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83">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84">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85">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86">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87">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88">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89">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90">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9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9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93">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94">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95">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96">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97">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98">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1_2#99">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1_2#100">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1_2#10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accent1_2#10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accent1_2#103">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05/8/colors/accent1_2#104">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xml><?xml version="1.0" encoding="utf-8"?>
<dgm:colorsDef xmlns:dgm="http://schemas.openxmlformats.org/drawingml/2006/diagram" xmlns:a="http://schemas.openxmlformats.org/drawingml/2006/main" uniqueId="urn:microsoft.com/office/officeart/2005/8/colors/accent1_2#105">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0.xml><?xml version="1.0" encoding="utf-8"?>
<dgm:colorsDef xmlns:dgm="http://schemas.openxmlformats.org/drawingml/2006/diagram" xmlns:a="http://schemas.openxmlformats.org/drawingml/2006/main" uniqueId="urn:microsoft.com/office/officeart/2005/8/colors/accent1_2#106">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1.xml><?xml version="1.0" encoding="utf-8"?>
<dgm:colorsDef xmlns:dgm="http://schemas.openxmlformats.org/drawingml/2006/diagram" xmlns:a="http://schemas.openxmlformats.org/drawingml/2006/main" uniqueId="urn:microsoft.com/office/officeart/2005/8/colors/accent1_2#107">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2.xml><?xml version="1.0" encoding="utf-8"?>
<dgm:colorsDef xmlns:dgm="http://schemas.openxmlformats.org/drawingml/2006/diagram" xmlns:a="http://schemas.openxmlformats.org/drawingml/2006/main" uniqueId="urn:microsoft.com/office/officeart/2005/8/colors/accent1_2#108">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3.xml><?xml version="1.0" encoding="utf-8"?>
<dgm:colorsDef xmlns:dgm="http://schemas.openxmlformats.org/drawingml/2006/diagram" xmlns:a="http://schemas.openxmlformats.org/drawingml/2006/main" uniqueId="urn:microsoft.com/office/officeart/2005/8/colors/accent1_2#109">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4.xml><?xml version="1.0" encoding="utf-8"?>
<dgm:colorsDef xmlns:dgm="http://schemas.openxmlformats.org/drawingml/2006/diagram" xmlns:a="http://schemas.openxmlformats.org/drawingml/2006/main" uniqueId="urn:microsoft.com/office/officeart/2005/8/colors/accent1_2#110">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5.xml><?xml version="1.0" encoding="utf-8"?>
<dgm:colorsDef xmlns:dgm="http://schemas.openxmlformats.org/drawingml/2006/diagram" xmlns:a="http://schemas.openxmlformats.org/drawingml/2006/main" uniqueId="urn:microsoft.com/office/officeart/2005/8/colors/accent1_2#11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6.xml><?xml version="1.0" encoding="utf-8"?>
<dgm:colorsDef xmlns:dgm="http://schemas.openxmlformats.org/drawingml/2006/diagram" xmlns:a="http://schemas.openxmlformats.org/drawingml/2006/main" uniqueId="urn:microsoft.com/office/officeart/2005/8/colors/accent1_2#11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7.xml><?xml version="1.0" encoding="utf-8"?>
<dgm:colorsDef xmlns:dgm="http://schemas.openxmlformats.org/drawingml/2006/diagram" xmlns:a="http://schemas.openxmlformats.org/drawingml/2006/main" uniqueId="urn:microsoft.com/office/officeart/2005/8/colors/accent1_2#113">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8.xml><?xml version="1.0" encoding="utf-8"?>
<dgm:colorsDef xmlns:dgm="http://schemas.openxmlformats.org/drawingml/2006/diagram" xmlns:a="http://schemas.openxmlformats.org/drawingml/2006/main" uniqueId="urn:microsoft.com/office/officeart/2005/8/colors/accent1_2#114">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9.xml><?xml version="1.0" encoding="utf-8"?>
<dgm:colorsDef xmlns:dgm="http://schemas.openxmlformats.org/drawingml/2006/diagram" xmlns:a="http://schemas.openxmlformats.org/drawingml/2006/main" uniqueId="urn:microsoft.com/office/officeart/2005/8/colors/accent1_2#115">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0.xml><?xml version="1.0" encoding="utf-8"?>
<dgm:colorsDef xmlns:dgm="http://schemas.openxmlformats.org/drawingml/2006/diagram" xmlns:a="http://schemas.openxmlformats.org/drawingml/2006/main" uniqueId="urn:microsoft.com/office/officeart/2005/8/colors/accent1_2#116">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1.xml><?xml version="1.0" encoding="utf-8"?>
<dgm:colorsDef xmlns:dgm="http://schemas.openxmlformats.org/drawingml/2006/diagram" xmlns:a="http://schemas.openxmlformats.org/drawingml/2006/main" uniqueId="urn:microsoft.com/office/officeart/2005/8/colors/accent1_2#117">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2.xml><?xml version="1.0" encoding="utf-8"?>
<dgm:colorsDef xmlns:dgm="http://schemas.openxmlformats.org/drawingml/2006/diagram" xmlns:a="http://schemas.openxmlformats.org/drawingml/2006/main" uniqueId="urn:microsoft.com/office/officeart/2005/8/colors/accent1_2#118">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3.xml><?xml version="1.0" encoding="utf-8"?>
<dgm:colorsDef xmlns:dgm="http://schemas.openxmlformats.org/drawingml/2006/diagram" xmlns:a="http://schemas.openxmlformats.org/drawingml/2006/main" uniqueId="urn:microsoft.com/office/officeart/2005/8/colors/accent1_2#119">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4.xml><?xml version="1.0" encoding="utf-8"?>
<dgm:colorsDef xmlns:dgm="http://schemas.openxmlformats.org/drawingml/2006/diagram" xmlns:a="http://schemas.openxmlformats.org/drawingml/2006/main" uniqueId="urn:microsoft.com/office/officeart/2005/8/colors/accent1_2#120">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5.xml><?xml version="1.0" encoding="utf-8"?>
<dgm:colorsDef xmlns:dgm="http://schemas.openxmlformats.org/drawingml/2006/diagram" xmlns:a="http://schemas.openxmlformats.org/drawingml/2006/main" uniqueId="urn:microsoft.com/office/officeart/2005/8/colors/accent1_2#1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6.xml><?xml version="1.0" encoding="utf-8"?>
<dgm:colorsDef xmlns:dgm="http://schemas.openxmlformats.org/drawingml/2006/diagram" xmlns:a="http://schemas.openxmlformats.org/drawingml/2006/main" uniqueId="urn:microsoft.com/office/officeart/2005/8/colors/accent1_2#12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AB478B6-668A-418B-BE2A-F2B937F5D4F1}" type="doc">
      <dgm:prSet loTypeId="urn:microsoft.com/office/officeart/2005/8/layout/hList1" loCatId="list" qsTypeId="urn:microsoft.com/office/officeart/2005/8/quickstyle/simple1#124" qsCatId="simple" csTypeId="urn:microsoft.com/office/officeart/2005/8/colors/accent1_2#77" csCatId="accent1" phldr="1"/>
      <dgm:spPr/>
      <dgm:t>
        <a:bodyPr/>
        <a:lstStyle/>
        <a:p>
          <a:endParaRPr lang="fr-FR"/>
        </a:p>
      </dgm:t>
    </dgm:pt>
    <dgm:pt modelId="{EF5B1093-9EB4-4A98-BFB3-3AC51002DEB0}">
      <dgm:prSet phldrT="[Texte]" custT="1"/>
      <dgm:spPr/>
      <dgm:t>
        <a:bodyPr/>
        <a:lstStyle/>
        <a:p>
          <a:r>
            <a:rPr lang="fr-FR" sz="1600" dirty="0"/>
            <a:t>Bloc 1 - Domaines réservés</a:t>
          </a:r>
          <a:br>
            <a:rPr lang="fr-FR" sz="1600" dirty="0"/>
          </a:br>
          <a:r>
            <a:rPr lang="fr-FR" sz="1600" dirty="0"/>
            <a:t>à la branche</a:t>
          </a:r>
        </a:p>
      </dgm:t>
    </dgm:pt>
    <dgm:pt modelId="{8833DC98-06AA-48B4-A877-03F9FF393F5F}" type="parTrans" cxnId="{2B73AFEA-7F51-4673-9E06-579714E1B066}">
      <dgm:prSet/>
      <dgm:spPr/>
      <dgm:t>
        <a:bodyPr/>
        <a:lstStyle/>
        <a:p>
          <a:endParaRPr lang="fr-FR"/>
        </a:p>
      </dgm:t>
    </dgm:pt>
    <dgm:pt modelId="{52CD6121-0817-4E79-9B8E-E35DA419E836}" type="sibTrans" cxnId="{2B73AFEA-7F51-4673-9E06-579714E1B066}">
      <dgm:prSet/>
      <dgm:spPr/>
      <dgm:t>
        <a:bodyPr/>
        <a:lstStyle/>
        <a:p>
          <a:endParaRPr lang="fr-FR"/>
        </a:p>
      </dgm:t>
    </dgm:pt>
    <dgm:pt modelId="{D4370A19-6023-4DAA-AA99-61D07026745C}">
      <dgm:prSet phldrT="[Texte]" custT="1"/>
      <dgm:spPr/>
      <dgm:t>
        <a:bodyPr/>
        <a:lstStyle/>
        <a:p>
          <a:pPr>
            <a:buFont typeface="Wingdings" panose="05000000000000000000" pitchFamily="2" charset="2"/>
            <a:buChar char="§"/>
          </a:pPr>
          <a:r>
            <a:rPr lang="fr-FR" sz="1300" i="1" dirty="0"/>
            <a:t>Salaires minima</a:t>
          </a:r>
          <a:endParaRPr lang="fr-FR" sz="1300" dirty="0"/>
        </a:p>
      </dgm:t>
    </dgm:pt>
    <dgm:pt modelId="{397C7DEB-2A6E-4ABC-9151-B405C2B893BC}" type="parTrans" cxnId="{BE77145C-CF62-49EE-AF5C-87025041B7B0}">
      <dgm:prSet/>
      <dgm:spPr/>
      <dgm:t>
        <a:bodyPr/>
        <a:lstStyle/>
        <a:p>
          <a:endParaRPr lang="fr-FR"/>
        </a:p>
      </dgm:t>
    </dgm:pt>
    <dgm:pt modelId="{17EBAB7B-AD02-4059-9521-DC99AC397991}" type="sibTrans" cxnId="{BE77145C-CF62-49EE-AF5C-87025041B7B0}">
      <dgm:prSet/>
      <dgm:spPr/>
      <dgm:t>
        <a:bodyPr/>
        <a:lstStyle/>
        <a:p>
          <a:endParaRPr lang="fr-FR"/>
        </a:p>
      </dgm:t>
    </dgm:pt>
    <dgm:pt modelId="{68AC1812-35DC-42EA-B104-56FC853D8E8D}">
      <dgm:prSet phldrT="[Texte]" custT="1"/>
      <dgm:spPr/>
      <dgm:t>
        <a:bodyPr/>
        <a:lstStyle/>
        <a:p>
          <a:r>
            <a:rPr lang="fr-FR" sz="1600" dirty="0"/>
            <a:t>Bloc 2 - Clause de verrouillage possible</a:t>
          </a:r>
        </a:p>
      </dgm:t>
    </dgm:pt>
    <dgm:pt modelId="{D94B2A5C-95DF-4231-8306-80A7E0B1A15F}" type="parTrans" cxnId="{32A357F0-F7BA-4486-9AD0-7FEA07551737}">
      <dgm:prSet/>
      <dgm:spPr/>
      <dgm:t>
        <a:bodyPr/>
        <a:lstStyle/>
        <a:p>
          <a:endParaRPr lang="fr-FR"/>
        </a:p>
      </dgm:t>
    </dgm:pt>
    <dgm:pt modelId="{9795D2A2-B544-487E-B508-782920585286}" type="sibTrans" cxnId="{32A357F0-F7BA-4486-9AD0-7FEA07551737}">
      <dgm:prSet/>
      <dgm:spPr/>
      <dgm:t>
        <a:bodyPr/>
        <a:lstStyle/>
        <a:p>
          <a:endParaRPr lang="fr-FR"/>
        </a:p>
      </dgm:t>
    </dgm:pt>
    <dgm:pt modelId="{1F53C856-0485-4902-B2EA-5083FF5567AF}">
      <dgm:prSet phldrT="[Texte]" custT="1"/>
      <dgm:spPr/>
      <dgm:t>
        <a:bodyPr/>
        <a:lstStyle/>
        <a:p>
          <a:pPr>
            <a:buFont typeface="Wingdings" panose="05000000000000000000" pitchFamily="2" charset="2"/>
            <a:buChar char="§"/>
          </a:pPr>
          <a:r>
            <a:rPr lang="fr-FR" sz="1300" i="1" dirty="0"/>
            <a:t>Primes pour travaux dangereux ou insalubres</a:t>
          </a:r>
          <a:endParaRPr lang="fr-FR" sz="1300" dirty="0"/>
        </a:p>
      </dgm:t>
    </dgm:pt>
    <dgm:pt modelId="{E587B6B3-1B1B-4AAD-877D-C8EDE79D2A43}" type="parTrans" cxnId="{9D8F3562-A237-44D6-B8EE-219AC7C25931}">
      <dgm:prSet/>
      <dgm:spPr/>
      <dgm:t>
        <a:bodyPr/>
        <a:lstStyle/>
        <a:p>
          <a:endParaRPr lang="fr-FR"/>
        </a:p>
      </dgm:t>
    </dgm:pt>
    <dgm:pt modelId="{A0EC9767-8495-4AB9-B3CC-A95D644535BB}" type="sibTrans" cxnId="{9D8F3562-A237-44D6-B8EE-219AC7C25931}">
      <dgm:prSet/>
      <dgm:spPr/>
      <dgm:t>
        <a:bodyPr/>
        <a:lstStyle/>
        <a:p>
          <a:endParaRPr lang="fr-FR"/>
        </a:p>
      </dgm:t>
    </dgm:pt>
    <dgm:pt modelId="{BEBDD16E-B4DA-419F-8167-A7EE9BCB9BD5}">
      <dgm:prSet phldrT="[Texte]" custT="1"/>
      <dgm:spPr/>
      <dgm:t>
        <a:bodyPr/>
        <a:lstStyle/>
        <a:p>
          <a:r>
            <a:rPr lang="fr-FR" sz="1600" dirty="0"/>
            <a:t>Bloc 2 - L’accord de branche prime</a:t>
          </a:r>
        </a:p>
      </dgm:t>
    </dgm:pt>
    <dgm:pt modelId="{B3035010-F5A6-4069-9A01-73134547DFC4}" type="parTrans" cxnId="{639425CB-00A8-4608-B810-2C131F6966DD}">
      <dgm:prSet/>
      <dgm:spPr/>
      <dgm:t>
        <a:bodyPr/>
        <a:lstStyle/>
        <a:p>
          <a:endParaRPr lang="fr-FR"/>
        </a:p>
      </dgm:t>
    </dgm:pt>
    <dgm:pt modelId="{CDCF403F-AF4D-46E4-B29F-41481C23CB28}" type="sibTrans" cxnId="{639425CB-00A8-4608-B810-2C131F6966DD}">
      <dgm:prSet/>
      <dgm:spPr/>
      <dgm:t>
        <a:bodyPr/>
        <a:lstStyle/>
        <a:p>
          <a:endParaRPr lang="fr-FR"/>
        </a:p>
      </dgm:t>
    </dgm:pt>
    <dgm:pt modelId="{CAEC2C56-AEFE-4B8E-8677-CC5AD8A1A275}">
      <dgm:prSet phldrT="[Texte]" custT="1"/>
      <dgm:spPr/>
      <dgm:t>
        <a:bodyPr/>
        <a:lstStyle/>
        <a:p>
          <a:pPr>
            <a:buFont typeface="Wingdings" panose="05000000000000000000" pitchFamily="2" charset="2"/>
            <a:buChar char="§"/>
          </a:pPr>
          <a:r>
            <a:rPr lang="fr-FR" sz="1300" i="1" dirty="0"/>
            <a:t>Durée du travail</a:t>
          </a:r>
          <a:endParaRPr lang="fr-FR" sz="1300" dirty="0"/>
        </a:p>
      </dgm:t>
    </dgm:pt>
    <dgm:pt modelId="{E4C58EF4-6485-4F76-A512-2355338E7588}" type="parTrans" cxnId="{BF9504BC-F651-4EA4-B75B-A34201012339}">
      <dgm:prSet/>
      <dgm:spPr/>
      <dgm:t>
        <a:bodyPr/>
        <a:lstStyle/>
        <a:p>
          <a:endParaRPr lang="fr-FR"/>
        </a:p>
      </dgm:t>
    </dgm:pt>
    <dgm:pt modelId="{0681CFDB-E919-4861-8253-E29E11E7BA61}" type="sibTrans" cxnId="{BF9504BC-F651-4EA4-B75B-A34201012339}">
      <dgm:prSet/>
      <dgm:spPr/>
      <dgm:t>
        <a:bodyPr/>
        <a:lstStyle/>
        <a:p>
          <a:endParaRPr lang="fr-FR"/>
        </a:p>
      </dgm:t>
    </dgm:pt>
    <dgm:pt modelId="{B5B947F8-562C-43F4-BE45-138B997DE5A7}">
      <dgm:prSet custT="1"/>
      <dgm:spPr/>
      <dgm:t>
        <a:bodyPr/>
        <a:lstStyle/>
        <a:p>
          <a:pPr>
            <a:buFont typeface="Wingdings" panose="05000000000000000000" pitchFamily="2" charset="2"/>
            <a:buChar char="§"/>
          </a:pPr>
          <a:r>
            <a:rPr lang="fr-FR" sz="1300" i="1" dirty="0"/>
            <a:t>Classifications</a:t>
          </a:r>
        </a:p>
      </dgm:t>
    </dgm:pt>
    <dgm:pt modelId="{F768EA00-76DC-4CD0-B20F-8DE3DDF863D6}" type="parTrans" cxnId="{48D38D06-F7EB-463F-8EE9-8E8A23A31E7B}">
      <dgm:prSet/>
      <dgm:spPr/>
      <dgm:t>
        <a:bodyPr/>
        <a:lstStyle/>
        <a:p>
          <a:endParaRPr lang="fr-FR"/>
        </a:p>
      </dgm:t>
    </dgm:pt>
    <dgm:pt modelId="{D1152D82-3B00-47A0-B4EF-2D01AF614C40}" type="sibTrans" cxnId="{48D38D06-F7EB-463F-8EE9-8E8A23A31E7B}">
      <dgm:prSet/>
      <dgm:spPr/>
      <dgm:t>
        <a:bodyPr/>
        <a:lstStyle/>
        <a:p>
          <a:endParaRPr lang="fr-FR"/>
        </a:p>
      </dgm:t>
    </dgm:pt>
    <dgm:pt modelId="{03FE8ECC-2AD5-4B98-AE2D-CF05CA173769}">
      <dgm:prSet custT="1"/>
      <dgm:spPr/>
      <dgm:t>
        <a:bodyPr/>
        <a:lstStyle/>
        <a:p>
          <a:pPr>
            <a:buFont typeface="Wingdings" panose="05000000000000000000" pitchFamily="2" charset="2"/>
            <a:buChar char="§"/>
          </a:pPr>
          <a:r>
            <a:rPr lang="fr-FR" sz="1300" i="1" dirty="0"/>
            <a:t>Garanties collectives complémentaires</a:t>
          </a:r>
        </a:p>
      </dgm:t>
    </dgm:pt>
    <dgm:pt modelId="{3F53C5ED-7F34-4BDB-9316-69594A5ADF22}" type="parTrans" cxnId="{ACF3E5BF-415A-416A-942A-E88B043A0CD7}">
      <dgm:prSet/>
      <dgm:spPr/>
      <dgm:t>
        <a:bodyPr/>
        <a:lstStyle/>
        <a:p>
          <a:endParaRPr lang="fr-FR"/>
        </a:p>
      </dgm:t>
    </dgm:pt>
    <dgm:pt modelId="{32E094DB-9E7E-44CC-995B-30C4C04F6273}" type="sibTrans" cxnId="{ACF3E5BF-415A-416A-942A-E88B043A0CD7}">
      <dgm:prSet/>
      <dgm:spPr/>
      <dgm:t>
        <a:bodyPr/>
        <a:lstStyle/>
        <a:p>
          <a:endParaRPr lang="fr-FR"/>
        </a:p>
      </dgm:t>
    </dgm:pt>
    <dgm:pt modelId="{9DAEDE53-A54D-49BD-9FAA-6D8B6B9471EE}">
      <dgm:prSet custT="1"/>
      <dgm:spPr/>
      <dgm:t>
        <a:bodyPr/>
        <a:lstStyle/>
        <a:p>
          <a:pPr>
            <a:buFont typeface="Wingdings" panose="05000000000000000000" pitchFamily="2" charset="2"/>
            <a:buChar char="§"/>
          </a:pPr>
          <a:r>
            <a:rPr lang="fr-FR" sz="1300" i="1" dirty="0"/>
            <a:t>CDD et contrat de travail temporaire</a:t>
          </a:r>
        </a:p>
      </dgm:t>
    </dgm:pt>
    <dgm:pt modelId="{148CC8F2-AAB1-49E3-862E-F99A9345711C}" type="parTrans" cxnId="{E8D914D3-4921-4B0C-8BF1-34F367AA81E3}">
      <dgm:prSet/>
      <dgm:spPr/>
      <dgm:t>
        <a:bodyPr/>
        <a:lstStyle/>
        <a:p>
          <a:endParaRPr lang="fr-FR"/>
        </a:p>
      </dgm:t>
    </dgm:pt>
    <dgm:pt modelId="{91E1E0FD-6020-46D5-9E99-55B672BE90AC}" type="sibTrans" cxnId="{E8D914D3-4921-4B0C-8BF1-34F367AA81E3}">
      <dgm:prSet/>
      <dgm:spPr/>
      <dgm:t>
        <a:bodyPr/>
        <a:lstStyle/>
        <a:p>
          <a:endParaRPr lang="fr-FR"/>
        </a:p>
      </dgm:t>
    </dgm:pt>
    <dgm:pt modelId="{7FA3A623-4981-427B-B9E9-DC9F68E8C104}">
      <dgm:prSet custT="1"/>
      <dgm:spPr/>
      <dgm:t>
        <a:bodyPr/>
        <a:lstStyle/>
        <a:p>
          <a:pPr>
            <a:buFont typeface="Wingdings" panose="05000000000000000000" pitchFamily="2" charset="2"/>
            <a:buChar char="§"/>
          </a:pPr>
          <a:r>
            <a:rPr lang="fr-FR" sz="1300" i="1" dirty="0"/>
            <a:t>CDI de chantier ou d’opération</a:t>
          </a:r>
        </a:p>
      </dgm:t>
    </dgm:pt>
    <dgm:pt modelId="{C1370909-032E-4F7A-9C57-8AC552557DA5}" type="parTrans" cxnId="{BD93BEFD-2B93-4404-A26F-5D96E4237579}">
      <dgm:prSet/>
      <dgm:spPr/>
      <dgm:t>
        <a:bodyPr/>
        <a:lstStyle/>
        <a:p>
          <a:endParaRPr lang="fr-FR"/>
        </a:p>
      </dgm:t>
    </dgm:pt>
    <dgm:pt modelId="{D6BC3240-6528-4324-A402-8157F631E6D3}" type="sibTrans" cxnId="{BD93BEFD-2B93-4404-A26F-5D96E4237579}">
      <dgm:prSet/>
      <dgm:spPr/>
      <dgm:t>
        <a:bodyPr/>
        <a:lstStyle/>
        <a:p>
          <a:endParaRPr lang="fr-FR"/>
        </a:p>
      </dgm:t>
    </dgm:pt>
    <dgm:pt modelId="{4EA8CA0A-BC7D-4412-9C25-96436357F3C4}">
      <dgm:prSet custT="1"/>
      <dgm:spPr/>
      <dgm:t>
        <a:bodyPr/>
        <a:lstStyle/>
        <a:p>
          <a:pPr>
            <a:buFont typeface="Wingdings" panose="05000000000000000000" pitchFamily="2" charset="2"/>
            <a:buChar char="§"/>
          </a:pPr>
          <a:r>
            <a:rPr lang="fr-FR" sz="1300" i="1" dirty="0"/>
            <a:t>Période d’essai</a:t>
          </a:r>
        </a:p>
      </dgm:t>
    </dgm:pt>
    <dgm:pt modelId="{635A9504-6D27-44D6-8800-166B94275001}" type="parTrans" cxnId="{8D7420FF-0C58-4521-B9AC-E6468B5BB798}">
      <dgm:prSet/>
      <dgm:spPr/>
      <dgm:t>
        <a:bodyPr/>
        <a:lstStyle/>
        <a:p>
          <a:endParaRPr lang="fr-FR"/>
        </a:p>
      </dgm:t>
    </dgm:pt>
    <dgm:pt modelId="{03D95823-0256-40CC-AACF-B49086E950D1}" type="sibTrans" cxnId="{8D7420FF-0C58-4521-B9AC-E6468B5BB798}">
      <dgm:prSet/>
      <dgm:spPr/>
      <dgm:t>
        <a:bodyPr/>
        <a:lstStyle/>
        <a:p>
          <a:endParaRPr lang="fr-FR"/>
        </a:p>
      </dgm:t>
    </dgm:pt>
    <dgm:pt modelId="{E301C43C-14B4-4945-87C5-EAF52143E4AD}">
      <dgm:prSet custT="1"/>
      <dgm:spPr/>
      <dgm:t>
        <a:bodyPr/>
        <a:lstStyle/>
        <a:p>
          <a:pPr>
            <a:buFont typeface="Wingdings" panose="05000000000000000000" pitchFamily="2" charset="2"/>
            <a:buChar char="§"/>
          </a:pPr>
          <a:r>
            <a:rPr lang="fr-FR" sz="1300" i="1" dirty="0"/>
            <a:t>Quelques dispositions sur le temps partiel… </a:t>
          </a:r>
        </a:p>
      </dgm:t>
    </dgm:pt>
    <dgm:pt modelId="{3CA93E6D-D5F5-48EA-B84E-458428B323FA}" type="parTrans" cxnId="{F11F39DC-AFD2-4B0F-9278-3FB985A9E962}">
      <dgm:prSet/>
      <dgm:spPr/>
      <dgm:t>
        <a:bodyPr/>
        <a:lstStyle/>
        <a:p>
          <a:endParaRPr lang="fr-FR"/>
        </a:p>
      </dgm:t>
    </dgm:pt>
    <dgm:pt modelId="{F7887084-091F-446D-B371-3EBC461E0FBC}" type="sibTrans" cxnId="{F11F39DC-AFD2-4B0F-9278-3FB985A9E962}">
      <dgm:prSet/>
      <dgm:spPr/>
      <dgm:t>
        <a:bodyPr/>
        <a:lstStyle/>
        <a:p>
          <a:endParaRPr lang="fr-FR"/>
        </a:p>
      </dgm:t>
    </dgm:pt>
    <dgm:pt modelId="{D934DF5C-7D09-473C-A7D7-40D5F14F7BAA}">
      <dgm:prSet custT="1"/>
      <dgm:spPr/>
      <dgm:t>
        <a:bodyPr/>
        <a:lstStyle/>
        <a:p>
          <a:pPr>
            <a:buFont typeface="Wingdings" panose="05000000000000000000" pitchFamily="2" charset="2"/>
            <a:buChar char="§"/>
          </a:pPr>
          <a:r>
            <a:rPr lang="fr-FR" sz="1300" i="1" dirty="0"/>
            <a:t>Prévention des risques professionnels</a:t>
          </a:r>
        </a:p>
      </dgm:t>
    </dgm:pt>
    <dgm:pt modelId="{FF7B3F12-37A1-40CE-BF05-107F2D5EF0F5}" type="parTrans" cxnId="{47433FE4-6CF8-4EED-ACA9-52517434BA27}">
      <dgm:prSet/>
      <dgm:spPr/>
      <dgm:t>
        <a:bodyPr/>
        <a:lstStyle/>
        <a:p>
          <a:endParaRPr lang="fr-FR"/>
        </a:p>
      </dgm:t>
    </dgm:pt>
    <dgm:pt modelId="{3AC0E492-EAAE-4F2E-8485-60C3D728E80E}" type="sibTrans" cxnId="{47433FE4-6CF8-4EED-ACA9-52517434BA27}">
      <dgm:prSet/>
      <dgm:spPr/>
      <dgm:t>
        <a:bodyPr/>
        <a:lstStyle/>
        <a:p>
          <a:endParaRPr lang="fr-FR"/>
        </a:p>
      </dgm:t>
    </dgm:pt>
    <dgm:pt modelId="{83F80FE3-F365-420F-84B1-AF573CFE9F2B}">
      <dgm:prSet custT="1"/>
      <dgm:spPr/>
      <dgm:t>
        <a:bodyPr/>
        <a:lstStyle/>
        <a:p>
          <a:pPr>
            <a:buFont typeface="Wingdings" panose="05000000000000000000" pitchFamily="2" charset="2"/>
            <a:buChar char="§"/>
          </a:pPr>
          <a:r>
            <a:rPr lang="fr-FR" sz="1300" i="1" dirty="0"/>
            <a:t>Délégués syndicaux</a:t>
          </a:r>
        </a:p>
      </dgm:t>
    </dgm:pt>
    <dgm:pt modelId="{2E9F8AA6-F9B0-4125-8207-D1780B52C691}" type="parTrans" cxnId="{CE5DF1B9-08BB-427D-BB49-534BC69F8575}">
      <dgm:prSet/>
      <dgm:spPr/>
      <dgm:t>
        <a:bodyPr/>
        <a:lstStyle/>
        <a:p>
          <a:endParaRPr lang="fr-FR"/>
        </a:p>
      </dgm:t>
    </dgm:pt>
    <dgm:pt modelId="{7E85D1E9-C4AC-485D-B93C-4C2B5EA1BCB3}" type="sibTrans" cxnId="{CE5DF1B9-08BB-427D-BB49-534BC69F8575}">
      <dgm:prSet/>
      <dgm:spPr/>
      <dgm:t>
        <a:bodyPr/>
        <a:lstStyle/>
        <a:p>
          <a:endParaRPr lang="fr-FR"/>
        </a:p>
      </dgm:t>
    </dgm:pt>
    <dgm:pt modelId="{26D16E6F-0F94-4640-A140-5ADF04DD8B40}">
      <dgm:prSet custT="1"/>
      <dgm:spPr/>
      <dgm:t>
        <a:bodyPr/>
        <a:lstStyle/>
        <a:p>
          <a:pPr>
            <a:buFont typeface="Wingdings" panose="05000000000000000000" pitchFamily="2" charset="2"/>
            <a:buChar char="§"/>
          </a:pPr>
          <a:r>
            <a:rPr lang="fr-FR" sz="1300" i="1" dirty="0"/>
            <a:t>Travailleurs handicapés</a:t>
          </a:r>
        </a:p>
      </dgm:t>
    </dgm:pt>
    <dgm:pt modelId="{4D8C3CEF-9A37-4F59-9E9D-6A361CB465C9}" type="parTrans" cxnId="{18C6AA2C-2B3F-4D37-A7BA-A46C93FF5F00}">
      <dgm:prSet/>
      <dgm:spPr/>
      <dgm:t>
        <a:bodyPr/>
        <a:lstStyle/>
        <a:p>
          <a:endParaRPr lang="fr-FR"/>
        </a:p>
      </dgm:t>
    </dgm:pt>
    <dgm:pt modelId="{6D159617-8B14-4CFE-8FE1-E795C32C3F9D}" type="sibTrans" cxnId="{18C6AA2C-2B3F-4D37-A7BA-A46C93FF5F00}">
      <dgm:prSet/>
      <dgm:spPr/>
      <dgm:t>
        <a:bodyPr/>
        <a:lstStyle/>
        <a:p>
          <a:endParaRPr lang="fr-FR"/>
        </a:p>
      </dgm:t>
    </dgm:pt>
    <dgm:pt modelId="{A86A087C-2F22-48BC-96A9-03E2AE359557}">
      <dgm:prSet custT="1"/>
      <dgm:spPr/>
      <dgm:t>
        <a:bodyPr/>
        <a:lstStyle/>
        <a:p>
          <a:pPr>
            <a:buFont typeface="Wingdings" panose="05000000000000000000" pitchFamily="2" charset="2"/>
            <a:buChar char="§"/>
          </a:pPr>
          <a:r>
            <a:rPr lang="fr-FR" sz="1300" i="1" dirty="0"/>
            <a:t>13</a:t>
          </a:r>
          <a:r>
            <a:rPr lang="fr-FR" sz="1300" i="1" baseline="30000" dirty="0"/>
            <a:t>e</a:t>
          </a:r>
          <a:r>
            <a:rPr lang="fr-FR" sz="1300" i="1" dirty="0"/>
            <a:t> mois</a:t>
          </a:r>
        </a:p>
      </dgm:t>
    </dgm:pt>
    <dgm:pt modelId="{421D0C5A-A66B-4DBF-A4DD-382BAC420C94}" type="parTrans" cxnId="{6E9F707E-A26C-46F1-A8EF-5A9455B601D6}">
      <dgm:prSet/>
      <dgm:spPr/>
      <dgm:t>
        <a:bodyPr/>
        <a:lstStyle/>
        <a:p>
          <a:endParaRPr lang="fr-FR"/>
        </a:p>
      </dgm:t>
    </dgm:pt>
    <dgm:pt modelId="{1FE43151-AB29-4FEF-8E34-E3ABAC7A0651}" type="sibTrans" cxnId="{6E9F707E-A26C-46F1-A8EF-5A9455B601D6}">
      <dgm:prSet/>
      <dgm:spPr/>
      <dgm:t>
        <a:bodyPr/>
        <a:lstStyle/>
        <a:p>
          <a:endParaRPr lang="fr-FR"/>
        </a:p>
      </dgm:t>
    </dgm:pt>
    <dgm:pt modelId="{D3D2ED39-21CD-4CF3-9BE4-31F4CA66C16E}">
      <dgm:prSet custT="1"/>
      <dgm:spPr/>
      <dgm:t>
        <a:bodyPr/>
        <a:lstStyle/>
        <a:p>
          <a:pPr>
            <a:buFont typeface="Wingdings" panose="05000000000000000000" pitchFamily="2" charset="2"/>
            <a:buChar char="§"/>
          </a:pPr>
          <a:r>
            <a:rPr lang="fr-FR" sz="1300" i="1" dirty="0"/>
            <a:t>Indemnité de rupture, préavis…</a:t>
          </a:r>
        </a:p>
      </dgm:t>
    </dgm:pt>
    <dgm:pt modelId="{6E103A7D-9B55-4336-A215-B7263505D7D4}" type="parTrans" cxnId="{FBA1CDDD-6C52-4363-BCEE-4B30DAD0B27F}">
      <dgm:prSet/>
      <dgm:spPr/>
      <dgm:t>
        <a:bodyPr/>
        <a:lstStyle/>
        <a:p>
          <a:endParaRPr lang="fr-FR"/>
        </a:p>
      </dgm:t>
    </dgm:pt>
    <dgm:pt modelId="{4C9B230E-9F7C-4210-A500-E8AAB38F3EEE}" type="sibTrans" cxnId="{FBA1CDDD-6C52-4363-BCEE-4B30DAD0B27F}">
      <dgm:prSet/>
      <dgm:spPr/>
      <dgm:t>
        <a:bodyPr/>
        <a:lstStyle/>
        <a:p>
          <a:endParaRPr lang="fr-FR"/>
        </a:p>
      </dgm:t>
    </dgm:pt>
    <dgm:pt modelId="{2C8ACF0D-5F85-4E77-8DB4-461572513D7E}">
      <dgm:prSet custT="1"/>
      <dgm:spPr/>
      <dgm:t>
        <a:bodyPr/>
        <a:lstStyle/>
        <a:p>
          <a:pPr>
            <a:buFont typeface="Wingdings" panose="05000000000000000000" pitchFamily="2" charset="2"/>
            <a:buChar char="§"/>
          </a:pPr>
          <a:r>
            <a:rPr lang="fr-FR" sz="1300" i="1" dirty="0"/>
            <a:t>Les conventions collectives de bâtiment n’ont pas interdit de faire des accords d’entreprise dérogatoire</a:t>
          </a:r>
        </a:p>
      </dgm:t>
    </dgm:pt>
    <dgm:pt modelId="{33A29378-D95B-4655-9443-17D3126FD34C}" type="parTrans" cxnId="{A05C3175-E3D8-4C65-8951-8F42571C211C}">
      <dgm:prSet/>
      <dgm:spPr/>
      <dgm:t>
        <a:bodyPr/>
        <a:lstStyle/>
        <a:p>
          <a:endParaRPr lang="fr-FR"/>
        </a:p>
      </dgm:t>
    </dgm:pt>
    <dgm:pt modelId="{D440502A-0193-4EE2-8281-9A96FA4F2921}" type="sibTrans" cxnId="{A05C3175-E3D8-4C65-8951-8F42571C211C}">
      <dgm:prSet/>
      <dgm:spPr/>
      <dgm:t>
        <a:bodyPr/>
        <a:lstStyle/>
        <a:p>
          <a:endParaRPr lang="fr-FR"/>
        </a:p>
      </dgm:t>
    </dgm:pt>
    <dgm:pt modelId="{2EAA5E5E-12BB-4F6F-88B8-B8D020814F60}">
      <dgm:prSet custT="1"/>
      <dgm:spPr/>
      <dgm:t>
        <a:bodyPr/>
        <a:lstStyle/>
        <a:p>
          <a:pPr>
            <a:buFont typeface="Wingdings" panose="05000000000000000000" pitchFamily="2" charset="2"/>
            <a:buChar char="§"/>
          </a:pPr>
          <a:endParaRPr lang="fr-FR" sz="1300" i="1" dirty="0"/>
        </a:p>
      </dgm:t>
    </dgm:pt>
    <dgm:pt modelId="{8625B483-ABB7-4489-838B-6C4A64191BE4}" type="parTrans" cxnId="{D7EB665F-B462-401C-A2EA-F7E112F03118}">
      <dgm:prSet/>
      <dgm:spPr/>
      <dgm:t>
        <a:bodyPr/>
        <a:lstStyle/>
        <a:p>
          <a:endParaRPr lang="fr-FR"/>
        </a:p>
      </dgm:t>
    </dgm:pt>
    <dgm:pt modelId="{D957C223-1994-4637-A837-8AA68C8ACA51}" type="sibTrans" cxnId="{D7EB665F-B462-401C-A2EA-F7E112F03118}">
      <dgm:prSet/>
      <dgm:spPr/>
      <dgm:t>
        <a:bodyPr/>
        <a:lstStyle/>
        <a:p>
          <a:endParaRPr lang="fr-FR"/>
        </a:p>
      </dgm:t>
    </dgm:pt>
    <dgm:pt modelId="{9922F41C-6549-499D-92B3-1145BCA53E52}" type="pres">
      <dgm:prSet presAssocID="{8AB478B6-668A-418B-BE2A-F2B937F5D4F1}" presName="Name0" presStyleCnt="0">
        <dgm:presLayoutVars>
          <dgm:dir/>
          <dgm:animLvl val="lvl"/>
          <dgm:resizeHandles val="exact"/>
        </dgm:presLayoutVars>
      </dgm:prSet>
      <dgm:spPr/>
    </dgm:pt>
    <dgm:pt modelId="{D44EC308-536C-4200-A6CF-D7E9E62A7313}" type="pres">
      <dgm:prSet presAssocID="{EF5B1093-9EB4-4A98-BFB3-3AC51002DEB0}" presName="composite" presStyleCnt="0"/>
      <dgm:spPr/>
    </dgm:pt>
    <dgm:pt modelId="{7C0C3C11-A649-432C-8B5F-999E075A085B}" type="pres">
      <dgm:prSet presAssocID="{EF5B1093-9EB4-4A98-BFB3-3AC51002DEB0}" presName="parTx" presStyleLbl="alignNode1" presStyleIdx="0" presStyleCnt="3" custScaleY="100000">
        <dgm:presLayoutVars>
          <dgm:chMax val="0"/>
          <dgm:chPref val="0"/>
          <dgm:bulletEnabled val="1"/>
        </dgm:presLayoutVars>
      </dgm:prSet>
      <dgm:spPr/>
    </dgm:pt>
    <dgm:pt modelId="{78B40F22-4B03-4434-AC04-67E6ED390309}" type="pres">
      <dgm:prSet presAssocID="{EF5B1093-9EB4-4A98-BFB3-3AC51002DEB0}" presName="desTx" presStyleLbl="alignAccFollowNode1" presStyleIdx="0" presStyleCnt="3">
        <dgm:presLayoutVars>
          <dgm:bulletEnabled val="1"/>
        </dgm:presLayoutVars>
      </dgm:prSet>
      <dgm:spPr/>
    </dgm:pt>
    <dgm:pt modelId="{E6062A45-E3E3-4987-A3E9-D2F63A7F9C92}" type="pres">
      <dgm:prSet presAssocID="{52CD6121-0817-4E79-9B8E-E35DA419E836}" presName="space" presStyleCnt="0"/>
      <dgm:spPr/>
    </dgm:pt>
    <dgm:pt modelId="{3ADEB5A6-173B-4312-8081-EB9BF8B7BFD3}" type="pres">
      <dgm:prSet presAssocID="{68AC1812-35DC-42EA-B104-56FC853D8E8D}" presName="composite" presStyleCnt="0"/>
      <dgm:spPr/>
    </dgm:pt>
    <dgm:pt modelId="{686DF497-959B-40F4-8EE0-A0158CD51B75}" type="pres">
      <dgm:prSet presAssocID="{68AC1812-35DC-42EA-B104-56FC853D8E8D}" presName="parTx" presStyleLbl="alignNode1" presStyleIdx="1" presStyleCnt="3" custScaleY="100000">
        <dgm:presLayoutVars>
          <dgm:chMax val="0"/>
          <dgm:chPref val="0"/>
          <dgm:bulletEnabled val="1"/>
        </dgm:presLayoutVars>
      </dgm:prSet>
      <dgm:spPr/>
    </dgm:pt>
    <dgm:pt modelId="{AAEEFF55-E07F-46CB-8C79-E7B24378BFBB}" type="pres">
      <dgm:prSet presAssocID="{68AC1812-35DC-42EA-B104-56FC853D8E8D}" presName="desTx" presStyleLbl="alignAccFollowNode1" presStyleIdx="1" presStyleCnt="3">
        <dgm:presLayoutVars>
          <dgm:bulletEnabled val="1"/>
        </dgm:presLayoutVars>
      </dgm:prSet>
      <dgm:spPr/>
    </dgm:pt>
    <dgm:pt modelId="{143233E0-A151-476C-AFD8-8CC890786AB8}" type="pres">
      <dgm:prSet presAssocID="{9795D2A2-B544-487E-B508-782920585286}" presName="space" presStyleCnt="0"/>
      <dgm:spPr/>
    </dgm:pt>
    <dgm:pt modelId="{A73D344D-A97C-4D5A-B908-B12D7E570F1D}" type="pres">
      <dgm:prSet presAssocID="{BEBDD16E-B4DA-419F-8167-A7EE9BCB9BD5}" presName="composite" presStyleCnt="0"/>
      <dgm:spPr/>
    </dgm:pt>
    <dgm:pt modelId="{5C9193F5-2819-4823-AD08-A815FD3E9205}" type="pres">
      <dgm:prSet presAssocID="{BEBDD16E-B4DA-419F-8167-A7EE9BCB9BD5}" presName="parTx" presStyleLbl="alignNode1" presStyleIdx="2" presStyleCnt="3" custScaleY="100000">
        <dgm:presLayoutVars>
          <dgm:chMax val="0"/>
          <dgm:chPref val="0"/>
          <dgm:bulletEnabled val="1"/>
        </dgm:presLayoutVars>
      </dgm:prSet>
      <dgm:spPr/>
    </dgm:pt>
    <dgm:pt modelId="{52252796-28CF-4D3A-AC0F-FC9883841605}" type="pres">
      <dgm:prSet presAssocID="{BEBDD16E-B4DA-419F-8167-A7EE9BCB9BD5}" presName="desTx" presStyleLbl="alignAccFollowNode1" presStyleIdx="2" presStyleCnt="3">
        <dgm:presLayoutVars>
          <dgm:bulletEnabled val="1"/>
        </dgm:presLayoutVars>
      </dgm:prSet>
      <dgm:spPr/>
    </dgm:pt>
  </dgm:ptLst>
  <dgm:cxnLst>
    <dgm:cxn modelId="{AEC1CB04-757D-4AC9-8471-567086784105}" type="presOf" srcId="{EF5B1093-9EB4-4A98-BFB3-3AC51002DEB0}" destId="{7C0C3C11-A649-432C-8B5F-999E075A085B}" srcOrd="0" destOrd="0" presId="urn:microsoft.com/office/officeart/2005/8/layout/hList1"/>
    <dgm:cxn modelId="{D1246105-F463-4B3A-8680-B9901D37B1D7}" type="presOf" srcId="{4EA8CA0A-BC7D-4412-9C25-96436357F3C4}" destId="{78B40F22-4B03-4434-AC04-67E6ED390309}" srcOrd="0" destOrd="5" presId="urn:microsoft.com/office/officeart/2005/8/layout/hList1"/>
    <dgm:cxn modelId="{48D38D06-F7EB-463F-8EE9-8E8A23A31E7B}" srcId="{EF5B1093-9EB4-4A98-BFB3-3AC51002DEB0}" destId="{B5B947F8-562C-43F4-BE45-138B997DE5A7}" srcOrd="1" destOrd="0" parTransId="{F768EA00-76DC-4CD0-B20F-8DE3DDF863D6}" sibTransId="{D1152D82-3B00-47A0-B4EF-2D01AF614C40}"/>
    <dgm:cxn modelId="{6B1BC60B-1135-4C3A-9281-E0FE2ADDE9F1}" type="presOf" srcId="{A86A087C-2F22-48BC-96A9-03E2AE359557}" destId="{52252796-28CF-4D3A-AC0F-FC9883841605}" srcOrd="0" destOrd="1" presId="urn:microsoft.com/office/officeart/2005/8/layout/hList1"/>
    <dgm:cxn modelId="{432A0A27-C669-4393-9858-B9BFB6883368}" type="presOf" srcId="{9DAEDE53-A54D-49BD-9FAA-6D8B6B9471EE}" destId="{78B40F22-4B03-4434-AC04-67E6ED390309}" srcOrd="0" destOrd="3" presId="urn:microsoft.com/office/officeart/2005/8/layout/hList1"/>
    <dgm:cxn modelId="{18C6AA2C-2B3F-4D37-A7BA-A46C93FF5F00}" srcId="{68AC1812-35DC-42EA-B104-56FC853D8E8D}" destId="{26D16E6F-0F94-4640-A140-5ADF04DD8B40}" srcOrd="3" destOrd="0" parTransId="{4D8C3CEF-9A37-4F59-9E9D-6A361CB465C9}" sibTransId="{6D159617-8B14-4CFE-8FE1-E795C32C3F9D}"/>
    <dgm:cxn modelId="{F6970631-3F66-41FA-820C-013A3921E83E}" type="presOf" srcId="{03FE8ECC-2AD5-4B98-AE2D-CF05CA173769}" destId="{78B40F22-4B03-4434-AC04-67E6ED390309}" srcOrd="0" destOrd="2" presId="urn:microsoft.com/office/officeart/2005/8/layout/hList1"/>
    <dgm:cxn modelId="{48F7AF40-248B-4BD3-8452-3323AC7F068A}" type="presOf" srcId="{E301C43C-14B4-4945-87C5-EAF52143E4AD}" destId="{78B40F22-4B03-4434-AC04-67E6ED390309}" srcOrd="0" destOrd="6" presId="urn:microsoft.com/office/officeart/2005/8/layout/hList1"/>
    <dgm:cxn modelId="{BE77145C-CF62-49EE-AF5C-87025041B7B0}" srcId="{EF5B1093-9EB4-4A98-BFB3-3AC51002DEB0}" destId="{D4370A19-6023-4DAA-AA99-61D07026745C}" srcOrd="0" destOrd="0" parTransId="{397C7DEB-2A6E-4ABC-9151-B405C2B893BC}" sibTransId="{17EBAB7B-AD02-4059-9521-DC99AC397991}"/>
    <dgm:cxn modelId="{D7EB665F-B462-401C-A2EA-F7E112F03118}" srcId="{68AC1812-35DC-42EA-B104-56FC853D8E8D}" destId="{2EAA5E5E-12BB-4F6F-88B8-B8D020814F60}" srcOrd="4" destOrd="0" parTransId="{8625B483-ABB7-4489-838B-6C4A64191BE4}" sibTransId="{D957C223-1994-4637-A837-8AA68C8ACA51}"/>
    <dgm:cxn modelId="{9D8F3562-A237-44D6-B8EE-219AC7C25931}" srcId="{68AC1812-35DC-42EA-B104-56FC853D8E8D}" destId="{1F53C856-0485-4902-B2EA-5083FF5567AF}" srcOrd="0" destOrd="0" parTransId="{E587B6B3-1B1B-4AAD-877D-C8EDE79D2A43}" sibTransId="{A0EC9767-8495-4AB9-B3CC-A95D644535BB}"/>
    <dgm:cxn modelId="{230F2963-E627-4976-BFE4-39E46E3CF9F5}" type="presOf" srcId="{2EAA5E5E-12BB-4F6F-88B8-B8D020814F60}" destId="{AAEEFF55-E07F-46CB-8C79-E7B24378BFBB}" srcOrd="0" destOrd="4" presId="urn:microsoft.com/office/officeart/2005/8/layout/hList1"/>
    <dgm:cxn modelId="{6D50A464-76A3-4C0A-AED2-929058D8383E}" type="presOf" srcId="{68AC1812-35DC-42EA-B104-56FC853D8E8D}" destId="{686DF497-959B-40F4-8EE0-A0158CD51B75}" srcOrd="0" destOrd="0" presId="urn:microsoft.com/office/officeart/2005/8/layout/hList1"/>
    <dgm:cxn modelId="{A05C3175-E3D8-4C65-8951-8F42571C211C}" srcId="{68AC1812-35DC-42EA-B104-56FC853D8E8D}" destId="{2C8ACF0D-5F85-4E77-8DB4-461572513D7E}" srcOrd="5" destOrd="0" parTransId="{33A29378-D95B-4655-9443-17D3126FD34C}" sibTransId="{D440502A-0193-4EE2-8281-9A96FA4F2921}"/>
    <dgm:cxn modelId="{6E9F707E-A26C-46F1-A8EF-5A9455B601D6}" srcId="{BEBDD16E-B4DA-419F-8167-A7EE9BCB9BD5}" destId="{A86A087C-2F22-48BC-96A9-03E2AE359557}" srcOrd="1" destOrd="0" parTransId="{421D0C5A-A66B-4DBF-A4DD-382BAC420C94}" sibTransId="{1FE43151-AB29-4FEF-8E34-E3ABAC7A0651}"/>
    <dgm:cxn modelId="{358A7286-BD33-40B9-9F0B-875319A9F1B8}" type="presOf" srcId="{BEBDD16E-B4DA-419F-8167-A7EE9BCB9BD5}" destId="{5C9193F5-2819-4823-AD08-A815FD3E9205}" srcOrd="0" destOrd="0" presId="urn:microsoft.com/office/officeart/2005/8/layout/hList1"/>
    <dgm:cxn modelId="{D98CED91-9A39-4D8D-9BCD-85A16AD8E6E4}" type="presOf" srcId="{D934DF5C-7D09-473C-A7D7-40D5F14F7BAA}" destId="{AAEEFF55-E07F-46CB-8C79-E7B24378BFBB}" srcOrd="0" destOrd="1" presId="urn:microsoft.com/office/officeart/2005/8/layout/hList1"/>
    <dgm:cxn modelId="{F8650D98-CB34-4A92-B69E-43E452A40836}" type="presOf" srcId="{7FA3A623-4981-427B-B9E9-DC9F68E8C104}" destId="{78B40F22-4B03-4434-AC04-67E6ED390309}" srcOrd="0" destOrd="4" presId="urn:microsoft.com/office/officeart/2005/8/layout/hList1"/>
    <dgm:cxn modelId="{3585BA98-3B3D-454D-9AED-B79CAD838552}" type="presOf" srcId="{2C8ACF0D-5F85-4E77-8DB4-461572513D7E}" destId="{AAEEFF55-E07F-46CB-8C79-E7B24378BFBB}" srcOrd="0" destOrd="5" presId="urn:microsoft.com/office/officeart/2005/8/layout/hList1"/>
    <dgm:cxn modelId="{CE5DF1B9-08BB-427D-BB49-534BC69F8575}" srcId="{68AC1812-35DC-42EA-B104-56FC853D8E8D}" destId="{83F80FE3-F365-420F-84B1-AF573CFE9F2B}" srcOrd="2" destOrd="0" parTransId="{2E9F8AA6-F9B0-4125-8207-D1780B52C691}" sibTransId="{7E85D1E9-C4AC-485D-B93C-4C2B5EA1BCB3}"/>
    <dgm:cxn modelId="{BF9504BC-F651-4EA4-B75B-A34201012339}" srcId="{BEBDD16E-B4DA-419F-8167-A7EE9BCB9BD5}" destId="{CAEC2C56-AEFE-4B8E-8677-CC5AD8A1A275}" srcOrd="0" destOrd="0" parTransId="{E4C58EF4-6485-4F76-A512-2355338E7588}" sibTransId="{0681CFDB-E919-4861-8253-E29E11E7BA61}"/>
    <dgm:cxn modelId="{ACF3E5BF-415A-416A-942A-E88B043A0CD7}" srcId="{EF5B1093-9EB4-4A98-BFB3-3AC51002DEB0}" destId="{03FE8ECC-2AD5-4B98-AE2D-CF05CA173769}" srcOrd="2" destOrd="0" parTransId="{3F53C5ED-7F34-4BDB-9316-69594A5ADF22}" sibTransId="{32E094DB-9E7E-44CC-995B-30C4C04F6273}"/>
    <dgm:cxn modelId="{A7EC26C0-9BCC-48AC-8865-C27AD17B176B}" type="presOf" srcId="{8AB478B6-668A-418B-BE2A-F2B937F5D4F1}" destId="{9922F41C-6549-499D-92B3-1145BCA53E52}" srcOrd="0" destOrd="0" presId="urn:microsoft.com/office/officeart/2005/8/layout/hList1"/>
    <dgm:cxn modelId="{DF2355C0-EB77-4AF2-BFC4-9011E6EA60E7}" type="presOf" srcId="{D4370A19-6023-4DAA-AA99-61D07026745C}" destId="{78B40F22-4B03-4434-AC04-67E6ED390309}" srcOrd="0" destOrd="0" presId="urn:microsoft.com/office/officeart/2005/8/layout/hList1"/>
    <dgm:cxn modelId="{2ADC51C2-A522-45BB-B526-EDE38932A647}" type="presOf" srcId="{D3D2ED39-21CD-4CF3-9BE4-31F4CA66C16E}" destId="{52252796-28CF-4D3A-AC0F-FC9883841605}" srcOrd="0" destOrd="2" presId="urn:microsoft.com/office/officeart/2005/8/layout/hList1"/>
    <dgm:cxn modelId="{19385CCA-7437-465D-9370-10DA447BEB29}" type="presOf" srcId="{B5B947F8-562C-43F4-BE45-138B997DE5A7}" destId="{78B40F22-4B03-4434-AC04-67E6ED390309}" srcOrd="0" destOrd="1" presId="urn:microsoft.com/office/officeart/2005/8/layout/hList1"/>
    <dgm:cxn modelId="{639425CB-00A8-4608-B810-2C131F6966DD}" srcId="{8AB478B6-668A-418B-BE2A-F2B937F5D4F1}" destId="{BEBDD16E-B4DA-419F-8167-A7EE9BCB9BD5}" srcOrd="2" destOrd="0" parTransId="{B3035010-F5A6-4069-9A01-73134547DFC4}" sibTransId="{CDCF403F-AF4D-46E4-B29F-41481C23CB28}"/>
    <dgm:cxn modelId="{A79BDED1-3CA4-4337-9288-8487DD192905}" type="presOf" srcId="{83F80FE3-F365-420F-84B1-AF573CFE9F2B}" destId="{AAEEFF55-E07F-46CB-8C79-E7B24378BFBB}" srcOrd="0" destOrd="2" presId="urn:microsoft.com/office/officeart/2005/8/layout/hList1"/>
    <dgm:cxn modelId="{E8D914D3-4921-4B0C-8BF1-34F367AA81E3}" srcId="{EF5B1093-9EB4-4A98-BFB3-3AC51002DEB0}" destId="{9DAEDE53-A54D-49BD-9FAA-6D8B6B9471EE}" srcOrd="3" destOrd="0" parTransId="{148CC8F2-AAB1-49E3-862E-F99A9345711C}" sibTransId="{91E1E0FD-6020-46D5-9E99-55B672BE90AC}"/>
    <dgm:cxn modelId="{F11F39DC-AFD2-4B0F-9278-3FB985A9E962}" srcId="{EF5B1093-9EB4-4A98-BFB3-3AC51002DEB0}" destId="{E301C43C-14B4-4945-87C5-EAF52143E4AD}" srcOrd="6" destOrd="0" parTransId="{3CA93E6D-D5F5-48EA-B84E-458428B323FA}" sibTransId="{F7887084-091F-446D-B371-3EBC461E0FBC}"/>
    <dgm:cxn modelId="{FBA1CDDD-6C52-4363-BCEE-4B30DAD0B27F}" srcId="{BEBDD16E-B4DA-419F-8167-A7EE9BCB9BD5}" destId="{D3D2ED39-21CD-4CF3-9BE4-31F4CA66C16E}" srcOrd="2" destOrd="0" parTransId="{6E103A7D-9B55-4336-A215-B7263505D7D4}" sibTransId="{4C9B230E-9F7C-4210-A500-E8AAB38F3EEE}"/>
    <dgm:cxn modelId="{47433FE4-6CF8-4EED-ACA9-52517434BA27}" srcId="{68AC1812-35DC-42EA-B104-56FC853D8E8D}" destId="{D934DF5C-7D09-473C-A7D7-40D5F14F7BAA}" srcOrd="1" destOrd="0" parTransId="{FF7B3F12-37A1-40CE-BF05-107F2D5EF0F5}" sibTransId="{3AC0E492-EAAE-4F2E-8485-60C3D728E80E}"/>
    <dgm:cxn modelId="{EE71F7E7-37E7-47E9-B1A7-BCD10A43569A}" type="presOf" srcId="{26D16E6F-0F94-4640-A140-5ADF04DD8B40}" destId="{AAEEFF55-E07F-46CB-8C79-E7B24378BFBB}" srcOrd="0" destOrd="3" presId="urn:microsoft.com/office/officeart/2005/8/layout/hList1"/>
    <dgm:cxn modelId="{2B73AFEA-7F51-4673-9E06-579714E1B066}" srcId="{8AB478B6-668A-418B-BE2A-F2B937F5D4F1}" destId="{EF5B1093-9EB4-4A98-BFB3-3AC51002DEB0}" srcOrd="0" destOrd="0" parTransId="{8833DC98-06AA-48B4-A877-03F9FF393F5F}" sibTransId="{52CD6121-0817-4E79-9B8E-E35DA419E836}"/>
    <dgm:cxn modelId="{32A357F0-F7BA-4486-9AD0-7FEA07551737}" srcId="{8AB478B6-668A-418B-BE2A-F2B937F5D4F1}" destId="{68AC1812-35DC-42EA-B104-56FC853D8E8D}" srcOrd="1" destOrd="0" parTransId="{D94B2A5C-95DF-4231-8306-80A7E0B1A15F}" sibTransId="{9795D2A2-B544-487E-B508-782920585286}"/>
    <dgm:cxn modelId="{F4EECBF1-8858-4F6B-9844-1612D1340CFC}" type="presOf" srcId="{CAEC2C56-AEFE-4B8E-8677-CC5AD8A1A275}" destId="{52252796-28CF-4D3A-AC0F-FC9883841605}" srcOrd="0" destOrd="0" presId="urn:microsoft.com/office/officeart/2005/8/layout/hList1"/>
    <dgm:cxn modelId="{BD93BEFD-2B93-4404-A26F-5D96E4237579}" srcId="{EF5B1093-9EB4-4A98-BFB3-3AC51002DEB0}" destId="{7FA3A623-4981-427B-B9E9-DC9F68E8C104}" srcOrd="4" destOrd="0" parTransId="{C1370909-032E-4F7A-9C57-8AC552557DA5}" sibTransId="{D6BC3240-6528-4324-A402-8157F631E6D3}"/>
    <dgm:cxn modelId="{8D7420FF-0C58-4521-B9AC-E6468B5BB798}" srcId="{EF5B1093-9EB4-4A98-BFB3-3AC51002DEB0}" destId="{4EA8CA0A-BC7D-4412-9C25-96436357F3C4}" srcOrd="5" destOrd="0" parTransId="{635A9504-6D27-44D6-8800-166B94275001}" sibTransId="{03D95823-0256-40CC-AACF-B49086E950D1}"/>
    <dgm:cxn modelId="{AC1B6AFF-8E19-45F5-B6DF-F92D54729F5C}" type="presOf" srcId="{1F53C856-0485-4902-B2EA-5083FF5567AF}" destId="{AAEEFF55-E07F-46CB-8C79-E7B24378BFBB}" srcOrd="0" destOrd="0" presId="urn:microsoft.com/office/officeart/2005/8/layout/hList1"/>
    <dgm:cxn modelId="{7D1E49B4-45ED-4C61-A183-C4FE5045F471}" type="presParOf" srcId="{9922F41C-6549-499D-92B3-1145BCA53E52}" destId="{D44EC308-536C-4200-A6CF-D7E9E62A7313}" srcOrd="0" destOrd="0" presId="urn:microsoft.com/office/officeart/2005/8/layout/hList1"/>
    <dgm:cxn modelId="{57BA1C1D-E357-49D1-AAD1-A80E4557574C}" type="presParOf" srcId="{D44EC308-536C-4200-A6CF-D7E9E62A7313}" destId="{7C0C3C11-A649-432C-8B5F-999E075A085B}" srcOrd="0" destOrd="0" presId="urn:microsoft.com/office/officeart/2005/8/layout/hList1"/>
    <dgm:cxn modelId="{F014C433-6CDC-4005-A237-76C61ACA5D13}" type="presParOf" srcId="{D44EC308-536C-4200-A6CF-D7E9E62A7313}" destId="{78B40F22-4B03-4434-AC04-67E6ED390309}" srcOrd="1" destOrd="0" presId="urn:microsoft.com/office/officeart/2005/8/layout/hList1"/>
    <dgm:cxn modelId="{E13FA30B-C9B1-48A8-9CD7-4CBAA5CB5E0A}" type="presParOf" srcId="{9922F41C-6549-499D-92B3-1145BCA53E52}" destId="{E6062A45-E3E3-4987-A3E9-D2F63A7F9C92}" srcOrd="1" destOrd="0" presId="urn:microsoft.com/office/officeart/2005/8/layout/hList1"/>
    <dgm:cxn modelId="{07398F9B-EC67-4AC1-8AD0-2110EFCCEC1A}" type="presParOf" srcId="{9922F41C-6549-499D-92B3-1145BCA53E52}" destId="{3ADEB5A6-173B-4312-8081-EB9BF8B7BFD3}" srcOrd="2" destOrd="0" presId="urn:microsoft.com/office/officeart/2005/8/layout/hList1"/>
    <dgm:cxn modelId="{84C49411-70C4-4B8E-A0BA-96AAEB9C3B45}" type="presParOf" srcId="{3ADEB5A6-173B-4312-8081-EB9BF8B7BFD3}" destId="{686DF497-959B-40F4-8EE0-A0158CD51B75}" srcOrd="0" destOrd="0" presId="urn:microsoft.com/office/officeart/2005/8/layout/hList1"/>
    <dgm:cxn modelId="{B7D67AFD-B0B0-4D5E-9C48-08EDC9D184DF}" type="presParOf" srcId="{3ADEB5A6-173B-4312-8081-EB9BF8B7BFD3}" destId="{AAEEFF55-E07F-46CB-8C79-E7B24378BFBB}" srcOrd="1" destOrd="0" presId="urn:microsoft.com/office/officeart/2005/8/layout/hList1"/>
    <dgm:cxn modelId="{367194E4-7C22-4D89-A082-BFC4D82CE880}" type="presParOf" srcId="{9922F41C-6549-499D-92B3-1145BCA53E52}" destId="{143233E0-A151-476C-AFD8-8CC890786AB8}" srcOrd="3" destOrd="0" presId="urn:microsoft.com/office/officeart/2005/8/layout/hList1"/>
    <dgm:cxn modelId="{EBE4A430-B003-4A9A-8997-C1700127BC9A}" type="presParOf" srcId="{9922F41C-6549-499D-92B3-1145BCA53E52}" destId="{A73D344D-A97C-4D5A-B908-B12D7E570F1D}" srcOrd="4" destOrd="0" presId="urn:microsoft.com/office/officeart/2005/8/layout/hList1"/>
    <dgm:cxn modelId="{E8CDCD72-F453-48A1-BACC-2F8DEF9BE047}" type="presParOf" srcId="{A73D344D-A97C-4D5A-B908-B12D7E570F1D}" destId="{5C9193F5-2819-4823-AD08-A815FD3E9205}" srcOrd="0" destOrd="0" presId="urn:microsoft.com/office/officeart/2005/8/layout/hList1"/>
    <dgm:cxn modelId="{7759A8BA-CB4F-411C-A45F-0F3BB3A44923}" type="presParOf" srcId="{A73D344D-A97C-4D5A-B908-B12D7E570F1D}" destId="{52252796-28CF-4D3A-AC0F-FC9883841605}"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D0401F8-40D1-4528-AEBF-CC7032DEBF8E}" type="doc">
      <dgm:prSet loTypeId="urn:microsoft.com/office/officeart/2005/8/layout/hierarchy3" loCatId="hierarchy" qsTypeId="urn:microsoft.com/office/officeart/2005/8/quickstyle/simple1#125" qsCatId="simple" csTypeId="urn:microsoft.com/office/officeart/2005/8/colors/accent1_2#78" csCatId="accent1" phldr="1"/>
      <dgm:spPr/>
      <dgm:t>
        <a:bodyPr/>
        <a:lstStyle/>
        <a:p>
          <a:endParaRPr lang="fr-FR"/>
        </a:p>
      </dgm:t>
    </dgm:pt>
    <dgm:pt modelId="{D63AFEED-FC5A-4473-9E6B-A579D82D1CB5}">
      <dgm:prSet/>
      <dgm:spPr/>
      <dgm:t>
        <a:bodyPr/>
        <a:lstStyle/>
        <a:p>
          <a:pPr rtl="0"/>
          <a:r>
            <a:rPr lang="fr-FR" b="1" baseline="0" dirty="0"/>
            <a:t>Comme les dispositions des deux Conventions Collectives Nationales du 7 mars 2018 pouvaient être appliquées entre le 1</a:t>
          </a:r>
          <a:r>
            <a:rPr lang="fr-FR" b="1" baseline="30000" dirty="0"/>
            <a:t>er</a:t>
          </a:r>
          <a:r>
            <a:rPr lang="fr-FR" b="1" baseline="0" dirty="0"/>
            <a:t> juillet 2018 </a:t>
          </a:r>
          <a:br>
            <a:rPr lang="fr-FR" b="1" baseline="0" dirty="0"/>
          </a:br>
          <a:r>
            <a:rPr lang="fr-FR" b="1" baseline="0" dirty="0"/>
            <a:t>et 24 février 2019, il est possible de retrouver ces dispositions dans</a:t>
          </a:r>
          <a:endParaRPr lang="fr-FR" dirty="0"/>
        </a:p>
      </dgm:t>
    </dgm:pt>
    <dgm:pt modelId="{709610DC-1D2D-4E5F-BB90-49A107CA477E}" type="parTrans" cxnId="{AE43FA30-B9E7-48B3-83BC-A8F715B613A9}">
      <dgm:prSet/>
      <dgm:spPr/>
      <dgm:t>
        <a:bodyPr/>
        <a:lstStyle/>
        <a:p>
          <a:endParaRPr lang="fr-FR"/>
        </a:p>
      </dgm:t>
    </dgm:pt>
    <dgm:pt modelId="{B9001570-4D23-447D-8876-1E9EF094687E}" type="sibTrans" cxnId="{AE43FA30-B9E7-48B3-83BC-A8F715B613A9}">
      <dgm:prSet/>
      <dgm:spPr/>
      <dgm:t>
        <a:bodyPr/>
        <a:lstStyle/>
        <a:p>
          <a:endParaRPr lang="fr-FR"/>
        </a:p>
      </dgm:t>
    </dgm:pt>
    <dgm:pt modelId="{F63D9313-8A2D-4702-A765-1446CA68B7CA}">
      <dgm:prSet/>
      <dgm:spPr/>
      <dgm:t>
        <a:bodyPr/>
        <a:lstStyle/>
        <a:p>
          <a:pPr rtl="0"/>
          <a:r>
            <a:rPr lang="fr-FR" b="1" baseline="0" dirty="0"/>
            <a:t> Les dernières diapositives de cette animation</a:t>
          </a:r>
          <a:endParaRPr lang="fr-FR" dirty="0"/>
        </a:p>
      </dgm:t>
    </dgm:pt>
    <dgm:pt modelId="{EEAA5771-7A27-41BB-9B11-EC08EC70BEF9}" type="parTrans" cxnId="{1D018310-03B1-4F6A-9089-855234674415}">
      <dgm:prSet/>
      <dgm:spPr/>
      <dgm:t>
        <a:bodyPr/>
        <a:lstStyle/>
        <a:p>
          <a:endParaRPr lang="fr-FR"/>
        </a:p>
      </dgm:t>
    </dgm:pt>
    <dgm:pt modelId="{AB7D28ED-DCA7-4319-85C1-E75BFC7B2369}" type="sibTrans" cxnId="{1D018310-03B1-4F6A-9089-855234674415}">
      <dgm:prSet/>
      <dgm:spPr/>
      <dgm:t>
        <a:bodyPr/>
        <a:lstStyle/>
        <a:p>
          <a:endParaRPr lang="fr-FR"/>
        </a:p>
      </dgm:t>
    </dgm:pt>
    <dgm:pt modelId="{183EBF65-A0A0-4374-9BC4-259BD3D867F5}" type="pres">
      <dgm:prSet presAssocID="{7D0401F8-40D1-4528-AEBF-CC7032DEBF8E}" presName="diagram" presStyleCnt="0">
        <dgm:presLayoutVars>
          <dgm:chPref val="1"/>
          <dgm:dir/>
          <dgm:animOne val="branch"/>
          <dgm:animLvl val="lvl"/>
          <dgm:resizeHandles/>
        </dgm:presLayoutVars>
      </dgm:prSet>
      <dgm:spPr/>
    </dgm:pt>
    <dgm:pt modelId="{1AEC4B2E-2D53-4EA9-9D56-6AB06C0E2E62}" type="pres">
      <dgm:prSet presAssocID="{D63AFEED-FC5A-4473-9E6B-A579D82D1CB5}" presName="root" presStyleCnt="0"/>
      <dgm:spPr/>
    </dgm:pt>
    <dgm:pt modelId="{1AD04AE7-CE88-44E9-81C3-5220AEE19BCB}" type="pres">
      <dgm:prSet presAssocID="{D63AFEED-FC5A-4473-9E6B-A579D82D1CB5}" presName="rootComposite" presStyleCnt="0"/>
      <dgm:spPr/>
    </dgm:pt>
    <dgm:pt modelId="{DFEE68D8-BB2B-4FBC-AAD8-D5E654FFC7E1}" type="pres">
      <dgm:prSet presAssocID="{D63AFEED-FC5A-4473-9E6B-A579D82D1CB5}" presName="rootText" presStyleLbl="node1" presStyleIdx="0" presStyleCnt="1" custScaleX="418576" custLinFactNeighborX="-86015" custLinFactNeighborY="5008"/>
      <dgm:spPr/>
    </dgm:pt>
    <dgm:pt modelId="{7C7C66CA-F267-464F-9985-8A98054628B0}" type="pres">
      <dgm:prSet presAssocID="{D63AFEED-FC5A-4473-9E6B-A579D82D1CB5}" presName="rootConnector" presStyleLbl="node1" presStyleIdx="0" presStyleCnt="1"/>
      <dgm:spPr/>
    </dgm:pt>
    <dgm:pt modelId="{96AB3BFC-37E7-4F2D-8558-A88271AF6214}" type="pres">
      <dgm:prSet presAssocID="{D63AFEED-FC5A-4473-9E6B-A579D82D1CB5}" presName="childShape" presStyleCnt="0"/>
      <dgm:spPr/>
    </dgm:pt>
    <dgm:pt modelId="{CC48D553-3B7A-479C-962D-69EBBF85B1B9}" type="pres">
      <dgm:prSet presAssocID="{EEAA5771-7A27-41BB-9B11-EC08EC70BEF9}" presName="Name13" presStyleLbl="parChTrans1D2" presStyleIdx="0" presStyleCnt="1"/>
      <dgm:spPr/>
    </dgm:pt>
    <dgm:pt modelId="{C2064739-CC5E-48F8-A728-E37A6BFD15A1}" type="pres">
      <dgm:prSet presAssocID="{F63D9313-8A2D-4702-A765-1446CA68B7CA}" presName="childText" presStyleLbl="bgAcc1" presStyleIdx="0" presStyleCnt="1" custScaleX="312397">
        <dgm:presLayoutVars>
          <dgm:bulletEnabled val="1"/>
        </dgm:presLayoutVars>
      </dgm:prSet>
      <dgm:spPr/>
    </dgm:pt>
  </dgm:ptLst>
  <dgm:cxnLst>
    <dgm:cxn modelId="{76CB2801-3C4D-4C83-9FAE-A008CD3713D4}" type="presOf" srcId="{7D0401F8-40D1-4528-AEBF-CC7032DEBF8E}" destId="{183EBF65-A0A0-4374-9BC4-259BD3D867F5}" srcOrd="0" destOrd="0" presId="urn:microsoft.com/office/officeart/2005/8/layout/hierarchy3"/>
    <dgm:cxn modelId="{1D018310-03B1-4F6A-9089-855234674415}" srcId="{D63AFEED-FC5A-4473-9E6B-A579D82D1CB5}" destId="{F63D9313-8A2D-4702-A765-1446CA68B7CA}" srcOrd="0" destOrd="0" parTransId="{EEAA5771-7A27-41BB-9B11-EC08EC70BEF9}" sibTransId="{AB7D28ED-DCA7-4319-85C1-E75BFC7B2369}"/>
    <dgm:cxn modelId="{5F5E3411-F383-44E6-BD5F-D6101ECE7488}" type="presOf" srcId="{EEAA5771-7A27-41BB-9B11-EC08EC70BEF9}" destId="{CC48D553-3B7A-479C-962D-69EBBF85B1B9}" srcOrd="0" destOrd="0" presId="urn:microsoft.com/office/officeart/2005/8/layout/hierarchy3"/>
    <dgm:cxn modelId="{AE43FA30-B9E7-48B3-83BC-A8F715B613A9}" srcId="{7D0401F8-40D1-4528-AEBF-CC7032DEBF8E}" destId="{D63AFEED-FC5A-4473-9E6B-A579D82D1CB5}" srcOrd="0" destOrd="0" parTransId="{709610DC-1D2D-4E5F-BB90-49A107CA477E}" sibTransId="{B9001570-4D23-447D-8876-1E9EF094687E}"/>
    <dgm:cxn modelId="{7CFF3B74-0775-4C1A-B6B0-1735E945C3EF}" type="presOf" srcId="{F63D9313-8A2D-4702-A765-1446CA68B7CA}" destId="{C2064739-CC5E-48F8-A728-E37A6BFD15A1}" srcOrd="0" destOrd="0" presId="urn:microsoft.com/office/officeart/2005/8/layout/hierarchy3"/>
    <dgm:cxn modelId="{2AFD22AD-770B-4868-8407-BF35A14BC13F}" type="presOf" srcId="{D63AFEED-FC5A-4473-9E6B-A579D82D1CB5}" destId="{DFEE68D8-BB2B-4FBC-AAD8-D5E654FFC7E1}" srcOrd="0" destOrd="0" presId="urn:microsoft.com/office/officeart/2005/8/layout/hierarchy3"/>
    <dgm:cxn modelId="{13B63CDE-DAA2-4369-B01E-6540E11CAB19}" type="presOf" srcId="{D63AFEED-FC5A-4473-9E6B-A579D82D1CB5}" destId="{7C7C66CA-F267-464F-9985-8A98054628B0}" srcOrd="1" destOrd="0" presId="urn:microsoft.com/office/officeart/2005/8/layout/hierarchy3"/>
    <dgm:cxn modelId="{6F63ABA9-BC80-406B-8ACA-AC54C1035773}" type="presParOf" srcId="{183EBF65-A0A0-4374-9BC4-259BD3D867F5}" destId="{1AEC4B2E-2D53-4EA9-9D56-6AB06C0E2E62}" srcOrd="0" destOrd="0" presId="urn:microsoft.com/office/officeart/2005/8/layout/hierarchy3"/>
    <dgm:cxn modelId="{32E1D9AE-EFB8-4BCF-8BF7-16494432529D}" type="presParOf" srcId="{1AEC4B2E-2D53-4EA9-9D56-6AB06C0E2E62}" destId="{1AD04AE7-CE88-44E9-81C3-5220AEE19BCB}" srcOrd="0" destOrd="0" presId="urn:microsoft.com/office/officeart/2005/8/layout/hierarchy3"/>
    <dgm:cxn modelId="{247FEBEE-3A67-472E-A509-8FDE5A75C67F}" type="presParOf" srcId="{1AD04AE7-CE88-44E9-81C3-5220AEE19BCB}" destId="{DFEE68D8-BB2B-4FBC-AAD8-D5E654FFC7E1}" srcOrd="0" destOrd="0" presId="urn:microsoft.com/office/officeart/2005/8/layout/hierarchy3"/>
    <dgm:cxn modelId="{A16FC038-9BFF-48B7-BE9B-0952446711FA}" type="presParOf" srcId="{1AD04AE7-CE88-44E9-81C3-5220AEE19BCB}" destId="{7C7C66CA-F267-464F-9985-8A98054628B0}" srcOrd="1" destOrd="0" presId="urn:microsoft.com/office/officeart/2005/8/layout/hierarchy3"/>
    <dgm:cxn modelId="{EBEDEAB8-D0EF-42CA-B16F-57EE703E7830}" type="presParOf" srcId="{1AEC4B2E-2D53-4EA9-9D56-6AB06C0E2E62}" destId="{96AB3BFC-37E7-4F2D-8558-A88271AF6214}" srcOrd="1" destOrd="0" presId="urn:microsoft.com/office/officeart/2005/8/layout/hierarchy3"/>
    <dgm:cxn modelId="{DFB83FC0-575D-4F36-9E50-3E64CEE948AF}" type="presParOf" srcId="{96AB3BFC-37E7-4F2D-8558-A88271AF6214}" destId="{CC48D553-3B7A-479C-962D-69EBBF85B1B9}" srcOrd="0" destOrd="0" presId="urn:microsoft.com/office/officeart/2005/8/layout/hierarchy3"/>
    <dgm:cxn modelId="{4C4DFE14-61C3-4ED8-AC7B-FB791323EBDC}" type="presParOf" srcId="{96AB3BFC-37E7-4F2D-8558-A88271AF6214}" destId="{C2064739-CC5E-48F8-A728-E37A6BFD15A1}" srcOrd="1"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A2E967E-8E1C-4895-B91C-9F8EEC6376AF}" type="doc">
      <dgm:prSet loTypeId="urn:microsoft.com/office/officeart/2005/8/layout/cycle2" loCatId="cycle" qsTypeId="urn:microsoft.com/office/officeart/2005/8/quickstyle/simple1#126" qsCatId="simple" csTypeId="urn:microsoft.com/office/officeart/2005/8/colors/accent1_2#79" csCatId="accent1" phldr="1"/>
      <dgm:spPr/>
      <dgm:t>
        <a:bodyPr/>
        <a:lstStyle/>
        <a:p>
          <a:endParaRPr lang="fr-FR"/>
        </a:p>
      </dgm:t>
    </dgm:pt>
    <dgm:pt modelId="{582E8348-52CA-4D05-BE29-104C3C5EF620}">
      <dgm:prSet/>
      <dgm:spPr/>
      <dgm:t>
        <a:bodyPr/>
        <a:lstStyle/>
        <a:p>
          <a:pPr rtl="0"/>
          <a:r>
            <a:rPr lang="fr-FR" b="1" baseline="0" dirty="0"/>
            <a:t>Il existe des différences entre </a:t>
          </a:r>
          <a:br>
            <a:rPr lang="fr-FR" b="1" baseline="0" dirty="0"/>
          </a:br>
          <a:r>
            <a:rPr lang="fr-FR" b="1" baseline="0" dirty="0"/>
            <a:t>la convention collective du bâtiment et la convention collective des travaux publics</a:t>
          </a:r>
          <a:endParaRPr lang="fr-FR" dirty="0"/>
        </a:p>
      </dgm:t>
    </dgm:pt>
    <dgm:pt modelId="{85160FF1-5C71-4D78-8AD9-8A9F6B335F08}" type="parTrans" cxnId="{A328EB88-3507-4265-B11E-145DAF868158}">
      <dgm:prSet/>
      <dgm:spPr/>
      <dgm:t>
        <a:bodyPr/>
        <a:lstStyle/>
        <a:p>
          <a:endParaRPr lang="fr-FR"/>
        </a:p>
      </dgm:t>
    </dgm:pt>
    <dgm:pt modelId="{AB370324-7CF3-4F38-915A-2F2B5F2908C2}" type="sibTrans" cxnId="{A328EB88-3507-4265-B11E-145DAF868158}">
      <dgm:prSet/>
      <dgm:spPr/>
      <dgm:t>
        <a:bodyPr/>
        <a:lstStyle/>
        <a:p>
          <a:endParaRPr lang="fr-FR"/>
        </a:p>
      </dgm:t>
    </dgm:pt>
    <dgm:pt modelId="{78F02020-4EB4-4914-AF1B-7762DBA0B731}" type="pres">
      <dgm:prSet presAssocID="{DA2E967E-8E1C-4895-B91C-9F8EEC6376AF}" presName="cycle" presStyleCnt="0">
        <dgm:presLayoutVars>
          <dgm:dir/>
          <dgm:resizeHandles val="exact"/>
        </dgm:presLayoutVars>
      </dgm:prSet>
      <dgm:spPr/>
    </dgm:pt>
    <dgm:pt modelId="{F38CB544-81E9-4884-8DA9-6D5418EA9718}" type="pres">
      <dgm:prSet presAssocID="{582E8348-52CA-4D05-BE29-104C3C5EF620}" presName="node" presStyleLbl="node1" presStyleIdx="0" presStyleCnt="1" custScaleX="114734">
        <dgm:presLayoutVars>
          <dgm:bulletEnabled val="1"/>
        </dgm:presLayoutVars>
      </dgm:prSet>
      <dgm:spPr/>
    </dgm:pt>
  </dgm:ptLst>
  <dgm:cxnLst>
    <dgm:cxn modelId="{43DE3E31-BB09-4FB7-B3EE-F431550C5F7C}" type="presOf" srcId="{DA2E967E-8E1C-4895-B91C-9F8EEC6376AF}" destId="{78F02020-4EB4-4914-AF1B-7762DBA0B731}" srcOrd="0" destOrd="0" presId="urn:microsoft.com/office/officeart/2005/8/layout/cycle2"/>
    <dgm:cxn modelId="{9BC6C24D-89CB-4AD1-AC0B-56C319B8BDCA}" type="presOf" srcId="{582E8348-52CA-4D05-BE29-104C3C5EF620}" destId="{F38CB544-81E9-4884-8DA9-6D5418EA9718}" srcOrd="0" destOrd="0" presId="urn:microsoft.com/office/officeart/2005/8/layout/cycle2"/>
    <dgm:cxn modelId="{A328EB88-3507-4265-B11E-145DAF868158}" srcId="{DA2E967E-8E1C-4895-B91C-9F8EEC6376AF}" destId="{582E8348-52CA-4D05-BE29-104C3C5EF620}" srcOrd="0" destOrd="0" parTransId="{85160FF1-5C71-4D78-8AD9-8A9F6B335F08}" sibTransId="{AB370324-7CF3-4F38-915A-2F2B5F2908C2}"/>
    <dgm:cxn modelId="{4F18330F-D724-4E3A-8114-F16F5174F9C8}" type="presParOf" srcId="{78F02020-4EB4-4914-AF1B-7762DBA0B731}" destId="{F38CB544-81E9-4884-8DA9-6D5418EA9718}" srcOrd="0" destOrd="0" presId="urn:microsoft.com/office/officeart/2005/8/layout/cycle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E00EDA8-45E4-44DE-96AA-46DB423C0F71}" type="doc">
      <dgm:prSet loTypeId="urn:microsoft.com/office/officeart/2005/8/layout/vList2" loCatId="list" qsTypeId="urn:microsoft.com/office/officeart/2005/8/quickstyle/simple1#127" qsCatId="simple" csTypeId="urn:microsoft.com/office/officeart/2005/8/colors/accent1_2#80" csCatId="accent1" phldr="1"/>
      <dgm:spPr/>
      <dgm:t>
        <a:bodyPr/>
        <a:lstStyle/>
        <a:p>
          <a:endParaRPr lang="fr-FR"/>
        </a:p>
      </dgm:t>
    </dgm:pt>
    <dgm:pt modelId="{50375F29-AA2B-45BA-83C0-16B9437A18DB}">
      <dgm:prSet/>
      <dgm:spPr/>
      <dgm:t>
        <a:bodyPr/>
        <a:lstStyle/>
        <a:p>
          <a:pPr rtl="0"/>
          <a:r>
            <a:rPr lang="fr-FR" b="1" baseline="0"/>
            <a:t>Par remise aux salariés lors de l'embauche d'une notice d'information (Article R2262-1 du code du travail)</a:t>
          </a:r>
          <a:endParaRPr lang="fr-FR"/>
        </a:p>
      </dgm:t>
    </dgm:pt>
    <dgm:pt modelId="{ACBABB97-B623-4436-975F-FECD5988F92C}" type="parTrans" cxnId="{97D78892-1AAE-467A-92FA-31ECC96691B6}">
      <dgm:prSet/>
      <dgm:spPr/>
      <dgm:t>
        <a:bodyPr/>
        <a:lstStyle/>
        <a:p>
          <a:endParaRPr lang="fr-FR"/>
        </a:p>
      </dgm:t>
    </dgm:pt>
    <dgm:pt modelId="{C30E25FC-742A-4C0D-8DF8-7901D7300929}" type="sibTrans" cxnId="{97D78892-1AAE-467A-92FA-31ECC96691B6}">
      <dgm:prSet/>
      <dgm:spPr/>
      <dgm:t>
        <a:bodyPr/>
        <a:lstStyle/>
        <a:p>
          <a:endParaRPr lang="fr-FR"/>
        </a:p>
      </dgm:t>
    </dgm:pt>
    <dgm:pt modelId="{011DB2DA-2FA8-4080-8D68-071B5F2AD034}">
      <dgm:prSet/>
      <dgm:spPr/>
      <dgm:t>
        <a:bodyPr/>
        <a:lstStyle/>
        <a:p>
          <a:pPr rtl="0"/>
          <a:r>
            <a:rPr lang="fr-FR" b="1" baseline="0"/>
            <a:t>Par l'insertion de la mention dans le contrat de travail </a:t>
          </a:r>
          <a:endParaRPr lang="fr-FR"/>
        </a:p>
      </dgm:t>
    </dgm:pt>
    <dgm:pt modelId="{3DB42408-C36D-42D9-A73D-1FB6B782B96B}" type="parTrans" cxnId="{C83D9AD1-D783-42F2-9F54-3C9E53748D8D}">
      <dgm:prSet/>
      <dgm:spPr/>
      <dgm:t>
        <a:bodyPr/>
        <a:lstStyle/>
        <a:p>
          <a:endParaRPr lang="fr-FR"/>
        </a:p>
      </dgm:t>
    </dgm:pt>
    <dgm:pt modelId="{AFAB568E-9B77-4979-A67F-6AEA49210914}" type="sibTrans" cxnId="{C83D9AD1-D783-42F2-9F54-3C9E53748D8D}">
      <dgm:prSet/>
      <dgm:spPr/>
      <dgm:t>
        <a:bodyPr/>
        <a:lstStyle/>
        <a:p>
          <a:endParaRPr lang="fr-FR"/>
        </a:p>
      </dgm:t>
    </dgm:pt>
    <dgm:pt modelId="{887302D1-BA1E-48A3-8E7A-53BD55F28AE8}">
      <dgm:prSet/>
      <dgm:spPr/>
      <dgm:t>
        <a:bodyPr/>
        <a:lstStyle/>
        <a:p>
          <a:pPr rtl="0"/>
          <a:r>
            <a:rPr lang="fr-FR" b="1" baseline="0" dirty="0"/>
            <a:t>Par l'affichage (ou information par tout moyen)</a:t>
          </a:r>
          <a:endParaRPr lang="fr-FR" dirty="0"/>
        </a:p>
      </dgm:t>
    </dgm:pt>
    <dgm:pt modelId="{2D76B9EB-3F49-4B8D-AC79-65CC28B4A8A5}" type="parTrans" cxnId="{17A9F84C-7400-4D04-A981-D1BDEF2C1239}">
      <dgm:prSet/>
      <dgm:spPr/>
      <dgm:t>
        <a:bodyPr/>
        <a:lstStyle/>
        <a:p>
          <a:endParaRPr lang="fr-FR"/>
        </a:p>
      </dgm:t>
    </dgm:pt>
    <dgm:pt modelId="{75FF367C-A993-4E8C-BFAA-63EFB9F5AA20}" type="sibTrans" cxnId="{17A9F84C-7400-4D04-A981-D1BDEF2C1239}">
      <dgm:prSet/>
      <dgm:spPr/>
      <dgm:t>
        <a:bodyPr/>
        <a:lstStyle/>
        <a:p>
          <a:endParaRPr lang="fr-FR"/>
        </a:p>
      </dgm:t>
    </dgm:pt>
    <dgm:pt modelId="{5C4DC633-4101-4740-BA48-28FABE3DA9C6}">
      <dgm:prSet/>
      <dgm:spPr/>
      <dgm:t>
        <a:bodyPr/>
        <a:lstStyle/>
        <a:p>
          <a:pPr rtl="0"/>
          <a:r>
            <a:rPr lang="fr-FR" b="1" baseline="0"/>
            <a:t>Par mention sur le bulletin de paie (convention nationale + régionale)</a:t>
          </a:r>
          <a:endParaRPr lang="fr-FR"/>
        </a:p>
      </dgm:t>
    </dgm:pt>
    <dgm:pt modelId="{E0A0420F-29E6-49A7-B300-2D413D0787B5}" type="parTrans" cxnId="{5FEFEB2A-213F-4BA1-9D05-F2370164DB27}">
      <dgm:prSet/>
      <dgm:spPr/>
      <dgm:t>
        <a:bodyPr/>
        <a:lstStyle/>
        <a:p>
          <a:endParaRPr lang="fr-FR"/>
        </a:p>
      </dgm:t>
    </dgm:pt>
    <dgm:pt modelId="{5593EE4C-8BC2-4E94-A75E-1BE8F5C98395}" type="sibTrans" cxnId="{5FEFEB2A-213F-4BA1-9D05-F2370164DB27}">
      <dgm:prSet/>
      <dgm:spPr/>
      <dgm:t>
        <a:bodyPr/>
        <a:lstStyle/>
        <a:p>
          <a:endParaRPr lang="fr-FR"/>
        </a:p>
      </dgm:t>
    </dgm:pt>
    <dgm:pt modelId="{04E0AE50-E6E7-455C-9559-FC1A6B975077}" type="pres">
      <dgm:prSet presAssocID="{AE00EDA8-45E4-44DE-96AA-46DB423C0F71}" presName="linear" presStyleCnt="0">
        <dgm:presLayoutVars>
          <dgm:animLvl val="lvl"/>
          <dgm:resizeHandles val="exact"/>
        </dgm:presLayoutVars>
      </dgm:prSet>
      <dgm:spPr/>
    </dgm:pt>
    <dgm:pt modelId="{2C45C853-B684-4A57-9825-A2C3787F60FD}" type="pres">
      <dgm:prSet presAssocID="{50375F29-AA2B-45BA-83C0-16B9437A18DB}" presName="parentText" presStyleLbl="node1" presStyleIdx="0" presStyleCnt="4">
        <dgm:presLayoutVars>
          <dgm:chMax val="0"/>
          <dgm:bulletEnabled val="1"/>
        </dgm:presLayoutVars>
      </dgm:prSet>
      <dgm:spPr/>
    </dgm:pt>
    <dgm:pt modelId="{9B3EEB79-7823-4074-8584-D26503603C24}" type="pres">
      <dgm:prSet presAssocID="{C30E25FC-742A-4C0D-8DF8-7901D7300929}" presName="spacer" presStyleCnt="0"/>
      <dgm:spPr/>
    </dgm:pt>
    <dgm:pt modelId="{BF3DACCA-C2DC-4107-BA66-0F161C08A499}" type="pres">
      <dgm:prSet presAssocID="{011DB2DA-2FA8-4080-8D68-071B5F2AD034}" presName="parentText" presStyleLbl="node1" presStyleIdx="1" presStyleCnt="4">
        <dgm:presLayoutVars>
          <dgm:chMax val="0"/>
          <dgm:bulletEnabled val="1"/>
        </dgm:presLayoutVars>
      </dgm:prSet>
      <dgm:spPr/>
    </dgm:pt>
    <dgm:pt modelId="{A1CAC4BB-42A0-41A8-B368-DCCAB7ED432A}" type="pres">
      <dgm:prSet presAssocID="{AFAB568E-9B77-4979-A67F-6AEA49210914}" presName="spacer" presStyleCnt="0"/>
      <dgm:spPr/>
    </dgm:pt>
    <dgm:pt modelId="{C106FE3A-9554-435C-B2B9-2DEA4000B515}" type="pres">
      <dgm:prSet presAssocID="{887302D1-BA1E-48A3-8E7A-53BD55F28AE8}" presName="parentText" presStyleLbl="node1" presStyleIdx="2" presStyleCnt="4">
        <dgm:presLayoutVars>
          <dgm:chMax val="0"/>
          <dgm:bulletEnabled val="1"/>
        </dgm:presLayoutVars>
      </dgm:prSet>
      <dgm:spPr/>
    </dgm:pt>
    <dgm:pt modelId="{9DE53776-702A-4815-A340-ECFCC34D6E13}" type="pres">
      <dgm:prSet presAssocID="{75FF367C-A993-4E8C-BFAA-63EFB9F5AA20}" presName="spacer" presStyleCnt="0"/>
      <dgm:spPr/>
    </dgm:pt>
    <dgm:pt modelId="{DE2B0FA2-1AF6-402C-AEE5-FC43486009D4}" type="pres">
      <dgm:prSet presAssocID="{5C4DC633-4101-4740-BA48-28FABE3DA9C6}" presName="parentText" presStyleLbl="node1" presStyleIdx="3" presStyleCnt="4">
        <dgm:presLayoutVars>
          <dgm:chMax val="0"/>
          <dgm:bulletEnabled val="1"/>
        </dgm:presLayoutVars>
      </dgm:prSet>
      <dgm:spPr/>
    </dgm:pt>
  </dgm:ptLst>
  <dgm:cxnLst>
    <dgm:cxn modelId="{5FEFEB2A-213F-4BA1-9D05-F2370164DB27}" srcId="{AE00EDA8-45E4-44DE-96AA-46DB423C0F71}" destId="{5C4DC633-4101-4740-BA48-28FABE3DA9C6}" srcOrd="3" destOrd="0" parTransId="{E0A0420F-29E6-49A7-B300-2D413D0787B5}" sibTransId="{5593EE4C-8BC2-4E94-A75E-1BE8F5C98395}"/>
    <dgm:cxn modelId="{17A9F84C-7400-4D04-A981-D1BDEF2C1239}" srcId="{AE00EDA8-45E4-44DE-96AA-46DB423C0F71}" destId="{887302D1-BA1E-48A3-8E7A-53BD55F28AE8}" srcOrd="2" destOrd="0" parTransId="{2D76B9EB-3F49-4B8D-AC79-65CC28B4A8A5}" sibTransId="{75FF367C-A993-4E8C-BFAA-63EFB9F5AA20}"/>
    <dgm:cxn modelId="{F8626058-902C-457B-AAD4-78BD2D424E5F}" type="presOf" srcId="{011DB2DA-2FA8-4080-8D68-071B5F2AD034}" destId="{BF3DACCA-C2DC-4107-BA66-0F161C08A499}" srcOrd="0" destOrd="0" presId="urn:microsoft.com/office/officeart/2005/8/layout/vList2"/>
    <dgm:cxn modelId="{FF929D8A-C315-4111-962F-30503EDA78D6}" type="presOf" srcId="{887302D1-BA1E-48A3-8E7A-53BD55F28AE8}" destId="{C106FE3A-9554-435C-B2B9-2DEA4000B515}" srcOrd="0" destOrd="0" presId="urn:microsoft.com/office/officeart/2005/8/layout/vList2"/>
    <dgm:cxn modelId="{97D78892-1AAE-467A-92FA-31ECC96691B6}" srcId="{AE00EDA8-45E4-44DE-96AA-46DB423C0F71}" destId="{50375F29-AA2B-45BA-83C0-16B9437A18DB}" srcOrd="0" destOrd="0" parTransId="{ACBABB97-B623-4436-975F-FECD5988F92C}" sibTransId="{C30E25FC-742A-4C0D-8DF8-7901D7300929}"/>
    <dgm:cxn modelId="{C83D9AD1-D783-42F2-9F54-3C9E53748D8D}" srcId="{AE00EDA8-45E4-44DE-96AA-46DB423C0F71}" destId="{011DB2DA-2FA8-4080-8D68-071B5F2AD034}" srcOrd="1" destOrd="0" parTransId="{3DB42408-C36D-42D9-A73D-1FB6B782B96B}" sibTransId="{AFAB568E-9B77-4979-A67F-6AEA49210914}"/>
    <dgm:cxn modelId="{5E8448DD-1182-47CB-9C63-8E3C8EAB913A}" type="presOf" srcId="{AE00EDA8-45E4-44DE-96AA-46DB423C0F71}" destId="{04E0AE50-E6E7-455C-9559-FC1A6B975077}" srcOrd="0" destOrd="0" presId="urn:microsoft.com/office/officeart/2005/8/layout/vList2"/>
    <dgm:cxn modelId="{673466F2-4651-4980-B72C-A16681C40759}" type="presOf" srcId="{50375F29-AA2B-45BA-83C0-16B9437A18DB}" destId="{2C45C853-B684-4A57-9825-A2C3787F60FD}" srcOrd="0" destOrd="0" presId="urn:microsoft.com/office/officeart/2005/8/layout/vList2"/>
    <dgm:cxn modelId="{E08C67F9-ABA5-4772-9207-8CA3766892CB}" type="presOf" srcId="{5C4DC633-4101-4740-BA48-28FABE3DA9C6}" destId="{DE2B0FA2-1AF6-402C-AEE5-FC43486009D4}" srcOrd="0" destOrd="0" presId="urn:microsoft.com/office/officeart/2005/8/layout/vList2"/>
    <dgm:cxn modelId="{21F2FA9F-B3A1-4CA8-BA64-65EF6F3CE66F}" type="presParOf" srcId="{04E0AE50-E6E7-455C-9559-FC1A6B975077}" destId="{2C45C853-B684-4A57-9825-A2C3787F60FD}" srcOrd="0" destOrd="0" presId="urn:microsoft.com/office/officeart/2005/8/layout/vList2"/>
    <dgm:cxn modelId="{3DA3387F-6E46-4497-8FCE-CEB9778C8E6C}" type="presParOf" srcId="{04E0AE50-E6E7-455C-9559-FC1A6B975077}" destId="{9B3EEB79-7823-4074-8584-D26503603C24}" srcOrd="1" destOrd="0" presId="urn:microsoft.com/office/officeart/2005/8/layout/vList2"/>
    <dgm:cxn modelId="{0E4052BB-16A3-4616-8B8B-64BB678F3B8A}" type="presParOf" srcId="{04E0AE50-E6E7-455C-9559-FC1A6B975077}" destId="{BF3DACCA-C2DC-4107-BA66-0F161C08A499}" srcOrd="2" destOrd="0" presId="urn:microsoft.com/office/officeart/2005/8/layout/vList2"/>
    <dgm:cxn modelId="{CA0658C5-6EDB-406A-A957-EC4813C6D58E}" type="presParOf" srcId="{04E0AE50-E6E7-455C-9559-FC1A6B975077}" destId="{A1CAC4BB-42A0-41A8-B368-DCCAB7ED432A}" srcOrd="3" destOrd="0" presId="urn:microsoft.com/office/officeart/2005/8/layout/vList2"/>
    <dgm:cxn modelId="{408565A2-2B17-4192-8883-5D958539E67F}" type="presParOf" srcId="{04E0AE50-E6E7-455C-9559-FC1A6B975077}" destId="{C106FE3A-9554-435C-B2B9-2DEA4000B515}" srcOrd="4" destOrd="0" presId="urn:microsoft.com/office/officeart/2005/8/layout/vList2"/>
    <dgm:cxn modelId="{19579FF5-B257-4774-8A58-870B17C1BFBC}" type="presParOf" srcId="{04E0AE50-E6E7-455C-9559-FC1A6B975077}" destId="{9DE53776-702A-4815-A340-ECFCC34D6E13}" srcOrd="5" destOrd="0" presId="urn:microsoft.com/office/officeart/2005/8/layout/vList2"/>
    <dgm:cxn modelId="{697BB3C8-400A-4BEA-A438-F2FF3ABE9F4B}" type="presParOf" srcId="{04E0AE50-E6E7-455C-9559-FC1A6B975077}" destId="{DE2B0FA2-1AF6-402C-AEE5-FC43486009D4}"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B8D7DDA-F3C9-4EDC-8F5C-61B3F4DD2851}" type="doc">
      <dgm:prSet loTypeId="urn:microsoft.com/office/officeart/2005/8/layout/vList2" loCatId="list" qsTypeId="urn:microsoft.com/office/officeart/2005/8/quickstyle/simple1#128" qsCatId="simple" csTypeId="urn:microsoft.com/office/officeart/2005/8/colors/accent1_2#81" csCatId="accent1" phldr="1"/>
      <dgm:spPr/>
      <dgm:t>
        <a:bodyPr/>
        <a:lstStyle/>
        <a:p>
          <a:endParaRPr lang="fr-FR"/>
        </a:p>
      </dgm:t>
    </dgm:pt>
    <dgm:pt modelId="{F9197F8D-B4DA-4A43-B426-1BA3C8C6BD10}">
      <dgm:prSet phldrT="[Texte]"/>
      <dgm:spPr/>
      <dgm:t>
        <a:bodyPr/>
        <a:lstStyle/>
        <a:p>
          <a:r>
            <a:rPr lang="fr-FR" dirty="0"/>
            <a:t>Règlement intérieur ou note de service, formation sécurité, document unique d’évaluation des risques, intervenant en prévention des risques, etc. </a:t>
          </a:r>
        </a:p>
      </dgm:t>
    </dgm:pt>
    <dgm:pt modelId="{2BC9E07D-D4D1-483F-BEDC-E55746785A13}" type="parTrans" cxnId="{528B69E4-A1BF-4827-9670-01D587031F50}">
      <dgm:prSet/>
      <dgm:spPr/>
      <dgm:t>
        <a:bodyPr/>
        <a:lstStyle/>
        <a:p>
          <a:endParaRPr lang="fr-FR"/>
        </a:p>
      </dgm:t>
    </dgm:pt>
    <dgm:pt modelId="{491B1D79-5A39-457E-9995-671035D84FC0}" type="sibTrans" cxnId="{528B69E4-A1BF-4827-9670-01D587031F50}">
      <dgm:prSet/>
      <dgm:spPr/>
      <dgm:t>
        <a:bodyPr/>
        <a:lstStyle/>
        <a:p>
          <a:endParaRPr lang="fr-FR"/>
        </a:p>
      </dgm:t>
    </dgm:pt>
    <dgm:pt modelId="{75B42720-2DAA-4CC1-BCCA-80320A007AD5}">
      <dgm:prSet phldrT="[Texte]"/>
      <dgm:spPr/>
      <dgm:t>
        <a:bodyPr/>
        <a:lstStyle/>
        <a:p>
          <a:pPr>
            <a:buClr>
              <a:schemeClr val="accent1"/>
            </a:buClr>
            <a:buFont typeface="Wingdings" panose="05000000000000000000" pitchFamily="2" charset="2"/>
            <a:buChar char="§"/>
          </a:pPr>
          <a:r>
            <a:rPr lang="fr-FR" dirty="0"/>
            <a:t>Mise à disposition au moins 3 litres d’eau par jour et par travailleur (article R.4534-143 du Code du travail)</a:t>
          </a:r>
        </a:p>
      </dgm:t>
    </dgm:pt>
    <dgm:pt modelId="{6ABC17C4-0B5B-44E3-813F-614FE3DA9650}" type="parTrans" cxnId="{94B04F30-0B60-4452-A15D-FF6C855D8F2A}">
      <dgm:prSet/>
      <dgm:spPr/>
      <dgm:t>
        <a:bodyPr/>
        <a:lstStyle/>
        <a:p>
          <a:endParaRPr lang="fr-FR"/>
        </a:p>
      </dgm:t>
    </dgm:pt>
    <dgm:pt modelId="{122D6D01-7A82-4002-84F5-999ECC717E56}" type="sibTrans" cxnId="{94B04F30-0B60-4452-A15D-FF6C855D8F2A}">
      <dgm:prSet/>
      <dgm:spPr/>
      <dgm:t>
        <a:bodyPr/>
        <a:lstStyle/>
        <a:p>
          <a:endParaRPr lang="fr-FR"/>
        </a:p>
      </dgm:t>
    </dgm:pt>
    <dgm:pt modelId="{55B833FD-0CC9-4246-8782-8AC78523563F}">
      <dgm:prSet/>
      <dgm:spPr/>
      <dgm:t>
        <a:bodyPr/>
        <a:lstStyle/>
        <a:p>
          <a:r>
            <a:rPr lang="fr-FR" dirty="0"/>
            <a:t>Respecter les spécificités comme </a:t>
          </a:r>
        </a:p>
      </dgm:t>
    </dgm:pt>
    <dgm:pt modelId="{B09F95AA-BB35-4773-86EF-8882925C079C}" type="parTrans" cxnId="{72B5BFEB-E8BF-4060-9C48-95329CAC4807}">
      <dgm:prSet/>
      <dgm:spPr/>
      <dgm:t>
        <a:bodyPr/>
        <a:lstStyle/>
        <a:p>
          <a:endParaRPr lang="fr-FR"/>
        </a:p>
      </dgm:t>
    </dgm:pt>
    <dgm:pt modelId="{6DAC1C76-2352-412A-AA83-14D9D675BF6D}" type="sibTrans" cxnId="{72B5BFEB-E8BF-4060-9C48-95329CAC4807}">
      <dgm:prSet/>
      <dgm:spPr/>
      <dgm:t>
        <a:bodyPr/>
        <a:lstStyle/>
        <a:p>
          <a:endParaRPr lang="fr-FR"/>
        </a:p>
      </dgm:t>
    </dgm:pt>
    <dgm:pt modelId="{8AFEA141-B75C-464A-91F4-B5CEEB18ACF9}">
      <dgm:prSet/>
      <dgm:spPr/>
      <dgm:t>
        <a:bodyPr/>
        <a:lstStyle/>
        <a:p>
          <a:pPr>
            <a:buClr>
              <a:schemeClr val="accent1"/>
            </a:buClr>
            <a:buFont typeface="Wingdings" panose="05000000000000000000" pitchFamily="2" charset="2"/>
            <a:buChar char="§"/>
          </a:pPr>
          <a:r>
            <a:rPr lang="fr-FR" dirty="0"/>
            <a:t>Respect des CCN ouvriers BTP qui permettent au salarié effectuant des travaux pénibles de bénéficier d’un temps de pause rémunéré correspondant à 10 % du temps de travail « pénible » (ce temps de pause est considéré comme du temps de travail effectif)</a:t>
          </a:r>
        </a:p>
      </dgm:t>
    </dgm:pt>
    <dgm:pt modelId="{0A86043B-D564-4914-B876-9BB5BBC22F36}" type="parTrans" cxnId="{16CB2A19-E745-4E06-9F59-90F398AC19EB}">
      <dgm:prSet/>
      <dgm:spPr/>
      <dgm:t>
        <a:bodyPr/>
        <a:lstStyle/>
        <a:p>
          <a:endParaRPr lang="fr-FR"/>
        </a:p>
      </dgm:t>
    </dgm:pt>
    <dgm:pt modelId="{CB3B2447-81CF-40E5-BE54-46B1A2634214}" type="sibTrans" cxnId="{16CB2A19-E745-4E06-9F59-90F398AC19EB}">
      <dgm:prSet/>
      <dgm:spPr/>
      <dgm:t>
        <a:bodyPr/>
        <a:lstStyle/>
        <a:p>
          <a:endParaRPr lang="fr-FR"/>
        </a:p>
      </dgm:t>
    </dgm:pt>
    <dgm:pt modelId="{F8CFECCC-3538-42B0-B326-90E4F41F2642}" type="pres">
      <dgm:prSet presAssocID="{3B8D7DDA-F3C9-4EDC-8F5C-61B3F4DD2851}" presName="linear" presStyleCnt="0">
        <dgm:presLayoutVars>
          <dgm:animLvl val="lvl"/>
          <dgm:resizeHandles val="exact"/>
        </dgm:presLayoutVars>
      </dgm:prSet>
      <dgm:spPr/>
    </dgm:pt>
    <dgm:pt modelId="{25F57A41-B920-444D-8B20-048888A2CB86}" type="pres">
      <dgm:prSet presAssocID="{F9197F8D-B4DA-4A43-B426-1BA3C8C6BD10}" presName="parentText" presStyleLbl="node1" presStyleIdx="0" presStyleCnt="2" custScaleY="40066" custLinFactY="1194" custLinFactNeighborY="100000">
        <dgm:presLayoutVars>
          <dgm:chMax val="0"/>
          <dgm:bulletEnabled val="1"/>
        </dgm:presLayoutVars>
      </dgm:prSet>
      <dgm:spPr/>
    </dgm:pt>
    <dgm:pt modelId="{252CED63-3EF0-43E1-8B2A-5F8749EF1094}" type="pres">
      <dgm:prSet presAssocID="{491B1D79-5A39-457E-9995-671035D84FC0}" presName="spacer" presStyleCnt="0"/>
      <dgm:spPr/>
    </dgm:pt>
    <dgm:pt modelId="{3C606777-BFD4-47F4-8FAA-FD542F7E9331}" type="pres">
      <dgm:prSet presAssocID="{55B833FD-0CC9-4246-8782-8AC78523563F}" presName="parentText" presStyleLbl="node1" presStyleIdx="1" presStyleCnt="2" custScaleY="34205">
        <dgm:presLayoutVars>
          <dgm:chMax val="0"/>
          <dgm:bulletEnabled val="1"/>
        </dgm:presLayoutVars>
      </dgm:prSet>
      <dgm:spPr/>
    </dgm:pt>
    <dgm:pt modelId="{B441B202-3A25-4A88-B374-FDF0A8411DE7}" type="pres">
      <dgm:prSet presAssocID="{55B833FD-0CC9-4246-8782-8AC78523563F}" presName="childText" presStyleLbl="revTx" presStyleIdx="0" presStyleCnt="1" custScaleY="59542">
        <dgm:presLayoutVars>
          <dgm:bulletEnabled val="1"/>
        </dgm:presLayoutVars>
      </dgm:prSet>
      <dgm:spPr/>
    </dgm:pt>
  </dgm:ptLst>
  <dgm:cxnLst>
    <dgm:cxn modelId="{16CB2A19-E745-4E06-9F59-90F398AC19EB}" srcId="{55B833FD-0CC9-4246-8782-8AC78523563F}" destId="{8AFEA141-B75C-464A-91F4-B5CEEB18ACF9}" srcOrd="1" destOrd="0" parTransId="{0A86043B-D564-4914-B876-9BB5BBC22F36}" sibTransId="{CB3B2447-81CF-40E5-BE54-46B1A2634214}"/>
    <dgm:cxn modelId="{94B04F30-0B60-4452-A15D-FF6C855D8F2A}" srcId="{55B833FD-0CC9-4246-8782-8AC78523563F}" destId="{75B42720-2DAA-4CC1-BCCA-80320A007AD5}" srcOrd="0" destOrd="0" parTransId="{6ABC17C4-0B5B-44E3-813F-614FE3DA9650}" sibTransId="{122D6D01-7A82-4002-84F5-999ECC717E56}"/>
    <dgm:cxn modelId="{A9455555-4B3B-482D-9DAF-B1EAAB3D87A5}" type="presOf" srcId="{8AFEA141-B75C-464A-91F4-B5CEEB18ACF9}" destId="{B441B202-3A25-4A88-B374-FDF0A8411DE7}" srcOrd="0" destOrd="1" presId="urn:microsoft.com/office/officeart/2005/8/layout/vList2"/>
    <dgm:cxn modelId="{C2A40392-5DB1-4779-91A4-632A36FC5681}" type="presOf" srcId="{3B8D7DDA-F3C9-4EDC-8F5C-61B3F4DD2851}" destId="{F8CFECCC-3538-42B0-B326-90E4F41F2642}" srcOrd="0" destOrd="0" presId="urn:microsoft.com/office/officeart/2005/8/layout/vList2"/>
    <dgm:cxn modelId="{6ECC23D3-1A50-4FBF-BB36-48249D51A081}" type="presOf" srcId="{F9197F8D-B4DA-4A43-B426-1BA3C8C6BD10}" destId="{25F57A41-B920-444D-8B20-048888A2CB86}" srcOrd="0" destOrd="0" presId="urn:microsoft.com/office/officeart/2005/8/layout/vList2"/>
    <dgm:cxn modelId="{C209F3E0-595A-44CA-951A-5B17EBC4D938}" type="presOf" srcId="{55B833FD-0CC9-4246-8782-8AC78523563F}" destId="{3C606777-BFD4-47F4-8FAA-FD542F7E9331}" srcOrd="0" destOrd="0" presId="urn:microsoft.com/office/officeart/2005/8/layout/vList2"/>
    <dgm:cxn modelId="{528B69E4-A1BF-4827-9670-01D587031F50}" srcId="{3B8D7DDA-F3C9-4EDC-8F5C-61B3F4DD2851}" destId="{F9197F8D-B4DA-4A43-B426-1BA3C8C6BD10}" srcOrd="0" destOrd="0" parTransId="{2BC9E07D-D4D1-483F-BEDC-E55746785A13}" sibTransId="{491B1D79-5A39-457E-9995-671035D84FC0}"/>
    <dgm:cxn modelId="{1E23FBE8-B29A-4B3E-99F3-9467B17D62F7}" type="presOf" srcId="{75B42720-2DAA-4CC1-BCCA-80320A007AD5}" destId="{B441B202-3A25-4A88-B374-FDF0A8411DE7}" srcOrd="0" destOrd="0" presId="urn:microsoft.com/office/officeart/2005/8/layout/vList2"/>
    <dgm:cxn modelId="{72B5BFEB-E8BF-4060-9C48-95329CAC4807}" srcId="{3B8D7DDA-F3C9-4EDC-8F5C-61B3F4DD2851}" destId="{55B833FD-0CC9-4246-8782-8AC78523563F}" srcOrd="1" destOrd="0" parTransId="{B09F95AA-BB35-4773-86EF-8882925C079C}" sibTransId="{6DAC1C76-2352-412A-AA83-14D9D675BF6D}"/>
    <dgm:cxn modelId="{3388CCEE-294B-4825-B30C-A1A9C65C1FCB}" type="presParOf" srcId="{F8CFECCC-3538-42B0-B326-90E4F41F2642}" destId="{25F57A41-B920-444D-8B20-048888A2CB86}" srcOrd="0" destOrd="0" presId="urn:microsoft.com/office/officeart/2005/8/layout/vList2"/>
    <dgm:cxn modelId="{5054B648-1A17-4925-9645-8F271118F48B}" type="presParOf" srcId="{F8CFECCC-3538-42B0-B326-90E4F41F2642}" destId="{252CED63-3EF0-43E1-8B2A-5F8749EF1094}" srcOrd="1" destOrd="0" presId="urn:microsoft.com/office/officeart/2005/8/layout/vList2"/>
    <dgm:cxn modelId="{5C087237-3F82-41EC-BD62-C75AFF011CB6}" type="presParOf" srcId="{F8CFECCC-3538-42B0-B326-90E4F41F2642}" destId="{3C606777-BFD4-47F4-8FAA-FD542F7E9331}" srcOrd="2" destOrd="0" presId="urn:microsoft.com/office/officeart/2005/8/layout/vList2"/>
    <dgm:cxn modelId="{68E124D0-1093-4D14-A771-FD92AE347F65}" type="presParOf" srcId="{F8CFECCC-3538-42B0-B326-90E4F41F2642}" destId="{B441B202-3A25-4A88-B374-FDF0A8411DE7}"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BBEE8B8F-D94A-4646-82CA-1A427A666F82}" type="doc">
      <dgm:prSet loTypeId="urn:microsoft.com/office/officeart/2005/8/layout/vList2" loCatId="list" qsTypeId="urn:microsoft.com/office/officeart/2005/8/quickstyle/simple1#129" qsCatId="simple" csTypeId="urn:microsoft.com/office/officeart/2005/8/colors/accent1_2#82" csCatId="accent1" phldr="1"/>
      <dgm:spPr/>
      <dgm:t>
        <a:bodyPr/>
        <a:lstStyle/>
        <a:p>
          <a:endParaRPr lang="fr-FR"/>
        </a:p>
      </dgm:t>
    </dgm:pt>
    <dgm:pt modelId="{CF6740DB-B904-4567-B0EE-F981F89BBB3A}">
      <dgm:prSet custT="1"/>
      <dgm:spPr/>
      <dgm:t>
        <a:bodyPr/>
        <a:lstStyle/>
        <a:p>
          <a:pPr rtl="0"/>
          <a:r>
            <a:rPr lang="fr-FR" sz="1800" b="0" baseline="0" dirty="0"/>
            <a:t>L’entreprise doit </a:t>
          </a:r>
          <a:endParaRPr lang="fr-FR" sz="1800" b="0" dirty="0"/>
        </a:p>
      </dgm:t>
    </dgm:pt>
    <dgm:pt modelId="{BC664591-BD0F-4C2C-9EC0-C67A0CAA2C5D}" type="parTrans" cxnId="{22853FC2-6289-4048-ADEA-6B07C4973B32}">
      <dgm:prSet/>
      <dgm:spPr/>
      <dgm:t>
        <a:bodyPr/>
        <a:lstStyle/>
        <a:p>
          <a:endParaRPr lang="fr-FR" sz="3600"/>
        </a:p>
      </dgm:t>
    </dgm:pt>
    <dgm:pt modelId="{87B8261B-8672-472A-98F0-66896C9E7DCF}" type="sibTrans" cxnId="{22853FC2-6289-4048-ADEA-6B07C4973B32}">
      <dgm:prSet/>
      <dgm:spPr/>
      <dgm:t>
        <a:bodyPr/>
        <a:lstStyle/>
        <a:p>
          <a:endParaRPr lang="fr-FR" sz="3600"/>
        </a:p>
      </dgm:t>
    </dgm:pt>
    <dgm:pt modelId="{E46BA563-627B-41E2-BABD-B14A11A9EAFD}">
      <dgm:prSet custT="1"/>
      <dgm:spPr/>
      <dgm:t>
        <a:bodyPr/>
        <a:lstStyle/>
        <a:p>
          <a:pPr algn="l" rtl="0">
            <a:buClr>
              <a:schemeClr val="accent1"/>
            </a:buClr>
            <a:buFont typeface="Wingdings" panose="05000000000000000000" pitchFamily="2" charset="2"/>
            <a:buChar char="§"/>
          </a:pPr>
          <a:r>
            <a:rPr lang="fr-FR" sz="1800" b="0" dirty="0"/>
            <a:t>Identifier tous les risques (art. L2312-9) donc identifier les 10 facteurs mentionnés à l’art. L 4161-1 du Code du travail</a:t>
          </a:r>
        </a:p>
      </dgm:t>
    </dgm:pt>
    <dgm:pt modelId="{18EEC822-5427-4BE4-99E5-7DBA1BA8FD0B}" type="parTrans" cxnId="{9CD388CD-357B-42C0-83CD-93E6CA192250}">
      <dgm:prSet/>
      <dgm:spPr/>
      <dgm:t>
        <a:bodyPr/>
        <a:lstStyle/>
        <a:p>
          <a:endParaRPr lang="fr-FR" sz="3600"/>
        </a:p>
      </dgm:t>
    </dgm:pt>
    <dgm:pt modelId="{088C547F-7563-47C6-8F15-504DAB7B0B86}" type="sibTrans" cxnId="{9CD388CD-357B-42C0-83CD-93E6CA192250}">
      <dgm:prSet/>
      <dgm:spPr/>
      <dgm:t>
        <a:bodyPr/>
        <a:lstStyle/>
        <a:p>
          <a:endParaRPr lang="fr-FR" sz="3600"/>
        </a:p>
      </dgm:t>
    </dgm:pt>
    <dgm:pt modelId="{A7D79E2D-E4E4-40CD-82B2-6E9805144BFB}">
      <dgm:prSet custT="1"/>
      <dgm:spPr/>
      <dgm:t>
        <a:bodyPr/>
        <a:lstStyle/>
        <a:p>
          <a:pPr algn="l" rtl="0">
            <a:buClr>
              <a:schemeClr val="accent1"/>
            </a:buClr>
            <a:buFont typeface="Wingdings" panose="05000000000000000000" pitchFamily="2" charset="2"/>
            <a:buChar char="§"/>
          </a:pPr>
          <a:r>
            <a:rPr lang="fr-FR" sz="1800" b="0" dirty="0"/>
            <a:t>Quantifier les dépassements (6 facteurs de risques professionnels sont à déclarer en cas d’atteinte ou de dépassement des seuils)</a:t>
          </a:r>
        </a:p>
      </dgm:t>
    </dgm:pt>
    <dgm:pt modelId="{C1482116-DAAA-4FA7-B856-00835E0EDF0B}" type="parTrans" cxnId="{20B59A5F-3368-4492-9C0F-5E9690F599D9}">
      <dgm:prSet/>
      <dgm:spPr/>
      <dgm:t>
        <a:bodyPr/>
        <a:lstStyle/>
        <a:p>
          <a:endParaRPr lang="fr-FR" sz="3600"/>
        </a:p>
      </dgm:t>
    </dgm:pt>
    <dgm:pt modelId="{669D98B0-CE33-4B5E-8F97-0E41EBC8A881}" type="sibTrans" cxnId="{20B59A5F-3368-4492-9C0F-5E9690F599D9}">
      <dgm:prSet/>
      <dgm:spPr/>
      <dgm:t>
        <a:bodyPr/>
        <a:lstStyle/>
        <a:p>
          <a:endParaRPr lang="fr-FR" sz="3600"/>
        </a:p>
      </dgm:t>
    </dgm:pt>
    <dgm:pt modelId="{24D46442-EEE9-49D6-92AC-87525AD5F587}">
      <dgm:prSet custT="1"/>
      <dgm:spPr/>
      <dgm:t>
        <a:bodyPr/>
        <a:lstStyle/>
        <a:p>
          <a:pPr algn="just" rtl="0">
            <a:buClr>
              <a:schemeClr val="accent1"/>
            </a:buClr>
            <a:buFont typeface="Wingdings" panose="05000000000000000000" pitchFamily="2" charset="2"/>
            <a:buChar char="§"/>
          </a:pPr>
          <a:r>
            <a:rPr lang="fr-FR" sz="1800" b="0" dirty="0"/>
            <a:t>Compléter le DUER en mettant en annexe les données collectives utiles à l’évaluation des expositions aux facteurs de pénibilité et La proportion de salariés exposés à ces facteurs au-delà des seuils (art. R. 4121-1-1 du Code du travail)</a:t>
          </a:r>
        </a:p>
      </dgm:t>
    </dgm:pt>
    <dgm:pt modelId="{C040431E-92E3-4ABB-B3D3-921F24D8E1C7}" type="parTrans" cxnId="{BFFF43E2-FB51-44EC-A300-B74818CF98C3}">
      <dgm:prSet/>
      <dgm:spPr/>
    </dgm:pt>
    <dgm:pt modelId="{CB134A86-1A95-4E89-9D8D-C7B68B26829C}" type="sibTrans" cxnId="{BFFF43E2-FB51-44EC-A300-B74818CF98C3}">
      <dgm:prSet/>
      <dgm:spPr/>
    </dgm:pt>
    <dgm:pt modelId="{C8861F19-A0DA-4155-A23E-290004D9CFC1}">
      <dgm:prSet custT="1"/>
      <dgm:spPr/>
      <dgm:t>
        <a:bodyPr/>
        <a:lstStyle/>
        <a:p>
          <a:pPr algn="l"/>
          <a:endParaRPr lang="fr-FR" sz="1600" b="0" dirty="0"/>
        </a:p>
      </dgm:t>
    </dgm:pt>
    <dgm:pt modelId="{6064F37F-C67F-451E-B7AD-5ECB862D35BC}" type="parTrans" cxnId="{81A8AA2B-67DD-41A2-9116-8793DE0AACE3}">
      <dgm:prSet/>
      <dgm:spPr/>
      <dgm:t>
        <a:bodyPr/>
        <a:lstStyle/>
        <a:p>
          <a:endParaRPr lang="fr-FR"/>
        </a:p>
      </dgm:t>
    </dgm:pt>
    <dgm:pt modelId="{8BE0497A-21D6-4FAD-8411-E500236231AD}" type="sibTrans" cxnId="{81A8AA2B-67DD-41A2-9116-8793DE0AACE3}">
      <dgm:prSet/>
      <dgm:spPr/>
      <dgm:t>
        <a:bodyPr/>
        <a:lstStyle/>
        <a:p>
          <a:endParaRPr lang="fr-FR"/>
        </a:p>
      </dgm:t>
    </dgm:pt>
    <dgm:pt modelId="{2F1E1A7C-0C9A-4F87-A4FD-899A6A73D042}" type="pres">
      <dgm:prSet presAssocID="{BBEE8B8F-D94A-4646-82CA-1A427A666F82}" presName="linear" presStyleCnt="0">
        <dgm:presLayoutVars>
          <dgm:animLvl val="lvl"/>
          <dgm:resizeHandles val="exact"/>
        </dgm:presLayoutVars>
      </dgm:prSet>
      <dgm:spPr/>
    </dgm:pt>
    <dgm:pt modelId="{CBDC91FE-EDE2-4253-97DE-455385F69C59}" type="pres">
      <dgm:prSet presAssocID="{CF6740DB-B904-4567-B0EE-F981F89BBB3A}" presName="parentText" presStyleLbl="node1" presStyleIdx="0" presStyleCnt="1" custScaleY="127791" custLinFactNeighborY="-44034">
        <dgm:presLayoutVars>
          <dgm:chMax val="0"/>
          <dgm:bulletEnabled val="1"/>
        </dgm:presLayoutVars>
      </dgm:prSet>
      <dgm:spPr/>
    </dgm:pt>
    <dgm:pt modelId="{6BC7E04E-831F-402B-A4D1-1FAE7F3B1EE7}" type="pres">
      <dgm:prSet presAssocID="{CF6740DB-B904-4567-B0EE-F981F89BBB3A}" presName="childText" presStyleLbl="revTx" presStyleIdx="0" presStyleCnt="1" custAng="0" custScaleY="166666" custLinFactNeighborX="-1" custLinFactNeighborY="2567">
        <dgm:presLayoutVars>
          <dgm:bulletEnabled val="1"/>
        </dgm:presLayoutVars>
      </dgm:prSet>
      <dgm:spPr/>
    </dgm:pt>
  </dgm:ptLst>
  <dgm:cxnLst>
    <dgm:cxn modelId="{DF255216-E85D-4741-B69B-11C3C579707B}" type="presOf" srcId="{CF6740DB-B904-4567-B0EE-F981F89BBB3A}" destId="{CBDC91FE-EDE2-4253-97DE-455385F69C59}" srcOrd="0" destOrd="0" presId="urn:microsoft.com/office/officeart/2005/8/layout/vList2"/>
    <dgm:cxn modelId="{81A8AA2B-67DD-41A2-9116-8793DE0AACE3}" srcId="{CF6740DB-B904-4567-B0EE-F981F89BBB3A}" destId="{C8861F19-A0DA-4155-A23E-290004D9CFC1}" srcOrd="3" destOrd="0" parTransId="{6064F37F-C67F-451E-B7AD-5ECB862D35BC}" sibTransId="{8BE0497A-21D6-4FAD-8411-E500236231AD}"/>
    <dgm:cxn modelId="{20B59A5F-3368-4492-9C0F-5E9690F599D9}" srcId="{CF6740DB-B904-4567-B0EE-F981F89BBB3A}" destId="{A7D79E2D-E4E4-40CD-82B2-6E9805144BFB}" srcOrd="1" destOrd="0" parTransId="{C1482116-DAAA-4FA7-B856-00835E0EDF0B}" sibTransId="{669D98B0-CE33-4B5E-8F97-0E41EBC8A881}"/>
    <dgm:cxn modelId="{BEA05447-98E6-44AE-B4E6-0CC213B9B0A9}" type="presOf" srcId="{24D46442-EEE9-49D6-92AC-87525AD5F587}" destId="{6BC7E04E-831F-402B-A4D1-1FAE7F3B1EE7}" srcOrd="0" destOrd="2" presId="urn:microsoft.com/office/officeart/2005/8/layout/vList2"/>
    <dgm:cxn modelId="{102B5382-6F5D-4B64-AFB4-2D0B1A3912A2}" type="presOf" srcId="{C8861F19-A0DA-4155-A23E-290004D9CFC1}" destId="{6BC7E04E-831F-402B-A4D1-1FAE7F3B1EE7}" srcOrd="0" destOrd="3" presId="urn:microsoft.com/office/officeart/2005/8/layout/vList2"/>
    <dgm:cxn modelId="{107904A3-D585-4684-BBFB-0C5B76F65B24}" type="presOf" srcId="{E46BA563-627B-41E2-BABD-B14A11A9EAFD}" destId="{6BC7E04E-831F-402B-A4D1-1FAE7F3B1EE7}" srcOrd="0" destOrd="0" presId="urn:microsoft.com/office/officeart/2005/8/layout/vList2"/>
    <dgm:cxn modelId="{A8CFBEA9-2919-4E5E-AADE-B0D5FF984C32}" type="presOf" srcId="{A7D79E2D-E4E4-40CD-82B2-6E9805144BFB}" destId="{6BC7E04E-831F-402B-A4D1-1FAE7F3B1EE7}" srcOrd="0" destOrd="1" presId="urn:microsoft.com/office/officeart/2005/8/layout/vList2"/>
    <dgm:cxn modelId="{0A61EDB6-A6A0-46DD-B7E0-2AA56BA03718}" type="presOf" srcId="{BBEE8B8F-D94A-4646-82CA-1A427A666F82}" destId="{2F1E1A7C-0C9A-4F87-A4FD-899A6A73D042}" srcOrd="0" destOrd="0" presId="urn:microsoft.com/office/officeart/2005/8/layout/vList2"/>
    <dgm:cxn modelId="{22853FC2-6289-4048-ADEA-6B07C4973B32}" srcId="{BBEE8B8F-D94A-4646-82CA-1A427A666F82}" destId="{CF6740DB-B904-4567-B0EE-F981F89BBB3A}" srcOrd="0" destOrd="0" parTransId="{BC664591-BD0F-4C2C-9EC0-C67A0CAA2C5D}" sibTransId="{87B8261B-8672-472A-98F0-66896C9E7DCF}"/>
    <dgm:cxn modelId="{9CD388CD-357B-42C0-83CD-93E6CA192250}" srcId="{CF6740DB-B904-4567-B0EE-F981F89BBB3A}" destId="{E46BA563-627B-41E2-BABD-B14A11A9EAFD}" srcOrd="0" destOrd="0" parTransId="{18EEC822-5427-4BE4-99E5-7DBA1BA8FD0B}" sibTransId="{088C547F-7563-47C6-8F15-504DAB7B0B86}"/>
    <dgm:cxn modelId="{BFFF43E2-FB51-44EC-A300-B74818CF98C3}" srcId="{CF6740DB-B904-4567-B0EE-F981F89BBB3A}" destId="{24D46442-EEE9-49D6-92AC-87525AD5F587}" srcOrd="2" destOrd="0" parTransId="{C040431E-92E3-4ABB-B3D3-921F24D8E1C7}" sibTransId="{CB134A86-1A95-4E89-9D8D-C7B68B26829C}"/>
    <dgm:cxn modelId="{88A58241-55BA-4810-9581-F9F83D2BE4B7}" type="presParOf" srcId="{2F1E1A7C-0C9A-4F87-A4FD-899A6A73D042}" destId="{CBDC91FE-EDE2-4253-97DE-455385F69C59}" srcOrd="0" destOrd="0" presId="urn:microsoft.com/office/officeart/2005/8/layout/vList2"/>
    <dgm:cxn modelId="{0A756001-6EDC-4349-A266-E33A4EF25AF9}" type="presParOf" srcId="{2F1E1A7C-0C9A-4F87-A4FD-899A6A73D042}" destId="{6BC7E04E-831F-402B-A4D1-1FAE7F3B1EE7}"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2619E7D8-D3AA-42C7-B4C7-D2AB4729F54E}" type="doc">
      <dgm:prSet loTypeId="urn:microsoft.com/office/officeart/2005/8/layout/vList5" loCatId="list" qsTypeId="urn:microsoft.com/office/officeart/2005/8/quickstyle/simple1#130" qsCatId="simple" csTypeId="urn:microsoft.com/office/officeart/2005/8/colors/accent1_2#83" csCatId="accent1" phldr="1"/>
      <dgm:spPr/>
      <dgm:t>
        <a:bodyPr/>
        <a:lstStyle/>
        <a:p>
          <a:endParaRPr lang="fr-FR"/>
        </a:p>
      </dgm:t>
    </dgm:pt>
    <dgm:pt modelId="{C584D7B6-C8EB-426F-BFAD-0ED30C613379}">
      <dgm:prSet custT="1"/>
      <dgm:spPr/>
      <dgm:t>
        <a:bodyPr/>
        <a:lstStyle/>
        <a:p>
          <a:pPr rtl="0"/>
          <a:r>
            <a:rPr lang="fr-FR" sz="1800" b="1" baseline="0" dirty="0"/>
            <a:t>L’employeur est soumis aux obligations suivantes</a:t>
          </a:r>
          <a:endParaRPr lang="fr-FR" sz="1800" dirty="0"/>
        </a:p>
      </dgm:t>
    </dgm:pt>
    <dgm:pt modelId="{DA5FB82D-B064-45BF-89FB-B1ADDE7A7CC2}" type="parTrans" cxnId="{AF1EE1DD-6805-4A25-B837-597BCC3F2D8F}">
      <dgm:prSet/>
      <dgm:spPr/>
      <dgm:t>
        <a:bodyPr/>
        <a:lstStyle/>
        <a:p>
          <a:endParaRPr lang="fr-FR"/>
        </a:p>
      </dgm:t>
    </dgm:pt>
    <dgm:pt modelId="{307A6BFF-4DED-4E74-A1D2-4C892102F0F1}" type="sibTrans" cxnId="{AF1EE1DD-6805-4A25-B837-597BCC3F2D8F}">
      <dgm:prSet/>
      <dgm:spPr/>
      <dgm:t>
        <a:bodyPr/>
        <a:lstStyle/>
        <a:p>
          <a:endParaRPr lang="fr-FR"/>
        </a:p>
      </dgm:t>
    </dgm:pt>
    <dgm:pt modelId="{9935E746-D3FA-41E5-B7D8-36D4A69F27FA}">
      <dgm:prSet custT="1"/>
      <dgm:spPr/>
      <dgm:t>
        <a:bodyPr/>
        <a:lstStyle/>
        <a:p>
          <a:pPr marL="180000" indent="-180000" rtl="0">
            <a:buFont typeface="Wingdings" panose="05000000000000000000" pitchFamily="2" charset="2"/>
            <a:buChar char="§"/>
          </a:pPr>
          <a:r>
            <a:rPr lang="fr-FR" sz="1500" b="1" dirty="0"/>
            <a:t>Effectuer une évaluation annuelle de l’exposition de chaque travailleur en fonction des conditions de travail habituelles du poste occupé</a:t>
          </a:r>
          <a:endParaRPr lang="fr-FR" sz="1500" dirty="0"/>
        </a:p>
      </dgm:t>
    </dgm:pt>
    <dgm:pt modelId="{DC7C60DE-5D52-435B-93D6-69B79AFB4ED6}" type="parTrans" cxnId="{D7AD7EAF-E7D4-49DB-92E4-248046FB7547}">
      <dgm:prSet/>
      <dgm:spPr/>
      <dgm:t>
        <a:bodyPr/>
        <a:lstStyle/>
        <a:p>
          <a:endParaRPr lang="fr-FR"/>
        </a:p>
      </dgm:t>
    </dgm:pt>
    <dgm:pt modelId="{472FB83C-DDD5-40BD-9D99-8B25A938F402}" type="sibTrans" cxnId="{D7AD7EAF-E7D4-49DB-92E4-248046FB7547}">
      <dgm:prSet/>
      <dgm:spPr/>
      <dgm:t>
        <a:bodyPr/>
        <a:lstStyle/>
        <a:p>
          <a:endParaRPr lang="fr-FR"/>
        </a:p>
      </dgm:t>
    </dgm:pt>
    <dgm:pt modelId="{B9EE44EA-90FF-4B15-B7B3-9F33B46B659E}">
      <dgm:prSet custT="1"/>
      <dgm:spPr/>
      <dgm:t>
        <a:bodyPr/>
        <a:lstStyle/>
        <a:p>
          <a:pPr marL="180000" indent="-180000" rtl="0">
            <a:buFont typeface="Wingdings" panose="05000000000000000000" pitchFamily="2" charset="2"/>
            <a:buChar char="§"/>
          </a:pPr>
          <a:r>
            <a:rPr lang="fr-FR" sz="1500" b="1" dirty="0"/>
            <a:t>Consigner, en annexe du document unique d’évaluation des risques professionnels, les données collectives d’exposition aux facteurs</a:t>
          </a:r>
          <a:br>
            <a:rPr lang="fr-FR" sz="1500" b="1" dirty="0"/>
          </a:br>
          <a:r>
            <a:rPr lang="fr-FR" sz="1500" b="1" dirty="0"/>
            <a:t>de pénibilité</a:t>
          </a:r>
          <a:endParaRPr lang="fr-FR" sz="1500" dirty="0"/>
        </a:p>
      </dgm:t>
    </dgm:pt>
    <dgm:pt modelId="{3445436A-869E-4113-A307-05ADCC4D3268}" type="parTrans" cxnId="{D30CBCF0-1DB8-4D7C-A712-4463099F2502}">
      <dgm:prSet/>
      <dgm:spPr/>
      <dgm:t>
        <a:bodyPr/>
        <a:lstStyle/>
        <a:p>
          <a:endParaRPr lang="fr-FR"/>
        </a:p>
      </dgm:t>
    </dgm:pt>
    <dgm:pt modelId="{0C64F510-3B7D-412E-8262-1CBE03489AA7}" type="sibTrans" cxnId="{D30CBCF0-1DB8-4D7C-A712-4463099F2502}">
      <dgm:prSet/>
      <dgm:spPr/>
      <dgm:t>
        <a:bodyPr/>
        <a:lstStyle/>
        <a:p>
          <a:endParaRPr lang="fr-FR"/>
        </a:p>
      </dgm:t>
    </dgm:pt>
    <dgm:pt modelId="{BC9C6E5A-1422-4090-9182-149B0AEBB598}">
      <dgm:prSet custT="1"/>
      <dgm:spPr/>
      <dgm:t>
        <a:bodyPr/>
        <a:lstStyle/>
        <a:p>
          <a:pPr marL="180000" indent="-180000" rtl="0">
            <a:buFont typeface="Wingdings" panose="05000000000000000000" pitchFamily="2" charset="2"/>
            <a:buChar char="§"/>
          </a:pPr>
          <a:r>
            <a:rPr lang="fr-FR" sz="1500" b="1" dirty="0"/>
            <a:t>Renforcer les mesures de prévention et de protection collective et individuelle (par exemple, le port de casque anti-bruit peut permettre de rester en-dessous du seuil d’exposition au bruit) </a:t>
          </a:r>
          <a:endParaRPr lang="fr-FR" sz="1500" dirty="0"/>
        </a:p>
      </dgm:t>
    </dgm:pt>
    <dgm:pt modelId="{C0366445-DDD1-4F16-A6F3-EBF2F6DF5708}" type="parTrans" cxnId="{A45822D2-0E83-496E-97A7-A408590E82F5}">
      <dgm:prSet/>
      <dgm:spPr/>
      <dgm:t>
        <a:bodyPr/>
        <a:lstStyle/>
        <a:p>
          <a:endParaRPr lang="fr-FR"/>
        </a:p>
      </dgm:t>
    </dgm:pt>
    <dgm:pt modelId="{9D8A76F4-5615-4DE7-A49B-C0B3349B174B}" type="sibTrans" cxnId="{A45822D2-0E83-496E-97A7-A408590E82F5}">
      <dgm:prSet/>
      <dgm:spPr/>
      <dgm:t>
        <a:bodyPr/>
        <a:lstStyle/>
        <a:p>
          <a:endParaRPr lang="fr-FR"/>
        </a:p>
      </dgm:t>
    </dgm:pt>
    <dgm:pt modelId="{AB34DA44-0515-4161-9D11-B73424B3437C}">
      <dgm:prSet custT="1"/>
      <dgm:spPr/>
      <dgm:t>
        <a:bodyPr/>
        <a:lstStyle/>
        <a:p>
          <a:pPr marL="180000" indent="-180000" rtl="0">
            <a:buFont typeface="Wingdings" panose="05000000000000000000" pitchFamily="2" charset="2"/>
            <a:buChar char="§"/>
          </a:pPr>
          <a:r>
            <a:rPr lang="fr-FR" sz="1500" b="1" u="sng" dirty="0"/>
            <a:t>Déclarer les facteurs de pénibilité auxquels a été exposé chaque salarié au-delà des seuils</a:t>
          </a:r>
          <a:endParaRPr lang="fr-FR" sz="1500" dirty="0"/>
        </a:p>
      </dgm:t>
    </dgm:pt>
    <dgm:pt modelId="{0C1EDA83-4463-4D4A-8902-3C2F1EF9C177}" type="parTrans" cxnId="{5771CA68-57F4-4103-9B74-1B2BA56D8A77}">
      <dgm:prSet/>
      <dgm:spPr/>
      <dgm:t>
        <a:bodyPr/>
        <a:lstStyle/>
        <a:p>
          <a:endParaRPr lang="fr-FR"/>
        </a:p>
      </dgm:t>
    </dgm:pt>
    <dgm:pt modelId="{F183DC32-78BA-4B06-B671-5319A7165C1D}" type="sibTrans" cxnId="{5771CA68-57F4-4103-9B74-1B2BA56D8A77}">
      <dgm:prSet/>
      <dgm:spPr/>
      <dgm:t>
        <a:bodyPr/>
        <a:lstStyle/>
        <a:p>
          <a:endParaRPr lang="fr-FR"/>
        </a:p>
      </dgm:t>
    </dgm:pt>
    <dgm:pt modelId="{CEBB3811-19C9-4CCD-978B-949EBAA49EA8}" type="pres">
      <dgm:prSet presAssocID="{2619E7D8-D3AA-42C7-B4C7-D2AB4729F54E}" presName="Name0" presStyleCnt="0">
        <dgm:presLayoutVars>
          <dgm:dir/>
          <dgm:animLvl val="lvl"/>
          <dgm:resizeHandles val="exact"/>
        </dgm:presLayoutVars>
      </dgm:prSet>
      <dgm:spPr/>
    </dgm:pt>
    <dgm:pt modelId="{DBB420EA-5C81-4FA3-AF89-D5A0C78B3A72}" type="pres">
      <dgm:prSet presAssocID="{C584D7B6-C8EB-426F-BFAD-0ED30C613379}" presName="linNode" presStyleCnt="0"/>
      <dgm:spPr/>
    </dgm:pt>
    <dgm:pt modelId="{BE4D0158-6E71-456A-89C5-1F7A31A82BB7}" type="pres">
      <dgm:prSet presAssocID="{C584D7B6-C8EB-426F-BFAD-0ED30C613379}" presName="parentText" presStyleLbl="node1" presStyleIdx="0" presStyleCnt="1">
        <dgm:presLayoutVars>
          <dgm:chMax val="1"/>
          <dgm:bulletEnabled val="1"/>
        </dgm:presLayoutVars>
      </dgm:prSet>
      <dgm:spPr/>
    </dgm:pt>
    <dgm:pt modelId="{1B0BFC54-73F9-4029-AFE2-114B023C163C}" type="pres">
      <dgm:prSet presAssocID="{C584D7B6-C8EB-426F-BFAD-0ED30C613379}" presName="descendantText" presStyleLbl="alignAccFollowNode1" presStyleIdx="0" presStyleCnt="1" custScaleX="99507" custScaleY="117906" custLinFactNeighborY="1842">
        <dgm:presLayoutVars>
          <dgm:bulletEnabled val="1"/>
        </dgm:presLayoutVars>
      </dgm:prSet>
      <dgm:spPr/>
    </dgm:pt>
  </dgm:ptLst>
  <dgm:cxnLst>
    <dgm:cxn modelId="{62B79312-44AE-4EA0-89AF-2FC99F9D9ED3}" type="presOf" srcId="{9935E746-D3FA-41E5-B7D8-36D4A69F27FA}" destId="{1B0BFC54-73F9-4029-AFE2-114B023C163C}" srcOrd="0" destOrd="0" presId="urn:microsoft.com/office/officeart/2005/8/layout/vList5"/>
    <dgm:cxn modelId="{1570BE39-F7A5-4F7E-871C-57F923C1539D}" type="presOf" srcId="{C584D7B6-C8EB-426F-BFAD-0ED30C613379}" destId="{BE4D0158-6E71-456A-89C5-1F7A31A82BB7}" srcOrd="0" destOrd="0" presId="urn:microsoft.com/office/officeart/2005/8/layout/vList5"/>
    <dgm:cxn modelId="{5771CA68-57F4-4103-9B74-1B2BA56D8A77}" srcId="{C584D7B6-C8EB-426F-BFAD-0ED30C613379}" destId="{AB34DA44-0515-4161-9D11-B73424B3437C}" srcOrd="3" destOrd="0" parTransId="{0C1EDA83-4463-4D4A-8902-3C2F1EF9C177}" sibTransId="{F183DC32-78BA-4B06-B671-5319A7165C1D}"/>
    <dgm:cxn modelId="{20CCE185-A642-4FC7-B019-6A9DEBC65D5F}" type="presOf" srcId="{2619E7D8-D3AA-42C7-B4C7-D2AB4729F54E}" destId="{CEBB3811-19C9-4CCD-978B-949EBAA49EA8}" srcOrd="0" destOrd="0" presId="urn:microsoft.com/office/officeart/2005/8/layout/vList5"/>
    <dgm:cxn modelId="{D7AD7EAF-E7D4-49DB-92E4-248046FB7547}" srcId="{C584D7B6-C8EB-426F-BFAD-0ED30C613379}" destId="{9935E746-D3FA-41E5-B7D8-36D4A69F27FA}" srcOrd="0" destOrd="0" parTransId="{DC7C60DE-5D52-435B-93D6-69B79AFB4ED6}" sibTransId="{472FB83C-DDD5-40BD-9D99-8B25A938F402}"/>
    <dgm:cxn modelId="{2E80A2B5-8589-4609-839F-A971F90CD970}" type="presOf" srcId="{AB34DA44-0515-4161-9D11-B73424B3437C}" destId="{1B0BFC54-73F9-4029-AFE2-114B023C163C}" srcOrd="0" destOrd="3" presId="urn:microsoft.com/office/officeart/2005/8/layout/vList5"/>
    <dgm:cxn modelId="{A45822D2-0E83-496E-97A7-A408590E82F5}" srcId="{C584D7B6-C8EB-426F-BFAD-0ED30C613379}" destId="{BC9C6E5A-1422-4090-9182-149B0AEBB598}" srcOrd="2" destOrd="0" parTransId="{C0366445-DDD1-4F16-A6F3-EBF2F6DF5708}" sibTransId="{9D8A76F4-5615-4DE7-A49B-C0B3349B174B}"/>
    <dgm:cxn modelId="{AF1EE1DD-6805-4A25-B837-597BCC3F2D8F}" srcId="{2619E7D8-D3AA-42C7-B4C7-D2AB4729F54E}" destId="{C584D7B6-C8EB-426F-BFAD-0ED30C613379}" srcOrd="0" destOrd="0" parTransId="{DA5FB82D-B064-45BF-89FB-B1ADDE7A7CC2}" sibTransId="{307A6BFF-4DED-4E74-A1D2-4C892102F0F1}"/>
    <dgm:cxn modelId="{D30CBCF0-1DB8-4D7C-A712-4463099F2502}" srcId="{C584D7B6-C8EB-426F-BFAD-0ED30C613379}" destId="{B9EE44EA-90FF-4B15-B7B3-9F33B46B659E}" srcOrd="1" destOrd="0" parTransId="{3445436A-869E-4113-A307-05ADCC4D3268}" sibTransId="{0C64F510-3B7D-412E-8262-1CBE03489AA7}"/>
    <dgm:cxn modelId="{BAB274FB-94AE-41EA-8566-3D1221EEDD0C}" type="presOf" srcId="{B9EE44EA-90FF-4B15-B7B3-9F33B46B659E}" destId="{1B0BFC54-73F9-4029-AFE2-114B023C163C}" srcOrd="0" destOrd="1" presId="urn:microsoft.com/office/officeart/2005/8/layout/vList5"/>
    <dgm:cxn modelId="{8ADDC0FD-F642-4B1E-BC7E-AD452DDDD561}" type="presOf" srcId="{BC9C6E5A-1422-4090-9182-149B0AEBB598}" destId="{1B0BFC54-73F9-4029-AFE2-114B023C163C}" srcOrd="0" destOrd="2" presId="urn:microsoft.com/office/officeart/2005/8/layout/vList5"/>
    <dgm:cxn modelId="{453BD795-D58C-4B32-A523-78469AD200FF}" type="presParOf" srcId="{CEBB3811-19C9-4CCD-978B-949EBAA49EA8}" destId="{DBB420EA-5C81-4FA3-AF89-D5A0C78B3A72}" srcOrd="0" destOrd="0" presId="urn:microsoft.com/office/officeart/2005/8/layout/vList5"/>
    <dgm:cxn modelId="{D28F6B76-24FB-4941-8FBD-9A76B7CA9457}" type="presParOf" srcId="{DBB420EA-5C81-4FA3-AF89-D5A0C78B3A72}" destId="{BE4D0158-6E71-456A-89C5-1F7A31A82BB7}" srcOrd="0" destOrd="0" presId="urn:microsoft.com/office/officeart/2005/8/layout/vList5"/>
    <dgm:cxn modelId="{D054945F-18E0-4953-8E72-9DD925A02498}" type="presParOf" srcId="{DBB420EA-5C81-4FA3-AF89-D5A0C78B3A72}" destId="{1B0BFC54-73F9-4029-AFE2-114B023C163C}"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E0965A96-6039-4CD3-AFEE-8C8CF4A191DA}" type="doc">
      <dgm:prSet loTypeId="urn:microsoft.com/office/officeart/2005/8/layout/vList2" loCatId="list" qsTypeId="urn:microsoft.com/office/officeart/2005/8/quickstyle/simple1#131" qsCatId="simple" csTypeId="urn:microsoft.com/office/officeart/2005/8/colors/accent1_2#84" csCatId="accent1" phldr="1"/>
      <dgm:spPr/>
      <dgm:t>
        <a:bodyPr/>
        <a:lstStyle/>
        <a:p>
          <a:endParaRPr lang="fr-FR"/>
        </a:p>
      </dgm:t>
    </dgm:pt>
    <dgm:pt modelId="{65DC91E8-0A44-4132-AF45-71E5DEBD8A90}">
      <dgm:prSet phldrT="[Texte]" custT="1"/>
      <dgm:spPr/>
      <dgm:t>
        <a:bodyPr/>
        <a:lstStyle/>
        <a:p>
          <a:r>
            <a:rPr lang="fr-FR" sz="1800" dirty="0"/>
            <a:t>BÂTIMENT</a:t>
          </a:r>
        </a:p>
      </dgm:t>
    </dgm:pt>
    <dgm:pt modelId="{6881168E-60F1-4E0A-A64B-3861321E26DC}" type="parTrans" cxnId="{07D213B5-5EDA-4E3D-8386-82FC740BFD76}">
      <dgm:prSet/>
      <dgm:spPr/>
      <dgm:t>
        <a:bodyPr/>
        <a:lstStyle/>
        <a:p>
          <a:endParaRPr lang="fr-FR"/>
        </a:p>
      </dgm:t>
    </dgm:pt>
    <dgm:pt modelId="{0CE9A092-F29F-48ED-8D28-CD3A483E2F30}" type="sibTrans" cxnId="{07D213B5-5EDA-4E3D-8386-82FC740BFD76}">
      <dgm:prSet/>
      <dgm:spPr/>
      <dgm:t>
        <a:bodyPr/>
        <a:lstStyle/>
        <a:p>
          <a:endParaRPr lang="fr-FR"/>
        </a:p>
      </dgm:t>
    </dgm:pt>
    <dgm:pt modelId="{77430095-B5E0-4385-AFE3-30CE1A5FA61E}">
      <dgm:prSet phldrT="[Texte]" custT="1"/>
      <dgm:spPr/>
      <dgm:t>
        <a:bodyPr/>
        <a:lstStyle/>
        <a:p>
          <a:pPr>
            <a:buClr>
              <a:schemeClr val="accent1"/>
            </a:buClr>
            <a:buFont typeface="Wingdings" panose="05000000000000000000" pitchFamily="2" charset="2"/>
            <a:buChar char="§"/>
          </a:pPr>
          <a:r>
            <a:rPr lang="fr-FR" sz="1800" dirty="0"/>
            <a:t>La durée maximale de la période d’essai est de 3 semaines (application de la CC 1990 = période d’essai maximale de 3 semaines pour les CDD de plus de 6 mois (Article L1242-10 code du travail + CC bâtiment ouvriers)</a:t>
          </a:r>
        </a:p>
      </dgm:t>
    </dgm:pt>
    <dgm:pt modelId="{4D35A161-40C8-4DD4-8488-9B00648837B6}" type="parTrans" cxnId="{58F0B93C-3AC5-470E-BAE0-066ED7D6A054}">
      <dgm:prSet/>
      <dgm:spPr/>
      <dgm:t>
        <a:bodyPr/>
        <a:lstStyle/>
        <a:p>
          <a:endParaRPr lang="fr-FR"/>
        </a:p>
      </dgm:t>
    </dgm:pt>
    <dgm:pt modelId="{D9E184BC-E542-4C1A-B9BD-490CA873529E}" type="sibTrans" cxnId="{58F0B93C-3AC5-470E-BAE0-066ED7D6A054}">
      <dgm:prSet/>
      <dgm:spPr/>
      <dgm:t>
        <a:bodyPr/>
        <a:lstStyle/>
        <a:p>
          <a:endParaRPr lang="fr-FR"/>
        </a:p>
      </dgm:t>
    </dgm:pt>
    <dgm:pt modelId="{E18F6B4E-F621-41CB-B974-E71D63B06E24}">
      <dgm:prSet phldrT="[Texte]" custT="1"/>
      <dgm:spPr/>
      <dgm:t>
        <a:bodyPr/>
        <a:lstStyle/>
        <a:p>
          <a:r>
            <a:rPr lang="fr-FR" sz="1800" dirty="0"/>
            <a:t>TRAVAUX PUBLICS</a:t>
          </a:r>
        </a:p>
      </dgm:t>
    </dgm:pt>
    <dgm:pt modelId="{D3EF5A62-D851-4608-843E-C2D6C1450831}" type="parTrans" cxnId="{0B4D98A1-7C5E-48E9-80A3-F946823684F2}">
      <dgm:prSet/>
      <dgm:spPr/>
      <dgm:t>
        <a:bodyPr/>
        <a:lstStyle/>
        <a:p>
          <a:endParaRPr lang="fr-FR"/>
        </a:p>
      </dgm:t>
    </dgm:pt>
    <dgm:pt modelId="{8718F614-9833-4BB1-9C86-5ADEF4CC1CE8}" type="sibTrans" cxnId="{0B4D98A1-7C5E-48E9-80A3-F946823684F2}">
      <dgm:prSet/>
      <dgm:spPr/>
      <dgm:t>
        <a:bodyPr/>
        <a:lstStyle/>
        <a:p>
          <a:endParaRPr lang="fr-FR"/>
        </a:p>
      </dgm:t>
    </dgm:pt>
    <dgm:pt modelId="{1A3DFBC2-E7CC-4120-AB23-DB5A9BD73BC8}">
      <dgm:prSet phldrT="[Texte]" custT="1"/>
      <dgm:spPr/>
      <dgm:t>
        <a:bodyPr/>
        <a:lstStyle/>
        <a:p>
          <a:pPr>
            <a:buClr>
              <a:schemeClr val="accent1"/>
            </a:buClr>
            <a:buFont typeface="Wingdings" panose="05000000000000000000" pitchFamily="2" charset="2"/>
            <a:buChar char="§"/>
          </a:pPr>
          <a:r>
            <a:rPr lang="fr-FR" sz="1800" dirty="0"/>
            <a:t>Il y a un accord de branche CDD</a:t>
          </a:r>
        </a:p>
      </dgm:t>
    </dgm:pt>
    <dgm:pt modelId="{B91FEE2F-2F75-468B-9E11-9BACC47AE2D8}" type="parTrans" cxnId="{90CCC95F-6C66-43FC-8DAF-4DEBA09835E4}">
      <dgm:prSet/>
      <dgm:spPr/>
      <dgm:t>
        <a:bodyPr/>
        <a:lstStyle/>
        <a:p>
          <a:endParaRPr lang="fr-FR"/>
        </a:p>
      </dgm:t>
    </dgm:pt>
    <dgm:pt modelId="{4E0550A4-1052-4877-8C6E-76A5C4E69EED}" type="sibTrans" cxnId="{90CCC95F-6C66-43FC-8DAF-4DEBA09835E4}">
      <dgm:prSet/>
      <dgm:spPr/>
      <dgm:t>
        <a:bodyPr/>
        <a:lstStyle/>
        <a:p>
          <a:endParaRPr lang="fr-FR"/>
        </a:p>
      </dgm:t>
    </dgm:pt>
    <dgm:pt modelId="{7ADE5844-D89F-45A3-8474-7439D28718E7}">
      <dgm:prSet phldrT="[Texte]" custT="1"/>
      <dgm:spPr/>
      <dgm:t>
        <a:bodyPr/>
        <a:lstStyle/>
        <a:p>
          <a:pPr>
            <a:buClr>
              <a:schemeClr val="accent1"/>
            </a:buClr>
            <a:buFont typeface="Wingdings" panose="05000000000000000000" pitchFamily="2" charset="2"/>
            <a:buChar char="§"/>
          </a:pPr>
          <a:endParaRPr lang="fr-FR" sz="1800" dirty="0"/>
        </a:p>
      </dgm:t>
    </dgm:pt>
    <dgm:pt modelId="{BD7FEFC1-43F6-4720-9A87-354879A8CD38}" type="parTrans" cxnId="{29F18B65-D299-437F-B683-10D7B117EEC5}">
      <dgm:prSet/>
      <dgm:spPr/>
    </dgm:pt>
    <dgm:pt modelId="{393FF4EC-C55D-4A15-8062-C47CBA04AB92}" type="sibTrans" cxnId="{29F18B65-D299-437F-B683-10D7B117EEC5}">
      <dgm:prSet/>
      <dgm:spPr/>
    </dgm:pt>
    <dgm:pt modelId="{3135D19E-AEEE-437B-B725-1B55E1FCD693}" type="pres">
      <dgm:prSet presAssocID="{E0965A96-6039-4CD3-AFEE-8C8CF4A191DA}" presName="linear" presStyleCnt="0">
        <dgm:presLayoutVars>
          <dgm:animLvl val="lvl"/>
          <dgm:resizeHandles val="exact"/>
        </dgm:presLayoutVars>
      </dgm:prSet>
      <dgm:spPr/>
    </dgm:pt>
    <dgm:pt modelId="{8A003510-2399-4BC2-9D6E-4174481A37E2}" type="pres">
      <dgm:prSet presAssocID="{65DC91E8-0A44-4132-AF45-71E5DEBD8A90}" presName="parentText" presStyleLbl="node1" presStyleIdx="0" presStyleCnt="2" custScaleY="80971">
        <dgm:presLayoutVars>
          <dgm:chMax val="0"/>
          <dgm:bulletEnabled val="1"/>
        </dgm:presLayoutVars>
      </dgm:prSet>
      <dgm:spPr/>
    </dgm:pt>
    <dgm:pt modelId="{9115713F-898F-4A58-93AF-42ECF14D16C5}" type="pres">
      <dgm:prSet presAssocID="{65DC91E8-0A44-4132-AF45-71E5DEBD8A90}" presName="childText" presStyleLbl="revTx" presStyleIdx="0" presStyleCnt="2">
        <dgm:presLayoutVars>
          <dgm:bulletEnabled val="1"/>
        </dgm:presLayoutVars>
      </dgm:prSet>
      <dgm:spPr/>
    </dgm:pt>
    <dgm:pt modelId="{0A627779-051A-43BD-8DBC-C8062B713E8F}" type="pres">
      <dgm:prSet presAssocID="{E18F6B4E-F621-41CB-B974-E71D63B06E24}" presName="parentText" presStyleLbl="node1" presStyleIdx="1" presStyleCnt="2" custScaleY="79576">
        <dgm:presLayoutVars>
          <dgm:chMax val="0"/>
          <dgm:bulletEnabled val="1"/>
        </dgm:presLayoutVars>
      </dgm:prSet>
      <dgm:spPr/>
    </dgm:pt>
    <dgm:pt modelId="{ACEE1D0E-2D08-4E70-BEA3-A36BEAC1C3C2}" type="pres">
      <dgm:prSet presAssocID="{E18F6B4E-F621-41CB-B974-E71D63B06E24}" presName="childText" presStyleLbl="revTx" presStyleIdx="1" presStyleCnt="2">
        <dgm:presLayoutVars>
          <dgm:bulletEnabled val="1"/>
        </dgm:presLayoutVars>
      </dgm:prSet>
      <dgm:spPr/>
    </dgm:pt>
  </dgm:ptLst>
  <dgm:cxnLst>
    <dgm:cxn modelId="{EC8B0B2A-685F-495D-A7D3-E231DE07F43B}" type="presOf" srcId="{77430095-B5E0-4385-AFE3-30CE1A5FA61E}" destId="{9115713F-898F-4A58-93AF-42ECF14D16C5}" srcOrd="0" destOrd="0" presId="urn:microsoft.com/office/officeart/2005/8/layout/vList2"/>
    <dgm:cxn modelId="{58F0B93C-3AC5-470E-BAE0-066ED7D6A054}" srcId="{65DC91E8-0A44-4132-AF45-71E5DEBD8A90}" destId="{77430095-B5E0-4385-AFE3-30CE1A5FA61E}" srcOrd="0" destOrd="0" parTransId="{4D35A161-40C8-4DD4-8488-9B00648837B6}" sibTransId="{D9E184BC-E542-4C1A-B9BD-490CA873529E}"/>
    <dgm:cxn modelId="{90CCC95F-6C66-43FC-8DAF-4DEBA09835E4}" srcId="{E18F6B4E-F621-41CB-B974-E71D63B06E24}" destId="{1A3DFBC2-E7CC-4120-AB23-DB5A9BD73BC8}" srcOrd="0" destOrd="0" parTransId="{B91FEE2F-2F75-468B-9E11-9BACC47AE2D8}" sibTransId="{4E0550A4-1052-4877-8C6E-76A5C4E69EED}"/>
    <dgm:cxn modelId="{29F18B65-D299-437F-B683-10D7B117EEC5}" srcId="{65DC91E8-0A44-4132-AF45-71E5DEBD8A90}" destId="{7ADE5844-D89F-45A3-8474-7439D28718E7}" srcOrd="1" destOrd="0" parTransId="{BD7FEFC1-43F6-4720-9A87-354879A8CD38}" sibTransId="{393FF4EC-C55D-4A15-8062-C47CBA04AB92}"/>
    <dgm:cxn modelId="{C44AA873-70DD-4641-B943-5D60BAD90A2A}" type="presOf" srcId="{1A3DFBC2-E7CC-4120-AB23-DB5A9BD73BC8}" destId="{ACEE1D0E-2D08-4E70-BEA3-A36BEAC1C3C2}" srcOrd="0" destOrd="0" presId="urn:microsoft.com/office/officeart/2005/8/layout/vList2"/>
    <dgm:cxn modelId="{0B4D98A1-7C5E-48E9-80A3-F946823684F2}" srcId="{E0965A96-6039-4CD3-AFEE-8C8CF4A191DA}" destId="{E18F6B4E-F621-41CB-B974-E71D63B06E24}" srcOrd="1" destOrd="0" parTransId="{D3EF5A62-D851-4608-843E-C2D6C1450831}" sibTransId="{8718F614-9833-4BB1-9C86-5ADEF4CC1CE8}"/>
    <dgm:cxn modelId="{07D213B5-5EDA-4E3D-8386-82FC740BFD76}" srcId="{E0965A96-6039-4CD3-AFEE-8C8CF4A191DA}" destId="{65DC91E8-0A44-4132-AF45-71E5DEBD8A90}" srcOrd="0" destOrd="0" parTransId="{6881168E-60F1-4E0A-A64B-3861321E26DC}" sibTransId="{0CE9A092-F29F-48ED-8D28-CD3A483E2F30}"/>
    <dgm:cxn modelId="{608B30CB-82B3-4A9F-9026-17417AAD3FA3}" type="presOf" srcId="{7ADE5844-D89F-45A3-8474-7439D28718E7}" destId="{9115713F-898F-4A58-93AF-42ECF14D16C5}" srcOrd="0" destOrd="1" presId="urn:microsoft.com/office/officeart/2005/8/layout/vList2"/>
    <dgm:cxn modelId="{94E1F6D4-C9CB-4020-950C-2D70F80FB02E}" type="presOf" srcId="{E18F6B4E-F621-41CB-B974-E71D63B06E24}" destId="{0A627779-051A-43BD-8DBC-C8062B713E8F}" srcOrd="0" destOrd="0" presId="urn:microsoft.com/office/officeart/2005/8/layout/vList2"/>
    <dgm:cxn modelId="{C7CC17DA-B1B5-40DB-8B20-BEB58B83E328}" type="presOf" srcId="{E0965A96-6039-4CD3-AFEE-8C8CF4A191DA}" destId="{3135D19E-AEEE-437B-B725-1B55E1FCD693}" srcOrd="0" destOrd="0" presId="urn:microsoft.com/office/officeart/2005/8/layout/vList2"/>
    <dgm:cxn modelId="{080030DB-4CB6-4814-9A01-814BD9925F22}" type="presOf" srcId="{65DC91E8-0A44-4132-AF45-71E5DEBD8A90}" destId="{8A003510-2399-4BC2-9D6E-4174481A37E2}" srcOrd="0" destOrd="0" presId="urn:microsoft.com/office/officeart/2005/8/layout/vList2"/>
    <dgm:cxn modelId="{D0A5653C-A23F-45A9-B145-1CE6970ABAAC}" type="presParOf" srcId="{3135D19E-AEEE-437B-B725-1B55E1FCD693}" destId="{8A003510-2399-4BC2-9D6E-4174481A37E2}" srcOrd="0" destOrd="0" presId="urn:microsoft.com/office/officeart/2005/8/layout/vList2"/>
    <dgm:cxn modelId="{156D7C91-0A3F-4E32-A524-074EAC6B649F}" type="presParOf" srcId="{3135D19E-AEEE-437B-B725-1B55E1FCD693}" destId="{9115713F-898F-4A58-93AF-42ECF14D16C5}" srcOrd="1" destOrd="0" presId="urn:microsoft.com/office/officeart/2005/8/layout/vList2"/>
    <dgm:cxn modelId="{9D1A8327-BF5E-4556-A73D-B8A7367D43CF}" type="presParOf" srcId="{3135D19E-AEEE-437B-B725-1B55E1FCD693}" destId="{0A627779-051A-43BD-8DBC-C8062B713E8F}" srcOrd="2" destOrd="0" presId="urn:microsoft.com/office/officeart/2005/8/layout/vList2"/>
    <dgm:cxn modelId="{44854B00-C22E-4C3B-B710-971F0452C3F3}" type="presParOf" srcId="{3135D19E-AEEE-437B-B725-1B55E1FCD693}" destId="{ACEE1D0E-2D08-4E70-BEA3-A36BEAC1C3C2}"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6CB856C2-85A6-425B-B774-2F7F5F99D690}" type="doc">
      <dgm:prSet loTypeId="urn:microsoft.com/office/officeart/2005/8/layout/target3" loCatId="relationship" qsTypeId="urn:microsoft.com/office/officeart/2005/8/quickstyle/simple1#132" qsCatId="simple" csTypeId="urn:microsoft.com/office/officeart/2005/8/colors/accent1_2#85" csCatId="accent1" phldr="1"/>
      <dgm:spPr/>
      <dgm:t>
        <a:bodyPr/>
        <a:lstStyle/>
        <a:p>
          <a:endParaRPr lang="fr-FR"/>
        </a:p>
      </dgm:t>
    </dgm:pt>
    <dgm:pt modelId="{496943FD-0747-4632-AFCA-C241BFE5B66F}">
      <dgm:prSet/>
      <dgm:spPr/>
      <dgm:t>
        <a:bodyPr/>
        <a:lstStyle/>
        <a:p>
          <a:pPr rtl="0"/>
          <a:r>
            <a:rPr lang="fr-FR" b="1" baseline="0" dirty="0"/>
            <a:t>Il existe un exercice (étude de cas : livret social) ayant pour objectif l’information des salariés sur les contrats </a:t>
          </a:r>
          <a:br>
            <a:rPr lang="fr-FR" b="1" baseline="0" dirty="0"/>
          </a:br>
          <a:r>
            <a:rPr lang="fr-FR" b="1" baseline="0" dirty="0"/>
            <a:t>de prévoyance </a:t>
          </a:r>
          <a:endParaRPr lang="fr-FR" dirty="0"/>
        </a:p>
      </dgm:t>
    </dgm:pt>
    <dgm:pt modelId="{6DB5D099-A32F-4FA6-B5FB-1D749AF6842A}" type="parTrans" cxnId="{AC065E85-67B6-43BC-92B0-75D7A192341B}">
      <dgm:prSet/>
      <dgm:spPr/>
      <dgm:t>
        <a:bodyPr/>
        <a:lstStyle/>
        <a:p>
          <a:endParaRPr lang="fr-FR"/>
        </a:p>
      </dgm:t>
    </dgm:pt>
    <dgm:pt modelId="{0FC2152B-B0FE-4608-A3DD-AE5EDAFD3D78}" type="sibTrans" cxnId="{AC065E85-67B6-43BC-92B0-75D7A192341B}">
      <dgm:prSet/>
      <dgm:spPr/>
      <dgm:t>
        <a:bodyPr/>
        <a:lstStyle/>
        <a:p>
          <a:endParaRPr lang="fr-FR"/>
        </a:p>
      </dgm:t>
    </dgm:pt>
    <dgm:pt modelId="{5A99B69B-E15D-413A-B510-67C8AB272C00}">
      <dgm:prSet/>
      <dgm:spPr/>
      <dgm:t>
        <a:bodyPr/>
        <a:lstStyle/>
        <a:p>
          <a:pPr rtl="0"/>
          <a:r>
            <a:rPr lang="fr-FR" b="1" baseline="0" dirty="0"/>
            <a:t>Cet exercice permet de prendre connaissance </a:t>
          </a:r>
          <a:br>
            <a:rPr lang="fr-FR" b="1" baseline="0" dirty="0"/>
          </a:br>
          <a:r>
            <a:rPr lang="fr-FR" b="1" baseline="0" dirty="0"/>
            <a:t>des prévoyances prévues par la convention collective</a:t>
          </a:r>
          <a:br>
            <a:rPr lang="fr-FR" b="1" baseline="0" dirty="0"/>
          </a:br>
          <a:r>
            <a:rPr lang="fr-FR" b="1" baseline="0" dirty="0"/>
            <a:t>du bâtiment</a:t>
          </a:r>
          <a:endParaRPr lang="fr-FR" dirty="0"/>
        </a:p>
      </dgm:t>
    </dgm:pt>
    <dgm:pt modelId="{4E2519EF-12BA-4229-95F7-DEF540279836}" type="parTrans" cxnId="{4A35D938-1E61-40DF-8896-DFBCB5D3714D}">
      <dgm:prSet/>
      <dgm:spPr/>
      <dgm:t>
        <a:bodyPr/>
        <a:lstStyle/>
        <a:p>
          <a:endParaRPr lang="fr-FR"/>
        </a:p>
      </dgm:t>
    </dgm:pt>
    <dgm:pt modelId="{A2E42E60-54E8-4862-A9BB-E729F19FC435}" type="sibTrans" cxnId="{4A35D938-1E61-40DF-8896-DFBCB5D3714D}">
      <dgm:prSet/>
      <dgm:spPr/>
      <dgm:t>
        <a:bodyPr/>
        <a:lstStyle/>
        <a:p>
          <a:endParaRPr lang="fr-FR"/>
        </a:p>
      </dgm:t>
    </dgm:pt>
    <dgm:pt modelId="{7E6C78EF-2E39-44A8-992F-A50C43068881}">
      <dgm:prSet/>
      <dgm:spPr/>
      <dgm:t>
        <a:bodyPr/>
        <a:lstStyle/>
        <a:p>
          <a:pPr rtl="0"/>
          <a:r>
            <a:rPr lang="fr-FR" b="1" baseline="0" dirty="0"/>
            <a:t>Le cas consiste en une simple comparaison entre les taux d’une entreprise du BTP et les taux prévus par la convention collective </a:t>
          </a:r>
          <a:endParaRPr lang="fr-FR" dirty="0"/>
        </a:p>
      </dgm:t>
    </dgm:pt>
    <dgm:pt modelId="{2E114847-F4E0-47E6-BF57-40DE91419CDF}" type="parTrans" cxnId="{41651FFA-E7EA-47EF-9E0E-9E50C433F8B6}">
      <dgm:prSet/>
      <dgm:spPr/>
      <dgm:t>
        <a:bodyPr/>
        <a:lstStyle/>
        <a:p>
          <a:endParaRPr lang="fr-FR"/>
        </a:p>
      </dgm:t>
    </dgm:pt>
    <dgm:pt modelId="{E6753712-7DDB-470C-B479-F56349A7F235}" type="sibTrans" cxnId="{41651FFA-E7EA-47EF-9E0E-9E50C433F8B6}">
      <dgm:prSet/>
      <dgm:spPr/>
      <dgm:t>
        <a:bodyPr/>
        <a:lstStyle/>
        <a:p>
          <a:endParaRPr lang="fr-FR"/>
        </a:p>
      </dgm:t>
    </dgm:pt>
    <dgm:pt modelId="{5163763A-56C4-47F9-B23E-7A839161361A}" type="pres">
      <dgm:prSet presAssocID="{6CB856C2-85A6-425B-B774-2F7F5F99D690}" presName="Name0" presStyleCnt="0">
        <dgm:presLayoutVars>
          <dgm:chMax val="7"/>
          <dgm:dir/>
          <dgm:animLvl val="lvl"/>
          <dgm:resizeHandles val="exact"/>
        </dgm:presLayoutVars>
      </dgm:prSet>
      <dgm:spPr/>
    </dgm:pt>
    <dgm:pt modelId="{B571A086-F7A2-4B32-936D-C6DC025D8CB5}" type="pres">
      <dgm:prSet presAssocID="{496943FD-0747-4632-AFCA-C241BFE5B66F}" presName="circle1" presStyleLbl="node1" presStyleIdx="0" presStyleCnt="3"/>
      <dgm:spPr/>
    </dgm:pt>
    <dgm:pt modelId="{D512519E-8488-48DB-B970-F07753DB4501}" type="pres">
      <dgm:prSet presAssocID="{496943FD-0747-4632-AFCA-C241BFE5B66F}" presName="space" presStyleCnt="0"/>
      <dgm:spPr/>
    </dgm:pt>
    <dgm:pt modelId="{4781CD51-CD29-46FA-8F4A-71DCDEB40E16}" type="pres">
      <dgm:prSet presAssocID="{496943FD-0747-4632-AFCA-C241BFE5B66F}" presName="rect1" presStyleLbl="alignAcc1" presStyleIdx="0" presStyleCnt="3"/>
      <dgm:spPr/>
    </dgm:pt>
    <dgm:pt modelId="{75E849FF-408C-4AB8-848B-90A110417226}" type="pres">
      <dgm:prSet presAssocID="{5A99B69B-E15D-413A-B510-67C8AB272C00}" presName="vertSpace2" presStyleLbl="node1" presStyleIdx="0" presStyleCnt="3"/>
      <dgm:spPr/>
    </dgm:pt>
    <dgm:pt modelId="{8EFD15FA-377C-4B9B-9EAA-F25DC5430A43}" type="pres">
      <dgm:prSet presAssocID="{5A99B69B-E15D-413A-B510-67C8AB272C00}" presName="circle2" presStyleLbl="node1" presStyleIdx="1" presStyleCnt="3"/>
      <dgm:spPr/>
    </dgm:pt>
    <dgm:pt modelId="{125E2E57-173B-429E-930B-51DB3E99B328}" type="pres">
      <dgm:prSet presAssocID="{5A99B69B-E15D-413A-B510-67C8AB272C00}" presName="rect2" presStyleLbl="alignAcc1" presStyleIdx="1" presStyleCnt="3"/>
      <dgm:spPr/>
    </dgm:pt>
    <dgm:pt modelId="{C97D3008-00EF-48DF-B7E4-05BB954EB531}" type="pres">
      <dgm:prSet presAssocID="{7E6C78EF-2E39-44A8-992F-A50C43068881}" presName="vertSpace3" presStyleLbl="node1" presStyleIdx="1" presStyleCnt="3"/>
      <dgm:spPr/>
    </dgm:pt>
    <dgm:pt modelId="{75F7BD2A-DA38-4BC4-BCBC-CEA120451ADE}" type="pres">
      <dgm:prSet presAssocID="{7E6C78EF-2E39-44A8-992F-A50C43068881}" presName="circle3" presStyleLbl="node1" presStyleIdx="2" presStyleCnt="3"/>
      <dgm:spPr/>
    </dgm:pt>
    <dgm:pt modelId="{9AE7E1E7-64CA-481C-8A23-4121247C82FA}" type="pres">
      <dgm:prSet presAssocID="{7E6C78EF-2E39-44A8-992F-A50C43068881}" presName="rect3" presStyleLbl="alignAcc1" presStyleIdx="2" presStyleCnt="3"/>
      <dgm:spPr/>
    </dgm:pt>
    <dgm:pt modelId="{FB533F5C-0DA9-4537-B316-5712E20AAFBA}" type="pres">
      <dgm:prSet presAssocID="{496943FD-0747-4632-AFCA-C241BFE5B66F}" presName="rect1ParTxNoCh" presStyleLbl="alignAcc1" presStyleIdx="2" presStyleCnt="3">
        <dgm:presLayoutVars>
          <dgm:chMax val="1"/>
          <dgm:bulletEnabled val="1"/>
        </dgm:presLayoutVars>
      </dgm:prSet>
      <dgm:spPr/>
    </dgm:pt>
    <dgm:pt modelId="{A4AD9254-44BC-4885-9E2B-58208593FF8C}" type="pres">
      <dgm:prSet presAssocID="{5A99B69B-E15D-413A-B510-67C8AB272C00}" presName="rect2ParTxNoCh" presStyleLbl="alignAcc1" presStyleIdx="2" presStyleCnt="3">
        <dgm:presLayoutVars>
          <dgm:chMax val="1"/>
          <dgm:bulletEnabled val="1"/>
        </dgm:presLayoutVars>
      </dgm:prSet>
      <dgm:spPr/>
    </dgm:pt>
    <dgm:pt modelId="{FD080F68-2CAD-4F83-A9D0-1D1F12CC07B5}" type="pres">
      <dgm:prSet presAssocID="{7E6C78EF-2E39-44A8-992F-A50C43068881}" presName="rect3ParTxNoCh" presStyleLbl="alignAcc1" presStyleIdx="2" presStyleCnt="3">
        <dgm:presLayoutVars>
          <dgm:chMax val="1"/>
          <dgm:bulletEnabled val="1"/>
        </dgm:presLayoutVars>
      </dgm:prSet>
      <dgm:spPr/>
    </dgm:pt>
  </dgm:ptLst>
  <dgm:cxnLst>
    <dgm:cxn modelId="{F7E4ED13-F20B-4189-854C-0CF702D4505E}" type="presOf" srcId="{496943FD-0747-4632-AFCA-C241BFE5B66F}" destId="{FB533F5C-0DA9-4537-B316-5712E20AAFBA}" srcOrd="1" destOrd="0" presId="urn:microsoft.com/office/officeart/2005/8/layout/target3"/>
    <dgm:cxn modelId="{D73BFB37-A278-42A1-B388-504A3CD84C96}" type="presOf" srcId="{7E6C78EF-2E39-44A8-992F-A50C43068881}" destId="{FD080F68-2CAD-4F83-A9D0-1D1F12CC07B5}" srcOrd="1" destOrd="0" presId="urn:microsoft.com/office/officeart/2005/8/layout/target3"/>
    <dgm:cxn modelId="{4A35D938-1E61-40DF-8896-DFBCB5D3714D}" srcId="{6CB856C2-85A6-425B-B774-2F7F5F99D690}" destId="{5A99B69B-E15D-413A-B510-67C8AB272C00}" srcOrd="1" destOrd="0" parTransId="{4E2519EF-12BA-4229-95F7-DEF540279836}" sibTransId="{A2E42E60-54E8-4862-A9BB-E729F19FC435}"/>
    <dgm:cxn modelId="{E96F6151-3C82-44AC-A7F6-7E4248B53DC9}" type="presOf" srcId="{6CB856C2-85A6-425B-B774-2F7F5F99D690}" destId="{5163763A-56C4-47F9-B23E-7A839161361A}" srcOrd="0" destOrd="0" presId="urn:microsoft.com/office/officeart/2005/8/layout/target3"/>
    <dgm:cxn modelId="{A2F5C874-7753-45E6-A787-54775BF89F42}" type="presOf" srcId="{5A99B69B-E15D-413A-B510-67C8AB272C00}" destId="{A4AD9254-44BC-4885-9E2B-58208593FF8C}" srcOrd="1" destOrd="0" presId="urn:microsoft.com/office/officeart/2005/8/layout/target3"/>
    <dgm:cxn modelId="{CA433F5A-BA0C-454E-AA9E-6794C3CBF680}" type="presOf" srcId="{5A99B69B-E15D-413A-B510-67C8AB272C00}" destId="{125E2E57-173B-429E-930B-51DB3E99B328}" srcOrd="0" destOrd="0" presId="urn:microsoft.com/office/officeart/2005/8/layout/target3"/>
    <dgm:cxn modelId="{AC065E85-67B6-43BC-92B0-75D7A192341B}" srcId="{6CB856C2-85A6-425B-B774-2F7F5F99D690}" destId="{496943FD-0747-4632-AFCA-C241BFE5B66F}" srcOrd="0" destOrd="0" parTransId="{6DB5D099-A32F-4FA6-B5FB-1D749AF6842A}" sibTransId="{0FC2152B-B0FE-4608-A3DD-AE5EDAFD3D78}"/>
    <dgm:cxn modelId="{559A10C8-8830-4137-B9A3-FF6EE3E4D2CC}" type="presOf" srcId="{7E6C78EF-2E39-44A8-992F-A50C43068881}" destId="{9AE7E1E7-64CA-481C-8A23-4121247C82FA}" srcOrd="0" destOrd="0" presId="urn:microsoft.com/office/officeart/2005/8/layout/target3"/>
    <dgm:cxn modelId="{E42EE2DD-6A19-4892-9066-B47F7F8C306C}" type="presOf" srcId="{496943FD-0747-4632-AFCA-C241BFE5B66F}" destId="{4781CD51-CD29-46FA-8F4A-71DCDEB40E16}" srcOrd="0" destOrd="0" presId="urn:microsoft.com/office/officeart/2005/8/layout/target3"/>
    <dgm:cxn modelId="{41651FFA-E7EA-47EF-9E0E-9E50C433F8B6}" srcId="{6CB856C2-85A6-425B-B774-2F7F5F99D690}" destId="{7E6C78EF-2E39-44A8-992F-A50C43068881}" srcOrd="2" destOrd="0" parTransId="{2E114847-F4E0-47E6-BF57-40DE91419CDF}" sibTransId="{E6753712-7DDB-470C-B479-F56349A7F235}"/>
    <dgm:cxn modelId="{1543EA26-E576-4D00-A34C-18674151CC53}" type="presParOf" srcId="{5163763A-56C4-47F9-B23E-7A839161361A}" destId="{B571A086-F7A2-4B32-936D-C6DC025D8CB5}" srcOrd="0" destOrd="0" presId="urn:microsoft.com/office/officeart/2005/8/layout/target3"/>
    <dgm:cxn modelId="{B7C8A453-5395-455A-8C27-52D910D61ECA}" type="presParOf" srcId="{5163763A-56C4-47F9-B23E-7A839161361A}" destId="{D512519E-8488-48DB-B970-F07753DB4501}" srcOrd="1" destOrd="0" presId="urn:microsoft.com/office/officeart/2005/8/layout/target3"/>
    <dgm:cxn modelId="{0A1A0AAA-CA29-457A-94BD-D1CF68280F49}" type="presParOf" srcId="{5163763A-56C4-47F9-B23E-7A839161361A}" destId="{4781CD51-CD29-46FA-8F4A-71DCDEB40E16}" srcOrd="2" destOrd="0" presId="urn:microsoft.com/office/officeart/2005/8/layout/target3"/>
    <dgm:cxn modelId="{839D2F1F-04F4-40D0-BAAE-6A073CA16A1C}" type="presParOf" srcId="{5163763A-56C4-47F9-B23E-7A839161361A}" destId="{75E849FF-408C-4AB8-848B-90A110417226}" srcOrd="3" destOrd="0" presId="urn:microsoft.com/office/officeart/2005/8/layout/target3"/>
    <dgm:cxn modelId="{417173C3-1457-4502-9136-328DE0CECC78}" type="presParOf" srcId="{5163763A-56C4-47F9-B23E-7A839161361A}" destId="{8EFD15FA-377C-4B9B-9EAA-F25DC5430A43}" srcOrd="4" destOrd="0" presId="urn:microsoft.com/office/officeart/2005/8/layout/target3"/>
    <dgm:cxn modelId="{40CC28AE-D760-4B8D-BD4E-61E48A708902}" type="presParOf" srcId="{5163763A-56C4-47F9-B23E-7A839161361A}" destId="{125E2E57-173B-429E-930B-51DB3E99B328}" srcOrd="5" destOrd="0" presId="urn:microsoft.com/office/officeart/2005/8/layout/target3"/>
    <dgm:cxn modelId="{DF9C6DBA-0EEB-4E2A-8754-6AD330E82826}" type="presParOf" srcId="{5163763A-56C4-47F9-B23E-7A839161361A}" destId="{C97D3008-00EF-48DF-B7E4-05BB954EB531}" srcOrd="6" destOrd="0" presId="urn:microsoft.com/office/officeart/2005/8/layout/target3"/>
    <dgm:cxn modelId="{C3AD610A-876A-4E41-9D53-438483F9162B}" type="presParOf" srcId="{5163763A-56C4-47F9-B23E-7A839161361A}" destId="{75F7BD2A-DA38-4BC4-BCBC-CEA120451ADE}" srcOrd="7" destOrd="0" presId="urn:microsoft.com/office/officeart/2005/8/layout/target3"/>
    <dgm:cxn modelId="{8216E0EA-B6CE-401D-88C7-BE2E75E02C36}" type="presParOf" srcId="{5163763A-56C4-47F9-B23E-7A839161361A}" destId="{9AE7E1E7-64CA-481C-8A23-4121247C82FA}" srcOrd="8" destOrd="0" presId="urn:microsoft.com/office/officeart/2005/8/layout/target3"/>
    <dgm:cxn modelId="{2F14DF5C-575F-4C27-9459-CDD351712BB4}" type="presParOf" srcId="{5163763A-56C4-47F9-B23E-7A839161361A}" destId="{FB533F5C-0DA9-4537-B316-5712E20AAFBA}" srcOrd="9" destOrd="0" presId="urn:microsoft.com/office/officeart/2005/8/layout/target3"/>
    <dgm:cxn modelId="{44683405-FEA3-4A8B-A351-519757009F60}" type="presParOf" srcId="{5163763A-56C4-47F9-B23E-7A839161361A}" destId="{A4AD9254-44BC-4885-9E2B-58208593FF8C}" srcOrd="10" destOrd="0" presId="urn:microsoft.com/office/officeart/2005/8/layout/target3"/>
    <dgm:cxn modelId="{59C39841-1C0C-4D74-A321-5B609876607C}" type="presParOf" srcId="{5163763A-56C4-47F9-B23E-7A839161361A}" destId="{FD080F68-2CAD-4F83-A9D0-1D1F12CC07B5}" srcOrd="11" destOrd="0" presId="urn:microsoft.com/office/officeart/2005/8/layout/targe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64DE572E-E3D1-49F0-B31C-833C2A696D0C}" type="doc">
      <dgm:prSet loTypeId="urn:microsoft.com/office/officeart/2005/8/layout/vList2" loCatId="list" qsTypeId="urn:microsoft.com/office/officeart/2005/8/quickstyle/simple1#133" qsCatId="simple" csTypeId="urn:microsoft.com/office/officeart/2005/8/colors/accent1_2#86" csCatId="accent1" phldr="1"/>
      <dgm:spPr/>
      <dgm:t>
        <a:bodyPr/>
        <a:lstStyle/>
        <a:p>
          <a:endParaRPr lang="fr-FR"/>
        </a:p>
      </dgm:t>
    </dgm:pt>
    <dgm:pt modelId="{3D6F519B-63E4-41DC-A2C5-84F3C021CCE0}">
      <dgm:prSet custT="1"/>
      <dgm:spPr/>
      <dgm:t>
        <a:bodyPr/>
        <a:lstStyle/>
        <a:p>
          <a:pPr rtl="0"/>
          <a:r>
            <a:rPr lang="fr-FR" sz="1800" b="1" baseline="0" dirty="0"/>
            <a:t>Les grilles de classification du BTP comportent quatre niveaux qui sont définis par des critères ainsi pour les ouvriers </a:t>
          </a:r>
          <a:endParaRPr lang="fr-FR" sz="1800" dirty="0"/>
        </a:p>
      </dgm:t>
    </dgm:pt>
    <dgm:pt modelId="{D440818C-CDD9-4094-A033-F6456E4600CC}" type="parTrans" cxnId="{2584B6A4-6016-430C-883F-93F58C234DA4}">
      <dgm:prSet/>
      <dgm:spPr/>
      <dgm:t>
        <a:bodyPr/>
        <a:lstStyle/>
        <a:p>
          <a:endParaRPr lang="fr-FR"/>
        </a:p>
      </dgm:t>
    </dgm:pt>
    <dgm:pt modelId="{63B443BA-8019-4527-8344-0F9FADF9181E}" type="sibTrans" cxnId="{2584B6A4-6016-430C-883F-93F58C234DA4}">
      <dgm:prSet/>
      <dgm:spPr/>
      <dgm:t>
        <a:bodyPr/>
        <a:lstStyle/>
        <a:p>
          <a:endParaRPr lang="fr-FR"/>
        </a:p>
      </dgm:t>
    </dgm:pt>
    <dgm:pt modelId="{E858846D-1C9A-408C-9380-19B65EFCF06E}">
      <dgm:prSet custT="1"/>
      <dgm:spPr/>
      <dgm:t>
        <a:bodyPr/>
        <a:lstStyle/>
        <a:p>
          <a:pPr rtl="0">
            <a:buClr>
              <a:schemeClr val="accent1"/>
            </a:buClr>
            <a:buFont typeface="Wingdings" panose="05000000000000000000" pitchFamily="2" charset="2"/>
            <a:buChar char="§"/>
          </a:pPr>
          <a:r>
            <a:rPr lang="fr-FR" sz="1600" b="1" dirty="0"/>
            <a:t>Le contenu de l'activité, la responsabilité dans l'organisation du travail : que fait le salarié ? </a:t>
          </a:r>
          <a:endParaRPr lang="fr-FR" sz="1600" dirty="0"/>
        </a:p>
      </dgm:t>
    </dgm:pt>
    <dgm:pt modelId="{D5AAE097-5554-41FF-A7BD-3F39F7FE1C48}" type="parTrans" cxnId="{D6C35A9E-CC09-403A-B54C-BE74F1193995}">
      <dgm:prSet/>
      <dgm:spPr/>
      <dgm:t>
        <a:bodyPr/>
        <a:lstStyle/>
        <a:p>
          <a:endParaRPr lang="fr-FR"/>
        </a:p>
      </dgm:t>
    </dgm:pt>
    <dgm:pt modelId="{BD0CB130-1E40-46F3-B03D-42FFD937EE61}" type="sibTrans" cxnId="{D6C35A9E-CC09-403A-B54C-BE74F1193995}">
      <dgm:prSet/>
      <dgm:spPr/>
      <dgm:t>
        <a:bodyPr/>
        <a:lstStyle/>
        <a:p>
          <a:endParaRPr lang="fr-FR"/>
        </a:p>
      </dgm:t>
    </dgm:pt>
    <dgm:pt modelId="{3B47F3C8-1264-4C92-80C3-C16F30D21144}">
      <dgm:prSet custT="1"/>
      <dgm:spPr/>
      <dgm:t>
        <a:bodyPr/>
        <a:lstStyle/>
        <a:p>
          <a:pPr rtl="0">
            <a:buClr>
              <a:schemeClr val="accent1"/>
            </a:buClr>
            <a:buFont typeface="Wingdings" panose="05000000000000000000" pitchFamily="2" charset="2"/>
            <a:buChar char="§"/>
          </a:pPr>
          <a:r>
            <a:rPr lang="fr-FR" sz="1600" b="1" dirty="0"/>
            <a:t>L'autonomie, l'initiative, l'adaptation, la capacité à recevoir délégation : comment le fait-il ? </a:t>
          </a:r>
          <a:endParaRPr lang="fr-FR" sz="1600" dirty="0"/>
        </a:p>
      </dgm:t>
    </dgm:pt>
    <dgm:pt modelId="{91281CC6-CC95-49EE-952E-1F765133738A}" type="parTrans" cxnId="{8E5ADE26-3D82-40B5-A195-CC785C9CDDE0}">
      <dgm:prSet/>
      <dgm:spPr/>
      <dgm:t>
        <a:bodyPr/>
        <a:lstStyle/>
        <a:p>
          <a:endParaRPr lang="fr-FR"/>
        </a:p>
      </dgm:t>
    </dgm:pt>
    <dgm:pt modelId="{0D2471B8-E885-45A7-A339-8357F61FDA46}" type="sibTrans" cxnId="{8E5ADE26-3D82-40B5-A195-CC785C9CDDE0}">
      <dgm:prSet/>
      <dgm:spPr/>
      <dgm:t>
        <a:bodyPr/>
        <a:lstStyle/>
        <a:p>
          <a:endParaRPr lang="fr-FR"/>
        </a:p>
      </dgm:t>
    </dgm:pt>
    <dgm:pt modelId="{AC2CD4DC-6313-4C51-8932-D552D77D8FD3}">
      <dgm:prSet custT="1"/>
      <dgm:spPr/>
      <dgm:t>
        <a:bodyPr/>
        <a:lstStyle/>
        <a:p>
          <a:pPr rtl="0">
            <a:buClr>
              <a:schemeClr val="accent1"/>
            </a:buClr>
            <a:buFont typeface="Wingdings" panose="05000000000000000000" pitchFamily="2" charset="2"/>
            <a:buChar char="§"/>
          </a:pPr>
          <a:r>
            <a:rPr lang="fr-FR" sz="1600" b="1" dirty="0"/>
            <a:t>La technicité, l'expertise : de quelles connaissances techniques a-t-il besoin ? </a:t>
          </a:r>
          <a:endParaRPr lang="fr-FR" sz="1600" dirty="0"/>
        </a:p>
      </dgm:t>
    </dgm:pt>
    <dgm:pt modelId="{92F35C73-B3C2-4E3A-A953-5542A2D3FF38}" type="parTrans" cxnId="{4A6BAA72-97EC-45E3-834E-BA06E7C712DC}">
      <dgm:prSet/>
      <dgm:spPr/>
      <dgm:t>
        <a:bodyPr/>
        <a:lstStyle/>
        <a:p>
          <a:endParaRPr lang="fr-FR"/>
        </a:p>
      </dgm:t>
    </dgm:pt>
    <dgm:pt modelId="{1E5BC46B-EE82-450D-BF81-0F0F4D8263D3}" type="sibTrans" cxnId="{4A6BAA72-97EC-45E3-834E-BA06E7C712DC}">
      <dgm:prSet/>
      <dgm:spPr/>
      <dgm:t>
        <a:bodyPr/>
        <a:lstStyle/>
        <a:p>
          <a:endParaRPr lang="fr-FR"/>
        </a:p>
      </dgm:t>
    </dgm:pt>
    <dgm:pt modelId="{1272B0EA-4F4C-48ED-8F2A-5F9451F3CC3F}">
      <dgm:prSet custT="1"/>
      <dgm:spPr/>
      <dgm:t>
        <a:bodyPr/>
        <a:lstStyle/>
        <a:p>
          <a:pPr rtl="0">
            <a:buClr>
              <a:schemeClr val="accent1"/>
            </a:buClr>
            <a:buFont typeface="Wingdings" panose="05000000000000000000" pitchFamily="2" charset="2"/>
            <a:buChar char="§"/>
          </a:pPr>
          <a:r>
            <a:rPr lang="fr-FR" sz="1600" b="1" dirty="0"/>
            <a:t>Les compétences acquises par expérience ou formation : comment est identifiée l'acquisition de ses connaissances et de ses compétences ?</a:t>
          </a:r>
          <a:endParaRPr lang="fr-FR" sz="1600" dirty="0"/>
        </a:p>
      </dgm:t>
    </dgm:pt>
    <dgm:pt modelId="{1631FE9A-EB18-4335-B30F-5264C3EA0D24}" type="parTrans" cxnId="{2C4946CF-639E-475A-8C28-5BB41B11CFA3}">
      <dgm:prSet/>
      <dgm:spPr/>
      <dgm:t>
        <a:bodyPr/>
        <a:lstStyle/>
        <a:p>
          <a:endParaRPr lang="fr-FR"/>
        </a:p>
      </dgm:t>
    </dgm:pt>
    <dgm:pt modelId="{1BF6FB81-83CC-4FAB-AB78-4882308F6B71}" type="sibTrans" cxnId="{2C4946CF-639E-475A-8C28-5BB41B11CFA3}">
      <dgm:prSet/>
      <dgm:spPr/>
      <dgm:t>
        <a:bodyPr/>
        <a:lstStyle/>
        <a:p>
          <a:endParaRPr lang="fr-FR"/>
        </a:p>
      </dgm:t>
    </dgm:pt>
    <dgm:pt modelId="{C83D10D8-A9F9-4547-96FE-C754352E635D}" type="pres">
      <dgm:prSet presAssocID="{64DE572E-E3D1-49F0-B31C-833C2A696D0C}" presName="linear" presStyleCnt="0">
        <dgm:presLayoutVars>
          <dgm:animLvl val="lvl"/>
          <dgm:resizeHandles val="exact"/>
        </dgm:presLayoutVars>
      </dgm:prSet>
      <dgm:spPr/>
    </dgm:pt>
    <dgm:pt modelId="{B40ADA41-2858-420E-B0ED-4D1A7EDE2445}" type="pres">
      <dgm:prSet presAssocID="{3D6F519B-63E4-41DC-A2C5-84F3C021CCE0}" presName="parentText" presStyleLbl="node1" presStyleIdx="0" presStyleCnt="1" custScaleY="83213">
        <dgm:presLayoutVars>
          <dgm:chMax val="0"/>
          <dgm:bulletEnabled val="1"/>
        </dgm:presLayoutVars>
      </dgm:prSet>
      <dgm:spPr/>
    </dgm:pt>
    <dgm:pt modelId="{8BE6F151-121B-48BF-AC8A-394EAB50E429}" type="pres">
      <dgm:prSet presAssocID="{3D6F519B-63E4-41DC-A2C5-84F3C021CCE0}" presName="childText" presStyleLbl="revTx" presStyleIdx="0" presStyleCnt="1">
        <dgm:presLayoutVars>
          <dgm:bulletEnabled val="1"/>
        </dgm:presLayoutVars>
      </dgm:prSet>
      <dgm:spPr/>
    </dgm:pt>
  </dgm:ptLst>
  <dgm:cxnLst>
    <dgm:cxn modelId="{8E5ADE26-3D82-40B5-A195-CC785C9CDDE0}" srcId="{3D6F519B-63E4-41DC-A2C5-84F3C021CCE0}" destId="{3B47F3C8-1264-4C92-80C3-C16F30D21144}" srcOrd="1" destOrd="0" parTransId="{91281CC6-CC95-49EE-952E-1F765133738A}" sibTransId="{0D2471B8-E885-45A7-A339-8357F61FDA46}"/>
    <dgm:cxn modelId="{4791862B-401F-46EE-B149-DCC235FA3792}" type="presOf" srcId="{3D6F519B-63E4-41DC-A2C5-84F3C021CCE0}" destId="{B40ADA41-2858-420E-B0ED-4D1A7EDE2445}" srcOrd="0" destOrd="0" presId="urn:microsoft.com/office/officeart/2005/8/layout/vList2"/>
    <dgm:cxn modelId="{97705B66-888E-4F1F-9A0E-6E355530EFCC}" type="presOf" srcId="{AC2CD4DC-6313-4C51-8932-D552D77D8FD3}" destId="{8BE6F151-121B-48BF-AC8A-394EAB50E429}" srcOrd="0" destOrd="2" presId="urn:microsoft.com/office/officeart/2005/8/layout/vList2"/>
    <dgm:cxn modelId="{4A6BAA72-97EC-45E3-834E-BA06E7C712DC}" srcId="{3D6F519B-63E4-41DC-A2C5-84F3C021CCE0}" destId="{AC2CD4DC-6313-4C51-8932-D552D77D8FD3}" srcOrd="2" destOrd="0" parTransId="{92F35C73-B3C2-4E3A-A953-5542A2D3FF38}" sibTransId="{1E5BC46B-EE82-450D-BF81-0F0F4D8263D3}"/>
    <dgm:cxn modelId="{ECFD0F94-B89E-414B-9E6E-70D78DB5563E}" type="presOf" srcId="{3B47F3C8-1264-4C92-80C3-C16F30D21144}" destId="{8BE6F151-121B-48BF-AC8A-394EAB50E429}" srcOrd="0" destOrd="1" presId="urn:microsoft.com/office/officeart/2005/8/layout/vList2"/>
    <dgm:cxn modelId="{D6C35A9E-CC09-403A-B54C-BE74F1193995}" srcId="{3D6F519B-63E4-41DC-A2C5-84F3C021CCE0}" destId="{E858846D-1C9A-408C-9380-19B65EFCF06E}" srcOrd="0" destOrd="0" parTransId="{D5AAE097-5554-41FF-A7BD-3F39F7FE1C48}" sibTransId="{BD0CB130-1E40-46F3-B03D-42FFD937EE61}"/>
    <dgm:cxn modelId="{2584B6A4-6016-430C-883F-93F58C234DA4}" srcId="{64DE572E-E3D1-49F0-B31C-833C2A696D0C}" destId="{3D6F519B-63E4-41DC-A2C5-84F3C021CCE0}" srcOrd="0" destOrd="0" parTransId="{D440818C-CDD9-4094-A033-F6456E4600CC}" sibTransId="{63B443BA-8019-4527-8344-0F9FADF9181E}"/>
    <dgm:cxn modelId="{C162D3B0-B2A3-4015-9148-7590A73B9DF8}" type="presOf" srcId="{64DE572E-E3D1-49F0-B31C-833C2A696D0C}" destId="{C83D10D8-A9F9-4547-96FE-C754352E635D}" srcOrd="0" destOrd="0" presId="urn:microsoft.com/office/officeart/2005/8/layout/vList2"/>
    <dgm:cxn modelId="{714B62C0-66ED-46FB-8349-4C22C7E0DB25}" type="presOf" srcId="{1272B0EA-4F4C-48ED-8F2A-5F9451F3CC3F}" destId="{8BE6F151-121B-48BF-AC8A-394EAB50E429}" srcOrd="0" destOrd="3" presId="urn:microsoft.com/office/officeart/2005/8/layout/vList2"/>
    <dgm:cxn modelId="{5048A3CE-480E-4043-B70A-0B4D5BAB1DA5}" type="presOf" srcId="{E858846D-1C9A-408C-9380-19B65EFCF06E}" destId="{8BE6F151-121B-48BF-AC8A-394EAB50E429}" srcOrd="0" destOrd="0" presId="urn:microsoft.com/office/officeart/2005/8/layout/vList2"/>
    <dgm:cxn modelId="{2C4946CF-639E-475A-8C28-5BB41B11CFA3}" srcId="{3D6F519B-63E4-41DC-A2C5-84F3C021CCE0}" destId="{1272B0EA-4F4C-48ED-8F2A-5F9451F3CC3F}" srcOrd="3" destOrd="0" parTransId="{1631FE9A-EB18-4335-B30F-5264C3EA0D24}" sibTransId="{1BF6FB81-83CC-4FAB-AB78-4882308F6B71}"/>
    <dgm:cxn modelId="{D2AE5085-D74B-4260-B630-1CB1776F98E6}" type="presParOf" srcId="{C83D10D8-A9F9-4547-96FE-C754352E635D}" destId="{B40ADA41-2858-420E-B0ED-4D1A7EDE2445}" srcOrd="0" destOrd="0" presId="urn:microsoft.com/office/officeart/2005/8/layout/vList2"/>
    <dgm:cxn modelId="{C746BE04-6C19-4D00-99D2-E6457FC5F8EF}" type="presParOf" srcId="{C83D10D8-A9F9-4547-96FE-C754352E635D}" destId="{8BE6F151-121B-48BF-AC8A-394EAB50E429}"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138211A9-E442-480E-A67C-C28D2CC5DC9D}" type="doc">
      <dgm:prSet loTypeId="urn:microsoft.com/office/officeart/2005/8/layout/vList3" loCatId="list" qsTypeId="urn:microsoft.com/office/officeart/2005/8/quickstyle/simple1#134" qsCatId="simple" csTypeId="urn:microsoft.com/office/officeart/2005/8/colors/accent1_2#87" csCatId="accent1" phldr="1"/>
      <dgm:spPr/>
      <dgm:t>
        <a:bodyPr/>
        <a:lstStyle/>
        <a:p>
          <a:endParaRPr lang="fr-FR"/>
        </a:p>
      </dgm:t>
    </dgm:pt>
    <dgm:pt modelId="{724E4767-E563-431A-92C0-32F03593A9FE}">
      <dgm:prSet custT="1"/>
      <dgm:spPr/>
      <dgm:t>
        <a:bodyPr/>
        <a:lstStyle/>
        <a:p>
          <a:pPr rtl="0"/>
          <a:r>
            <a:rPr lang="fr-FR" sz="1600" b="1" baseline="0" dirty="0"/>
            <a:t>Il existe des classifications « plancher » des ouvriers BTP au regard des niveaux de diplômes</a:t>
          </a:r>
          <a:endParaRPr lang="fr-FR" sz="1600" dirty="0"/>
        </a:p>
      </dgm:t>
    </dgm:pt>
    <dgm:pt modelId="{4964D77D-F514-4257-A46C-B4BB3D0611A1}" type="parTrans" cxnId="{3078D549-D646-416C-8C33-50EFC74C2AC8}">
      <dgm:prSet/>
      <dgm:spPr/>
      <dgm:t>
        <a:bodyPr/>
        <a:lstStyle/>
        <a:p>
          <a:endParaRPr lang="fr-FR"/>
        </a:p>
      </dgm:t>
    </dgm:pt>
    <dgm:pt modelId="{6424F63F-85A8-432F-87E0-4AF8C0EBBD4D}" type="sibTrans" cxnId="{3078D549-D646-416C-8C33-50EFC74C2AC8}">
      <dgm:prSet/>
      <dgm:spPr/>
      <dgm:t>
        <a:bodyPr/>
        <a:lstStyle/>
        <a:p>
          <a:endParaRPr lang="fr-FR"/>
        </a:p>
      </dgm:t>
    </dgm:pt>
    <dgm:pt modelId="{1AC23920-00D6-48FF-B6A2-273B2F7FC707}">
      <dgm:prSet custT="1"/>
      <dgm:spPr/>
      <dgm:t>
        <a:bodyPr/>
        <a:lstStyle/>
        <a:p>
          <a:pPr rtl="0"/>
          <a:r>
            <a:rPr lang="fr-FR" sz="1600" b="1" baseline="0" dirty="0"/>
            <a:t>La polyvalence des ouvriers du BTP (titulaire de</a:t>
          </a:r>
          <a:br>
            <a:rPr lang="fr-FR" sz="1600" b="1" baseline="0" dirty="0"/>
          </a:br>
          <a:r>
            <a:rPr lang="fr-FR" sz="1600" b="1" baseline="0" dirty="0"/>
            <a:t>2 diplômes professionnels) donne lieu à attribution de points </a:t>
          </a:r>
          <a:endParaRPr lang="fr-FR" sz="1600" dirty="0"/>
        </a:p>
      </dgm:t>
    </dgm:pt>
    <dgm:pt modelId="{EC046FB6-D7C9-4FAA-8658-C233EA52B29E}" type="parTrans" cxnId="{F3A8C92E-4186-4069-A9F9-F5168228EC69}">
      <dgm:prSet/>
      <dgm:spPr/>
      <dgm:t>
        <a:bodyPr/>
        <a:lstStyle/>
        <a:p>
          <a:endParaRPr lang="fr-FR"/>
        </a:p>
      </dgm:t>
    </dgm:pt>
    <dgm:pt modelId="{7A780325-2ECC-4D37-8FF2-D23059676101}" type="sibTrans" cxnId="{F3A8C92E-4186-4069-A9F9-F5168228EC69}">
      <dgm:prSet/>
      <dgm:spPr/>
      <dgm:t>
        <a:bodyPr/>
        <a:lstStyle/>
        <a:p>
          <a:endParaRPr lang="fr-FR"/>
        </a:p>
      </dgm:t>
    </dgm:pt>
    <dgm:pt modelId="{19DE498E-2103-4BD6-B834-9C5B08B42B21}">
      <dgm:prSet custT="1"/>
      <dgm:spPr/>
      <dgm:t>
        <a:bodyPr/>
        <a:lstStyle/>
        <a:p>
          <a:pPr rtl="0"/>
          <a:r>
            <a:rPr lang="fr-FR" sz="1600" b="1" dirty="0"/>
            <a:t>Les 4 critères doivent être utilisés de façon cumulative pour arrêter le classement du salarié. Et ces critères ont chacun le même poids pour arrêter ce classement</a:t>
          </a:r>
          <a:endParaRPr lang="fr-FR" sz="1400" b="1" dirty="0"/>
        </a:p>
      </dgm:t>
    </dgm:pt>
    <dgm:pt modelId="{DFC73AAD-D331-45E0-8E9D-46D059E1F0FB}" type="parTrans" cxnId="{B9F992D1-82E6-4ACC-B2E1-19BB5E9BDFF2}">
      <dgm:prSet/>
      <dgm:spPr/>
      <dgm:t>
        <a:bodyPr/>
        <a:lstStyle/>
        <a:p>
          <a:endParaRPr lang="fr-FR"/>
        </a:p>
      </dgm:t>
    </dgm:pt>
    <dgm:pt modelId="{5F3AA07B-7131-4F72-9C1E-3588CE765A36}" type="sibTrans" cxnId="{B9F992D1-82E6-4ACC-B2E1-19BB5E9BDFF2}">
      <dgm:prSet/>
      <dgm:spPr/>
      <dgm:t>
        <a:bodyPr/>
        <a:lstStyle/>
        <a:p>
          <a:endParaRPr lang="fr-FR"/>
        </a:p>
      </dgm:t>
    </dgm:pt>
    <dgm:pt modelId="{50CF6A43-76B6-4356-835F-A80B0658CB61}" type="pres">
      <dgm:prSet presAssocID="{138211A9-E442-480E-A67C-C28D2CC5DC9D}" presName="linearFlow" presStyleCnt="0">
        <dgm:presLayoutVars>
          <dgm:dir/>
          <dgm:resizeHandles val="exact"/>
        </dgm:presLayoutVars>
      </dgm:prSet>
      <dgm:spPr/>
    </dgm:pt>
    <dgm:pt modelId="{4E61CFA0-39BA-4793-8CB4-0116542C3907}" type="pres">
      <dgm:prSet presAssocID="{724E4767-E563-431A-92C0-32F03593A9FE}" presName="composite" presStyleCnt="0"/>
      <dgm:spPr/>
    </dgm:pt>
    <dgm:pt modelId="{47640F97-43C2-40D1-B727-29B905D3A316}" type="pres">
      <dgm:prSet presAssocID="{724E4767-E563-431A-92C0-32F03593A9FE}" presName="imgShp" presStyleLbl="fgImgPlace1" presStyleIdx="0" presStyleCnt="3"/>
      <dgm:spPr/>
    </dgm:pt>
    <dgm:pt modelId="{FACE9843-DB49-4B98-98E3-A59B263DD6D1}" type="pres">
      <dgm:prSet presAssocID="{724E4767-E563-431A-92C0-32F03593A9FE}" presName="txShp" presStyleLbl="node1" presStyleIdx="0" presStyleCnt="3">
        <dgm:presLayoutVars>
          <dgm:bulletEnabled val="1"/>
        </dgm:presLayoutVars>
      </dgm:prSet>
      <dgm:spPr/>
    </dgm:pt>
    <dgm:pt modelId="{EEC2A7AB-3327-4C8F-9325-FD03BFE494F5}" type="pres">
      <dgm:prSet presAssocID="{6424F63F-85A8-432F-87E0-4AF8C0EBBD4D}" presName="spacing" presStyleCnt="0"/>
      <dgm:spPr/>
    </dgm:pt>
    <dgm:pt modelId="{1FC09B45-C348-4E81-BD32-2E0BF9FD804A}" type="pres">
      <dgm:prSet presAssocID="{1AC23920-00D6-48FF-B6A2-273B2F7FC707}" presName="composite" presStyleCnt="0"/>
      <dgm:spPr/>
    </dgm:pt>
    <dgm:pt modelId="{3E260DD0-7E1B-4093-BB83-BBA1781F8494}" type="pres">
      <dgm:prSet presAssocID="{1AC23920-00D6-48FF-B6A2-273B2F7FC707}" presName="imgShp" presStyleLbl="fgImgPlace1" presStyleIdx="1" presStyleCnt="3"/>
      <dgm:spPr/>
    </dgm:pt>
    <dgm:pt modelId="{7FDFE3DA-6222-4F83-9E41-60D214C9BA0E}" type="pres">
      <dgm:prSet presAssocID="{1AC23920-00D6-48FF-B6A2-273B2F7FC707}" presName="txShp" presStyleLbl="node1" presStyleIdx="1" presStyleCnt="3">
        <dgm:presLayoutVars>
          <dgm:bulletEnabled val="1"/>
        </dgm:presLayoutVars>
      </dgm:prSet>
      <dgm:spPr/>
    </dgm:pt>
    <dgm:pt modelId="{6E327233-F545-4167-A108-DA2FBA01C4BC}" type="pres">
      <dgm:prSet presAssocID="{7A780325-2ECC-4D37-8FF2-D23059676101}" presName="spacing" presStyleCnt="0"/>
      <dgm:spPr/>
    </dgm:pt>
    <dgm:pt modelId="{7CC76427-5A94-4ED8-9537-08E07DA581CA}" type="pres">
      <dgm:prSet presAssocID="{19DE498E-2103-4BD6-B834-9C5B08B42B21}" presName="composite" presStyleCnt="0"/>
      <dgm:spPr/>
    </dgm:pt>
    <dgm:pt modelId="{B67C86A7-098F-489D-81B9-F4F94B8EEE7A}" type="pres">
      <dgm:prSet presAssocID="{19DE498E-2103-4BD6-B834-9C5B08B42B21}" presName="imgShp" presStyleLbl="fgImgPlace1" presStyleIdx="2" presStyleCnt="3"/>
      <dgm:spPr/>
    </dgm:pt>
    <dgm:pt modelId="{311DE55B-E2BB-4988-8181-EFB437C9AB26}" type="pres">
      <dgm:prSet presAssocID="{19DE498E-2103-4BD6-B834-9C5B08B42B21}" presName="txShp" presStyleLbl="node1" presStyleIdx="2" presStyleCnt="3" custScaleY="130385">
        <dgm:presLayoutVars>
          <dgm:bulletEnabled val="1"/>
        </dgm:presLayoutVars>
      </dgm:prSet>
      <dgm:spPr/>
    </dgm:pt>
  </dgm:ptLst>
  <dgm:cxnLst>
    <dgm:cxn modelId="{F3A8C92E-4186-4069-A9F9-F5168228EC69}" srcId="{138211A9-E442-480E-A67C-C28D2CC5DC9D}" destId="{1AC23920-00D6-48FF-B6A2-273B2F7FC707}" srcOrd="1" destOrd="0" parTransId="{EC046FB6-D7C9-4FAA-8658-C233EA52B29E}" sibTransId="{7A780325-2ECC-4D37-8FF2-D23059676101}"/>
    <dgm:cxn modelId="{3078D549-D646-416C-8C33-50EFC74C2AC8}" srcId="{138211A9-E442-480E-A67C-C28D2CC5DC9D}" destId="{724E4767-E563-431A-92C0-32F03593A9FE}" srcOrd="0" destOrd="0" parTransId="{4964D77D-F514-4257-A46C-B4BB3D0611A1}" sibTransId="{6424F63F-85A8-432F-87E0-4AF8C0EBBD4D}"/>
    <dgm:cxn modelId="{5172F372-9EDE-4C69-9ADB-91F5130B65A7}" type="presOf" srcId="{138211A9-E442-480E-A67C-C28D2CC5DC9D}" destId="{50CF6A43-76B6-4356-835F-A80B0658CB61}" srcOrd="0" destOrd="0" presId="urn:microsoft.com/office/officeart/2005/8/layout/vList3"/>
    <dgm:cxn modelId="{F4DD4555-66E8-4FF6-B5EF-6D91DC62A0BD}" type="presOf" srcId="{1AC23920-00D6-48FF-B6A2-273B2F7FC707}" destId="{7FDFE3DA-6222-4F83-9E41-60D214C9BA0E}" srcOrd="0" destOrd="0" presId="urn:microsoft.com/office/officeart/2005/8/layout/vList3"/>
    <dgm:cxn modelId="{886A96AD-0DFD-4FD1-BAB0-DF0C952AA15F}" type="presOf" srcId="{19DE498E-2103-4BD6-B834-9C5B08B42B21}" destId="{311DE55B-E2BB-4988-8181-EFB437C9AB26}" srcOrd="0" destOrd="0" presId="urn:microsoft.com/office/officeart/2005/8/layout/vList3"/>
    <dgm:cxn modelId="{B9F992D1-82E6-4ACC-B2E1-19BB5E9BDFF2}" srcId="{138211A9-E442-480E-A67C-C28D2CC5DC9D}" destId="{19DE498E-2103-4BD6-B834-9C5B08B42B21}" srcOrd="2" destOrd="0" parTransId="{DFC73AAD-D331-45E0-8E9D-46D059E1F0FB}" sibTransId="{5F3AA07B-7131-4F72-9C1E-3588CE765A36}"/>
    <dgm:cxn modelId="{DB44B5F4-D8B3-4D2A-8BAB-6CC88D3AF0EE}" type="presOf" srcId="{724E4767-E563-431A-92C0-32F03593A9FE}" destId="{FACE9843-DB49-4B98-98E3-A59B263DD6D1}" srcOrd="0" destOrd="0" presId="urn:microsoft.com/office/officeart/2005/8/layout/vList3"/>
    <dgm:cxn modelId="{18F83906-C526-4A21-93CE-D47E85467680}" type="presParOf" srcId="{50CF6A43-76B6-4356-835F-A80B0658CB61}" destId="{4E61CFA0-39BA-4793-8CB4-0116542C3907}" srcOrd="0" destOrd="0" presId="urn:microsoft.com/office/officeart/2005/8/layout/vList3"/>
    <dgm:cxn modelId="{5EB7D1FF-1A9D-4923-82AD-5D7AAFE8079F}" type="presParOf" srcId="{4E61CFA0-39BA-4793-8CB4-0116542C3907}" destId="{47640F97-43C2-40D1-B727-29B905D3A316}" srcOrd="0" destOrd="0" presId="urn:microsoft.com/office/officeart/2005/8/layout/vList3"/>
    <dgm:cxn modelId="{77CBF8C3-F485-4DAE-9FFD-23598DD5E55B}" type="presParOf" srcId="{4E61CFA0-39BA-4793-8CB4-0116542C3907}" destId="{FACE9843-DB49-4B98-98E3-A59B263DD6D1}" srcOrd="1" destOrd="0" presId="urn:microsoft.com/office/officeart/2005/8/layout/vList3"/>
    <dgm:cxn modelId="{95B3DF7A-35E9-4D02-B5A0-4951E5136B10}" type="presParOf" srcId="{50CF6A43-76B6-4356-835F-A80B0658CB61}" destId="{EEC2A7AB-3327-4C8F-9325-FD03BFE494F5}" srcOrd="1" destOrd="0" presId="urn:microsoft.com/office/officeart/2005/8/layout/vList3"/>
    <dgm:cxn modelId="{E8E45ADC-21E7-4559-B6F4-CD14312D19BA}" type="presParOf" srcId="{50CF6A43-76B6-4356-835F-A80B0658CB61}" destId="{1FC09B45-C348-4E81-BD32-2E0BF9FD804A}" srcOrd="2" destOrd="0" presId="urn:microsoft.com/office/officeart/2005/8/layout/vList3"/>
    <dgm:cxn modelId="{052FCD04-524A-4E08-93D8-5F4B0BD53498}" type="presParOf" srcId="{1FC09B45-C348-4E81-BD32-2E0BF9FD804A}" destId="{3E260DD0-7E1B-4093-BB83-BBA1781F8494}" srcOrd="0" destOrd="0" presId="urn:microsoft.com/office/officeart/2005/8/layout/vList3"/>
    <dgm:cxn modelId="{F15665B2-4252-4614-A6C8-17B923735111}" type="presParOf" srcId="{1FC09B45-C348-4E81-BD32-2E0BF9FD804A}" destId="{7FDFE3DA-6222-4F83-9E41-60D214C9BA0E}" srcOrd="1" destOrd="0" presId="urn:microsoft.com/office/officeart/2005/8/layout/vList3"/>
    <dgm:cxn modelId="{E9F7E297-CD54-44CE-8E1C-1942B7875DA3}" type="presParOf" srcId="{50CF6A43-76B6-4356-835F-A80B0658CB61}" destId="{6E327233-F545-4167-A108-DA2FBA01C4BC}" srcOrd="3" destOrd="0" presId="urn:microsoft.com/office/officeart/2005/8/layout/vList3"/>
    <dgm:cxn modelId="{F9D505EE-7F48-4EEE-8F9E-7AA0C2A1210F}" type="presParOf" srcId="{50CF6A43-76B6-4356-835F-A80B0658CB61}" destId="{7CC76427-5A94-4ED8-9537-08E07DA581CA}" srcOrd="4" destOrd="0" presId="urn:microsoft.com/office/officeart/2005/8/layout/vList3"/>
    <dgm:cxn modelId="{9EEF73F4-6A9D-4A3E-91BD-D1E04571BA13}" type="presParOf" srcId="{7CC76427-5A94-4ED8-9537-08E07DA581CA}" destId="{B67C86A7-098F-489D-81B9-F4F94B8EEE7A}" srcOrd="0" destOrd="0" presId="urn:microsoft.com/office/officeart/2005/8/layout/vList3"/>
    <dgm:cxn modelId="{2532DFF1-56D2-4C2D-97CA-350576F2C49B}" type="presParOf" srcId="{7CC76427-5A94-4ED8-9537-08E07DA581CA}" destId="{311DE55B-E2BB-4988-8181-EFB437C9AB26}" srcOrd="1" destOrd="0" presId="urn:microsoft.com/office/officeart/2005/8/layout/vLis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8FECE1B0-B946-4988-9721-F61FF4A1C6C8}" type="doc">
      <dgm:prSet loTypeId="urn:microsoft.com/office/officeart/2005/8/layout/vList3" loCatId="list" qsTypeId="urn:microsoft.com/office/officeart/2005/8/quickstyle/simple1#135" qsCatId="simple" csTypeId="urn:microsoft.com/office/officeart/2005/8/colors/accent1_2#88" csCatId="accent1" phldr="1"/>
      <dgm:spPr/>
      <dgm:t>
        <a:bodyPr/>
        <a:lstStyle/>
        <a:p>
          <a:endParaRPr lang="fr-FR"/>
        </a:p>
      </dgm:t>
    </dgm:pt>
    <dgm:pt modelId="{058FA2BE-DC19-43E7-A42C-E525F5912E8F}">
      <dgm:prSet custT="1"/>
      <dgm:spPr/>
      <dgm:t>
        <a:bodyPr/>
        <a:lstStyle/>
        <a:p>
          <a:pPr rtl="0"/>
          <a:r>
            <a:rPr lang="fr-FR" sz="1600" b="1" baseline="0" dirty="0"/>
            <a:t>Voir la convention collective régionale pour l’indemnité  prévu pour le maître d’apprentissage (attention à l’impact possible de la suppression de la certification maître d’apprentissage). La durée de l'activité de maître d'apprentissage ouvrant droit à un CEC</a:t>
          </a:r>
          <a:endParaRPr lang="fr-FR" sz="1600" dirty="0"/>
        </a:p>
      </dgm:t>
    </dgm:pt>
    <dgm:pt modelId="{F55B9DA1-C527-4314-9658-96AF5678A9A2}" type="parTrans" cxnId="{FEB784C1-11A7-49BD-BD54-42F37D1B5CEB}">
      <dgm:prSet/>
      <dgm:spPr/>
      <dgm:t>
        <a:bodyPr/>
        <a:lstStyle/>
        <a:p>
          <a:endParaRPr lang="fr-FR"/>
        </a:p>
      </dgm:t>
    </dgm:pt>
    <dgm:pt modelId="{F3885410-AEC9-48E8-B606-B63872994DF1}" type="sibTrans" cxnId="{FEB784C1-11A7-49BD-BD54-42F37D1B5CEB}">
      <dgm:prSet/>
      <dgm:spPr/>
      <dgm:t>
        <a:bodyPr/>
        <a:lstStyle/>
        <a:p>
          <a:endParaRPr lang="fr-FR"/>
        </a:p>
      </dgm:t>
    </dgm:pt>
    <dgm:pt modelId="{7A26C2DB-CB95-4B82-963B-06DD25EA1D77}">
      <dgm:prSet custT="1"/>
      <dgm:spPr/>
      <dgm:t>
        <a:bodyPr/>
        <a:lstStyle/>
        <a:p>
          <a:pPr rtl="0"/>
          <a:r>
            <a:rPr lang="fr-FR" sz="1600" b="1" baseline="0" dirty="0"/>
            <a:t>Il faut appliquer le barème « bâtiment et travaux publics » (il est plus favorable que le dispositif réglementaire  sauf pour la dernière  tranche d’âge plus de 26 ans</a:t>
          </a:r>
          <a:r>
            <a:rPr lang="fr-FR" sz="1200" b="1" baseline="0" dirty="0"/>
            <a:t>)</a:t>
          </a:r>
          <a:endParaRPr lang="fr-FR" sz="1200" dirty="0"/>
        </a:p>
      </dgm:t>
    </dgm:pt>
    <dgm:pt modelId="{AFB731CA-C103-49A9-9A8E-9152C4C0AA92}" type="parTrans" cxnId="{39892308-2819-4588-93F4-1105C8D29D70}">
      <dgm:prSet/>
      <dgm:spPr/>
      <dgm:t>
        <a:bodyPr/>
        <a:lstStyle/>
        <a:p>
          <a:endParaRPr lang="fr-FR"/>
        </a:p>
      </dgm:t>
    </dgm:pt>
    <dgm:pt modelId="{A85BB472-1836-4395-BEAA-FBD3DC78B2A9}" type="sibTrans" cxnId="{39892308-2819-4588-93F4-1105C8D29D70}">
      <dgm:prSet/>
      <dgm:spPr/>
      <dgm:t>
        <a:bodyPr/>
        <a:lstStyle/>
        <a:p>
          <a:endParaRPr lang="fr-FR"/>
        </a:p>
      </dgm:t>
    </dgm:pt>
    <dgm:pt modelId="{84A615CA-3715-4168-A698-F920E744D147}" type="pres">
      <dgm:prSet presAssocID="{8FECE1B0-B946-4988-9721-F61FF4A1C6C8}" presName="linearFlow" presStyleCnt="0">
        <dgm:presLayoutVars>
          <dgm:dir/>
          <dgm:resizeHandles val="exact"/>
        </dgm:presLayoutVars>
      </dgm:prSet>
      <dgm:spPr/>
    </dgm:pt>
    <dgm:pt modelId="{C9C1B8AF-DF1B-4B4E-B097-729EBEAB4758}" type="pres">
      <dgm:prSet presAssocID="{058FA2BE-DC19-43E7-A42C-E525F5912E8F}" presName="composite" presStyleCnt="0"/>
      <dgm:spPr/>
    </dgm:pt>
    <dgm:pt modelId="{8F1D34CE-6D71-42D9-8E5A-9D5E94070462}" type="pres">
      <dgm:prSet presAssocID="{058FA2BE-DC19-43E7-A42C-E525F5912E8F}" presName="imgShp" presStyleLbl="fgImgPlace1" presStyleIdx="0" presStyleCnt="2"/>
      <dgm:spPr/>
    </dgm:pt>
    <dgm:pt modelId="{4EF1CB9C-3E9A-4DCF-B85E-978E92A40B9A}" type="pres">
      <dgm:prSet presAssocID="{058FA2BE-DC19-43E7-A42C-E525F5912E8F}" presName="txShp" presStyleLbl="node1" presStyleIdx="0" presStyleCnt="2" custScaleY="108644">
        <dgm:presLayoutVars>
          <dgm:bulletEnabled val="1"/>
        </dgm:presLayoutVars>
      </dgm:prSet>
      <dgm:spPr/>
    </dgm:pt>
    <dgm:pt modelId="{F20CF2A2-606A-4841-81D1-312ABA827411}" type="pres">
      <dgm:prSet presAssocID="{F3885410-AEC9-48E8-B606-B63872994DF1}" presName="spacing" presStyleCnt="0"/>
      <dgm:spPr/>
    </dgm:pt>
    <dgm:pt modelId="{877EE737-A213-4D08-A61C-6279708AB4FA}" type="pres">
      <dgm:prSet presAssocID="{7A26C2DB-CB95-4B82-963B-06DD25EA1D77}" presName="composite" presStyleCnt="0"/>
      <dgm:spPr/>
    </dgm:pt>
    <dgm:pt modelId="{94369455-8141-4035-88E0-4187E2C57D91}" type="pres">
      <dgm:prSet presAssocID="{7A26C2DB-CB95-4B82-963B-06DD25EA1D77}" presName="imgShp" presStyleLbl="fgImgPlace1" presStyleIdx="1" presStyleCnt="2"/>
      <dgm:spPr/>
    </dgm:pt>
    <dgm:pt modelId="{88D80221-6F8B-4134-BA12-F0E0B1E49717}" type="pres">
      <dgm:prSet presAssocID="{7A26C2DB-CB95-4B82-963B-06DD25EA1D77}" presName="txShp" presStyleLbl="node1" presStyleIdx="1" presStyleCnt="2" custLinFactNeighborX="383" custLinFactNeighborY="34">
        <dgm:presLayoutVars>
          <dgm:bulletEnabled val="1"/>
        </dgm:presLayoutVars>
      </dgm:prSet>
      <dgm:spPr/>
    </dgm:pt>
  </dgm:ptLst>
  <dgm:cxnLst>
    <dgm:cxn modelId="{39892308-2819-4588-93F4-1105C8D29D70}" srcId="{8FECE1B0-B946-4988-9721-F61FF4A1C6C8}" destId="{7A26C2DB-CB95-4B82-963B-06DD25EA1D77}" srcOrd="1" destOrd="0" parTransId="{AFB731CA-C103-49A9-9A8E-9152C4C0AA92}" sibTransId="{A85BB472-1836-4395-BEAA-FBD3DC78B2A9}"/>
    <dgm:cxn modelId="{F69A0E25-49B4-4A98-BDCB-CE319EE59CD8}" type="presOf" srcId="{058FA2BE-DC19-43E7-A42C-E525F5912E8F}" destId="{4EF1CB9C-3E9A-4DCF-B85E-978E92A40B9A}" srcOrd="0" destOrd="0" presId="urn:microsoft.com/office/officeart/2005/8/layout/vList3"/>
    <dgm:cxn modelId="{9E39D9B9-6DC6-46B7-8972-DE10544A4843}" type="presOf" srcId="{7A26C2DB-CB95-4B82-963B-06DD25EA1D77}" destId="{88D80221-6F8B-4134-BA12-F0E0B1E49717}" srcOrd="0" destOrd="0" presId="urn:microsoft.com/office/officeart/2005/8/layout/vList3"/>
    <dgm:cxn modelId="{FEB784C1-11A7-49BD-BD54-42F37D1B5CEB}" srcId="{8FECE1B0-B946-4988-9721-F61FF4A1C6C8}" destId="{058FA2BE-DC19-43E7-A42C-E525F5912E8F}" srcOrd="0" destOrd="0" parTransId="{F55B9DA1-C527-4314-9658-96AF5678A9A2}" sibTransId="{F3885410-AEC9-48E8-B606-B63872994DF1}"/>
    <dgm:cxn modelId="{F8B576E5-B0A3-4D6E-A3D6-AD63D2C02293}" type="presOf" srcId="{8FECE1B0-B946-4988-9721-F61FF4A1C6C8}" destId="{84A615CA-3715-4168-A698-F920E744D147}" srcOrd="0" destOrd="0" presId="urn:microsoft.com/office/officeart/2005/8/layout/vList3"/>
    <dgm:cxn modelId="{EF9408D6-41B2-4405-B255-4AC430775DCB}" type="presParOf" srcId="{84A615CA-3715-4168-A698-F920E744D147}" destId="{C9C1B8AF-DF1B-4B4E-B097-729EBEAB4758}" srcOrd="0" destOrd="0" presId="urn:microsoft.com/office/officeart/2005/8/layout/vList3"/>
    <dgm:cxn modelId="{072E8237-4935-4C7F-AAF0-F0446EC1F14C}" type="presParOf" srcId="{C9C1B8AF-DF1B-4B4E-B097-729EBEAB4758}" destId="{8F1D34CE-6D71-42D9-8E5A-9D5E94070462}" srcOrd="0" destOrd="0" presId="urn:microsoft.com/office/officeart/2005/8/layout/vList3"/>
    <dgm:cxn modelId="{C60E6801-C936-445F-8909-46C92D71D1C3}" type="presParOf" srcId="{C9C1B8AF-DF1B-4B4E-B097-729EBEAB4758}" destId="{4EF1CB9C-3E9A-4DCF-B85E-978E92A40B9A}" srcOrd="1" destOrd="0" presId="urn:microsoft.com/office/officeart/2005/8/layout/vList3"/>
    <dgm:cxn modelId="{3AA1CCA2-7C74-4A56-8287-2F7531EE6D9D}" type="presParOf" srcId="{84A615CA-3715-4168-A698-F920E744D147}" destId="{F20CF2A2-606A-4841-81D1-312ABA827411}" srcOrd="1" destOrd="0" presId="urn:microsoft.com/office/officeart/2005/8/layout/vList3"/>
    <dgm:cxn modelId="{0810AF91-8A1A-495C-9349-DD925C37C351}" type="presParOf" srcId="{84A615CA-3715-4168-A698-F920E744D147}" destId="{877EE737-A213-4D08-A61C-6279708AB4FA}" srcOrd="2" destOrd="0" presId="urn:microsoft.com/office/officeart/2005/8/layout/vList3"/>
    <dgm:cxn modelId="{12807ACA-5967-41B6-A035-9576D47FD2B8}" type="presParOf" srcId="{877EE737-A213-4D08-A61C-6279708AB4FA}" destId="{94369455-8141-4035-88E0-4187E2C57D91}" srcOrd="0" destOrd="0" presId="urn:microsoft.com/office/officeart/2005/8/layout/vList3"/>
    <dgm:cxn modelId="{1CB73AD7-B06E-482A-85FD-E6285DDDDC74}" type="presParOf" srcId="{877EE737-A213-4D08-A61C-6279708AB4FA}" destId="{88D80221-6F8B-4134-BA12-F0E0B1E49717}" srcOrd="1" destOrd="0" presId="urn:microsoft.com/office/officeart/2005/8/layout/vLis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E3D03E5F-EBB6-4CC6-8E4A-FAA9E6B1F3B5}" type="doc">
      <dgm:prSet loTypeId="urn:microsoft.com/office/officeart/2005/8/layout/vList3" loCatId="list" qsTypeId="urn:microsoft.com/office/officeart/2005/8/quickstyle/simple1#136" qsCatId="simple" csTypeId="urn:microsoft.com/office/officeart/2005/8/colors/accent1_2#89" csCatId="accent1" phldr="1"/>
      <dgm:spPr/>
      <dgm:t>
        <a:bodyPr/>
        <a:lstStyle/>
        <a:p>
          <a:endParaRPr lang="fr-FR"/>
        </a:p>
      </dgm:t>
    </dgm:pt>
    <dgm:pt modelId="{3D43BCA3-6651-4EDA-994C-ED348599E2E2}">
      <dgm:prSet/>
      <dgm:spPr/>
      <dgm:t>
        <a:bodyPr/>
        <a:lstStyle/>
        <a:p>
          <a:r>
            <a:rPr lang="fr-FR" b="1" baseline="0" dirty="0"/>
            <a:t>Les seuls salariés que l'entreprise peut choisir de ne pas affilier à la caisse des congés payés sont ceux titulaires d'un contrat de travail à durée déterminée, conclu pour une durée minimum </a:t>
          </a:r>
          <a:br>
            <a:rPr lang="fr-FR" b="1" baseline="0" dirty="0"/>
          </a:br>
          <a:r>
            <a:rPr lang="fr-FR" b="1" baseline="0" dirty="0"/>
            <a:t>d’1 an et ayant date certaine par enregistrement (art. D. 3141-23 du code du travail)</a:t>
          </a:r>
          <a:endParaRPr lang="fr-FR" dirty="0"/>
        </a:p>
      </dgm:t>
    </dgm:pt>
    <dgm:pt modelId="{10199150-A92C-4750-B4AC-5AA333B57C8E}" type="parTrans" cxnId="{25A162D4-3AD3-439B-B359-FDEF09B4D175}">
      <dgm:prSet/>
      <dgm:spPr/>
      <dgm:t>
        <a:bodyPr/>
        <a:lstStyle/>
        <a:p>
          <a:endParaRPr lang="fr-FR"/>
        </a:p>
      </dgm:t>
    </dgm:pt>
    <dgm:pt modelId="{5259CB0A-AA0A-4E8C-870F-6BECA49800D5}" type="sibTrans" cxnId="{25A162D4-3AD3-439B-B359-FDEF09B4D175}">
      <dgm:prSet/>
      <dgm:spPr/>
      <dgm:t>
        <a:bodyPr/>
        <a:lstStyle/>
        <a:p>
          <a:endParaRPr lang="fr-FR"/>
        </a:p>
      </dgm:t>
    </dgm:pt>
    <dgm:pt modelId="{7279AFCC-45C7-47A2-A782-6E50AE7CA824}">
      <dgm:prSet phldrT="[Texte]"/>
      <dgm:spPr/>
      <dgm:t>
        <a:bodyPr/>
        <a:lstStyle/>
        <a:p>
          <a:r>
            <a:rPr lang="fr-FR" b="1" dirty="0"/>
            <a:t>Les primes prévues par les conventions collectives régionales du bâtiment s'appliquent aux apprentis comme à l'ensemble des ouvriers</a:t>
          </a:r>
        </a:p>
      </dgm:t>
    </dgm:pt>
    <dgm:pt modelId="{80B92F57-31B7-477F-89BF-36181924EB4B}" type="parTrans" cxnId="{CDF9A69E-210F-4359-A4A9-06BFE16DE229}">
      <dgm:prSet/>
      <dgm:spPr/>
      <dgm:t>
        <a:bodyPr/>
        <a:lstStyle/>
        <a:p>
          <a:endParaRPr lang="fr-FR"/>
        </a:p>
      </dgm:t>
    </dgm:pt>
    <dgm:pt modelId="{1B5A5D14-393E-4D1A-8DC6-454291528E6C}" type="sibTrans" cxnId="{CDF9A69E-210F-4359-A4A9-06BFE16DE229}">
      <dgm:prSet/>
      <dgm:spPr/>
      <dgm:t>
        <a:bodyPr/>
        <a:lstStyle/>
        <a:p>
          <a:endParaRPr lang="fr-FR"/>
        </a:p>
      </dgm:t>
    </dgm:pt>
    <dgm:pt modelId="{34F79718-8AB0-4C6D-92D4-593DE23AB45E}" type="pres">
      <dgm:prSet presAssocID="{E3D03E5F-EBB6-4CC6-8E4A-FAA9E6B1F3B5}" presName="linearFlow" presStyleCnt="0">
        <dgm:presLayoutVars>
          <dgm:dir/>
          <dgm:resizeHandles val="exact"/>
        </dgm:presLayoutVars>
      </dgm:prSet>
      <dgm:spPr/>
    </dgm:pt>
    <dgm:pt modelId="{C2ECADC4-1D75-4C07-AB7B-1B49492AEB07}" type="pres">
      <dgm:prSet presAssocID="{3D43BCA3-6651-4EDA-994C-ED348599E2E2}" presName="composite" presStyleCnt="0"/>
      <dgm:spPr/>
    </dgm:pt>
    <dgm:pt modelId="{6DD5BC88-861F-4221-A5CF-2750AEA963A5}" type="pres">
      <dgm:prSet presAssocID="{3D43BCA3-6651-4EDA-994C-ED348599E2E2}" presName="imgShp" presStyleLbl="fgImgPlace1" presStyleIdx="0" presStyleCnt="2"/>
      <dgm:spPr/>
    </dgm:pt>
    <dgm:pt modelId="{7BA9E855-2F86-4EC2-9E3B-5B656EA538E5}" type="pres">
      <dgm:prSet presAssocID="{3D43BCA3-6651-4EDA-994C-ED348599E2E2}" presName="txShp" presStyleLbl="node1" presStyleIdx="0" presStyleCnt="2">
        <dgm:presLayoutVars>
          <dgm:bulletEnabled val="1"/>
        </dgm:presLayoutVars>
      </dgm:prSet>
      <dgm:spPr/>
    </dgm:pt>
    <dgm:pt modelId="{12BD99B6-7147-4EE0-A05D-CFCD44EA0E16}" type="pres">
      <dgm:prSet presAssocID="{5259CB0A-AA0A-4E8C-870F-6BECA49800D5}" presName="spacing" presStyleCnt="0"/>
      <dgm:spPr/>
    </dgm:pt>
    <dgm:pt modelId="{AFCB0A06-BBE6-4ED4-A07E-5C7AB80D1913}" type="pres">
      <dgm:prSet presAssocID="{7279AFCC-45C7-47A2-A782-6E50AE7CA824}" presName="composite" presStyleCnt="0"/>
      <dgm:spPr/>
    </dgm:pt>
    <dgm:pt modelId="{F45497C9-3257-4480-84EF-93C7D53237AA}" type="pres">
      <dgm:prSet presAssocID="{7279AFCC-45C7-47A2-A782-6E50AE7CA824}" presName="imgShp" presStyleLbl="fgImgPlace1" presStyleIdx="1" presStyleCnt="2"/>
      <dgm:spPr/>
    </dgm:pt>
    <dgm:pt modelId="{52ADEA95-0669-46C4-9E07-F53CA2213815}" type="pres">
      <dgm:prSet presAssocID="{7279AFCC-45C7-47A2-A782-6E50AE7CA824}" presName="txShp" presStyleLbl="node1" presStyleIdx="1" presStyleCnt="2">
        <dgm:presLayoutVars>
          <dgm:bulletEnabled val="1"/>
        </dgm:presLayoutVars>
      </dgm:prSet>
      <dgm:spPr/>
    </dgm:pt>
  </dgm:ptLst>
  <dgm:cxnLst>
    <dgm:cxn modelId="{46541400-FB68-48A5-B7E1-870B68CC8690}" type="presOf" srcId="{7279AFCC-45C7-47A2-A782-6E50AE7CA824}" destId="{52ADEA95-0669-46C4-9E07-F53CA2213815}" srcOrd="0" destOrd="0" presId="urn:microsoft.com/office/officeart/2005/8/layout/vList3"/>
    <dgm:cxn modelId="{CDF9A69E-210F-4359-A4A9-06BFE16DE229}" srcId="{E3D03E5F-EBB6-4CC6-8E4A-FAA9E6B1F3B5}" destId="{7279AFCC-45C7-47A2-A782-6E50AE7CA824}" srcOrd="1" destOrd="0" parTransId="{80B92F57-31B7-477F-89BF-36181924EB4B}" sibTransId="{1B5A5D14-393E-4D1A-8DC6-454291528E6C}"/>
    <dgm:cxn modelId="{D0EC2CAC-AD35-4E40-9A82-BFDF57B401F6}" type="presOf" srcId="{3D43BCA3-6651-4EDA-994C-ED348599E2E2}" destId="{7BA9E855-2F86-4EC2-9E3B-5B656EA538E5}" srcOrd="0" destOrd="0" presId="urn:microsoft.com/office/officeart/2005/8/layout/vList3"/>
    <dgm:cxn modelId="{2CDAE4CA-6B42-4B68-BCE6-B75154656D28}" type="presOf" srcId="{E3D03E5F-EBB6-4CC6-8E4A-FAA9E6B1F3B5}" destId="{34F79718-8AB0-4C6D-92D4-593DE23AB45E}" srcOrd="0" destOrd="0" presId="urn:microsoft.com/office/officeart/2005/8/layout/vList3"/>
    <dgm:cxn modelId="{25A162D4-3AD3-439B-B359-FDEF09B4D175}" srcId="{E3D03E5F-EBB6-4CC6-8E4A-FAA9E6B1F3B5}" destId="{3D43BCA3-6651-4EDA-994C-ED348599E2E2}" srcOrd="0" destOrd="0" parTransId="{10199150-A92C-4750-B4AC-5AA333B57C8E}" sibTransId="{5259CB0A-AA0A-4E8C-870F-6BECA49800D5}"/>
    <dgm:cxn modelId="{27890754-6065-4C15-8A6B-2CE10FF707E1}" type="presParOf" srcId="{34F79718-8AB0-4C6D-92D4-593DE23AB45E}" destId="{C2ECADC4-1D75-4C07-AB7B-1B49492AEB07}" srcOrd="0" destOrd="0" presId="urn:microsoft.com/office/officeart/2005/8/layout/vList3"/>
    <dgm:cxn modelId="{F36C07FD-9782-4B98-8510-C6DC9D5C22EF}" type="presParOf" srcId="{C2ECADC4-1D75-4C07-AB7B-1B49492AEB07}" destId="{6DD5BC88-861F-4221-A5CF-2750AEA963A5}" srcOrd="0" destOrd="0" presId="urn:microsoft.com/office/officeart/2005/8/layout/vList3"/>
    <dgm:cxn modelId="{270666E1-36A2-47B5-955D-F313B4E85B29}" type="presParOf" srcId="{C2ECADC4-1D75-4C07-AB7B-1B49492AEB07}" destId="{7BA9E855-2F86-4EC2-9E3B-5B656EA538E5}" srcOrd="1" destOrd="0" presId="urn:microsoft.com/office/officeart/2005/8/layout/vList3"/>
    <dgm:cxn modelId="{DF103B68-8143-4F3E-8E4A-B2609EE7569C}" type="presParOf" srcId="{34F79718-8AB0-4C6D-92D4-593DE23AB45E}" destId="{12BD99B6-7147-4EE0-A05D-CFCD44EA0E16}" srcOrd="1" destOrd="0" presId="urn:microsoft.com/office/officeart/2005/8/layout/vList3"/>
    <dgm:cxn modelId="{F3CE3814-6382-45EE-83B3-F63D83FE9978}" type="presParOf" srcId="{34F79718-8AB0-4C6D-92D4-593DE23AB45E}" destId="{AFCB0A06-BBE6-4ED4-A07E-5C7AB80D1913}" srcOrd="2" destOrd="0" presId="urn:microsoft.com/office/officeart/2005/8/layout/vList3"/>
    <dgm:cxn modelId="{2C45A3A3-7B9D-4E24-B2C1-205824684997}" type="presParOf" srcId="{AFCB0A06-BBE6-4ED4-A07E-5C7AB80D1913}" destId="{F45497C9-3257-4480-84EF-93C7D53237AA}" srcOrd="0" destOrd="0" presId="urn:microsoft.com/office/officeart/2005/8/layout/vList3"/>
    <dgm:cxn modelId="{FA3C0410-EE80-4A43-927F-B7FE485149E9}" type="presParOf" srcId="{AFCB0A06-BBE6-4ED4-A07E-5C7AB80D1913}" destId="{52ADEA95-0669-46C4-9E07-F53CA2213815}" srcOrd="1" destOrd="0" presId="urn:microsoft.com/office/officeart/2005/8/layout/vLis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B4CA13C0-D6D1-468F-B7B8-DD05E6E7EE45}" type="doc">
      <dgm:prSet loTypeId="urn:microsoft.com/office/officeart/2005/8/layout/vList3" loCatId="list" qsTypeId="urn:microsoft.com/office/officeart/2005/8/quickstyle/simple1#137" qsCatId="simple" csTypeId="urn:microsoft.com/office/officeart/2005/8/colors/accent1_2#90" csCatId="accent1" phldr="1"/>
      <dgm:spPr/>
      <dgm:t>
        <a:bodyPr/>
        <a:lstStyle/>
        <a:p>
          <a:endParaRPr lang="fr-FR"/>
        </a:p>
      </dgm:t>
    </dgm:pt>
    <dgm:pt modelId="{837D607E-8030-43C7-818B-7B3E653212FB}">
      <dgm:prSet/>
      <dgm:spPr/>
      <dgm:t>
        <a:bodyPr/>
        <a:lstStyle/>
        <a:p>
          <a:pPr rtl="0"/>
          <a:r>
            <a:rPr lang="fr-FR" b="1" baseline="0" dirty="0"/>
            <a:t>La prime vacances est due aux apprentis comme pour les  ouvriers (le support de cours comprend des explications pour calculer l</a:t>
          </a:r>
          <a:r>
            <a:rPr lang="fr-FR" b="1" i="1" baseline="0" dirty="0"/>
            <a:t>a prime vacances</a:t>
          </a:r>
          <a:r>
            <a:rPr lang="fr-FR" b="1" baseline="0" dirty="0"/>
            <a:t>)</a:t>
          </a:r>
          <a:endParaRPr lang="fr-FR" dirty="0"/>
        </a:p>
      </dgm:t>
    </dgm:pt>
    <dgm:pt modelId="{84DC54C3-CE76-47E1-B8A0-CDAE4338491C}" type="parTrans" cxnId="{6C7E7E2D-D3B5-48AE-85EA-2EDF00F222C6}">
      <dgm:prSet/>
      <dgm:spPr/>
      <dgm:t>
        <a:bodyPr/>
        <a:lstStyle/>
        <a:p>
          <a:endParaRPr lang="fr-FR"/>
        </a:p>
      </dgm:t>
    </dgm:pt>
    <dgm:pt modelId="{763C4A0D-0B48-4E46-9F31-E363A881D475}" type="sibTrans" cxnId="{6C7E7E2D-D3B5-48AE-85EA-2EDF00F222C6}">
      <dgm:prSet/>
      <dgm:spPr/>
      <dgm:t>
        <a:bodyPr/>
        <a:lstStyle/>
        <a:p>
          <a:endParaRPr lang="fr-FR"/>
        </a:p>
      </dgm:t>
    </dgm:pt>
    <dgm:pt modelId="{901923A4-EFE9-47C4-B1AA-3BBB39BB0BEE}">
      <dgm:prSet/>
      <dgm:spPr/>
      <dgm:t>
        <a:bodyPr/>
        <a:lstStyle/>
        <a:p>
          <a:pPr rtl="0"/>
          <a:r>
            <a:rPr lang="fr-FR" b="1" baseline="0" dirty="0"/>
            <a:t>D’où si l’entreprise n’a pas affilié l’apprenti à la caisse des congés payés, c’est à l’entreprise de verser la prime vacances. Le cabinet comptable doit donc calculer cette prime et la porter sur le bulletin de paye</a:t>
          </a:r>
          <a:endParaRPr lang="fr-FR" dirty="0"/>
        </a:p>
      </dgm:t>
    </dgm:pt>
    <dgm:pt modelId="{49B9FD5C-1C74-4845-ADF7-8FEEA80A78A3}" type="parTrans" cxnId="{0E9D7785-372E-422E-B0FF-EB69697EF0D4}">
      <dgm:prSet/>
      <dgm:spPr/>
      <dgm:t>
        <a:bodyPr/>
        <a:lstStyle/>
        <a:p>
          <a:endParaRPr lang="fr-FR"/>
        </a:p>
      </dgm:t>
    </dgm:pt>
    <dgm:pt modelId="{0F9F9FF9-2B6D-47EB-8BF6-85837595F280}" type="sibTrans" cxnId="{0E9D7785-372E-422E-B0FF-EB69697EF0D4}">
      <dgm:prSet/>
      <dgm:spPr/>
      <dgm:t>
        <a:bodyPr/>
        <a:lstStyle/>
        <a:p>
          <a:endParaRPr lang="fr-FR"/>
        </a:p>
      </dgm:t>
    </dgm:pt>
    <dgm:pt modelId="{41E9E4F7-E266-4729-B34D-09BF433E8F4A}" type="pres">
      <dgm:prSet presAssocID="{B4CA13C0-D6D1-468F-B7B8-DD05E6E7EE45}" presName="linearFlow" presStyleCnt="0">
        <dgm:presLayoutVars>
          <dgm:dir/>
          <dgm:resizeHandles val="exact"/>
        </dgm:presLayoutVars>
      </dgm:prSet>
      <dgm:spPr/>
    </dgm:pt>
    <dgm:pt modelId="{B9B83624-1BF1-4B5B-B8D4-63DD81F60E41}" type="pres">
      <dgm:prSet presAssocID="{837D607E-8030-43C7-818B-7B3E653212FB}" presName="composite" presStyleCnt="0"/>
      <dgm:spPr/>
    </dgm:pt>
    <dgm:pt modelId="{6D6D80AE-DBAC-41B2-9CB0-FB3C6325283C}" type="pres">
      <dgm:prSet presAssocID="{837D607E-8030-43C7-818B-7B3E653212FB}" presName="imgShp" presStyleLbl="fgImgPlace1" presStyleIdx="0" presStyleCnt="2"/>
      <dgm:spPr/>
    </dgm:pt>
    <dgm:pt modelId="{B2D08178-3736-4F40-9843-DB17FD691CAD}" type="pres">
      <dgm:prSet presAssocID="{837D607E-8030-43C7-818B-7B3E653212FB}" presName="txShp" presStyleLbl="node1" presStyleIdx="0" presStyleCnt="2">
        <dgm:presLayoutVars>
          <dgm:bulletEnabled val="1"/>
        </dgm:presLayoutVars>
      </dgm:prSet>
      <dgm:spPr/>
    </dgm:pt>
    <dgm:pt modelId="{6451CFA5-B067-4731-86B9-51DAD293EB56}" type="pres">
      <dgm:prSet presAssocID="{763C4A0D-0B48-4E46-9F31-E363A881D475}" presName="spacing" presStyleCnt="0"/>
      <dgm:spPr/>
    </dgm:pt>
    <dgm:pt modelId="{143904AC-B32D-40F0-B828-9E8A8E4EFE4C}" type="pres">
      <dgm:prSet presAssocID="{901923A4-EFE9-47C4-B1AA-3BBB39BB0BEE}" presName="composite" presStyleCnt="0"/>
      <dgm:spPr/>
    </dgm:pt>
    <dgm:pt modelId="{8611B785-AB10-4779-8208-786251A3DF00}" type="pres">
      <dgm:prSet presAssocID="{901923A4-EFE9-47C4-B1AA-3BBB39BB0BEE}" presName="imgShp" presStyleLbl="fgImgPlace1" presStyleIdx="1" presStyleCnt="2"/>
      <dgm:spPr/>
    </dgm:pt>
    <dgm:pt modelId="{F7821892-0F68-4D13-9EE7-4B5481D5F506}" type="pres">
      <dgm:prSet presAssocID="{901923A4-EFE9-47C4-B1AA-3BBB39BB0BEE}" presName="txShp" presStyleLbl="node1" presStyleIdx="1" presStyleCnt="2">
        <dgm:presLayoutVars>
          <dgm:bulletEnabled val="1"/>
        </dgm:presLayoutVars>
      </dgm:prSet>
      <dgm:spPr/>
    </dgm:pt>
  </dgm:ptLst>
  <dgm:cxnLst>
    <dgm:cxn modelId="{6C7E7E2D-D3B5-48AE-85EA-2EDF00F222C6}" srcId="{B4CA13C0-D6D1-468F-B7B8-DD05E6E7EE45}" destId="{837D607E-8030-43C7-818B-7B3E653212FB}" srcOrd="0" destOrd="0" parTransId="{84DC54C3-CE76-47E1-B8A0-CDAE4338491C}" sibTransId="{763C4A0D-0B48-4E46-9F31-E363A881D475}"/>
    <dgm:cxn modelId="{29F2EC41-5C48-4A22-AE22-44C7880FA2F6}" type="presOf" srcId="{B4CA13C0-D6D1-468F-B7B8-DD05E6E7EE45}" destId="{41E9E4F7-E266-4729-B34D-09BF433E8F4A}" srcOrd="0" destOrd="0" presId="urn:microsoft.com/office/officeart/2005/8/layout/vList3"/>
    <dgm:cxn modelId="{0E9D7785-372E-422E-B0FF-EB69697EF0D4}" srcId="{B4CA13C0-D6D1-468F-B7B8-DD05E6E7EE45}" destId="{901923A4-EFE9-47C4-B1AA-3BBB39BB0BEE}" srcOrd="1" destOrd="0" parTransId="{49B9FD5C-1C74-4845-ADF7-8FEEA80A78A3}" sibTransId="{0F9F9FF9-2B6D-47EB-8BF6-85837595F280}"/>
    <dgm:cxn modelId="{9E0453B9-5E59-461B-8680-3DA79D91F5F5}" type="presOf" srcId="{901923A4-EFE9-47C4-B1AA-3BBB39BB0BEE}" destId="{F7821892-0F68-4D13-9EE7-4B5481D5F506}" srcOrd="0" destOrd="0" presId="urn:microsoft.com/office/officeart/2005/8/layout/vList3"/>
    <dgm:cxn modelId="{FA4F12D6-2920-4233-8BD2-EE3F00EA2C0D}" type="presOf" srcId="{837D607E-8030-43C7-818B-7B3E653212FB}" destId="{B2D08178-3736-4F40-9843-DB17FD691CAD}" srcOrd="0" destOrd="0" presId="urn:microsoft.com/office/officeart/2005/8/layout/vList3"/>
    <dgm:cxn modelId="{385FB727-6107-4863-81E8-F0E477711319}" type="presParOf" srcId="{41E9E4F7-E266-4729-B34D-09BF433E8F4A}" destId="{B9B83624-1BF1-4B5B-B8D4-63DD81F60E41}" srcOrd="0" destOrd="0" presId="urn:microsoft.com/office/officeart/2005/8/layout/vList3"/>
    <dgm:cxn modelId="{2C299C22-9F63-44A5-87BC-584857897858}" type="presParOf" srcId="{B9B83624-1BF1-4B5B-B8D4-63DD81F60E41}" destId="{6D6D80AE-DBAC-41B2-9CB0-FB3C6325283C}" srcOrd="0" destOrd="0" presId="urn:microsoft.com/office/officeart/2005/8/layout/vList3"/>
    <dgm:cxn modelId="{F7AFE383-74CD-4204-9F50-23AFF665FA89}" type="presParOf" srcId="{B9B83624-1BF1-4B5B-B8D4-63DD81F60E41}" destId="{B2D08178-3736-4F40-9843-DB17FD691CAD}" srcOrd="1" destOrd="0" presId="urn:microsoft.com/office/officeart/2005/8/layout/vList3"/>
    <dgm:cxn modelId="{1582C458-7773-4C49-9A3F-122E856CC80A}" type="presParOf" srcId="{41E9E4F7-E266-4729-B34D-09BF433E8F4A}" destId="{6451CFA5-B067-4731-86B9-51DAD293EB56}" srcOrd="1" destOrd="0" presId="urn:microsoft.com/office/officeart/2005/8/layout/vList3"/>
    <dgm:cxn modelId="{842F44D7-9FB1-45BA-99C7-107BD3E1D275}" type="presParOf" srcId="{41E9E4F7-E266-4729-B34D-09BF433E8F4A}" destId="{143904AC-B32D-40F0-B828-9E8A8E4EFE4C}" srcOrd="2" destOrd="0" presId="urn:microsoft.com/office/officeart/2005/8/layout/vList3"/>
    <dgm:cxn modelId="{C9933709-8B2D-4A4A-BFDA-41EC89FF75CC}" type="presParOf" srcId="{143904AC-B32D-40F0-B828-9E8A8E4EFE4C}" destId="{8611B785-AB10-4779-8208-786251A3DF00}" srcOrd="0" destOrd="0" presId="urn:microsoft.com/office/officeart/2005/8/layout/vList3"/>
    <dgm:cxn modelId="{CA4F7713-9DAA-4E87-822D-0572AEB927BC}" type="presParOf" srcId="{143904AC-B32D-40F0-B828-9E8A8E4EFE4C}" destId="{F7821892-0F68-4D13-9EE7-4B5481D5F506}" srcOrd="1" destOrd="0" presId="urn:microsoft.com/office/officeart/2005/8/layout/vLis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36E7B710-4EFD-47FE-9910-25E70661536C}" type="doc">
      <dgm:prSet loTypeId="urn:microsoft.com/office/officeart/2005/8/layout/vList5" loCatId="list" qsTypeId="urn:microsoft.com/office/officeart/2005/8/quickstyle/simple1#138" qsCatId="simple" csTypeId="urn:microsoft.com/office/officeart/2005/8/colors/accent1_2#91" csCatId="accent1" phldr="1"/>
      <dgm:spPr/>
      <dgm:t>
        <a:bodyPr/>
        <a:lstStyle/>
        <a:p>
          <a:endParaRPr lang="fr-FR"/>
        </a:p>
      </dgm:t>
    </dgm:pt>
    <dgm:pt modelId="{FDCBFC8A-4E6B-4499-9BC8-D52755DECEC9}">
      <dgm:prSet custT="1"/>
      <dgm:spPr/>
      <dgm:t>
        <a:bodyPr/>
        <a:lstStyle/>
        <a:p>
          <a:pPr rtl="0"/>
          <a:r>
            <a:rPr lang="fr-FR" sz="3200" b="1" baseline="0" dirty="0"/>
            <a:t>3 définitions du trajet </a:t>
          </a:r>
          <a:endParaRPr lang="fr-FR" sz="3200" dirty="0"/>
        </a:p>
      </dgm:t>
    </dgm:pt>
    <dgm:pt modelId="{9466816C-26D5-4228-B188-0116990822F8}" type="parTrans" cxnId="{68C81A4B-47B7-4D84-ADB9-EABB977306F5}">
      <dgm:prSet/>
      <dgm:spPr/>
      <dgm:t>
        <a:bodyPr/>
        <a:lstStyle/>
        <a:p>
          <a:endParaRPr lang="fr-FR"/>
        </a:p>
      </dgm:t>
    </dgm:pt>
    <dgm:pt modelId="{BFFC7185-504A-4A1C-8C78-2612E05AF973}" type="sibTrans" cxnId="{68C81A4B-47B7-4D84-ADB9-EABB977306F5}">
      <dgm:prSet/>
      <dgm:spPr/>
      <dgm:t>
        <a:bodyPr/>
        <a:lstStyle/>
        <a:p>
          <a:endParaRPr lang="fr-FR"/>
        </a:p>
      </dgm:t>
    </dgm:pt>
    <dgm:pt modelId="{E430EA6D-2523-414A-8B70-FCA8A2B2582F}">
      <dgm:prSet/>
      <dgm:spPr/>
      <dgm:t>
        <a:bodyPr/>
        <a:lstStyle/>
        <a:p>
          <a:pPr marL="180000" indent="-180000" rtl="0">
            <a:buFont typeface="Wingdings" panose="05000000000000000000" pitchFamily="2" charset="2"/>
            <a:buChar char="§"/>
          </a:pPr>
          <a:r>
            <a:rPr lang="fr-FR" sz="1900" b="1" dirty="0"/>
            <a:t>Le temps du trajet (temps de travail </a:t>
          </a:r>
          <a:br>
            <a:rPr lang="fr-FR" sz="1900" b="1" dirty="0"/>
          </a:br>
          <a:r>
            <a:rPr lang="fr-FR" sz="1900" b="1" dirty="0"/>
            <a:t>ou non selon la définition du code </a:t>
          </a:r>
          <a:br>
            <a:rPr lang="fr-FR" sz="1900" b="1" dirty="0"/>
          </a:br>
          <a:r>
            <a:rPr lang="fr-FR" sz="1900" b="1" dirty="0"/>
            <a:t>du travail)</a:t>
          </a:r>
          <a:endParaRPr lang="fr-FR" sz="1900" dirty="0"/>
        </a:p>
      </dgm:t>
    </dgm:pt>
    <dgm:pt modelId="{67909D08-C214-45F6-977A-9A1132327B13}" type="parTrans" cxnId="{1F6C3BA0-E22C-483F-9AAF-112810959F06}">
      <dgm:prSet/>
      <dgm:spPr/>
      <dgm:t>
        <a:bodyPr/>
        <a:lstStyle/>
        <a:p>
          <a:endParaRPr lang="fr-FR"/>
        </a:p>
      </dgm:t>
    </dgm:pt>
    <dgm:pt modelId="{00CB8C53-DCF6-4641-BEF4-F730D94A244D}" type="sibTrans" cxnId="{1F6C3BA0-E22C-483F-9AAF-112810959F06}">
      <dgm:prSet/>
      <dgm:spPr/>
      <dgm:t>
        <a:bodyPr/>
        <a:lstStyle/>
        <a:p>
          <a:endParaRPr lang="fr-FR"/>
        </a:p>
      </dgm:t>
    </dgm:pt>
    <dgm:pt modelId="{17925381-2743-4D08-8E89-298D7AD155BC}">
      <dgm:prSet/>
      <dgm:spPr/>
      <dgm:t>
        <a:bodyPr/>
        <a:lstStyle/>
        <a:p>
          <a:pPr marL="180000" indent="-180000" rtl="0">
            <a:buFont typeface="Wingdings" panose="05000000000000000000" pitchFamily="2" charset="2"/>
            <a:buChar char="§"/>
          </a:pPr>
          <a:r>
            <a:rPr lang="fr-FR" sz="1900" b="1" dirty="0"/>
            <a:t>La sujétion du trajet (selon définition </a:t>
          </a:r>
          <a:br>
            <a:rPr lang="fr-FR" sz="1900" b="1" dirty="0"/>
          </a:br>
          <a:r>
            <a:rPr lang="fr-FR" sz="1900" b="1" dirty="0"/>
            <a:t>de la convention collective)</a:t>
          </a:r>
          <a:endParaRPr lang="fr-FR" sz="1900" dirty="0"/>
        </a:p>
      </dgm:t>
    </dgm:pt>
    <dgm:pt modelId="{9BD529A4-9F3E-481C-A026-9AE6FB068DE7}" type="parTrans" cxnId="{B2DA068F-8BC4-4CD8-AD47-E86D7D47C6F0}">
      <dgm:prSet/>
      <dgm:spPr/>
      <dgm:t>
        <a:bodyPr/>
        <a:lstStyle/>
        <a:p>
          <a:endParaRPr lang="fr-FR"/>
        </a:p>
      </dgm:t>
    </dgm:pt>
    <dgm:pt modelId="{45B544E1-D9D2-4E85-940B-672D36F42D58}" type="sibTrans" cxnId="{B2DA068F-8BC4-4CD8-AD47-E86D7D47C6F0}">
      <dgm:prSet/>
      <dgm:spPr/>
      <dgm:t>
        <a:bodyPr/>
        <a:lstStyle/>
        <a:p>
          <a:endParaRPr lang="fr-FR"/>
        </a:p>
      </dgm:t>
    </dgm:pt>
    <dgm:pt modelId="{1D7180E3-1F75-49CF-9485-93E17BFA7A8C}">
      <dgm:prSet custT="1"/>
      <dgm:spPr/>
      <dgm:t>
        <a:bodyPr/>
        <a:lstStyle/>
        <a:p>
          <a:pPr marL="180000" indent="-180000" rtl="0">
            <a:buFont typeface="Wingdings" panose="05000000000000000000" pitchFamily="2" charset="2"/>
            <a:buChar char="§"/>
          </a:pPr>
          <a:r>
            <a:rPr lang="fr-FR" sz="1900" b="1" dirty="0"/>
            <a:t>Le coût du trajet (l’indemnité de frais de transport)</a:t>
          </a:r>
          <a:endParaRPr lang="fr-FR" sz="1900" dirty="0"/>
        </a:p>
      </dgm:t>
    </dgm:pt>
    <dgm:pt modelId="{C4793D04-E180-4C7A-BFE6-4D2F5730C4A9}" type="parTrans" cxnId="{BDC63470-A084-49AE-AFFA-3026A5BC3916}">
      <dgm:prSet/>
      <dgm:spPr/>
      <dgm:t>
        <a:bodyPr/>
        <a:lstStyle/>
        <a:p>
          <a:endParaRPr lang="fr-FR"/>
        </a:p>
      </dgm:t>
    </dgm:pt>
    <dgm:pt modelId="{267BD151-3B90-4248-9617-5923DD110C1D}" type="sibTrans" cxnId="{BDC63470-A084-49AE-AFFA-3026A5BC3916}">
      <dgm:prSet/>
      <dgm:spPr/>
      <dgm:t>
        <a:bodyPr/>
        <a:lstStyle/>
        <a:p>
          <a:endParaRPr lang="fr-FR"/>
        </a:p>
      </dgm:t>
    </dgm:pt>
    <dgm:pt modelId="{4541D2CA-CFDC-4204-96F6-4C1C7885A14F}">
      <dgm:prSet custT="1"/>
      <dgm:spPr/>
      <dgm:t>
        <a:bodyPr/>
        <a:lstStyle/>
        <a:p>
          <a:pPr marL="171450" indent="0" rtl="0">
            <a:buFontTx/>
            <a:buNone/>
          </a:pPr>
          <a:r>
            <a:rPr lang="fr-FR" sz="1600" b="0" i="1" u="none" dirty="0"/>
            <a:t>Seul ce dernier a le caractère de remboursement de frais professionnels</a:t>
          </a:r>
          <a:endParaRPr lang="fr-FR" sz="1900" dirty="0"/>
        </a:p>
      </dgm:t>
    </dgm:pt>
    <dgm:pt modelId="{54261009-93A8-4216-A91F-B8D9DBC2CFB7}" type="parTrans" cxnId="{C7D3D285-3948-4FF7-A62B-7E965FAC376C}">
      <dgm:prSet/>
      <dgm:spPr/>
      <dgm:t>
        <a:bodyPr/>
        <a:lstStyle/>
        <a:p>
          <a:endParaRPr lang="fr-FR"/>
        </a:p>
      </dgm:t>
    </dgm:pt>
    <dgm:pt modelId="{C1AF21A5-9104-4BE8-BB36-4B40AD4CD0B7}" type="sibTrans" cxnId="{C7D3D285-3948-4FF7-A62B-7E965FAC376C}">
      <dgm:prSet/>
      <dgm:spPr/>
      <dgm:t>
        <a:bodyPr/>
        <a:lstStyle/>
        <a:p>
          <a:endParaRPr lang="fr-FR"/>
        </a:p>
      </dgm:t>
    </dgm:pt>
    <dgm:pt modelId="{3D29360D-75EA-48EB-BA2A-91F63DE48E3B}" type="pres">
      <dgm:prSet presAssocID="{36E7B710-4EFD-47FE-9910-25E70661536C}" presName="Name0" presStyleCnt="0">
        <dgm:presLayoutVars>
          <dgm:dir/>
          <dgm:animLvl val="lvl"/>
          <dgm:resizeHandles val="exact"/>
        </dgm:presLayoutVars>
      </dgm:prSet>
      <dgm:spPr/>
    </dgm:pt>
    <dgm:pt modelId="{1C729070-D73E-4C1D-991A-DB7F37B6621A}" type="pres">
      <dgm:prSet presAssocID="{FDCBFC8A-4E6B-4499-9BC8-D52755DECEC9}" presName="linNode" presStyleCnt="0"/>
      <dgm:spPr/>
    </dgm:pt>
    <dgm:pt modelId="{EF01B56B-7104-4053-B626-03E2BF622306}" type="pres">
      <dgm:prSet presAssocID="{FDCBFC8A-4E6B-4499-9BC8-D52755DECEC9}" presName="parentText" presStyleLbl="node1" presStyleIdx="0" presStyleCnt="1">
        <dgm:presLayoutVars>
          <dgm:chMax val="1"/>
          <dgm:bulletEnabled val="1"/>
        </dgm:presLayoutVars>
      </dgm:prSet>
      <dgm:spPr/>
    </dgm:pt>
    <dgm:pt modelId="{B31C8603-9058-4093-9729-BF33D231C6F3}" type="pres">
      <dgm:prSet presAssocID="{FDCBFC8A-4E6B-4499-9BC8-D52755DECEC9}" presName="descendantText" presStyleLbl="alignAccFollowNode1" presStyleIdx="0" presStyleCnt="1">
        <dgm:presLayoutVars>
          <dgm:bulletEnabled val="1"/>
        </dgm:presLayoutVars>
      </dgm:prSet>
      <dgm:spPr/>
    </dgm:pt>
  </dgm:ptLst>
  <dgm:cxnLst>
    <dgm:cxn modelId="{EF874014-2E54-48AB-B735-1C2516DBA497}" type="presOf" srcId="{4541D2CA-CFDC-4204-96F6-4C1C7885A14F}" destId="{B31C8603-9058-4093-9729-BF33D231C6F3}" srcOrd="0" destOrd="3" presId="urn:microsoft.com/office/officeart/2005/8/layout/vList5"/>
    <dgm:cxn modelId="{68C81A4B-47B7-4D84-ADB9-EABB977306F5}" srcId="{36E7B710-4EFD-47FE-9910-25E70661536C}" destId="{FDCBFC8A-4E6B-4499-9BC8-D52755DECEC9}" srcOrd="0" destOrd="0" parTransId="{9466816C-26D5-4228-B188-0116990822F8}" sibTransId="{BFFC7185-504A-4A1C-8C78-2612E05AF973}"/>
    <dgm:cxn modelId="{BDC63470-A084-49AE-AFFA-3026A5BC3916}" srcId="{FDCBFC8A-4E6B-4499-9BC8-D52755DECEC9}" destId="{1D7180E3-1F75-49CF-9485-93E17BFA7A8C}" srcOrd="2" destOrd="0" parTransId="{C4793D04-E180-4C7A-BFE6-4D2F5730C4A9}" sibTransId="{267BD151-3B90-4248-9617-5923DD110C1D}"/>
    <dgm:cxn modelId="{3FFCA452-4037-416E-B186-8566F11CC5D6}" type="presOf" srcId="{E430EA6D-2523-414A-8B70-FCA8A2B2582F}" destId="{B31C8603-9058-4093-9729-BF33D231C6F3}" srcOrd="0" destOrd="0" presId="urn:microsoft.com/office/officeart/2005/8/layout/vList5"/>
    <dgm:cxn modelId="{F2C26884-5C5A-49FA-AB3F-AFA2522B965D}" type="presOf" srcId="{17925381-2743-4D08-8E89-298D7AD155BC}" destId="{B31C8603-9058-4093-9729-BF33D231C6F3}" srcOrd="0" destOrd="1" presId="urn:microsoft.com/office/officeart/2005/8/layout/vList5"/>
    <dgm:cxn modelId="{C7D3D285-3948-4FF7-A62B-7E965FAC376C}" srcId="{FDCBFC8A-4E6B-4499-9BC8-D52755DECEC9}" destId="{4541D2CA-CFDC-4204-96F6-4C1C7885A14F}" srcOrd="3" destOrd="0" parTransId="{54261009-93A8-4216-A91F-B8D9DBC2CFB7}" sibTransId="{C1AF21A5-9104-4BE8-BB36-4B40AD4CD0B7}"/>
    <dgm:cxn modelId="{B2DA068F-8BC4-4CD8-AD47-E86D7D47C6F0}" srcId="{FDCBFC8A-4E6B-4499-9BC8-D52755DECEC9}" destId="{17925381-2743-4D08-8E89-298D7AD155BC}" srcOrd="1" destOrd="0" parTransId="{9BD529A4-9F3E-481C-A026-9AE6FB068DE7}" sibTransId="{45B544E1-D9D2-4E85-940B-672D36F42D58}"/>
    <dgm:cxn modelId="{1F6C3BA0-E22C-483F-9AAF-112810959F06}" srcId="{FDCBFC8A-4E6B-4499-9BC8-D52755DECEC9}" destId="{E430EA6D-2523-414A-8B70-FCA8A2B2582F}" srcOrd="0" destOrd="0" parTransId="{67909D08-C214-45F6-977A-9A1132327B13}" sibTransId="{00CB8C53-DCF6-4641-BEF4-F730D94A244D}"/>
    <dgm:cxn modelId="{B4D47EA9-86BA-4AA6-A94C-0F9A037A53E0}" type="presOf" srcId="{FDCBFC8A-4E6B-4499-9BC8-D52755DECEC9}" destId="{EF01B56B-7104-4053-B626-03E2BF622306}" srcOrd="0" destOrd="0" presId="urn:microsoft.com/office/officeart/2005/8/layout/vList5"/>
    <dgm:cxn modelId="{8469B0CA-4194-48E8-89F7-A0B0D047CC1F}" type="presOf" srcId="{1D7180E3-1F75-49CF-9485-93E17BFA7A8C}" destId="{B31C8603-9058-4093-9729-BF33D231C6F3}" srcOrd="0" destOrd="2" presId="urn:microsoft.com/office/officeart/2005/8/layout/vList5"/>
    <dgm:cxn modelId="{A98ED5F9-96A2-45F0-A3A8-7D54E2DB15D2}" type="presOf" srcId="{36E7B710-4EFD-47FE-9910-25E70661536C}" destId="{3D29360D-75EA-48EB-BA2A-91F63DE48E3B}" srcOrd="0" destOrd="0" presId="urn:microsoft.com/office/officeart/2005/8/layout/vList5"/>
    <dgm:cxn modelId="{8355DF2F-DDEF-4B2F-BCC3-BD6A4258B248}" type="presParOf" srcId="{3D29360D-75EA-48EB-BA2A-91F63DE48E3B}" destId="{1C729070-D73E-4C1D-991A-DB7F37B6621A}" srcOrd="0" destOrd="0" presId="urn:microsoft.com/office/officeart/2005/8/layout/vList5"/>
    <dgm:cxn modelId="{7A446BFE-926B-4C91-8394-960839B2F40F}" type="presParOf" srcId="{1C729070-D73E-4C1D-991A-DB7F37B6621A}" destId="{EF01B56B-7104-4053-B626-03E2BF622306}" srcOrd="0" destOrd="0" presId="urn:microsoft.com/office/officeart/2005/8/layout/vList5"/>
    <dgm:cxn modelId="{5A0A1112-F40B-4F5B-BC2A-70551B6AFC5B}" type="presParOf" srcId="{1C729070-D73E-4C1D-991A-DB7F37B6621A}" destId="{B31C8603-9058-4093-9729-BF33D231C6F3}"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C6309DF9-6B95-4CF1-B1C8-5D7E543CBB4E}" type="doc">
      <dgm:prSet loTypeId="urn:microsoft.com/office/officeart/2005/8/layout/process1" loCatId="process" qsTypeId="urn:microsoft.com/office/officeart/2005/8/quickstyle/simple1#139" qsCatId="simple" csTypeId="urn:microsoft.com/office/officeart/2005/8/colors/accent1_2#92" csCatId="accent1" phldr="1"/>
      <dgm:spPr/>
      <dgm:t>
        <a:bodyPr/>
        <a:lstStyle/>
        <a:p>
          <a:endParaRPr lang="fr-FR"/>
        </a:p>
      </dgm:t>
    </dgm:pt>
    <dgm:pt modelId="{F31B51CE-3854-4601-A25F-BF6FF2170C7E}">
      <dgm:prSet/>
      <dgm:spPr/>
      <dgm:t>
        <a:bodyPr/>
        <a:lstStyle/>
        <a:p>
          <a:pPr algn="l" rtl="0">
            <a:buNone/>
          </a:pPr>
          <a:r>
            <a:rPr lang="fr-FR" sz="2700" b="1" baseline="0" dirty="0"/>
            <a:t>Le principe du temps de trajet est</a:t>
          </a:r>
          <a:endParaRPr lang="fr-FR" sz="2700" dirty="0"/>
        </a:p>
      </dgm:t>
    </dgm:pt>
    <dgm:pt modelId="{78AC304C-7BB4-41BD-A807-25A5C58F5FA9}" type="parTrans" cxnId="{DCCE0EAF-E841-4DFF-8996-0D15EB4D7848}">
      <dgm:prSet/>
      <dgm:spPr/>
      <dgm:t>
        <a:bodyPr/>
        <a:lstStyle/>
        <a:p>
          <a:endParaRPr lang="fr-FR"/>
        </a:p>
      </dgm:t>
    </dgm:pt>
    <dgm:pt modelId="{6BCCFC70-ABBA-495E-B14B-8AEBEEA90A0F}" type="sibTrans" cxnId="{DCCE0EAF-E841-4DFF-8996-0D15EB4D7848}">
      <dgm:prSet/>
      <dgm:spPr/>
      <dgm:t>
        <a:bodyPr/>
        <a:lstStyle/>
        <a:p>
          <a:endParaRPr lang="fr-FR"/>
        </a:p>
      </dgm:t>
    </dgm:pt>
    <dgm:pt modelId="{8A2AC434-8541-466C-AFA1-385A4E435466}">
      <dgm:prSet custT="1"/>
      <dgm:spPr/>
      <dgm:t>
        <a:bodyPr/>
        <a:lstStyle/>
        <a:p>
          <a:pPr algn="l" rtl="0">
            <a:buFont typeface="Wingdings" panose="05000000000000000000" pitchFamily="2" charset="2"/>
            <a:buChar char="§"/>
          </a:pPr>
          <a:r>
            <a:rPr lang="fr-FR" sz="2000" b="1" baseline="0" dirty="0"/>
            <a:t>Les temps de trajet ne sont pas, en principe, décomptés comme temps de travail effectif dès lors que le salarié a la possibilité de se rendre directement sur le chantier sans avoir à passer obligatoirement par l’entreprise. Il en est de même quand il a la simple faculté, et non l’obligation, de se rendre à l’entreprise pour bénéficier des moyens de transport assurés par l’employeur pour se rendre sur les chantiers</a:t>
          </a:r>
          <a:endParaRPr lang="fr-FR" sz="2000" dirty="0"/>
        </a:p>
      </dgm:t>
    </dgm:pt>
    <dgm:pt modelId="{6BDA0493-67E7-4F3F-955A-9F9B654F30FC}" type="parTrans" cxnId="{7050637F-B6DA-46A1-B762-CF0DBE8345A6}">
      <dgm:prSet/>
      <dgm:spPr/>
      <dgm:t>
        <a:bodyPr/>
        <a:lstStyle/>
        <a:p>
          <a:endParaRPr lang="fr-FR"/>
        </a:p>
      </dgm:t>
    </dgm:pt>
    <dgm:pt modelId="{2029A9E1-3DCD-45F0-8076-BCD8DB6A3F5A}" type="sibTrans" cxnId="{7050637F-B6DA-46A1-B762-CF0DBE8345A6}">
      <dgm:prSet/>
      <dgm:spPr/>
      <dgm:t>
        <a:bodyPr/>
        <a:lstStyle/>
        <a:p>
          <a:endParaRPr lang="fr-FR"/>
        </a:p>
      </dgm:t>
    </dgm:pt>
    <dgm:pt modelId="{CF6772E2-1C07-4B26-92BA-937D3A34D4F0}" type="pres">
      <dgm:prSet presAssocID="{C6309DF9-6B95-4CF1-B1C8-5D7E543CBB4E}" presName="Name0" presStyleCnt="0">
        <dgm:presLayoutVars>
          <dgm:dir/>
          <dgm:resizeHandles val="exact"/>
        </dgm:presLayoutVars>
      </dgm:prSet>
      <dgm:spPr/>
    </dgm:pt>
    <dgm:pt modelId="{3E7C7870-AAC3-45BF-9B9E-78598C4AC2AF}" type="pres">
      <dgm:prSet presAssocID="{F31B51CE-3854-4601-A25F-BF6FF2170C7E}" presName="node" presStyleLbl="node1" presStyleIdx="0" presStyleCnt="1" custLinFactNeighborY="1637">
        <dgm:presLayoutVars>
          <dgm:bulletEnabled val="1"/>
        </dgm:presLayoutVars>
      </dgm:prSet>
      <dgm:spPr/>
    </dgm:pt>
  </dgm:ptLst>
  <dgm:cxnLst>
    <dgm:cxn modelId="{314B6158-E718-43E7-AA6D-A52D1E2FF416}" type="presOf" srcId="{F31B51CE-3854-4601-A25F-BF6FF2170C7E}" destId="{3E7C7870-AAC3-45BF-9B9E-78598C4AC2AF}" srcOrd="0" destOrd="0" presId="urn:microsoft.com/office/officeart/2005/8/layout/process1"/>
    <dgm:cxn modelId="{7050637F-B6DA-46A1-B762-CF0DBE8345A6}" srcId="{F31B51CE-3854-4601-A25F-BF6FF2170C7E}" destId="{8A2AC434-8541-466C-AFA1-385A4E435466}" srcOrd="0" destOrd="0" parTransId="{6BDA0493-67E7-4F3F-955A-9F9B654F30FC}" sibTransId="{2029A9E1-3DCD-45F0-8076-BCD8DB6A3F5A}"/>
    <dgm:cxn modelId="{DCCE0EAF-E841-4DFF-8996-0D15EB4D7848}" srcId="{C6309DF9-6B95-4CF1-B1C8-5D7E543CBB4E}" destId="{F31B51CE-3854-4601-A25F-BF6FF2170C7E}" srcOrd="0" destOrd="0" parTransId="{78AC304C-7BB4-41BD-A807-25A5C58F5FA9}" sibTransId="{6BCCFC70-ABBA-495E-B14B-8AEBEEA90A0F}"/>
    <dgm:cxn modelId="{E73578D7-9A93-489D-9594-11AE303EBC7B}" type="presOf" srcId="{8A2AC434-8541-466C-AFA1-385A4E435466}" destId="{3E7C7870-AAC3-45BF-9B9E-78598C4AC2AF}" srcOrd="0" destOrd="1" presId="urn:microsoft.com/office/officeart/2005/8/layout/process1"/>
    <dgm:cxn modelId="{8B6EC4DE-74EF-4B8B-8EEE-0F1F8B067456}" type="presOf" srcId="{C6309DF9-6B95-4CF1-B1C8-5D7E543CBB4E}" destId="{CF6772E2-1C07-4B26-92BA-937D3A34D4F0}" srcOrd="0" destOrd="0" presId="urn:microsoft.com/office/officeart/2005/8/layout/process1"/>
    <dgm:cxn modelId="{070901F3-30D0-4390-BA42-F64765697735}" type="presParOf" srcId="{CF6772E2-1C07-4B26-92BA-937D3A34D4F0}" destId="{3E7C7870-AAC3-45BF-9B9E-78598C4AC2AF}" srcOrd="0"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CEAEDAE7-0768-42DD-8B4D-0F035CE154EC}" type="doc">
      <dgm:prSet loTypeId="urn:microsoft.com/office/officeart/2005/8/layout/vList5" loCatId="list" qsTypeId="urn:microsoft.com/office/officeart/2005/8/quickstyle/simple1#140" qsCatId="simple" csTypeId="urn:microsoft.com/office/officeart/2005/8/colors/accent1_2#93" csCatId="accent1" phldr="1"/>
      <dgm:spPr/>
      <dgm:t>
        <a:bodyPr/>
        <a:lstStyle/>
        <a:p>
          <a:endParaRPr lang="fr-FR"/>
        </a:p>
      </dgm:t>
    </dgm:pt>
    <dgm:pt modelId="{2CF22DC1-EC77-445C-86CF-F8E9E5F9B1C5}">
      <dgm:prSet/>
      <dgm:spPr/>
      <dgm:t>
        <a:bodyPr/>
        <a:lstStyle/>
        <a:p>
          <a:pPr rtl="0"/>
          <a:r>
            <a:rPr lang="fr-FR" b="1" baseline="0" dirty="0"/>
            <a:t>Dans certains cas, le temps de trajet est</a:t>
          </a:r>
          <a:br>
            <a:rPr lang="fr-FR" b="1" baseline="0" dirty="0"/>
          </a:br>
          <a:r>
            <a:rPr lang="fr-FR" b="1" baseline="0" dirty="0"/>
            <a:t>du temps de travail effectif et doit être rémunéré comme tel </a:t>
          </a:r>
          <a:endParaRPr lang="fr-FR" dirty="0"/>
        </a:p>
      </dgm:t>
    </dgm:pt>
    <dgm:pt modelId="{150FC26D-6758-4C09-BFA1-FDDA0A5B87A2}" type="parTrans" cxnId="{AE23F1F1-E63C-41EC-9509-51501AD862ED}">
      <dgm:prSet/>
      <dgm:spPr/>
      <dgm:t>
        <a:bodyPr/>
        <a:lstStyle/>
        <a:p>
          <a:endParaRPr lang="fr-FR"/>
        </a:p>
      </dgm:t>
    </dgm:pt>
    <dgm:pt modelId="{B3F8C863-6E88-430D-BAA3-51F3CDC3FEAB}" type="sibTrans" cxnId="{AE23F1F1-E63C-41EC-9509-51501AD862ED}">
      <dgm:prSet/>
      <dgm:spPr/>
      <dgm:t>
        <a:bodyPr/>
        <a:lstStyle/>
        <a:p>
          <a:endParaRPr lang="fr-FR"/>
        </a:p>
      </dgm:t>
    </dgm:pt>
    <dgm:pt modelId="{517D176E-FFE3-473B-92D6-6BDB57EE0C12}">
      <dgm:prSet custT="1"/>
      <dgm:spPr/>
      <dgm:t>
        <a:bodyPr/>
        <a:lstStyle/>
        <a:p>
          <a:pPr marL="180000" indent="-180000" algn="just" rtl="0">
            <a:buFont typeface="Wingdings" panose="05000000000000000000" pitchFamily="2" charset="2"/>
            <a:buChar char="§"/>
          </a:pPr>
          <a:r>
            <a:rPr lang="fr-FR" sz="1400" b="1" baseline="0" dirty="0"/>
            <a:t>Quand les salariés sont tenus de se rendre au siège de l’entreprise à la demande expresse de l’employeur avant d’être transportés sur le chantier, le temps de trajet entre l’entreprise et le chantier doit être considéré comme étant du temps de travail effectif. Il en est de même lorsque le salarié conduit à la demande de son employeur un véhicule pour transporter du personnel ou du matériel de l’entreprise à un chantier ou entre les différents chantiers</a:t>
          </a:r>
          <a:endParaRPr lang="fr-FR" sz="1400" dirty="0"/>
        </a:p>
      </dgm:t>
    </dgm:pt>
    <dgm:pt modelId="{C821762A-6E99-41B4-898F-837B78A1C9B4}" type="parTrans" cxnId="{F7E4BF60-B65D-4718-8A1B-65152694FACC}">
      <dgm:prSet/>
      <dgm:spPr/>
      <dgm:t>
        <a:bodyPr/>
        <a:lstStyle/>
        <a:p>
          <a:endParaRPr lang="fr-FR"/>
        </a:p>
      </dgm:t>
    </dgm:pt>
    <dgm:pt modelId="{2EBF6FBC-1FBA-41B7-92BC-F9CDAA46D07F}" type="sibTrans" cxnId="{F7E4BF60-B65D-4718-8A1B-65152694FACC}">
      <dgm:prSet/>
      <dgm:spPr/>
      <dgm:t>
        <a:bodyPr/>
        <a:lstStyle/>
        <a:p>
          <a:endParaRPr lang="fr-FR"/>
        </a:p>
      </dgm:t>
    </dgm:pt>
    <dgm:pt modelId="{67384B7E-D1D6-44AD-8421-55526A5DFD66}" type="pres">
      <dgm:prSet presAssocID="{CEAEDAE7-0768-42DD-8B4D-0F035CE154EC}" presName="Name0" presStyleCnt="0">
        <dgm:presLayoutVars>
          <dgm:dir/>
          <dgm:animLvl val="lvl"/>
          <dgm:resizeHandles val="exact"/>
        </dgm:presLayoutVars>
      </dgm:prSet>
      <dgm:spPr/>
    </dgm:pt>
    <dgm:pt modelId="{1F56AC3B-947B-4AEC-9581-626E0C3C9434}" type="pres">
      <dgm:prSet presAssocID="{2CF22DC1-EC77-445C-86CF-F8E9E5F9B1C5}" presName="linNode" presStyleCnt="0"/>
      <dgm:spPr/>
    </dgm:pt>
    <dgm:pt modelId="{9DF57C4A-E6E1-40E6-9614-D07096BC90D9}" type="pres">
      <dgm:prSet presAssocID="{2CF22DC1-EC77-445C-86CF-F8E9E5F9B1C5}" presName="parentText" presStyleLbl="node1" presStyleIdx="0" presStyleCnt="1" custScaleX="93449" custLinFactNeighborY="1637">
        <dgm:presLayoutVars>
          <dgm:chMax val="1"/>
          <dgm:bulletEnabled val="1"/>
        </dgm:presLayoutVars>
      </dgm:prSet>
      <dgm:spPr/>
    </dgm:pt>
    <dgm:pt modelId="{886389C9-9AF4-46D8-B98A-EF56764D617E}" type="pres">
      <dgm:prSet presAssocID="{2CF22DC1-EC77-445C-86CF-F8E9E5F9B1C5}" presName="descendantText" presStyleLbl="alignAccFollowNode1" presStyleIdx="0" presStyleCnt="1" custScaleX="106760">
        <dgm:presLayoutVars>
          <dgm:bulletEnabled val="1"/>
        </dgm:presLayoutVars>
      </dgm:prSet>
      <dgm:spPr/>
    </dgm:pt>
  </dgm:ptLst>
  <dgm:cxnLst>
    <dgm:cxn modelId="{C0C48A3B-CF43-4797-8F82-AB9351AB7AF5}" type="presOf" srcId="{2CF22DC1-EC77-445C-86CF-F8E9E5F9B1C5}" destId="{9DF57C4A-E6E1-40E6-9614-D07096BC90D9}" srcOrd="0" destOrd="0" presId="urn:microsoft.com/office/officeart/2005/8/layout/vList5"/>
    <dgm:cxn modelId="{F7E4BF60-B65D-4718-8A1B-65152694FACC}" srcId="{2CF22DC1-EC77-445C-86CF-F8E9E5F9B1C5}" destId="{517D176E-FFE3-473B-92D6-6BDB57EE0C12}" srcOrd="0" destOrd="0" parTransId="{C821762A-6E99-41B4-898F-837B78A1C9B4}" sibTransId="{2EBF6FBC-1FBA-41B7-92BC-F9CDAA46D07F}"/>
    <dgm:cxn modelId="{96000799-5BCB-4C41-9161-70EFE130851B}" type="presOf" srcId="{517D176E-FFE3-473B-92D6-6BDB57EE0C12}" destId="{886389C9-9AF4-46D8-B98A-EF56764D617E}" srcOrd="0" destOrd="0" presId="urn:microsoft.com/office/officeart/2005/8/layout/vList5"/>
    <dgm:cxn modelId="{1A5074A1-9025-4932-AEC8-86D42A0E98EC}" type="presOf" srcId="{CEAEDAE7-0768-42DD-8B4D-0F035CE154EC}" destId="{67384B7E-D1D6-44AD-8421-55526A5DFD66}" srcOrd="0" destOrd="0" presId="urn:microsoft.com/office/officeart/2005/8/layout/vList5"/>
    <dgm:cxn modelId="{AE23F1F1-E63C-41EC-9509-51501AD862ED}" srcId="{CEAEDAE7-0768-42DD-8B4D-0F035CE154EC}" destId="{2CF22DC1-EC77-445C-86CF-F8E9E5F9B1C5}" srcOrd="0" destOrd="0" parTransId="{150FC26D-6758-4C09-BFA1-FDDA0A5B87A2}" sibTransId="{B3F8C863-6E88-430D-BAA3-51F3CDC3FEAB}"/>
    <dgm:cxn modelId="{276050CF-DAA3-4BA6-8379-3223A11AAD6E}" type="presParOf" srcId="{67384B7E-D1D6-44AD-8421-55526A5DFD66}" destId="{1F56AC3B-947B-4AEC-9581-626E0C3C9434}" srcOrd="0" destOrd="0" presId="urn:microsoft.com/office/officeart/2005/8/layout/vList5"/>
    <dgm:cxn modelId="{37E608C8-FF72-4515-BCD5-3A23247F0F70}" type="presParOf" srcId="{1F56AC3B-947B-4AEC-9581-626E0C3C9434}" destId="{9DF57C4A-E6E1-40E6-9614-D07096BC90D9}" srcOrd="0" destOrd="0" presId="urn:microsoft.com/office/officeart/2005/8/layout/vList5"/>
    <dgm:cxn modelId="{A85C6E78-5386-4609-8214-E58DB7A20307}" type="presParOf" srcId="{1F56AC3B-947B-4AEC-9581-626E0C3C9434}" destId="{886389C9-9AF4-46D8-B98A-EF56764D617E}"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4C6071BE-0CEE-495E-95D8-F87C77E8129E}" type="doc">
      <dgm:prSet loTypeId="urn:microsoft.com/office/officeart/2005/8/layout/vList5" loCatId="list" qsTypeId="urn:microsoft.com/office/officeart/2005/8/quickstyle/simple1#141" qsCatId="simple" csTypeId="urn:microsoft.com/office/officeart/2005/8/colors/accent1_2#94" csCatId="accent1" phldr="1"/>
      <dgm:spPr/>
      <dgm:t>
        <a:bodyPr/>
        <a:lstStyle/>
        <a:p>
          <a:endParaRPr lang="fr-FR"/>
        </a:p>
      </dgm:t>
    </dgm:pt>
    <dgm:pt modelId="{C3B841D0-9BA2-47CD-AB61-C154F1341E61}">
      <dgm:prSet custT="1"/>
      <dgm:spPr/>
      <dgm:t>
        <a:bodyPr/>
        <a:lstStyle/>
        <a:p>
          <a:pPr rtl="0"/>
          <a:r>
            <a:rPr lang="fr-FR" sz="3200" b="1" baseline="0" dirty="0"/>
            <a:t>L’indemnité de trajet   </a:t>
          </a:r>
          <a:r>
            <a:rPr lang="fr-FR" sz="2400" b="1" baseline="0" dirty="0"/>
            <a:t>(CC ouvriers 08/10/1990 + CC ouvriers TP)</a:t>
          </a:r>
          <a:endParaRPr lang="fr-FR" sz="2400" dirty="0"/>
        </a:p>
      </dgm:t>
    </dgm:pt>
    <dgm:pt modelId="{95B0B422-D563-4CDD-9187-B23B636C84DA}" type="parTrans" cxnId="{90711036-A9C7-491D-A4F5-5F2E00744962}">
      <dgm:prSet/>
      <dgm:spPr/>
      <dgm:t>
        <a:bodyPr/>
        <a:lstStyle/>
        <a:p>
          <a:endParaRPr lang="fr-FR"/>
        </a:p>
      </dgm:t>
    </dgm:pt>
    <dgm:pt modelId="{F849E66F-E9D9-4E12-AF43-035720F2D3E1}" type="sibTrans" cxnId="{90711036-A9C7-491D-A4F5-5F2E00744962}">
      <dgm:prSet/>
      <dgm:spPr/>
      <dgm:t>
        <a:bodyPr/>
        <a:lstStyle/>
        <a:p>
          <a:endParaRPr lang="fr-FR"/>
        </a:p>
      </dgm:t>
    </dgm:pt>
    <dgm:pt modelId="{BB376C6A-BEE3-4286-9F50-7B9FF827F45A}">
      <dgm:prSet/>
      <dgm:spPr/>
      <dgm:t>
        <a:bodyPr/>
        <a:lstStyle/>
        <a:p>
          <a:pPr algn="just" rtl="0">
            <a:buFont typeface="Wingdings" panose="05000000000000000000" pitchFamily="2" charset="2"/>
            <a:buChar char="§"/>
          </a:pPr>
          <a:r>
            <a:rPr lang="fr-FR" b="1" baseline="0" dirty="0"/>
            <a:t>Selon la convention collective, elle indemnise « la sujétion » que représente la nécessité de se rendre sur un chantier et d’en revenir </a:t>
          </a:r>
          <a:endParaRPr lang="fr-FR" dirty="0"/>
        </a:p>
      </dgm:t>
    </dgm:pt>
    <dgm:pt modelId="{996FB1E4-A0B0-42EE-884B-0FC148C84A13}" type="parTrans" cxnId="{59176D81-AF65-4CCC-9BBC-96F888F082F9}">
      <dgm:prSet/>
      <dgm:spPr/>
      <dgm:t>
        <a:bodyPr/>
        <a:lstStyle/>
        <a:p>
          <a:endParaRPr lang="fr-FR"/>
        </a:p>
      </dgm:t>
    </dgm:pt>
    <dgm:pt modelId="{C75AF295-10A5-41B3-82C2-A2B1A1879F76}" type="sibTrans" cxnId="{59176D81-AF65-4CCC-9BBC-96F888F082F9}">
      <dgm:prSet/>
      <dgm:spPr/>
      <dgm:t>
        <a:bodyPr/>
        <a:lstStyle/>
        <a:p>
          <a:endParaRPr lang="fr-FR"/>
        </a:p>
      </dgm:t>
    </dgm:pt>
    <dgm:pt modelId="{25DB7039-FC36-47CB-9EDE-62A03D53206E}">
      <dgm:prSet/>
      <dgm:spPr/>
      <dgm:t>
        <a:bodyPr/>
        <a:lstStyle/>
        <a:p>
          <a:pPr algn="just" rtl="0">
            <a:buFont typeface="Wingdings" panose="05000000000000000000" pitchFamily="2" charset="2"/>
            <a:buChar char="§"/>
          </a:pPr>
          <a:r>
            <a:rPr lang="fr-FR" b="1" baseline="0" dirty="0"/>
            <a:t>Les partenaires sociaux ne sont pas venus clarifier les conditions du versement de cette indemnité forfaitaire</a:t>
          </a:r>
          <a:endParaRPr lang="fr-FR" dirty="0"/>
        </a:p>
      </dgm:t>
    </dgm:pt>
    <dgm:pt modelId="{EA8A883D-C42B-4BD9-9CE8-1A0C3B255D01}" type="parTrans" cxnId="{F8DF7EB0-C8F9-4118-AACA-43E3E4DE5564}">
      <dgm:prSet/>
      <dgm:spPr/>
      <dgm:t>
        <a:bodyPr/>
        <a:lstStyle/>
        <a:p>
          <a:endParaRPr lang="fr-FR"/>
        </a:p>
      </dgm:t>
    </dgm:pt>
    <dgm:pt modelId="{DC682C98-05A1-4810-936B-669D56C729BE}" type="sibTrans" cxnId="{F8DF7EB0-C8F9-4118-AACA-43E3E4DE5564}">
      <dgm:prSet/>
      <dgm:spPr/>
      <dgm:t>
        <a:bodyPr/>
        <a:lstStyle/>
        <a:p>
          <a:endParaRPr lang="fr-FR"/>
        </a:p>
      </dgm:t>
    </dgm:pt>
    <dgm:pt modelId="{B2CAA1E8-1898-4538-A669-ED47DE8A07A6}">
      <dgm:prSet/>
      <dgm:spPr/>
      <dgm:t>
        <a:bodyPr/>
        <a:lstStyle/>
        <a:p>
          <a:pPr algn="just" rtl="0">
            <a:buFont typeface="Wingdings" panose="05000000000000000000" pitchFamily="2" charset="2"/>
            <a:buChar char="§"/>
          </a:pPr>
          <a:r>
            <a:rPr lang="fr-FR" b="1" baseline="0" dirty="0"/>
            <a:t>Le glossaire du service public donne comme définition pour le mot sujétion : contrainte, astreinte, nécessité, obligation, soumission </a:t>
          </a:r>
          <a:endParaRPr lang="fr-FR" dirty="0"/>
        </a:p>
      </dgm:t>
    </dgm:pt>
    <dgm:pt modelId="{CC1B3885-403F-4BD9-AC51-159FFF7E93DF}" type="parTrans" cxnId="{91FF4ABD-0948-49F7-A921-16BCA5AA21F0}">
      <dgm:prSet/>
      <dgm:spPr/>
      <dgm:t>
        <a:bodyPr/>
        <a:lstStyle/>
        <a:p>
          <a:endParaRPr lang="fr-FR"/>
        </a:p>
      </dgm:t>
    </dgm:pt>
    <dgm:pt modelId="{2C1D5B72-F12A-41AC-92A0-851CA3FDC99D}" type="sibTrans" cxnId="{91FF4ABD-0948-49F7-A921-16BCA5AA21F0}">
      <dgm:prSet/>
      <dgm:spPr/>
      <dgm:t>
        <a:bodyPr/>
        <a:lstStyle/>
        <a:p>
          <a:endParaRPr lang="fr-FR"/>
        </a:p>
      </dgm:t>
    </dgm:pt>
    <dgm:pt modelId="{6EB45D3A-DD9C-4B6E-84EC-17352FFEDD3F}" type="pres">
      <dgm:prSet presAssocID="{4C6071BE-0CEE-495E-95D8-F87C77E8129E}" presName="Name0" presStyleCnt="0">
        <dgm:presLayoutVars>
          <dgm:dir/>
          <dgm:animLvl val="lvl"/>
          <dgm:resizeHandles val="exact"/>
        </dgm:presLayoutVars>
      </dgm:prSet>
      <dgm:spPr/>
    </dgm:pt>
    <dgm:pt modelId="{B85DCD30-F3F6-4CD8-B664-558DDD3AEFE0}" type="pres">
      <dgm:prSet presAssocID="{C3B841D0-9BA2-47CD-AB61-C154F1341E61}" presName="linNode" presStyleCnt="0"/>
      <dgm:spPr/>
    </dgm:pt>
    <dgm:pt modelId="{C9AE70BB-91C9-42E1-97A2-55210F93B02C}" type="pres">
      <dgm:prSet presAssocID="{C3B841D0-9BA2-47CD-AB61-C154F1341E61}" presName="parentText" presStyleLbl="node1" presStyleIdx="0" presStyleCnt="1">
        <dgm:presLayoutVars>
          <dgm:chMax val="1"/>
          <dgm:bulletEnabled val="1"/>
        </dgm:presLayoutVars>
      </dgm:prSet>
      <dgm:spPr/>
    </dgm:pt>
    <dgm:pt modelId="{79440ED3-A5C9-4C67-8E8E-BE319BE9E173}" type="pres">
      <dgm:prSet presAssocID="{C3B841D0-9BA2-47CD-AB61-C154F1341E61}" presName="descendantText" presStyleLbl="alignAccFollowNode1" presStyleIdx="0" presStyleCnt="1">
        <dgm:presLayoutVars>
          <dgm:bulletEnabled val="1"/>
        </dgm:presLayoutVars>
      </dgm:prSet>
      <dgm:spPr/>
    </dgm:pt>
  </dgm:ptLst>
  <dgm:cxnLst>
    <dgm:cxn modelId="{E637642D-7EF0-4C86-800F-09A47544875F}" type="presOf" srcId="{25DB7039-FC36-47CB-9EDE-62A03D53206E}" destId="{79440ED3-A5C9-4C67-8E8E-BE319BE9E173}" srcOrd="0" destOrd="1" presId="urn:microsoft.com/office/officeart/2005/8/layout/vList5"/>
    <dgm:cxn modelId="{760BC733-4498-43DE-AFBD-EA103DA1E9C6}" type="presOf" srcId="{B2CAA1E8-1898-4538-A669-ED47DE8A07A6}" destId="{79440ED3-A5C9-4C67-8E8E-BE319BE9E173}" srcOrd="0" destOrd="2" presId="urn:microsoft.com/office/officeart/2005/8/layout/vList5"/>
    <dgm:cxn modelId="{90711036-A9C7-491D-A4F5-5F2E00744962}" srcId="{4C6071BE-0CEE-495E-95D8-F87C77E8129E}" destId="{C3B841D0-9BA2-47CD-AB61-C154F1341E61}" srcOrd="0" destOrd="0" parTransId="{95B0B422-D563-4CDD-9187-B23B636C84DA}" sibTransId="{F849E66F-E9D9-4E12-AF43-035720F2D3E1}"/>
    <dgm:cxn modelId="{0A3A4568-921F-4CFB-A92F-E54FF6E29D90}" type="presOf" srcId="{4C6071BE-0CEE-495E-95D8-F87C77E8129E}" destId="{6EB45D3A-DD9C-4B6E-84EC-17352FFEDD3F}" srcOrd="0" destOrd="0" presId="urn:microsoft.com/office/officeart/2005/8/layout/vList5"/>
    <dgm:cxn modelId="{BF740E59-2EE7-4826-8855-25B0867566C1}" type="presOf" srcId="{C3B841D0-9BA2-47CD-AB61-C154F1341E61}" destId="{C9AE70BB-91C9-42E1-97A2-55210F93B02C}" srcOrd="0" destOrd="0" presId="urn:microsoft.com/office/officeart/2005/8/layout/vList5"/>
    <dgm:cxn modelId="{59176D81-AF65-4CCC-9BBC-96F888F082F9}" srcId="{C3B841D0-9BA2-47CD-AB61-C154F1341E61}" destId="{BB376C6A-BEE3-4286-9F50-7B9FF827F45A}" srcOrd="0" destOrd="0" parTransId="{996FB1E4-A0B0-42EE-884B-0FC148C84A13}" sibTransId="{C75AF295-10A5-41B3-82C2-A2B1A1879F76}"/>
    <dgm:cxn modelId="{F8DF7EB0-C8F9-4118-AACA-43E3E4DE5564}" srcId="{C3B841D0-9BA2-47CD-AB61-C154F1341E61}" destId="{25DB7039-FC36-47CB-9EDE-62A03D53206E}" srcOrd="1" destOrd="0" parTransId="{EA8A883D-C42B-4BD9-9CE8-1A0C3B255D01}" sibTransId="{DC682C98-05A1-4810-936B-669D56C729BE}"/>
    <dgm:cxn modelId="{91FF4ABD-0948-49F7-A921-16BCA5AA21F0}" srcId="{C3B841D0-9BA2-47CD-AB61-C154F1341E61}" destId="{B2CAA1E8-1898-4538-A669-ED47DE8A07A6}" srcOrd="2" destOrd="0" parTransId="{CC1B3885-403F-4BD9-AC51-159FFF7E93DF}" sibTransId="{2C1D5B72-F12A-41AC-92A0-851CA3FDC99D}"/>
    <dgm:cxn modelId="{3C2BE2CA-27C3-4819-A730-28EC1ED88AEF}" type="presOf" srcId="{BB376C6A-BEE3-4286-9F50-7B9FF827F45A}" destId="{79440ED3-A5C9-4C67-8E8E-BE319BE9E173}" srcOrd="0" destOrd="0" presId="urn:microsoft.com/office/officeart/2005/8/layout/vList5"/>
    <dgm:cxn modelId="{3D8B84A0-9186-4228-8627-8F0473DAE8D1}" type="presParOf" srcId="{6EB45D3A-DD9C-4B6E-84EC-17352FFEDD3F}" destId="{B85DCD30-F3F6-4CD8-B664-558DDD3AEFE0}" srcOrd="0" destOrd="0" presId="urn:microsoft.com/office/officeart/2005/8/layout/vList5"/>
    <dgm:cxn modelId="{9B9BE060-FCAD-4ED2-9FC4-A63603FDDDC5}" type="presParOf" srcId="{B85DCD30-F3F6-4CD8-B664-558DDD3AEFE0}" destId="{C9AE70BB-91C9-42E1-97A2-55210F93B02C}" srcOrd="0" destOrd="0" presId="urn:microsoft.com/office/officeart/2005/8/layout/vList5"/>
    <dgm:cxn modelId="{DB947317-B74D-43FC-BB23-7F870F912B72}" type="presParOf" srcId="{B85DCD30-F3F6-4CD8-B664-558DDD3AEFE0}" destId="{79440ED3-A5C9-4C67-8E8E-BE319BE9E173}"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C658E3E7-0B6C-4919-BD90-A852DF9F4504}" type="doc">
      <dgm:prSet loTypeId="urn:microsoft.com/office/officeart/2005/8/layout/vList2" loCatId="list" qsTypeId="urn:microsoft.com/office/officeart/2005/8/quickstyle/simple1#142" qsCatId="simple" csTypeId="urn:microsoft.com/office/officeart/2005/8/colors/accent1_2#95" csCatId="accent1" phldr="1"/>
      <dgm:spPr/>
      <dgm:t>
        <a:bodyPr/>
        <a:lstStyle/>
        <a:p>
          <a:endParaRPr lang="fr-FR"/>
        </a:p>
      </dgm:t>
    </dgm:pt>
    <dgm:pt modelId="{C601042F-494B-4E53-9437-CE3CA139B9A8}">
      <dgm:prSet custT="1"/>
      <dgm:spPr/>
      <dgm:t>
        <a:bodyPr/>
        <a:lstStyle/>
        <a:p>
          <a:pPr algn="just" rtl="0"/>
          <a:r>
            <a:rPr lang="fr-FR" sz="2000" b="1" baseline="0" dirty="0"/>
            <a:t>La Cour de cassation a indiqué que l’indemnité forfaitaire de trajet a pour objet de compenser la sujétion que constitue pour le salarié l’obligation de se rendre chaque jour sur les chantiers et d’en revenir et doit, de ce fait, être versée indépendamment de la rémunération du temps de trajet inclus dans l’horaire de travail et du moyen de transport utilisé </a:t>
          </a:r>
        </a:p>
        <a:p>
          <a:pPr algn="l" rtl="0"/>
          <a:r>
            <a:rPr lang="fr-FR" sz="2000" b="1" baseline="0" dirty="0"/>
            <a:t>(Cass. Soc. 6 mai 1998, Abadie C./Martins)</a:t>
          </a:r>
          <a:endParaRPr lang="fr-FR" sz="2000" dirty="0"/>
        </a:p>
      </dgm:t>
    </dgm:pt>
    <dgm:pt modelId="{9756B5D0-2FA8-4DA9-8F51-385073780A8A}" type="parTrans" cxnId="{7694F378-7943-45B4-A190-D9BBCB46ACA6}">
      <dgm:prSet/>
      <dgm:spPr/>
      <dgm:t>
        <a:bodyPr/>
        <a:lstStyle/>
        <a:p>
          <a:endParaRPr lang="fr-FR"/>
        </a:p>
      </dgm:t>
    </dgm:pt>
    <dgm:pt modelId="{B82F3A8A-5858-4DE7-99E3-9F20DCA30B4D}" type="sibTrans" cxnId="{7694F378-7943-45B4-A190-D9BBCB46ACA6}">
      <dgm:prSet/>
      <dgm:spPr/>
      <dgm:t>
        <a:bodyPr/>
        <a:lstStyle/>
        <a:p>
          <a:endParaRPr lang="fr-FR"/>
        </a:p>
      </dgm:t>
    </dgm:pt>
    <dgm:pt modelId="{60647DFC-CCD3-4085-B160-7D3DFC3AD992}">
      <dgm:prSet custT="1"/>
      <dgm:spPr/>
      <dgm:t>
        <a:bodyPr/>
        <a:lstStyle/>
        <a:p>
          <a:pPr rtl="0">
            <a:buClr>
              <a:schemeClr val="accent1"/>
            </a:buClr>
            <a:buFont typeface="Wingdings" panose="05000000000000000000" pitchFamily="2" charset="2"/>
            <a:buChar char="§"/>
          </a:pPr>
          <a:r>
            <a:rPr lang="fr-FR" sz="1800" b="1" dirty="0"/>
            <a:t>Conclusion : la notion « temps de trajet » et la notion « sujétion » (obligation) sont 2 notions différentes</a:t>
          </a:r>
          <a:endParaRPr lang="fr-FR" sz="1800" dirty="0"/>
        </a:p>
      </dgm:t>
    </dgm:pt>
    <dgm:pt modelId="{EB1446D7-6066-446B-B6B4-BEFAEB8E3031}" type="parTrans" cxnId="{DFAA322A-E794-4392-9D8B-9658253C743A}">
      <dgm:prSet/>
      <dgm:spPr/>
      <dgm:t>
        <a:bodyPr/>
        <a:lstStyle/>
        <a:p>
          <a:endParaRPr lang="fr-FR"/>
        </a:p>
      </dgm:t>
    </dgm:pt>
    <dgm:pt modelId="{B249E19D-197E-48CE-A457-410AF67F17F9}" type="sibTrans" cxnId="{DFAA322A-E794-4392-9D8B-9658253C743A}">
      <dgm:prSet/>
      <dgm:spPr/>
      <dgm:t>
        <a:bodyPr/>
        <a:lstStyle/>
        <a:p>
          <a:endParaRPr lang="fr-FR"/>
        </a:p>
      </dgm:t>
    </dgm:pt>
    <dgm:pt modelId="{26ADBAD6-2B16-404B-90C7-373B5D6220C2}">
      <dgm:prSet custT="1"/>
      <dgm:spPr/>
      <dgm:t>
        <a:bodyPr/>
        <a:lstStyle/>
        <a:p>
          <a:pPr rtl="0">
            <a:buClr>
              <a:schemeClr val="accent1"/>
            </a:buClr>
            <a:buFont typeface="Wingdings" panose="05000000000000000000" pitchFamily="2" charset="2"/>
            <a:buChar char="§"/>
          </a:pPr>
          <a:endParaRPr lang="fr-FR" sz="1800" dirty="0"/>
        </a:p>
      </dgm:t>
    </dgm:pt>
    <dgm:pt modelId="{5963CB0E-CD72-482B-AC3F-C893B8DC525C}" type="parTrans" cxnId="{25057A2A-C0FA-4E7A-A9B3-F9738069F62C}">
      <dgm:prSet/>
      <dgm:spPr/>
      <dgm:t>
        <a:bodyPr/>
        <a:lstStyle/>
        <a:p>
          <a:endParaRPr lang="fr-FR"/>
        </a:p>
      </dgm:t>
    </dgm:pt>
    <dgm:pt modelId="{4887EB0D-8876-42FF-A10A-189C00471B3E}" type="sibTrans" cxnId="{25057A2A-C0FA-4E7A-A9B3-F9738069F62C}">
      <dgm:prSet/>
      <dgm:spPr/>
      <dgm:t>
        <a:bodyPr/>
        <a:lstStyle/>
        <a:p>
          <a:endParaRPr lang="fr-FR"/>
        </a:p>
      </dgm:t>
    </dgm:pt>
    <dgm:pt modelId="{E7375F83-C246-44A7-B88C-7C7923C7C9AA}" type="pres">
      <dgm:prSet presAssocID="{C658E3E7-0B6C-4919-BD90-A852DF9F4504}" presName="linear" presStyleCnt="0">
        <dgm:presLayoutVars>
          <dgm:animLvl val="lvl"/>
          <dgm:resizeHandles val="exact"/>
        </dgm:presLayoutVars>
      </dgm:prSet>
      <dgm:spPr/>
    </dgm:pt>
    <dgm:pt modelId="{D9FD691D-1C09-4332-A4A7-C50A24F910DA}" type="pres">
      <dgm:prSet presAssocID="{C601042F-494B-4E53-9437-CE3CA139B9A8}" presName="parentText" presStyleLbl="node1" presStyleIdx="0" presStyleCnt="1">
        <dgm:presLayoutVars>
          <dgm:chMax val="0"/>
          <dgm:bulletEnabled val="1"/>
        </dgm:presLayoutVars>
      </dgm:prSet>
      <dgm:spPr/>
    </dgm:pt>
    <dgm:pt modelId="{A7100244-EAEB-43CD-B91E-A3E6423712AC}" type="pres">
      <dgm:prSet presAssocID="{C601042F-494B-4E53-9437-CE3CA139B9A8}" presName="childText" presStyleLbl="revTx" presStyleIdx="0" presStyleCnt="1">
        <dgm:presLayoutVars>
          <dgm:bulletEnabled val="1"/>
        </dgm:presLayoutVars>
      </dgm:prSet>
      <dgm:spPr/>
    </dgm:pt>
  </dgm:ptLst>
  <dgm:cxnLst>
    <dgm:cxn modelId="{40A34B00-24CE-41B3-BE95-716A9F379F55}" type="presOf" srcId="{C601042F-494B-4E53-9437-CE3CA139B9A8}" destId="{D9FD691D-1C09-4332-A4A7-C50A24F910DA}" srcOrd="0" destOrd="0" presId="urn:microsoft.com/office/officeart/2005/8/layout/vList2"/>
    <dgm:cxn modelId="{DFAA322A-E794-4392-9D8B-9658253C743A}" srcId="{C601042F-494B-4E53-9437-CE3CA139B9A8}" destId="{60647DFC-CCD3-4085-B160-7D3DFC3AD992}" srcOrd="1" destOrd="0" parTransId="{EB1446D7-6066-446B-B6B4-BEFAEB8E3031}" sibTransId="{B249E19D-197E-48CE-A457-410AF67F17F9}"/>
    <dgm:cxn modelId="{25057A2A-C0FA-4E7A-A9B3-F9738069F62C}" srcId="{C601042F-494B-4E53-9437-CE3CA139B9A8}" destId="{26ADBAD6-2B16-404B-90C7-373B5D6220C2}" srcOrd="0" destOrd="0" parTransId="{5963CB0E-CD72-482B-AC3F-C893B8DC525C}" sibTransId="{4887EB0D-8876-42FF-A10A-189C00471B3E}"/>
    <dgm:cxn modelId="{84C98C37-9419-4C92-BB30-62C1DD5CDA01}" type="presOf" srcId="{26ADBAD6-2B16-404B-90C7-373B5D6220C2}" destId="{A7100244-EAEB-43CD-B91E-A3E6423712AC}" srcOrd="0" destOrd="0" presId="urn:microsoft.com/office/officeart/2005/8/layout/vList2"/>
    <dgm:cxn modelId="{B9ECB448-D29A-44EB-84C4-FAB875892E41}" type="presOf" srcId="{C658E3E7-0B6C-4919-BD90-A852DF9F4504}" destId="{E7375F83-C246-44A7-B88C-7C7923C7C9AA}" srcOrd="0" destOrd="0" presId="urn:microsoft.com/office/officeart/2005/8/layout/vList2"/>
    <dgm:cxn modelId="{7694F378-7943-45B4-A190-D9BBCB46ACA6}" srcId="{C658E3E7-0B6C-4919-BD90-A852DF9F4504}" destId="{C601042F-494B-4E53-9437-CE3CA139B9A8}" srcOrd="0" destOrd="0" parTransId="{9756B5D0-2FA8-4DA9-8F51-385073780A8A}" sibTransId="{B82F3A8A-5858-4DE7-99E3-9F20DCA30B4D}"/>
    <dgm:cxn modelId="{583037D3-2A10-4E9F-8376-646F3001E5EF}" type="presOf" srcId="{60647DFC-CCD3-4085-B160-7D3DFC3AD992}" destId="{A7100244-EAEB-43CD-B91E-A3E6423712AC}" srcOrd="0" destOrd="1" presId="urn:microsoft.com/office/officeart/2005/8/layout/vList2"/>
    <dgm:cxn modelId="{6E738FAB-B7F1-4F6A-8B92-80A67AECE2FD}" type="presParOf" srcId="{E7375F83-C246-44A7-B88C-7C7923C7C9AA}" destId="{D9FD691D-1C09-4332-A4A7-C50A24F910DA}" srcOrd="0" destOrd="0" presId="urn:microsoft.com/office/officeart/2005/8/layout/vList2"/>
    <dgm:cxn modelId="{BD903B8D-1DF4-49B7-8B75-C31DD64AA46E}" type="presParOf" srcId="{E7375F83-C246-44A7-B88C-7C7923C7C9AA}" destId="{A7100244-EAEB-43CD-B91E-A3E6423712AC}"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3B7E0918-17E1-4996-ABD3-694783662B94}" type="doc">
      <dgm:prSet loTypeId="urn:microsoft.com/office/officeart/2005/8/layout/target3" loCatId="relationship" qsTypeId="urn:microsoft.com/office/officeart/2005/8/quickstyle/simple1#143" qsCatId="simple" csTypeId="urn:microsoft.com/office/officeart/2005/8/colors/accent1_2#96" csCatId="accent1" phldr="1"/>
      <dgm:spPr/>
      <dgm:t>
        <a:bodyPr/>
        <a:lstStyle/>
        <a:p>
          <a:endParaRPr lang="fr-FR"/>
        </a:p>
      </dgm:t>
    </dgm:pt>
    <dgm:pt modelId="{758AB0E4-E4B9-4CC8-98CF-54C231B79B08}">
      <dgm:prSet custT="1"/>
      <dgm:spPr/>
      <dgm:t>
        <a:bodyPr/>
        <a:lstStyle/>
        <a:p>
          <a:pPr rtl="0"/>
          <a:r>
            <a:rPr lang="fr-FR" sz="1800" b="1" baseline="0" dirty="0"/>
            <a:t>Étude de cas : </a:t>
          </a:r>
        </a:p>
        <a:p>
          <a:pPr rtl="0"/>
          <a:r>
            <a:rPr lang="fr-FR" sz="1800" b="1" baseline="0" dirty="0"/>
            <a:t>indemnités de grands déplacements et bulletin de paye</a:t>
          </a:r>
          <a:endParaRPr lang="fr-FR" sz="1800" dirty="0"/>
        </a:p>
      </dgm:t>
    </dgm:pt>
    <dgm:pt modelId="{68B8280D-1D35-4120-94BF-2557B98DD6EF}" type="parTrans" cxnId="{C6EA6147-BA27-458B-8D0E-97A296287AC1}">
      <dgm:prSet/>
      <dgm:spPr/>
      <dgm:t>
        <a:bodyPr/>
        <a:lstStyle/>
        <a:p>
          <a:endParaRPr lang="fr-FR"/>
        </a:p>
      </dgm:t>
    </dgm:pt>
    <dgm:pt modelId="{F7E48E9E-269F-4CB2-880A-11A74AB52F0C}" type="sibTrans" cxnId="{C6EA6147-BA27-458B-8D0E-97A296287AC1}">
      <dgm:prSet/>
      <dgm:spPr/>
      <dgm:t>
        <a:bodyPr/>
        <a:lstStyle/>
        <a:p>
          <a:endParaRPr lang="fr-FR"/>
        </a:p>
      </dgm:t>
    </dgm:pt>
    <dgm:pt modelId="{5925973E-E967-409E-946A-16C8A51FA729}">
      <dgm:prSet custT="1"/>
      <dgm:spPr>
        <a:ln>
          <a:solidFill>
            <a:schemeClr val="accent1">
              <a:hueOff val="0"/>
              <a:satOff val="0"/>
              <a:lumOff val="0"/>
            </a:schemeClr>
          </a:solidFill>
        </a:ln>
      </dgm:spPr>
      <dgm:t>
        <a:bodyPr/>
        <a:lstStyle/>
        <a:p>
          <a:pPr rtl="0">
            <a:buFont typeface="Wingdings" panose="05000000000000000000" pitchFamily="2" charset="2"/>
            <a:buChar char="§"/>
          </a:pPr>
          <a:r>
            <a:rPr lang="fr-FR" sz="1600" b="0" i="1" baseline="0" dirty="0"/>
            <a:t>Ce cas permet de prendre connaissance du barème 2019 (grands déplacements) et de voir l’impact sur une fiche de paye</a:t>
          </a:r>
          <a:endParaRPr lang="fr-FR" sz="1600" dirty="0"/>
        </a:p>
      </dgm:t>
    </dgm:pt>
    <dgm:pt modelId="{DE6B334E-68F7-44BF-9889-F573DC1822C1}" type="parTrans" cxnId="{E8C74089-EEBE-4421-9549-8D25C5723513}">
      <dgm:prSet/>
      <dgm:spPr/>
      <dgm:t>
        <a:bodyPr/>
        <a:lstStyle/>
        <a:p>
          <a:endParaRPr lang="fr-FR"/>
        </a:p>
      </dgm:t>
    </dgm:pt>
    <dgm:pt modelId="{A9A38F00-E5C6-4806-8F7C-2764B48ACF31}" type="sibTrans" cxnId="{E8C74089-EEBE-4421-9549-8D25C5723513}">
      <dgm:prSet/>
      <dgm:spPr/>
      <dgm:t>
        <a:bodyPr/>
        <a:lstStyle/>
        <a:p>
          <a:endParaRPr lang="fr-FR"/>
        </a:p>
      </dgm:t>
    </dgm:pt>
    <dgm:pt modelId="{213F2CE8-99FE-461B-8011-BABF727C08F6}">
      <dgm:prSet custT="1"/>
      <dgm:spPr/>
      <dgm:t>
        <a:bodyPr/>
        <a:lstStyle/>
        <a:p>
          <a:pPr rtl="0"/>
          <a:r>
            <a:rPr lang="fr-FR" sz="1800" b="1" baseline="0" dirty="0"/>
            <a:t>Étude de cas séquence :</a:t>
          </a:r>
        </a:p>
        <a:p>
          <a:pPr rtl="0"/>
          <a:r>
            <a:rPr lang="fr-FR" sz="1800" b="1" baseline="0" dirty="0"/>
            <a:t> indemnisation du temps de voyage en grands déplacements</a:t>
          </a:r>
          <a:endParaRPr lang="fr-FR" sz="1800" dirty="0"/>
        </a:p>
      </dgm:t>
    </dgm:pt>
    <dgm:pt modelId="{7246C5C6-C1F3-4330-8A1F-CBEBEC812B30}" type="parTrans" cxnId="{4390436C-3422-4479-990F-DDB633675153}">
      <dgm:prSet/>
      <dgm:spPr/>
      <dgm:t>
        <a:bodyPr/>
        <a:lstStyle/>
        <a:p>
          <a:endParaRPr lang="fr-FR"/>
        </a:p>
      </dgm:t>
    </dgm:pt>
    <dgm:pt modelId="{1BF69A3F-3065-4C0B-85B7-24079ADAB7A6}" type="sibTrans" cxnId="{4390436C-3422-4479-990F-DDB633675153}">
      <dgm:prSet/>
      <dgm:spPr/>
      <dgm:t>
        <a:bodyPr/>
        <a:lstStyle/>
        <a:p>
          <a:endParaRPr lang="fr-FR"/>
        </a:p>
      </dgm:t>
    </dgm:pt>
    <dgm:pt modelId="{D77BD7DC-88E6-4DA3-B3F7-A4EC452AC353}">
      <dgm:prSet custT="1"/>
      <dgm:spPr/>
      <dgm:t>
        <a:bodyPr/>
        <a:lstStyle/>
        <a:p>
          <a:pPr rtl="0">
            <a:buFont typeface="Wingdings" panose="05000000000000000000" pitchFamily="2" charset="2"/>
            <a:buChar char="§"/>
          </a:pPr>
          <a:r>
            <a:rPr lang="fr-FR" sz="1600" b="0" i="1" baseline="0" dirty="0"/>
            <a:t>Ce cas permet de prendre connaissance de la convention collective et de l’appliquer</a:t>
          </a:r>
          <a:endParaRPr lang="fr-FR" sz="1600" dirty="0"/>
        </a:p>
      </dgm:t>
    </dgm:pt>
    <dgm:pt modelId="{9DB083D0-5C75-45C4-A171-3302D5E3BD6C}" type="parTrans" cxnId="{3F20C2D1-D870-4A0C-AAA9-A0536B78FD61}">
      <dgm:prSet/>
      <dgm:spPr/>
      <dgm:t>
        <a:bodyPr/>
        <a:lstStyle/>
        <a:p>
          <a:endParaRPr lang="fr-FR"/>
        </a:p>
      </dgm:t>
    </dgm:pt>
    <dgm:pt modelId="{F36D3D03-7CCA-4B40-9552-3546270DE51B}" type="sibTrans" cxnId="{3F20C2D1-D870-4A0C-AAA9-A0536B78FD61}">
      <dgm:prSet/>
      <dgm:spPr/>
      <dgm:t>
        <a:bodyPr/>
        <a:lstStyle/>
        <a:p>
          <a:endParaRPr lang="fr-FR"/>
        </a:p>
      </dgm:t>
    </dgm:pt>
    <dgm:pt modelId="{F5D3B348-F624-4BA1-96AD-4B2ABE178DC1}" type="pres">
      <dgm:prSet presAssocID="{3B7E0918-17E1-4996-ABD3-694783662B94}" presName="Name0" presStyleCnt="0">
        <dgm:presLayoutVars>
          <dgm:chMax val="7"/>
          <dgm:dir/>
          <dgm:animLvl val="lvl"/>
          <dgm:resizeHandles val="exact"/>
        </dgm:presLayoutVars>
      </dgm:prSet>
      <dgm:spPr/>
    </dgm:pt>
    <dgm:pt modelId="{94F2E320-0A56-49BD-A6E1-DA28A64F9B61}" type="pres">
      <dgm:prSet presAssocID="{758AB0E4-E4B9-4CC8-98CF-54C231B79B08}" presName="circle1" presStyleLbl="node1" presStyleIdx="0" presStyleCnt="2"/>
      <dgm:spPr/>
    </dgm:pt>
    <dgm:pt modelId="{151697FC-4517-441A-A39E-1BE69C1E35CB}" type="pres">
      <dgm:prSet presAssocID="{758AB0E4-E4B9-4CC8-98CF-54C231B79B08}" presName="space" presStyleCnt="0"/>
      <dgm:spPr/>
    </dgm:pt>
    <dgm:pt modelId="{D3CDCB1E-684D-4B43-B508-BA2702718C3B}" type="pres">
      <dgm:prSet presAssocID="{758AB0E4-E4B9-4CC8-98CF-54C231B79B08}" presName="rect1" presStyleLbl="alignAcc1" presStyleIdx="0" presStyleCnt="2"/>
      <dgm:spPr/>
    </dgm:pt>
    <dgm:pt modelId="{B62458E1-FABA-4BD6-B749-65125C46509E}" type="pres">
      <dgm:prSet presAssocID="{213F2CE8-99FE-461B-8011-BABF727C08F6}" presName="vertSpace2" presStyleLbl="node1" presStyleIdx="0" presStyleCnt="2"/>
      <dgm:spPr/>
    </dgm:pt>
    <dgm:pt modelId="{98F5456F-F93E-4C39-8A59-C1C5CFABEE2D}" type="pres">
      <dgm:prSet presAssocID="{213F2CE8-99FE-461B-8011-BABF727C08F6}" presName="circle2" presStyleLbl="node1" presStyleIdx="1" presStyleCnt="2"/>
      <dgm:spPr/>
    </dgm:pt>
    <dgm:pt modelId="{4E5F341F-9BCB-4CA7-812E-DAB8476C3030}" type="pres">
      <dgm:prSet presAssocID="{213F2CE8-99FE-461B-8011-BABF727C08F6}" presName="rect2" presStyleLbl="alignAcc1" presStyleIdx="1" presStyleCnt="2"/>
      <dgm:spPr/>
    </dgm:pt>
    <dgm:pt modelId="{41BC55E3-ECD0-4EFD-95E0-72D9412EF9C6}" type="pres">
      <dgm:prSet presAssocID="{758AB0E4-E4B9-4CC8-98CF-54C231B79B08}" presName="rect1ParTx" presStyleLbl="alignAcc1" presStyleIdx="1" presStyleCnt="2">
        <dgm:presLayoutVars>
          <dgm:chMax val="1"/>
          <dgm:bulletEnabled val="1"/>
        </dgm:presLayoutVars>
      </dgm:prSet>
      <dgm:spPr/>
    </dgm:pt>
    <dgm:pt modelId="{1F8D5DFD-36AE-4615-8AA0-8663158F19CC}" type="pres">
      <dgm:prSet presAssocID="{758AB0E4-E4B9-4CC8-98CF-54C231B79B08}" presName="rect1ChTx" presStyleLbl="alignAcc1" presStyleIdx="1" presStyleCnt="2">
        <dgm:presLayoutVars>
          <dgm:bulletEnabled val="1"/>
        </dgm:presLayoutVars>
      </dgm:prSet>
      <dgm:spPr/>
    </dgm:pt>
    <dgm:pt modelId="{FF6D5B6A-51D4-40EF-A321-116CC3E14F1F}" type="pres">
      <dgm:prSet presAssocID="{213F2CE8-99FE-461B-8011-BABF727C08F6}" presName="rect2ParTx" presStyleLbl="alignAcc1" presStyleIdx="1" presStyleCnt="2">
        <dgm:presLayoutVars>
          <dgm:chMax val="1"/>
          <dgm:bulletEnabled val="1"/>
        </dgm:presLayoutVars>
      </dgm:prSet>
      <dgm:spPr/>
    </dgm:pt>
    <dgm:pt modelId="{E65FABBA-6DE4-4F01-A67D-C2E9BBE9AD5C}" type="pres">
      <dgm:prSet presAssocID="{213F2CE8-99FE-461B-8011-BABF727C08F6}" presName="rect2ChTx" presStyleLbl="alignAcc1" presStyleIdx="1" presStyleCnt="2" custScaleX="100000">
        <dgm:presLayoutVars>
          <dgm:bulletEnabled val="1"/>
        </dgm:presLayoutVars>
      </dgm:prSet>
      <dgm:spPr/>
    </dgm:pt>
  </dgm:ptLst>
  <dgm:cxnLst>
    <dgm:cxn modelId="{61DC370F-53EB-48FC-8C4C-9FB24C6EB63F}" type="presOf" srcId="{758AB0E4-E4B9-4CC8-98CF-54C231B79B08}" destId="{D3CDCB1E-684D-4B43-B508-BA2702718C3B}" srcOrd="0" destOrd="0" presId="urn:microsoft.com/office/officeart/2005/8/layout/target3"/>
    <dgm:cxn modelId="{FF14083D-CFB3-436C-9336-71CB8B5B052F}" type="presOf" srcId="{213F2CE8-99FE-461B-8011-BABF727C08F6}" destId="{4E5F341F-9BCB-4CA7-812E-DAB8476C3030}" srcOrd="0" destOrd="0" presId="urn:microsoft.com/office/officeart/2005/8/layout/target3"/>
    <dgm:cxn modelId="{C6EA6147-BA27-458B-8D0E-97A296287AC1}" srcId="{3B7E0918-17E1-4996-ABD3-694783662B94}" destId="{758AB0E4-E4B9-4CC8-98CF-54C231B79B08}" srcOrd="0" destOrd="0" parTransId="{68B8280D-1D35-4120-94BF-2557B98DD6EF}" sibTransId="{F7E48E9E-269F-4CB2-880A-11A74AB52F0C}"/>
    <dgm:cxn modelId="{4390436C-3422-4479-990F-DDB633675153}" srcId="{3B7E0918-17E1-4996-ABD3-694783662B94}" destId="{213F2CE8-99FE-461B-8011-BABF727C08F6}" srcOrd="1" destOrd="0" parTransId="{7246C5C6-C1F3-4330-8A1F-CBEBEC812B30}" sibTransId="{1BF69A3F-3065-4C0B-85B7-24079ADAB7A6}"/>
    <dgm:cxn modelId="{E8C74089-EEBE-4421-9549-8D25C5723513}" srcId="{758AB0E4-E4B9-4CC8-98CF-54C231B79B08}" destId="{5925973E-E967-409E-946A-16C8A51FA729}" srcOrd="0" destOrd="0" parTransId="{DE6B334E-68F7-44BF-9889-F573DC1822C1}" sibTransId="{A9A38F00-E5C6-4806-8F7C-2764B48ACF31}"/>
    <dgm:cxn modelId="{246B9BA6-DE32-470C-A84C-FAD69204CB58}" type="presOf" srcId="{758AB0E4-E4B9-4CC8-98CF-54C231B79B08}" destId="{41BC55E3-ECD0-4EFD-95E0-72D9412EF9C6}" srcOrd="1" destOrd="0" presId="urn:microsoft.com/office/officeart/2005/8/layout/target3"/>
    <dgm:cxn modelId="{E23368A9-F4F2-44D3-8E6C-5B411CF9A614}" type="presOf" srcId="{3B7E0918-17E1-4996-ABD3-694783662B94}" destId="{F5D3B348-F624-4BA1-96AD-4B2ABE178DC1}" srcOrd="0" destOrd="0" presId="urn:microsoft.com/office/officeart/2005/8/layout/target3"/>
    <dgm:cxn modelId="{97814CAB-A2F3-4EF4-A25F-BEE614CBE6B3}" type="presOf" srcId="{213F2CE8-99FE-461B-8011-BABF727C08F6}" destId="{FF6D5B6A-51D4-40EF-A321-116CC3E14F1F}" srcOrd="1" destOrd="0" presId="urn:microsoft.com/office/officeart/2005/8/layout/target3"/>
    <dgm:cxn modelId="{C6F87EC6-8D9C-4C98-88CB-41D678D5AC25}" type="presOf" srcId="{5925973E-E967-409E-946A-16C8A51FA729}" destId="{1F8D5DFD-36AE-4615-8AA0-8663158F19CC}" srcOrd="0" destOrd="0" presId="urn:microsoft.com/office/officeart/2005/8/layout/target3"/>
    <dgm:cxn modelId="{3F20C2D1-D870-4A0C-AAA9-A0536B78FD61}" srcId="{213F2CE8-99FE-461B-8011-BABF727C08F6}" destId="{D77BD7DC-88E6-4DA3-B3F7-A4EC452AC353}" srcOrd="0" destOrd="0" parTransId="{9DB083D0-5C75-45C4-A171-3302D5E3BD6C}" sibTransId="{F36D3D03-7CCA-4B40-9552-3546270DE51B}"/>
    <dgm:cxn modelId="{B31D96D2-840C-4E11-AB7B-135A4A536755}" type="presOf" srcId="{D77BD7DC-88E6-4DA3-B3F7-A4EC452AC353}" destId="{E65FABBA-6DE4-4F01-A67D-C2E9BBE9AD5C}" srcOrd="0" destOrd="0" presId="urn:microsoft.com/office/officeart/2005/8/layout/target3"/>
    <dgm:cxn modelId="{1802BBB5-4223-4439-B93F-D338547D341C}" type="presParOf" srcId="{F5D3B348-F624-4BA1-96AD-4B2ABE178DC1}" destId="{94F2E320-0A56-49BD-A6E1-DA28A64F9B61}" srcOrd="0" destOrd="0" presId="urn:microsoft.com/office/officeart/2005/8/layout/target3"/>
    <dgm:cxn modelId="{06AEC5F0-698D-4E08-89CE-276168E32CE3}" type="presParOf" srcId="{F5D3B348-F624-4BA1-96AD-4B2ABE178DC1}" destId="{151697FC-4517-441A-A39E-1BE69C1E35CB}" srcOrd="1" destOrd="0" presId="urn:microsoft.com/office/officeart/2005/8/layout/target3"/>
    <dgm:cxn modelId="{B2017E7A-3EE5-441A-9561-91043A10C2A9}" type="presParOf" srcId="{F5D3B348-F624-4BA1-96AD-4B2ABE178DC1}" destId="{D3CDCB1E-684D-4B43-B508-BA2702718C3B}" srcOrd="2" destOrd="0" presId="urn:microsoft.com/office/officeart/2005/8/layout/target3"/>
    <dgm:cxn modelId="{9FDA82B1-A9A2-466A-8324-BB81833FB137}" type="presParOf" srcId="{F5D3B348-F624-4BA1-96AD-4B2ABE178DC1}" destId="{B62458E1-FABA-4BD6-B749-65125C46509E}" srcOrd="3" destOrd="0" presId="urn:microsoft.com/office/officeart/2005/8/layout/target3"/>
    <dgm:cxn modelId="{3A997111-687A-4396-9B71-4E1DF80CF47D}" type="presParOf" srcId="{F5D3B348-F624-4BA1-96AD-4B2ABE178DC1}" destId="{98F5456F-F93E-4C39-8A59-C1C5CFABEE2D}" srcOrd="4" destOrd="0" presId="urn:microsoft.com/office/officeart/2005/8/layout/target3"/>
    <dgm:cxn modelId="{406A00A1-D157-456F-AA0D-2E9CEB19307E}" type="presParOf" srcId="{F5D3B348-F624-4BA1-96AD-4B2ABE178DC1}" destId="{4E5F341F-9BCB-4CA7-812E-DAB8476C3030}" srcOrd="5" destOrd="0" presId="urn:microsoft.com/office/officeart/2005/8/layout/target3"/>
    <dgm:cxn modelId="{3D0BC25E-0A28-40FC-9263-34122226465B}" type="presParOf" srcId="{F5D3B348-F624-4BA1-96AD-4B2ABE178DC1}" destId="{41BC55E3-ECD0-4EFD-95E0-72D9412EF9C6}" srcOrd="6" destOrd="0" presId="urn:microsoft.com/office/officeart/2005/8/layout/target3"/>
    <dgm:cxn modelId="{6D971C94-FC87-4DA0-9675-62C5C2F9025B}" type="presParOf" srcId="{F5D3B348-F624-4BA1-96AD-4B2ABE178DC1}" destId="{1F8D5DFD-36AE-4615-8AA0-8663158F19CC}" srcOrd="7" destOrd="0" presId="urn:microsoft.com/office/officeart/2005/8/layout/target3"/>
    <dgm:cxn modelId="{FBE72F35-2948-4108-B8BB-5BE6ECD91E44}" type="presParOf" srcId="{F5D3B348-F624-4BA1-96AD-4B2ABE178DC1}" destId="{FF6D5B6A-51D4-40EF-A321-116CC3E14F1F}" srcOrd="8" destOrd="0" presId="urn:microsoft.com/office/officeart/2005/8/layout/target3"/>
    <dgm:cxn modelId="{DC8091B4-6F70-4C26-AB54-7BC2BA836738}" type="presParOf" srcId="{F5D3B348-F624-4BA1-96AD-4B2ABE178DC1}" destId="{E65FABBA-6DE4-4F01-A67D-C2E9BBE9AD5C}" srcOrd="9" destOrd="0" presId="urn:microsoft.com/office/officeart/2005/8/layout/targe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20F85907-054B-45C5-B12C-6C659CE35D4E}" type="doc">
      <dgm:prSet loTypeId="urn:microsoft.com/office/officeart/2005/8/layout/target3" loCatId="relationship" qsTypeId="urn:microsoft.com/office/officeart/2005/8/quickstyle/simple1#144" qsCatId="simple" csTypeId="urn:microsoft.com/office/officeart/2005/8/colors/accent1_2#97" csCatId="accent1" phldr="1"/>
      <dgm:spPr/>
      <dgm:t>
        <a:bodyPr/>
        <a:lstStyle/>
        <a:p>
          <a:endParaRPr lang="fr-FR"/>
        </a:p>
      </dgm:t>
    </dgm:pt>
    <dgm:pt modelId="{91310A34-FF44-464B-8FCE-748D14FE3DAF}">
      <dgm:prSet custT="1"/>
      <dgm:spPr/>
      <dgm:t>
        <a:bodyPr/>
        <a:lstStyle/>
        <a:p>
          <a:pPr algn="ctr" rtl="0">
            <a:spcAft>
              <a:spcPts val="0"/>
            </a:spcAft>
          </a:pPr>
          <a:r>
            <a:rPr lang="fr-FR" sz="1600" b="1" baseline="0" dirty="0"/>
            <a:t>Les indemnités de petits déplacements sont à inclure </a:t>
          </a:r>
        </a:p>
        <a:p>
          <a:pPr algn="ctr" rtl="0">
            <a:spcAft>
              <a:spcPts val="0"/>
            </a:spcAft>
          </a:pPr>
          <a:r>
            <a:rPr lang="fr-FR" sz="1600" b="1" baseline="0" dirty="0"/>
            <a:t>dans le brut en cas de pratique </a:t>
          </a:r>
        </a:p>
        <a:p>
          <a:pPr algn="ctr" rtl="0">
            <a:spcAft>
              <a:spcPts val="0"/>
            </a:spcAft>
          </a:pPr>
          <a:r>
            <a:rPr lang="fr-FR" sz="1600" b="1" baseline="0" dirty="0"/>
            <a:t>de l’abattement de 10 % </a:t>
          </a:r>
          <a:endParaRPr lang="fr-FR" sz="1600" dirty="0"/>
        </a:p>
      </dgm:t>
    </dgm:pt>
    <dgm:pt modelId="{F9B42BDB-672F-483C-8671-D1794C8FF158}" type="parTrans" cxnId="{F2200590-A1B5-4304-AB43-C1C4FCC1FA0F}">
      <dgm:prSet/>
      <dgm:spPr/>
      <dgm:t>
        <a:bodyPr/>
        <a:lstStyle/>
        <a:p>
          <a:endParaRPr lang="fr-FR"/>
        </a:p>
      </dgm:t>
    </dgm:pt>
    <dgm:pt modelId="{C7F5D1F7-EEE2-43D3-88C2-471744AEDA20}" type="sibTrans" cxnId="{F2200590-A1B5-4304-AB43-C1C4FCC1FA0F}">
      <dgm:prSet/>
      <dgm:spPr/>
      <dgm:t>
        <a:bodyPr/>
        <a:lstStyle/>
        <a:p>
          <a:endParaRPr lang="fr-FR"/>
        </a:p>
      </dgm:t>
    </dgm:pt>
    <dgm:pt modelId="{20F4EC0E-CC7C-4CEB-8E83-3A3DE60A5D75}">
      <dgm:prSet custT="1"/>
      <dgm:spPr/>
      <dgm:t>
        <a:bodyPr/>
        <a:lstStyle/>
        <a:p>
          <a:pPr rtl="0">
            <a:spcAft>
              <a:spcPts val="0"/>
            </a:spcAft>
          </a:pPr>
          <a:r>
            <a:rPr lang="fr-FR" sz="1600" b="1" baseline="0" dirty="0"/>
            <a:t>Faire le cas : </a:t>
          </a:r>
        </a:p>
        <a:p>
          <a:pPr rtl="0">
            <a:spcAft>
              <a:spcPts val="0"/>
            </a:spcAft>
          </a:pPr>
          <a:r>
            <a:rPr lang="fr-FR" sz="1600" b="1" baseline="0" dirty="0"/>
            <a:t>petits déplacements </a:t>
          </a:r>
        </a:p>
        <a:p>
          <a:pPr rtl="0">
            <a:spcAft>
              <a:spcPts val="0"/>
            </a:spcAft>
          </a:pPr>
          <a:r>
            <a:rPr lang="fr-FR" sz="1600" b="1" baseline="0" dirty="0"/>
            <a:t>et brut abattu</a:t>
          </a:r>
          <a:endParaRPr lang="fr-FR" sz="1600" dirty="0"/>
        </a:p>
      </dgm:t>
    </dgm:pt>
    <dgm:pt modelId="{C9EA2FFA-0900-4432-B590-33316CF28513}" type="parTrans" cxnId="{4D644A84-93AE-4C4B-9B05-5A78587D0267}">
      <dgm:prSet/>
      <dgm:spPr/>
      <dgm:t>
        <a:bodyPr/>
        <a:lstStyle/>
        <a:p>
          <a:endParaRPr lang="fr-FR"/>
        </a:p>
      </dgm:t>
    </dgm:pt>
    <dgm:pt modelId="{96BAD043-22DB-4ACD-B867-5FFC0BFF953B}" type="sibTrans" cxnId="{4D644A84-93AE-4C4B-9B05-5A78587D0267}">
      <dgm:prSet/>
      <dgm:spPr/>
      <dgm:t>
        <a:bodyPr/>
        <a:lstStyle/>
        <a:p>
          <a:endParaRPr lang="fr-FR"/>
        </a:p>
      </dgm:t>
    </dgm:pt>
    <dgm:pt modelId="{B48C7684-3632-46A6-8876-2D5FA2515B31}">
      <dgm:prSet/>
      <dgm:spPr/>
      <dgm:t>
        <a:bodyPr/>
        <a:lstStyle/>
        <a:p>
          <a:pPr marL="180000" indent="-180000" algn="just" rtl="0">
            <a:buFont typeface="Wingdings" panose="05000000000000000000" pitchFamily="2" charset="2"/>
            <a:buChar char="§"/>
          </a:pPr>
          <a:r>
            <a:rPr lang="fr-FR" b="1" dirty="0"/>
            <a:t>Ce cas comprend un tableau qui permet de comparer le traitement des frais professionnels selon que l’abattement est pratiqué ou non</a:t>
          </a:r>
          <a:endParaRPr lang="fr-FR" dirty="0"/>
        </a:p>
      </dgm:t>
    </dgm:pt>
    <dgm:pt modelId="{CFB611D4-B260-4F88-A1A2-9A2008131E63}" type="parTrans" cxnId="{50D2F2E9-E529-4DE9-A736-DA234A9A9191}">
      <dgm:prSet/>
      <dgm:spPr/>
      <dgm:t>
        <a:bodyPr/>
        <a:lstStyle/>
        <a:p>
          <a:endParaRPr lang="fr-FR"/>
        </a:p>
      </dgm:t>
    </dgm:pt>
    <dgm:pt modelId="{BDAD8F0F-A882-4181-9A41-CB52E0B3A086}" type="sibTrans" cxnId="{50D2F2E9-E529-4DE9-A736-DA234A9A9191}">
      <dgm:prSet/>
      <dgm:spPr/>
      <dgm:t>
        <a:bodyPr/>
        <a:lstStyle/>
        <a:p>
          <a:endParaRPr lang="fr-FR"/>
        </a:p>
      </dgm:t>
    </dgm:pt>
    <dgm:pt modelId="{885870F1-DC3A-4588-B12D-E54BB8692DC7}">
      <dgm:prSet/>
      <dgm:spPr/>
      <dgm:t>
        <a:bodyPr/>
        <a:lstStyle/>
        <a:p>
          <a:pPr marL="180000" indent="-180000" algn="just" rtl="0">
            <a:buFont typeface="Wingdings" panose="05000000000000000000" pitchFamily="2" charset="2"/>
            <a:buChar char="§"/>
          </a:pPr>
          <a:r>
            <a:rPr lang="fr-FR" b="1" dirty="0"/>
            <a:t>Ce cas donne les contrôles à faire pour valider les  bases de cotisation et propose un résumé du dossier de travail</a:t>
          </a:r>
          <a:endParaRPr lang="fr-FR" dirty="0"/>
        </a:p>
      </dgm:t>
    </dgm:pt>
    <dgm:pt modelId="{FC44659B-14A4-4B23-80A2-EDF47456AF6F}" type="parTrans" cxnId="{4396F70B-DA8A-47C5-851F-A9DFD11C94FD}">
      <dgm:prSet/>
      <dgm:spPr/>
      <dgm:t>
        <a:bodyPr/>
        <a:lstStyle/>
        <a:p>
          <a:endParaRPr lang="fr-FR"/>
        </a:p>
      </dgm:t>
    </dgm:pt>
    <dgm:pt modelId="{791E89DB-E5AD-4961-BE45-A34F639F1ECC}" type="sibTrans" cxnId="{4396F70B-DA8A-47C5-851F-A9DFD11C94FD}">
      <dgm:prSet/>
      <dgm:spPr/>
      <dgm:t>
        <a:bodyPr/>
        <a:lstStyle/>
        <a:p>
          <a:endParaRPr lang="fr-FR"/>
        </a:p>
      </dgm:t>
    </dgm:pt>
    <dgm:pt modelId="{167573C2-E12A-43D3-8546-898E0A2B9390}" type="pres">
      <dgm:prSet presAssocID="{20F85907-054B-45C5-B12C-6C659CE35D4E}" presName="Name0" presStyleCnt="0">
        <dgm:presLayoutVars>
          <dgm:chMax val="7"/>
          <dgm:dir/>
          <dgm:animLvl val="lvl"/>
          <dgm:resizeHandles val="exact"/>
        </dgm:presLayoutVars>
      </dgm:prSet>
      <dgm:spPr/>
    </dgm:pt>
    <dgm:pt modelId="{964FB7F5-A1C9-43D6-9F59-B3A29ED4E11A}" type="pres">
      <dgm:prSet presAssocID="{91310A34-FF44-464B-8FCE-748D14FE3DAF}" presName="circle1" presStyleLbl="node1" presStyleIdx="0" presStyleCnt="2"/>
      <dgm:spPr/>
    </dgm:pt>
    <dgm:pt modelId="{1C7157B0-6536-4ACD-8241-F638C2D5DC2F}" type="pres">
      <dgm:prSet presAssocID="{91310A34-FF44-464B-8FCE-748D14FE3DAF}" presName="space" presStyleCnt="0"/>
      <dgm:spPr/>
    </dgm:pt>
    <dgm:pt modelId="{0FE67C33-985B-46F8-BD96-F3AF62C7F0DE}" type="pres">
      <dgm:prSet presAssocID="{91310A34-FF44-464B-8FCE-748D14FE3DAF}" presName="rect1" presStyleLbl="alignAcc1" presStyleIdx="0" presStyleCnt="2"/>
      <dgm:spPr/>
    </dgm:pt>
    <dgm:pt modelId="{2D199EBA-EBD3-4E3E-91C0-8B97F2B8D160}" type="pres">
      <dgm:prSet presAssocID="{20F4EC0E-CC7C-4CEB-8E83-3A3DE60A5D75}" presName="vertSpace2" presStyleLbl="node1" presStyleIdx="0" presStyleCnt="2"/>
      <dgm:spPr/>
    </dgm:pt>
    <dgm:pt modelId="{A4D7D5E2-B6E0-481D-A75D-5644F3BBD068}" type="pres">
      <dgm:prSet presAssocID="{20F4EC0E-CC7C-4CEB-8E83-3A3DE60A5D75}" presName="circle2" presStyleLbl="node1" presStyleIdx="1" presStyleCnt="2"/>
      <dgm:spPr/>
    </dgm:pt>
    <dgm:pt modelId="{DB76AF78-CE51-40C2-9DA8-6A56FFB5AFC0}" type="pres">
      <dgm:prSet presAssocID="{20F4EC0E-CC7C-4CEB-8E83-3A3DE60A5D75}" presName="rect2" presStyleLbl="alignAcc1" presStyleIdx="1" presStyleCnt="2"/>
      <dgm:spPr/>
    </dgm:pt>
    <dgm:pt modelId="{E2CF8CEE-BBCB-4487-A34C-431EA033C0F1}" type="pres">
      <dgm:prSet presAssocID="{91310A34-FF44-464B-8FCE-748D14FE3DAF}" presName="rect1ParTx" presStyleLbl="alignAcc1" presStyleIdx="1" presStyleCnt="2">
        <dgm:presLayoutVars>
          <dgm:chMax val="1"/>
          <dgm:bulletEnabled val="1"/>
        </dgm:presLayoutVars>
      </dgm:prSet>
      <dgm:spPr/>
    </dgm:pt>
    <dgm:pt modelId="{C54ABE2D-1743-444D-B629-9B27A4215AA8}" type="pres">
      <dgm:prSet presAssocID="{91310A34-FF44-464B-8FCE-748D14FE3DAF}" presName="rect1ChTx" presStyleLbl="alignAcc1" presStyleIdx="1" presStyleCnt="2">
        <dgm:presLayoutVars>
          <dgm:bulletEnabled val="1"/>
        </dgm:presLayoutVars>
      </dgm:prSet>
      <dgm:spPr/>
    </dgm:pt>
    <dgm:pt modelId="{C375C293-DD9F-42B5-8013-40262E1C9630}" type="pres">
      <dgm:prSet presAssocID="{20F4EC0E-CC7C-4CEB-8E83-3A3DE60A5D75}" presName="rect2ParTx" presStyleLbl="alignAcc1" presStyleIdx="1" presStyleCnt="2">
        <dgm:presLayoutVars>
          <dgm:chMax val="1"/>
          <dgm:bulletEnabled val="1"/>
        </dgm:presLayoutVars>
      </dgm:prSet>
      <dgm:spPr/>
    </dgm:pt>
    <dgm:pt modelId="{0C4970FC-007C-479E-A845-75137ECD3C01}" type="pres">
      <dgm:prSet presAssocID="{20F4EC0E-CC7C-4CEB-8E83-3A3DE60A5D75}" presName="rect2ChTx" presStyleLbl="alignAcc1" presStyleIdx="1" presStyleCnt="2">
        <dgm:presLayoutVars>
          <dgm:bulletEnabled val="1"/>
        </dgm:presLayoutVars>
      </dgm:prSet>
      <dgm:spPr/>
    </dgm:pt>
  </dgm:ptLst>
  <dgm:cxnLst>
    <dgm:cxn modelId="{4396F70B-DA8A-47C5-851F-A9DFD11C94FD}" srcId="{20F4EC0E-CC7C-4CEB-8E83-3A3DE60A5D75}" destId="{885870F1-DC3A-4588-B12D-E54BB8692DC7}" srcOrd="1" destOrd="0" parTransId="{FC44659B-14A4-4B23-80A2-EDF47456AF6F}" sibTransId="{791E89DB-E5AD-4961-BE45-A34F639F1ECC}"/>
    <dgm:cxn modelId="{0349505C-89F2-45E5-A350-95B3E49E4CA5}" type="presOf" srcId="{885870F1-DC3A-4588-B12D-E54BB8692DC7}" destId="{0C4970FC-007C-479E-A845-75137ECD3C01}" srcOrd="0" destOrd="1" presId="urn:microsoft.com/office/officeart/2005/8/layout/target3"/>
    <dgm:cxn modelId="{C0D12E6D-AB62-418D-8EEF-A422FE1E1DA0}" type="presOf" srcId="{20F85907-054B-45C5-B12C-6C659CE35D4E}" destId="{167573C2-E12A-43D3-8546-898E0A2B9390}" srcOrd="0" destOrd="0" presId="urn:microsoft.com/office/officeart/2005/8/layout/target3"/>
    <dgm:cxn modelId="{D685F075-5068-4410-A9A3-2AF9C4017963}" type="presOf" srcId="{91310A34-FF44-464B-8FCE-748D14FE3DAF}" destId="{0FE67C33-985B-46F8-BD96-F3AF62C7F0DE}" srcOrd="0" destOrd="0" presId="urn:microsoft.com/office/officeart/2005/8/layout/target3"/>
    <dgm:cxn modelId="{3159FC58-8757-455B-B92A-38D5E14CCF12}" type="presOf" srcId="{20F4EC0E-CC7C-4CEB-8E83-3A3DE60A5D75}" destId="{DB76AF78-CE51-40C2-9DA8-6A56FFB5AFC0}" srcOrd="0" destOrd="0" presId="urn:microsoft.com/office/officeart/2005/8/layout/target3"/>
    <dgm:cxn modelId="{4D644A84-93AE-4C4B-9B05-5A78587D0267}" srcId="{20F85907-054B-45C5-B12C-6C659CE35D4E}" destId="{20F4EC0E-CC7C-4CEB-8E83-3A3DE60A5D75}" srcOrd="1" destOrd="0" parTransId="{C9EA2FFA-0900-4432-B590-33316CF28513}" sibTransId="{96BAD043-22DB-4ACD-B867-5FFC0BFF953B}"/>
    <dgm:cxn modelId="{F2200590-A1B5-4304-AB43-C1C4FCC1FA0F}" srcId="{20F85907-054B-45C5-B12C-6C659CE35D4E}" destId="{91310A34-FF44-464B-8FCE-748D14FE3DAF}" srcOrd="0" destOrd="0" parTransId="{F9B42BDB-672F-483C-8671-D1794C8FF158}" sibTransId="{C7F5D1F7-EEE2-43D3-88C2-471744AEDA20}"/>
    <dgm:cxn modelId="{5F145297-DBAB-4CE7-A5BF-15C26EFE10EC}" type="presOf" srcId="{91310A34-FF44-464B-8FCE-748D14FE3DAF}" destId="{E2CF8CEE-BBCB-4487-A34C-431EA033C0F1}" srcOrd="1" destOrd="0" presId="urn:microsoft.com/office/officeart/2005/8/layout/target3"/>
    <dgm:cxn modelId="{25E9BC99-C1DE-44C9-A791-6877E85F844F}" type="presOf" srcId="{20F4EC0E-CC7C-4CEB-8E83-3A3DE60A5D75}" destId="{C375C293-DD9F-42B5-8013-40262E1C9630}" srcOrd="1" destOrd="0" presId="urn:microsoft.com/office/officeart/2005/8/layout/target3"/>
    <dgm:cxn modelId="{BF98E7E0-BF06-473C-AD63-9C41D4008E21}" type="presOf" srcId="{B48C7684-3632-46A6-8876-2D5FA2515B31}" destId="{0C4970FC-007C-479E-A845-75137ECD3C01}" srcOrd="0" destOrd="0" presId="urn:microsoft.com/office/officeart/2005/8/layout/target3"/>
    <dgm:cxn modelId="{50D2F2E9-E529-4DE9-A736-DA234A9A9191}" srcId="{20F4EC0E-CC7C-4CEB-8E83-3A3DE60A5D75}" destId="{B48C7684-3632-46A6-8876-2D5FA2515B31}" srcOrd="0" destOrd="0" parTransId="{CFB611D4-B260-4F88-A1A2-9A2008131E63}" sibTransId="{BDAD8F0F-A882-4181-9A41-CB52E0B3A086}"/>
    <dgm:cxn modelId="{A8A4F9AE-0441-449E-92BF-CD4671C2C208}" type="presParOf" srcId="{167573C2-E12A-43D3-8546-898E0A2B9390}" destId="{964FB7F5-A1C9-43D6-9F59-B3A29ED4E11A}" srcOrd="0" destOrd="0" presId="urn:microsoft.com/office/officeart/2005/8/layout/target3"/>
    <dgm:cxn modelId="{E97BB036-C305-4ECC-926A-DC4306F27B02}" type="presParOf" srcId="{167573C2-E12A-43D3-8546-898E0A2B9390}" destId="{1C7157B0-6536-4ACD-8241-F638C2D5DC2F}" srcOrd="1" destOrd="0" presId="urn:microsoft.com/office/officeart/2005/8/layout/target3"/>
    <dgm:cxn modelId="{309AA882-90C7-436E-9438-37E0638613A9}" type="presParOf" srcId="{167573C2-E12A-43D3-8546-898E0A2B9390}" destId="{0FE67C33-985B-46F8-BD96-F3AF62C7F0DE}" srcOrd="2" destOrd="0" presId="urn:microsoft.com/office/officeart/2005/8/layout/target3"/>
    <dgm:cxn modelId="{78067428-05AA-4E94-9966-2288CC8294FF}" type="presParOf" srcId="{167573C2-E12A-43D3-8546-898E0A2B9390}" destId="{2D199EBA-EBD3-4E3E-91C0-8B97F2B8D160}" srcOrd="3" destOrd="0" presId="urn:microsoft.com/office/officeart/2005/8/layout/target3"/>
    <dgm:cxn modelId="{3DF49EB6-AB7D-4F27-B843-D1D1931A922E}" type="presParOf" srcId="{167573C2-E12A-43D3-8546-898E0A2B9390}" destId="{A4D7D5E2-B6E0-481D-A75D-5644F3BBD068}" srcOrd="4" destOrd="0" presId="urn:microsoft.com/office/officeart/2005/8/layout/target3"/>
    <dgm:cxn modelId="{DBF3F959-5347-4100-B182-BADDF4195583}" type="presParOf" srcId="{167573C2-E12A-43D3-8546-898E0A2B9390}" destId="{DB76AF78-CE51-40C2-9DA8-6A56FFB5AFC0}" srcOrd="5" destOrd="0" presId="urn:microsoft.com/office/officeart/2005/8/layout/target3"/>
    <dgm:cxn modelId="{FEBDD90C-D54F-41F5-AA52-51D8E89A1AC7}" type="presParOf" srcId="{167573C2-E12A-43D3-8546-898E0A2B9390}" destId="{E2CF8CEE-BBCB-4487-A34C-431EA033C0F1}" srcOrd="6" destOrd="0" presId="urn:microsoft.com/office/officeart/2005/8/layout/target3"/>
    <dgm:cxn modelId="{1B60FDB0-7900-4082-A929-89D685FBA254}" type="presParOf" srcId="{167573C2-E12A-43D3-8546-898E0A2B9390}" destId="{C54ABE2D-1743-444D-B629-9B27A4215AA8}" srcOrd="7" destOrd="0" presId="urn:microsoft.com/office/officeart/2005/8/layout/target3"/>
    <dgm:cxn modelId="{66768642-7E87-4EC9-A92F-8F09954F0EF6}" type="presParOf" srcId="{167573C2-E12A-43D3-8546-898E0A2B9390}" destId="{C375C293-DD9F-42B5-8013-40262E1C9630}" srcOrd="8" destOrd="0" presId="urn:microsoft.com/office/officeart/2005/8/layout/target3"/>
    <dgm:cxn modelId="{0B19D193-AD23-4E47-87EC-0FC17114A9AB}" type="presParOf" srcId="{167573C2-E12A-43D3-8546-898E0A2B9390}" destId="{0C4970FC-007C-479E-A845-75137ECD3C01}" srcOrd="9" destOrd="0" presId="urn:microsoft.com/office/officeart/2005/8/layout/targe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AAAA300C-3DD1-4AC6-B767-94CDB0AF8767}" type="doc">
      <dgm:prSet loTypeId="urn:microsoft.com/office/officeart/2005/8/layout/target3" loCatId="relationship" qsTypeId="urn:microsoft.com/office/officeart/2005/8/quickstyle/simple1#145" qsCatId="simple" csTypeId="urn:microsoft.com/office/officeart/2005/8/colors/accent1_2#98" csCatId="accent1" phldr="1"/>
      <dgm:spPr/>
      <dgm:t>
        <a:bodyPr/>
        <a:lstStyle/>
        <a:p>
          <a:endParaRPr lang="fr-FR"/>
        </a:p>
      </dgm:t>
    </dgm:pt>
    <dgm:pt modelId="{983F1798-9D69-4289-93D1-D90EBF73D58F}">
      <dgm:prSet custT="1"/>
      <dgm:spPr/>
      <dgm:t>
        <a:bodyPr/>
        <a:lstStyle/>
        <a:p>
          <a:pPr rtl="0">
            <a:spcAft>
              <a:spcPts val="0"/>
            </a:spcAft>
          </a:pPr>
          <a:r>
            <a:rPr lang="fr-FR" sz="1600" b="1" baseline="0" dirty="0"/>
            <a:t>Les indemnités de petit déplacements sont à inclure </a:t>
          </a:r>
        </a:p>
        <a:p>
          <a:pPr rtl="0">
            <a:spcAft>
              <a:spcPts val="0"/>
            </a:spcAft>
          </a:pPr>
          <a:r>
            <a:rPr lang="fr-FR" sz="1600" b="1" baseline="0" dirty="0"/>
            <a:t>dans le brut en cas de pratique</a:t>
          </a:r>
        </a:p>
        <a:p>
          <a:pPr rtl="0">
            <a:spcAft>
              <a:spcPts val="0"/>
            </a:spcAft>
          </a:pPr>
          <a:r>
            <a:rPr lang="fr-FR" sz="1600" b="1" baseline="0" dirty="0"/>
            <a:t> de l’abattement de 10 % </a:t>
          </a:r>
          <a:endParaRPr lang="fr-FR" sz="1600" dirty="0"/>
        </a:p>
      </dgm:t>
    </dgm:pt>
    <dgm:pt modelId="{59A60473-754E-431F-8E31-31841874577C}" type="parTrans" cxnId="{8E778C31-1E1A-42A3-8B6E-A2BF3D460EE7}">
      <dgm:prSet/>
      <dgm:spPr/>
      <dgm:t>
        <a:bodyPr/>
        <a:lstStyle/>
        <a:p>
          <a:endParaRPr lang="fr-FR"/>
        </a:p>
      </dgm:t>
    </dgm:pt>
    <dgm:pt modelId="{7FB982D0-AA04-4A50-9098-8FB37F2F60B7}" type="sibTrans" cxnId="{8E778C31-1E1A-42A3-8B6E-A2BF3D460EE7}">
      <dgm:prSet/>
      <dgm:spPr/>
      <dgm:t>
        <a:bodyPr/>
        <a:lstStyle/>
        <a:p>
          <a:endParaRPr lang="fr-FR"/>
        </a:p>
      </dgm:t>
    </dgm:pt>
    <dgm:pt modelId="{9BD32F46-365E-4DF1-8143-E43C960D9BAF}">
      <dgm:prSet custT="1"/>
      <dgm:spPr/>
      <dgm:t>
        <a:bodyPr/>
        <a:lstStyle/>
        <a:p>
          <a:pPr rtl="0">
            <a:spcAft>
              <a:spcPts val="0"/>
            </a:spcAft>
          </a:pPr>
          <a:r>
            <a:rPr lang="fr-FR" sz="1600" b="1" baseline="0" dirty="0"/>
            <a:t>Faire le cas : petits </a:t>
          </a:r>
        </a:p>
        <a:p>
          <a:pPr rtl="0">
            <a:spcAft>
              <a:spcPts val="0"/>
            </a:spcAft>
          </a:pPr>
          <a:r>
            <a:rPr lang="fr-FR" sz="1600" b="1" baseline="0" dirty="0"/>
            <a:t>déplacements et bulletin de </a:t>
          </a:r>
        </a:p>
        <a:p>
          <a:pPr rtl="0">
            <a:spcAft>
              <a:spcPts val="0"/>
            </a:spcAft>
          </a:pPr>
          <a:r>
            <a:rPr lang="fr-FR" sz="1600" b="1" baseline="0" dirty="0"/>
            <a:t>paye simplifiée avec abattement</a:t>
          </a:r>
          <a:endParaRPr lang="fr-FR" sz="1600" dirty="0"/>
        </a:p>
      </dgm:t>
    </dgm:pt>
    <dgm:pt modelId="{032E9340-E38E-4CE0-9D3F-8A149254AE41}" type="parTrans" cxnId="{CD229B5A-D5BB-42D5-8257-2E23FC850EFB}">
      <dgm:prSet/>
      <dgm:spPr/>
      <dgm:t>
        <a:bodyPr/>
        <a:lstStyle/>
        <a:p>
          <a:endParaRPr lang="fr-FR"/>
        </a:p>
      </dgm:t>
    </dgm:pt>
    <dgm:pt modelId="{D58B3B2C-7B4D-4C73-8C93-2929BA88CADF}" type="sibTrans" cxnId="{CD229B5A-D5BB-42D5-8257-2E23FC850EFB}">
      <dgm:prSet/>
      <dgm:spPr/>
      <dgm:t>
        <a:bodyPr/>
        <a:lstStyle/>
        <a:p>
          <a:endParaRPr lang="fr-FR"/>
        </a:p>
      </dgm:t>
    </dgm:pt>
    <dgm:pt modelId="{DE7D73CA-1C6F-4B5F-9D6B-5467DFC50D49}">
      <dgm:prSet custT="1"/>
      <dgm:spPr/>
      <dgm:t>
        <a:bodyPr/>
        <a:lstStyle/>
        <a:p>
          <a:pPr rtl="0"/>
          <a:r>
            <a:rPr lang="fr-FR" sz="1600" b="1" baseline="0" dirty="0"/>
            <a:t>Ce cas permet de comprendre comment le logiciel recalcule le net imposable en cas d’option pour la déduction forfaitaire</a:t>
          </a:r>
          <a:endParaRPr lang="fr-FR" sz="1600" dirty="0"/>
        </a:p>
      </dgm:t>
    </dgm:pt>
    <dgm:pt modelId="{ECE12D74-48BD-4289-9153-2B9F11140612}" type="parTrans" cxnId="{7E052BE2-2202-4923-81E2-132C271D7618}">
      <dgm:prSet/>
      <dgm:spPr/>
      <dgm:t>
        <a:bodyPr/>
        <a:lstStyle/>
        <a:p>
          <a:endParaRPr lang="fr-FR"/>
        </a:p>
      </dgm:t>
    </dgm:pt>
    <dgm:pt modelId="{8BCCF033-0045-4577-87C2-D1815C3C68EA}" type="sibTrans" cxnId="{7E052BE2-2202-4923-81E2-132C271D7618}">
      <dgm:prSet/>
      <dgm:spPr/>
      <dgm:t>
        <a:bodyPr/>
        <a:lstStyle/>
        <a:p>
          <a:endParaRPr lang="fr-FR"/>
        </a:p>
      </dgm:t>
    </dgm:pt>
    <dgm:pt modelId="{83C4BAC4-AA48-4295-B640-CED3A06377CB}">
      <dgm:prSet/>
      <dgm:spPr/>
      <dgm:t>
        <a:bodyPr/>
        <a:lstStyle/>
        <a:p>
          <a:pPr marL="180000" indent="-180000" rtl="0">
            <a:spcAft>
              <a:spcPts val="0"/>
            </a:spcAft>
            <a:buFont typeface="Wingdings" panose="05000000000000000000" pitchFamily="2" charset="2"/>
            <a:buChar char="§"/>
          </a:pPr>
          <a:r>
            <a:rPr lang="fr-FR" b="1" i="1" dirty="0"/>
            <a:t>Observation : après la séquence 5, il y a 1 étude de cas traitant des frais professionnels, des cotisations et du bulletin de paye </a:t>
          </a:r>
          <a:endParaRPr lang="fr-FR" dirty="0"/>
        </a:p>
      </dgm:t>
    </dgm:pt>
    <dgm:pt modelId="{8A44C463-1373-4313-9596-D3C7D4848DF4}" type="parTrans" cxnId="{35D23341-977A-45BC-9433-4C859DB0CE03}">
      <dgm:prSet/>
      <dgm:spPr/>
      <dgm:t>
        <a:bodyPr/>
        <a:lstStyle/>
        <a:p>
          <a:endParaRPr lang="fr-FR"/>
        </a:p>
      </dgm:t>
    </dgm:pt>
    <dgm:pt modelId="{76CAD1CE-D766-4AFD-B557-B99823906EBC}" type="sibTrans" cxnId="{35D23341-977A-45BC-9433-4C859DB0CE03}">
      <dgm:prSet/>
      <dgm:spPr/>
      <dgm:t>
        <a:bodyPr/>
        <a:lstStyle/>
        <a:p>
          <a:endParaRPr lang="fr-FR"/>
        </a:p>
      </dgm:t>
    </dgm:pt>
    <dgm:pt modelId="{4E0B7C63-3A0C-4CAF-8966-DBA6AE1A7689}" type="pres">
      <dgm:prSet presAssocID="{AAAA300C-3DD1-4AC6-B767-94CDB0AF8767}" presName="Name0" presStyleCnt="0">
        <dgm:presLayoutVars>
          <dgm:chMax val="7"/>
          <dgm:dir/>
          <dgm:animLvl val="lvl"/>
          <dgm:resizeHandles val="exact"/>
        </dgm:presLayoutVars>
      </dgm:prSet>
      <dgm:spPr/>
    </dgm:pt>
    <dgm:pt modelId="{79EE7717-858A-41A8-B57C-54D56118D361}" type="pres">
      <dgm:prSet presAssocID="{983F1798-9D69-4289-93D1-D90EBF73D58F}" presName="circle1" presStyleLbl="node1" presStyleIdx="0" presStyleCnt="3"/>
      <dgm:spPr/>
    </dgm:pt>
    <dgm:pt modelId="{957FA1D4-A066-4435-98BD-1C3B8E989477}" type="pres">
      <dgm:prSet presAssocID="{983F1798-9D69-4289-93D1-D90EBF73D58F}" presName="space" presStyleCnt="0"/>
      <dgm:spPr/>
    </dgm:pt>
    <dgm:pt modelId="{9F59F3EB-4DB8-4229-8C48-C2E637B67847}" type="pres">
      <dgm:prSet presAssocID="{983F1798-9D69-4289-93D1-D90EBF73D58F}" presName="rect1" presStyleLbl="alignAcc1" presStyleIdx="0" presStyleCnt="3"/>
      <dgm:spPr/>
    </dgm:pt>
    <dgm:pt modelId="{79794A19-D9D2-4FFD-8B96-95B25FB59652}" type="pres">
      <dgm:prSet presAssocID="{9BD32F46-365E-4DF1-8143-E43C960D9BAF}" presName="vertSpace2" presStyleLbl="node1" presStyleIdx="0" presStyleCnt="3"/>
      <dgm:spPr/>
    </dgm:pt>
    <dgm:pt modelId="{CD976BA8-8343-420C-937C-79179E9287DC}" type="pres">
      <dgm:prSet presAssocID="{9BD32F46-365E-4DF1-8143-E43C960D9BAF}" presName="circle2" presStyleLbl="node1" presStyleIdx="1" presStyleCnt="3"/>
      <dgm:spPr/>
    </dgm:pt>
    <dgm:pt modelId="{A9DF3AF9-D3A4-4A44-8087-376F252790CB}" type="pres">
      <dgm:prSet presAssocID="{9BD32F46-365E-4DF1-8143-E43C960D9BAF}" presName="rect2" presStyleLbl="alignAcc1" presStyleIdx="1" presStyleCnt="3"/>
      <dgm:spPr/>
    </dgm:pt>
    <dgm:pt modelId="{FF0F7449-32B6-4F02-BE08-122C12E7F439}" type="pres">
      <dgm:prSet presAssocID="{DE7D73CA-1C6F-4B5F-9D6B-5467DFC50D49}" presName="vertSpace3" presStyleLbl="node1" presStyleIdx="1" presStyleCnt="3"/>
      <dgm:spPr/>
    </dgm:pt>
    <dgm:pt modelId="{2E7C67FB-0A0F-4A97-8211-5FB17604BE51}" type="pres">
      <dgm:prSet presAssocID="{DE7D73CA-1C6F-4B5F-9D6B-5467DFC50D49}" presName="circle3" presStyleLbl="node1" presStyleIdx="2" presStyleCnt="3"/>
      <dgm:spPr/>
    </dgm:pt>
    <dgm:pt modelId="{088CA43F-88EC-48DD-A682-8444E202E6C0}" type="pres">
      <dgm:prSet presAssocID="{DE7D73CA-1C6F-4B5F-9D6B-5467DFC50D49}" presName="rect3" presStyleLbl="alignAcc1" presStyleIdx="2" presStyleCnt="3"/>
      <dgm:spPr/>
    </dgm:pt>
    <dgm:pt modelId="{B24A7333-06BD-4C2B-AC48-0CBD5D959E36}" type="pres">
      <dgm:prSet presAssocID="{983F1798-9D69-4289-93D1-D90EBF73D58F}" presName="rect1ParTx" presStyleLbl="alignAcc1" presStyleIdx="2" presStyleCnt="3">
        <dgm:presLayoutVars>
          <dgm:chMax val="1"/>
          <dgm:bulletEnabled val="1"/>
        </dgm:presLayoutVars>
      </dgm:prSet>
      <dgm:spPr/>
    </dgm:pt>
    <dgm:pt modelId="{CD303EF6-3DFB-4A51-AEEC-E24F9F1FCB35}" type="pres">
      <dgm:prSet presAssocID="{983F1798-9D69-4289-93D1-D90EBF73D58F}" presName="rect1ChTx" presStyleLbl="alignAcc1" presStyleIdx="2" presStyleCnt="3">
        <dgm:presLayoutVars>
          <dgm:bulletEnabled val="1"/>
        </dgm:presLayoutVars>
      </dgm:prSet>
      <dgm:spPr/>
    </dgm:pt>
    <dgm:pt modelId="{CBA127E1-C52D-49F3-B6B8-05A669A6FD4D}" type="pres">
      <dgm:prSet presAssocID="{9BD32F46-365E-4DF1-8143-E43C960D9BAF}" presName="rect2ParTx" presStyleLbl="alignAcc1" presStyleIdx="2" presStyleCnt="3">
        <dgm:presLayoutVars>
          <dgm:chMax val="1"/>
          <dgm:bulletEnabled val="1"/>
        </dgm:presLayoutVars>
      </dgm:prSet>
      <dgm:spPr/>
    </dgm:pt>
    <dgm:pt modelId="{80D413CD-8242-4C8D-AF23-C7C0BD7AC126}" type="pres">
      <dgm:prSet presAssocID="{9BD32F46-365E-4DF1-8143-E43C960D9BAF}" presName="rect2ChTx" presStyleLbl="alignAcc1" presStyleIdx="2" presStyleCnt="3">
        <dgm:presLayoutVars>
          <dgm:bulletEnabled val="1"/>
        </dgm:presLayoutVars>
      </dgm:prSet>
      <dgm:spPr/>
    </dgm:pt>
    <dgm:pt modelId="{33C52D0A-677E-4C13-BDD2-7DAFC290D073}" type="pres">
      <dgm:prSet presAssocID="{DE7D73CA-1C6F-4B5F-9D6B-5467DFC50D49}" presName="rect3ParTx" presStyleLbl="alignAcc1" presStyleIdx="2" presStyleCnt="3">
        <dgm:presLayoutVars>
          <dgm:chMax val="1"/>
          <dgm:bulletEnabled val="1"/>
        </dgm:presLayoutVars>
      </dgm:prSet>
      <dgm:spPr/>
    </dgm:pt>
    <dgm:pt modelId="{BA152E71-27B7-4D07-B012-0AB807858CBE}" type="pres">
      <dgm:prSet presAssocID="{DE7D73CA-1C6F-4B5F-9D6B-5467DFC50D49}" presName="rect3ChTx" presStyleLbl="alignAcc1" presStyleIdx="2" presStyleCnt="3">
        <dgm:presLayoutVars>
          <dgm:bulletEnabled val="1"/>
        </dgm:presLayoutVars>
      </dgm:prSet>
      <dgm:spPr/>
    </dgm:pt>
  </dgm:ptLst>
  <dgm:cxnLst>
    <dgm:cxn modelId="{BF128515-A1F1-41BA-914F-74021A9C8C63}" type="presOf" srcId="{9BD32F46-365E-4DF1-8143-E43C960D9BAF}" destId="{CBA127E1-C52D-49F3-B6B8-05A669A6FD4D}" srcOrd="1" destOrd="0" presId="urn:microsoft.com/office/officeart/2005/8/layout/target3"/>
    <dgm:cxn modelId="{4B7D031C-F56C-414C-9994-2035731F659C}" type="presOf" srcId="{9BD32F46-365E-4DF1-8143-E43C960D9BAF}" destId="{A9DF3AF9-D3A4-4A44-8087-376F252790CB}" srcOrd="0" destOrd="0" presId="urn:microsoft.com/office/officeart/2005/8/layout/target3"/>
    <dgm:cxn modelId="{BD309124-F4C6-400E-BCFB-4DCC46F3090F}" type="presOf" srcId="{983F1798-9D69-4289-93D1-D90EBF73D58F}" destId="{9F59F3EB-4DB8-4229-8C48-C2E637B67847}" srcOrd="0" destOrd="0" presId="urn:microsoft.com/office/officeart/2005/8/layout/target3"/>
    <dgm:cxn modelId="{8E778C31-1E1A-42A3-8B6E-A2BF3D460EE7}" srcId="{AAAA300C-3DD1-4AC6-B767-94CDB0AF8767}" destId="{983F1798-9D69-4289-93D1-D90EBF73D58F}" srcOrd="0" destOrd="0" parTransId="{59A60473-754E-431F-8E31-31841874577C}" sibTransId="{7FB982D0-AA04-4A50-9098-8FB37F2F60B7}"/>
    <dgm:cxn modelId="{35D23341-977A-45BC-9433-4C859DB0CE03}" srcId="{DE7D73CA-1C6F-4B5F-9D6B-5467DFC50D49}" destId="{83C4BAC4-AA48-4295-B640-CED3A06377CB}" srcOrd="0" destOrd="0" parTransId="{8A44C463-1373-4313-9596-D3C7D4848DF4}" sibTransId="{76CAD1CE-D766-4AFD-B557-B99823906EBC}"/>
    <dgm:cxn modelId="{F3E4F174-F689-4725-B66F-DDABDCB9F140}" type="presOf" srcId="{AAAA300C-3DD1-4AC6-B767-94CDB0AF8767}" destId="{4E0B7C63-3A0C-4CAF-8966-DBA6AE1A7689}" srcOrd="0" destOrd="0" presId="urn:microsoft.com/office/officeart/2005/8/layout/target3"/>
    <dgm:cxn modelId="{CD229B5A-D5BB-42D5-8257-2E23FC850EFB}" srcId="{AAAA300C-3DD1-4AC6-B767-94CDB0AF8767}" destId="{9BD32F46-365E-4DF1-8143-E43C960D9BAF}" srcOrd="1" destOrd="0" parTransId="{032E9340-E38E-4CE0-9D3F-8A149254AE41}" sibTransId="{D58B3B2C-7B4D-4C73-8C93-2929BA88CADF}"/>
    <dgm:cxn modelId="{813FC383-E6E4-4493-ABF6-7592D0FC484C}" type="presOf" srcId="{83C4BAC4-AA48-4295-B640-CED3A06377CB}" destId="{BA152E71-27B7-4D07-B012-0AB807858CBE}" srcOrd="0" destOrd="0" presId="urn:microsoft.com/office/officeart/2005/8/layout/target3"/>
    <dgm:cxn modelId="{48AD529C-97A5-42B4-ACFB-EB6D3D0E9CE8}" type="presOf" srcId="{983F1798-9D69-4289-93D1-D90EBF73D58F}" destId="{B24A7333-06BD-4C2B-AC48-0CBD5D959E36}" srcOrd="1" destOrd="0" presId="urn:microsoft.com/office/officeart/2005/8/layout/target3"/>
    <dgm:cxn modelId="{D484A8E0-793A-4757-9153-C74A69970440}" type="presOf" srcId="{DE7D73CA-1C6F-4B5F-9D6B-5467DFC50D49}" destId="{33C52D0A-677E-4C13-BDD2-7DAFC290D073}" srcOrd="1" destOrd="0" presId="urn:microsoft.com/office/officeart/2005/8/layout/target3"/>
    <dgm:cxn modelId="{7E052BE2-2202-4923-81E2-132C271D7618}" srcId="{AAAA300C-3DD1-4AC6-B767-94CDB0AF8767}" destId="{DE7D73CA-1C6F-4B5F-9D6B-5467DFC50D49}" srcOrd="2" destOrd="0" parTransId="{ECE12D74-48BD-4289-9153-2B9F11140612}" sibTransId="{8BCCF033-0045-4577-87C2-D1815C3C68EA}"/>
    <dgm:cxn modelId="{DCD870F0-6F5D-4A78-BF81-12F847F62EF6}" type="presOf" srcId="{DE7D73CA-1C6F-4B5F-9D6B-5467DFC50D49}" destId="{088CA43F-88EC-48DD-A682-8444E202E6C0}" srcOrd="0" destOrd="0" presId="urn:microsoft.com/office/officeart/2005/8/layout/target3"/>
    <dgm:cxn modelId="{F9A06080-4A90-410C-896B-C8702613B778}" type="presParOf" srcId="{4E0B7C63-3A0C-4CAF-8966-DBA6AE1A7689}" destId="{79EE7717-858A-41A8-B57C-54D56118D361}" srcOrd="0" destOrd="0" presId="urn:microsoft.com/office/officeart/2005/8/layout/target3"/>
    <dgm:cxn modelId="{ABAE4AE5-33A9-4D89-9347-E0C66C47BA38}" type="presParOf" srcId="{4E0B7C63-3A0C-4CAF-8966-DBA6AE1A7689}" destId="{957FA1D4-A066-4435-98BD-1C3B8E989477}" srcOrd="1" destOrd="0" presId="urn:microsoft.com/office/officeart/2005/8/layout/target3"/>
    <dgm:cxn modelId="{BC6513FA-9D43-49BD-AC57-D1A6222FC4F6}" type="presParOf" srcId="{4E0B7C63-3A0C-4CAF-8966-DBA6AE1A7689}" destId="{9F59F3EB-4DB8-4229-8C48-C2E637B67847}" srcOrd="2" destOrd="0" presId="urn:microsoft.com/office/officeart/2005/8/layout/target3"/>
    <dgm:cxn modelId="{22ED397B-1B55-41C3-8FBF-A74917D93468}" type="presParOf" srcId="{4E0B7C63-3A0C-4CAF-8966-DBA6AE1A7689}" destId="{79794A19-D9D2-4FFD-8B96-95B25FB59652}" srcOrd="3" destOrd="0" presId="urn:microsoft.com/office/officeart/2005/8/layout/target3"/>
    <dgm:cxn modelId="{17AB834E-C4E0-4C19-8893-AB7C77F05046}" type="presParOf" srcId="{4E0B7C63-3A0C-4CAF-8966-DBA6AE1A7689}" destId="{CD976BA8-8343-420C-937C-79179E9287DC}" srcOrd="4" destOrd="0" presId="urn:microsoft.com/office/officeart/2005/8/layout/target3"/>
    <dgm:cxn modelId="{A90989C0-F94A-4866-B046-09ADE8232C7C}" type="presParOf" srcId="{4E0B7C63-3A0C-4CAF-8966-DBA6AE1A7689}" destId="{A9DF3AF9-D3A4-4A44-8087-376F252790CB}" srcOrd="5" destOrd="0" presId="urn:microsoft.com/office/officeart/2005/8/layout/target3"/>
    <dgm:cxn modelId="{D9EFF416-EA71-496B-99A4-447AA6E8B4C9}" type="presParOf" srcId="{4E0B7C63-3A0C-4CAF-8966-DBA6AE1A7689}" destId="{FF0F7449-32B6-4F02-BE08-122C12E7F439}" srcOrd="6" destOrd="0" presId="urn:microsoft.com/office/officeart/2005/8/layout/target3"/>
    <dgm:cxn modelId="{34A58FD2-E509-48F2-800B-08AB6BB3DA99}" type="presParOf" srcId="{4E0B7C63-3A0C-4CAF-8966-DBA6AE1A7689}" destId="{2E7C67FB-0A0F-4A97-8211-5FB17604BE51}" srcOrd="7" destOrd="0" presId="urn:microsoft.com/office/officeart/2005/8/layout/target3"/>
    <dgm:cxn modelId="{FC669ED5-107E-4670-8E0A-EF6DC44E9B63}" type="presParOf" srcId="{4E0B7C63-3A0C-4CAF-8966-DBA6AE1A7689}" destId="{088CA43F-88EC-48DD-A682-8444E202E6C0}" srcOrd="8" destOrd="0" presId="urn:microsoft.com/office/officeart/2005/8/layout/target3"/>
    <dgm:cxn modelId="{3998A1C2-96B0-4C26-92E0-80509FB5C226}" type="presParOf" srcId="{4E0B7C63-3A0C-4CAF-8966-DBA6AE1A7689}" destId="{B24A7333-06BD-4C2B-AC48-0CBD5D959E36}" srcOrd="9" destOrd="0" presId="urn:microsoft.com/office/officeart/2005/8/layout/target3"/>
    <dgm:cxn modelId="{043DB9DB-F2EF-4A69-86BD-B37D692B519D}" type="presParOf" srcId="{4E0B7C63-3A0C-4CAF-8966-DBA6AE1A7689}" destId="{CD303EF6-3DFB-4A51-AEEC-E24F9F1FCB35}" srcOrd="10" destOrd="0" presId="urn:microsoft.com/office/officeart/2005/8/layout/target3"/>
    <dgm:cxn modelId="{307653B1-FF15-4212-9659-79BF55F4D7B2}" type="presParOf" srcId="{4E0B7C63-3A0C-4CAF-8966-DBA6AE1A7689}" destId="{CBA127E1-C52D-49F3-B6B8-05A669A6FD4D}" srcOrd="11" destOrd="0" presId="urn:microsoft.com/office/officeart/2005/8/layout/target3"/>
    <dgm:cxn modelId="{C4270DED-F30E-4423-90B4-E4C178FA6FC7}" type="presParOf" srcId="{4E0B7C63-3A0C-4CAF-8966-DBA6AE1A7689}" destId="{80D413CD-8242-4C8D-AF23-C7C0BD7AC126}" srcOrd="12" destOrd="0" presId="urn:microsoft.com/office/officeart/2005/8/layout/target3"/>
    <dgm:cxn modelId="{9BE9564C-12C4-467C-A826-C15ECC8FA385}" type="presParOf" srcId="{4E0B7C63-3A0C-4CAF-8966-DBA6AE1A7689}" destId="{33C52D0A-677E-4C13-BDD2-7DAFC290D073}" srcOrd="13" destOrd="0" presId="urn:microsoft.com/office/officeart/2005/8/layout/target3"/>
    <dgm:cxn modelId="{6AFE00F4-D925-4699-BA26-F628FE6C6434}" type="presParOf" srcId="{4E0B7C63-3A0C-4CAF-8966-DBA6AE1A7689}" destId="{BA152E71-27B7-4D07-B012-0AB807858CBE}" srcOrd="14" destOrd="0" presId="urn:microsoft.com/office/officeart/2005/8/layout/targe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8B0F0E6C-B4A3-45E6-98BE-EBD04E92D73D}" type="doc">
      <dgm:prSet loTypeId="urn:microsoft.com/office/officeart/2005/8/layout/hList1" loCatId="list" qsTypeId="urn:microsoft.com/office/officeart/2005/8/quickstyle/simple1#146" qsCatId="simple" csTypeId="urn:microsoft.com/office/officeart/2005/8/colors/accent1_2#99" csCatId="accent1" phldr="1"/>
      <dgm:spPr/>
      <dgm:t>
        <a:bodyPr/>
        <a:lstStyle/>
        <a:p>
          <a:endParaRPr lang="fr-FR"/>
        </a:p>
      </dgm:t>
    </dgm:pt>
    <dgm:pt modelId="{D2C8A207-4D63-47B1-93F2-2F0F9B528756}">
      <dgm:prSet custT="1"/>
      <dgm:spPr/>
      <dgm:t>
        <a:bodyPr/>
        <a:lstStyle/>
        <a:p>
          <a:pPr rtl="0"/>
          <a:r>
            <a:rPr lang="fr-FR" sz="2400" b="1" baseline="0" dirty="0"/>
            <a:t>Règles générales : taux accident du travail dont le taux fonction support </a:t>
          </a:r>
          <a:endParaRPr lang="fr-FR" sz="2400" dirty="0"/>
        </a:p>
      </dgm:t>
    </dgm:pt>
    <dgm:pt modelId="{BEFD42D8-245D-4EE1-A986-F6F31FC93B24}" type="parTrans" cxnId="{91E52ABE-AFE6-429B-9F8E-56B1E4A1D681}">
      <dgm:prSet/>
      <dgm:spPr/>
      <dgm:t>
        <a:bodyPr/>
        <a:lstStyle/>
        <a:p>
          <a:endParaRPr lang="fr-FR"/>
        </a:p>
      </dgm:t>
    </dgm:pt>
    <dgm:pt modelId="{F866DC5E-8A6E-4B5A-959D-144FEEEFF5E8}" type="sibTrans" cxnId="{91E52ABE-AFE6-429B-9F8E-56B1E4A1D681}">
      <dgm:prSet/>
      <dgm:spPr/>
      <dgm:t>
        <a:bodyPr/>
        <a:lstStyle/>
        <a:p>
          <a:endParaRPr lang="fr-FR"/>
        </a:p>
      </dgm:t>
    </dgm:pt>
    <dgm:pt modelId="{8B74E280-625B-427A-BFEE-5AC69EF3B83A}">
      <dgm:prSet custT="1"/>
      <dgm:spPr/>
      <dgm:t>
        <a:bodyPr/>
        <a:lstStyle/>
        <a:p>
          <a:pPr>
            <a:buClr>
              <a:schemeClr val="accent1"/>
            </a:buClr>
            <a:buFont typeface="Wingdings" panose="05000000000000000000" pitchFamily="2" charset="2"/>
            <a:buChar char="§"/>
          </a:pPr>
          <a:r>
            <a:rPr lang="fr-FR" sz="2200" b="1" baseline="0" dirty="0"/>
            <a:t>Est uniquement réservé aux  employeurs en tarification collective (moins de 20 salariés) ou mixte (de 20 à 149 salariés)</a:t>
          </a:r>
        </a:p>
      </dgm:t>
    </dgm:pt>
    <dgm:pt modelId="{E140051D-CEC4-440E-A21C-0F6173FE932A}" type="sibTrans" cxnId="{3DF4A1AA-6056-409D-81C3-F7314EA82597}">
      <dgm:prSet/>
      <dgm:spPr/>
      <dgm:t>
        <a:bodyPr/>
        <a:lstStyle/>
        <a:p>
          <a:endParaRPr lang="fr-FR"/>
        </a:p>
      </dgm:t>
    </dgm:pt>
    <dgm:pt modelId="{F1A1AFD9-2534-40F9-90C3-E3F4A885CB33}" type="parTrans" cxnId="{3DF4A1AA-6056-409D-81C3-F7314EA82597}">
      <dgm:prSet/>
      <dgm:spPr/>
      <dgm:t>
        <a:bodyPr/>
        <a:lstStyle/>
        <a:p>
          <a:endParaRPr lang="fr-FR"/>
        </a:p>
      </dgm:t>
    </dgm:pt>
    <dgm:pt modelId="{D3836C43-C484-4DA9-AD0D-A0753194DAF2}">
      <dgm:prSet custT="1"/>
      <dgm:spPr/>
      <dgm:t>
        <a:bodyPr/>
        <a:lstStyle/>
        <a:p>
          <a:endParaRPr lang="fr-FR" sz="2200" b="1" baseline="0" dirty="0"/>
        </a:p>
      </dgm:t>
    </dgm:pt>
    <dgm:pt modelId="{CE17EB8A-3B05-4E42-A933-EDC17EA9449F}" type="parTrans" cxnId="{90E12472-A450-4CC6-9B33-5AFA8AE36613}">
      <dgm:prSet/>
      <dgm:spPr/>
      <dgm:t>
        <a:bodyPr/>
        <a:lstStyle/>
        <a:p>
          <a:endParaRPr lang="fr-FR"/>
        </a:p>
      </dgm:t>
    </dgm:pt>
    <dgm:pt modelId="{18091315-3438-4708-BCB3-C45286400A66}" type="sibTrans" cxnId="{90E12472-A450-4CC6-9B33-5AFA8AE36613}">
      <dgm:prSet/>
      <dgm:spPr/>
      <dgm:t>
        <a:bodyPr/>
        <a:lstStyle/>
        <a:p>
          <a:endParaRPr lang="fr-FR"/>
        </a:p>
      </dgm:t>
    </dgm:pt>
    <dgm:pt modelId="{87527264-A745-4D3C-BC2B-9C4CF2C12A3B}">
      <dgm:prSet custT="1"/>
      <dgm:spPr/>
      <dgm:t>
        <a:bodyPr/>
        <a:lstStyle/>
        <a:p>
          <a:pPr>
            <a:buClr>
              <a:schemeClr val="accent1"/>
            </a:buClr>
            <a:buFont typeface="Wingdings" panose="05000000000000000000" pitchFamily="2" charset="2"/>
            <a:buChar char="§"/>
          </a:pPr>
          <a:r>
            <a:rPr lang="fr-FR" sz="2200" b="1" baseline="0" dirty="0"/>
            <a:t>Le taux bureau peut continuer à exister sous condition d’en avoir fait la demande avant le 31 décembre 2019 auprès de la caisse régionale (Carsat, </a:t>
          </a:r>
          <a:r>
            <a:rPr lang="fr-FR" sz="2200" b="1" baseline="0" dirty="0" err="1"/>
            <a:t>Cramif</a:t>
          </a:r>
          <a:r>
            <a:rPr lang="fr-FR" sz="2200" b="1" baseline="0" dirty="0"/>
            <a:t>, CGSS)</a:t>
          </a:r>
        </a:p>
      </dgm:t>
    </dgm:pt>
    <dgm:pt modelId="{C59A49D8-8115-4B11-A8C2-2CD1126D2340}" type="parTrans" cxnId="{BC1BB3DF-A633-4CAC-94CF-7F988C562850}">
      <dgm:prSet/>
      <dgm:spPr/>
      <dgm:t>
        <a:bodyPr/>
        <a:lstStyle/>
        <a:p>
          <a:endParaRPr lang="fr-FR"/>
        </a:p>
      </dgm:t>
    </dgm:pt>
    <dgm:pt modelId="{9FD14357-0845-4BC0-B370-0EB08F2AE14A}" type="sibTrans" cxnId="{BC1BB3DF-A633-4CAC-94CF-7F988C562850}">
      <dgm:prSet/>
      <dgm:spPr/>
      <dgm:t>
        <a:bodyPr/>
        <a:lstStyle/>
        <a:p>
          <a:endParaRPr lang="fr-FR"/>
        </a:p>
      </dgm:t>
    </dgm:pt>
    <dgm:pt modelId="{5DE0675C-61E8-4490-9B78-098BE3545912}" type="pres">
      <dgm:prSet presAssocID="{8B0F0E6C-B4A3-45E6-98BE-EBD04E92D73D}" presName="Name0" presStyleCnt="0">
        <dgm:presLayoutVars>
          <dgm:dir/>
          <dgm:animLvl val="lvl"/>
          <dgm:resizeHandles val="exact"/>
        </dgm:presLayoutVars>
      </dgm:prSet>
      <dgm:spPr/>
    </dgm:pt>
    <dgm:pt modelId="{9E55ED7B-9392-49AC-862A-60D32016A4B7}" type="pres">
      <dgm:prSet presAssocID="{D2C8A207-4D63-47B1-93F2-2F0F9B528756}" presName="composite" presStyleCnt="0"/>
      <dgm:spPr/>
    </dgm:pt>
    <dgm:pt modelId="{776F3AB7-F321-4EB1-B2A6-AF0BE6951F47}" type="pres">
      <dgm:prSet presAssocID="{D2C8A207-4D63-47B1-93F2-2F0F9B528756}" presName="parTx" presStyleLbl="alignNode1" presStyleIdx="0" presStyleCnt="1" custLinFactNeighborX="-14168" custLinFactNeighborY="2155">
        <dgm:presLayoutVars>
          <dgm:chMax val="0"/>
          <dgm:chPref val="0"/>
          <dgm:bulletEnabled val="1"/>
        </dgm:presLayoutVars>
      </dgm:prSet>
      <dgm:spPr/>
    </dgm:pt>
    <dgm:pt modelId="{FACAECD6-B70A-4FEA-A40F-FC8389522B49}" type="pres">
      <dgm:prSet presAssocID="{D2C8A207-4D63-47B1-93F2-2F0F9B528756}" presName="desTx" presStyleLbl="alignAccFollowNode1" presStyleIdx="0" presStyleCnt="1">
        <dgm:presLayoutVars>
          <dgm:bulletEnabled val="1"/>
        </dgm:presLayoutVars>
      </dgm:prSet>
      <dgm:spPr/>
    </dgm:pt>
  </dgm:ptLst>
  <dgm:cxnLst>
    <dgm:cxn modelId="{1CB31F39-9A65-4DA9-997E-020C2DD5AE4B}" type="presOf" srcId="{87527264-A745-4D3C-BC2B-9C4CF2C12A3B}" destId="{FACAECD6-B70A-4FEA-A40F-FC8389522B49}" srcOrd="0" destOrd="2" presId="urn:microsoft.com/office/officeart/2005/8/layout/hList1"/>
    <dgm:cxn modelId="{7103F946-9522-4738-8F10-B5319DFE800E}" type="presOf" srcId="{D2C8A207-4D63-47B1-93F2-2F0F9B528756}" destId="{776F3AB7-F321-4EB1-B2A6-AF0BE6951F47}" srcOrd="0" destOrd="0" presId="urn:microsoft.com/office/officeart/2005/8/layout/hList1"/>
    <dgm:cxn modelId="{90E12472-A450-4CC6-9B33-5AFA8AE36613}" srcId="{D2C8A207-4D63-47B1-93F2-2F0F9B528756}" destId="{D3836C43-C484-4DA9-AD0D-A0753194DAF2}" srcOrd="0" destOrd="0" parTransId="{CE17EB8A-3B05-4E42-A933-EDC17EA9449F}" sibTransId="{18091315-3438-4708-BCB3-C45286400A66}"/>
    <dgm:cxn modelId="{29FF0C75-44FF-41F7-8F03-58B76BD268A3}" type="presOf" srcId="{D3836C43-C484-4DA9-AD0D-A0753194DAF2}" destId="{FACAECD6-B70A-4FEA-A40F-FC8389522B49}" srcOrd="0" destOrd="0" presId="urn:microsoft.com/office/officeart/2005/8/layout/hList1"/>
    <dgm:cxn modelId="{2F6C1691-4024-486C-834C-5DA90622385C}" type="presOf" srcId="{8B74E280-625B-427A-BFEE-5AC69EF3B83A}" destId="{FACAECD6-B70A-4FEA-A40F-FC8389522B49}" srcOrd="0" destOrd="1" presId="urn:microsoft.com/office/officeart/2005/8/layout/hList1"/>
    <dgm:cxn modelId="{3DF4A1AA-6056-409D-81C3-F7314EA82597}" srcId="{D2C8A207-4D63-47B1-93F2-2F0F9B528756}" destId="{8B74E280-625B-427A-BFEE-5AC69EF3B83A}" srcOrd="1" destOrd="0" parTransId="{F1A1AFD9-2534-40F9-90C3-E3F4A885CB33}" sibTransId="{E140051D-CEC4-440E-A21C-0F6173FE932A}"/>
    <dgm:cxn modelId="{91E52ABE-AFE6-429B-9F8E-56B1E4A1D681}" srcId="{8B0F0E6C-B4A3-45E6-98BE-EBD04E92D73D}" destId="{D2C8A207-4D63-47B1-93F2-2F0F9B528756}" srcOrd="0" destOrd="0" parTransId="{BEFD42D8-245D-4EE1-A986-F6F31FC93B24}" sibTransId="{F866DC5E-8A6E-4B5A-959D-144FEEEFF5E8}"/>
    <dgm:cxn modelId="{EF45D8CC-6A66-485E-8AF9-EFBCD2ACB575}" type="presOf" srcId="{8B0F0E6C-B4A3-45E6-98BE-EBD04E92D73D}" destId="{5DE0675C-61E8-4490-9B78-098BE3545912}" srcOrd="0" destOrd="0" presId="urn:microsoft.com/office/officeart/2005/8/layout/hList1"/>
    <dgm:cxn modelId="{BC1BB3DF-A633-4CAC-94CF-7F988C562850}" srcId="{D2C8A207-4D63-47B1-93F2-2F0F9B528756}" destId="{87527264-A745-4D3C-BC2B-9C4CF2C12A3B}" srcOrd="2" destOrd="0" parTransId="{C59A49D8-8115-4B11-A8C2-2CD1126D2340}" sibTransId="{9FD14357-0845-4BC0-B370-0EB08F2AE14A}"/>
    <dgm:cxn modelId="{DACD2F7E-F1DE-4ED5-AD84-EA747F775FF0}" type="presParOf" srcId="{5DE0675C-61E8-4490-9B78-098BE3545912}" destId="{9E55ED7B-9392-49AC-862A-60D32016A4B7}" srcOrd="0" destOrd="0" presId="urn:microsoft.com/office/officeart/2005/8/layout/hList1"/>
    <dgm:cxn modelId="{BFF04B7A-58AC-4341-B232-06405C555774}" type="presParOf" srcId="{9E55ED7B-9392-49AC-862A-60D32016A4B7}" destId="{776F3AB7-F321-4EB1-B2A6-AF0BE6951F47}" srcOrd="0" destOrd="0" presId="urn:microsoft.com/office/officeart/2005/8/layout/hList1"/>
    <dgm:cxn modelId="{810BF1D7-BF32-4F16-A672-7477413161B6}" type="presParOf" srcId="{9E55ED7B-9392-49AC-862A-60D32016A4B7}" destId="{FACAECD6-B70A-4FEA-A40F-FC8389522B49}"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8B0F0E6C-B4A3-45E6-98BE-EBD04E92D73D}" type="doc">
      <dgm:prSet loTypeId="urn:microsoft.com/office/officeart/2005/8/layout/hList1" loCatId="list" qsTypeId="urn:microsoft.com/office/officeart/2005/8/quickstyle/simple1#147" qsCatId="simple" csTypeId="urn:microsoft.com/office/officeart/2005/8/colors/accent1_2#100" csCatId="accent1" phldr="1"/>
      <dgm:spPr/>
      <dgm:t>
        <a:bodyPr/>
        <a:lstStyle/>
        <a:p>
          <a:endParaRPr lang="fr-FR"/>
        </a:p>
      </dgm:t>
    </dgm:pt>
    <dgm:pt modelId="{D2C8A207-4D63-47B1-93F2-2F0F9B528756}">
      <dgm:prSet custT="1"/>
      <dgm:spPr/>
      <dgm:t>
        <a:bodyPr/>
        <a:lstStyle/>
        <a:p>
          <a:pPr rtl="0"/>
          <a:r>
            <a:rPr lang="fr-FR" sz="2400" b="1" baseline="0" dirty="0"/>
            <a:t>Règles générales demandant une attention spécifique</a:t>
          </a:r>
          <a:endParaRPr lang="fr-FR" sz="2400" dirty="0"/>
        </a:p>
      </dgm:t>
    </dgm:pt>
    <dgm:pt modelId="{BEFD42D8-245D-4EE1-A986-F6F31FC93B24}" type="parTrans" cxnId="{91E52ABE-AFE6-429B-9F8E-56B1E4A1D681}">
      <dgm:prSet/>
      <dgm:spPr/>
      <dgm:t>
        <a:bodyPr/>
        <a:lstStyle/>
        <a:p>
          <a:endParaRPr lang="fr-FR"/>
        </a:p>
      </dgm:t>
    </dgm:pt>
    <dgm:pt modelId="{F866DC5E-8A6E-4B5A-959D-144FEEEFF5E8}" type="sibTrans" cxnId="{91E52ABE-AFE6-429B-9F8E-56B1E4A1D681}">
      <dgm:prSet/>
      <dgm:spPr/>
      <dgm:t>
        <a:bodyPr/>
        <a:lstStyle/>
        <a:p>
          <a:endParaRPr lang="fr-FR"/>
        </a:p>
      </dgm:t>
    </dgm:pt>
    <dgm:pt modelId="{C53492BA-25CE-420A-B895-2729C8AC345A}">
      <dgm:prSet custT="1"/>
      <dgm:spPr/>
      <dgm:t>
        <a:bodyPr/>
        <a:lstStyle/>
        <a:p>
          <a:pPr algn="just" rtl="0">
            <a:buFont typeface="Wingdings" panose="05000000000000000000" pitchFamily="2" charset="2"/>
            <a:buChar char="§"/>
          </a:pPr>
          <a:r>
            <a:rPr lang="fr-FR" sz="2000" b="1" dirty="0"/>
            <a:t>Exclusion, si les conditions existent, de la part patronale prévoyance incapacité de travail de la base CSG/CRDS</a:t>
          </a:r>
          <a:endParaRPr lang="fr-FR" sz="2000" dirty="0"/>
        </a:p>
      </dgm:t>
    </dgm:pt>
    <dgm:pt modelId="{95484489-F170-4A06-949C-E0F558F581EF}" type="parTrans" cxnId="{B68B22BF-5CF7-46AD-91B4-F9B1893BC8CE}">
      <dgm:prSet/>
      <dgm:spPr/>
      <dgm:t>
        <a:bodyPr/>
        <a:lstStyle/>
        <a:p>
          <a:endParaRPr lang="fr-FR"/>
        </a:p>
      </dgm:t>
    </dgm:pt>
    <dgm:pt modelId="{D1C289A5-5CE1-4C57-A8D2-5B3F7E5E3293}" type="sibTrans" cxnId="{B68B22BF-5CF7-46AD-91B4-F9B1893BC8CE}">
      <dgm:prSet/>
      <dgm:spPr/>
      <dgm:t>
        <a:bodyPr/>
        <a:lstStyle/>
        <a:p>
          <a:endParaRPr lang="fr-FR"/>
        </a:p>
      </dgm:t>
    </dgm:pt>
    <dgm:pt modelId="{5DE0675C-61E8-4490-9B78-098BE3545912}" type="pres">
      <dgm:prSet presAssocID="{8B0F0E6C-B4A3-45E6-98BE-EBD04E92D73D}" presName="Name0" presStyleCnt="0">
        <dgm:presLayoutVars>
          <dgm:dir/>
          <dgm:animLvl val="lvl"/>
          <dgm:resizeHandles val="exact"/>
        </dgm:presLayoutVars>
      </dgm:prSet>
      <dgm:spPr/>
    </dgm:pt>
    <dgm:pt modelId="{9E55ED7B-9392-49AC-862A-60D32016A4B7}" type="pres">
      <dgm:prSet presAssocID="{D2C8A207-4D63-47B1-93F2-2F0F9B528756}" presName="composite" presStyleCnt="0"/>
      <dgm:spPr/>
    </dgm:pt>
    <dgm:pt modelId="{776F3AB7-F321-4EB1-B2A6-AF0BE6951F47}" type="pres">
      <dgm:prSet presAssocID="{D2C8A207-4D63-47B1-93F2-2F0F9B528756}" presName="parTx" presStyleLbl="alignNode1" presStyleIdx="0" presStyleCnt="1">
        <dgm:presLayoutVars>
          <dgm:chMax val="0"/>
          <dgm:chPref val="0"/>
          <dgm:bulletEnabled val="1"/>
        </dgm:presLayoutVars>
      </dgm:prSet>
      <dgm:spPr/>
    </dgm:pt>
    <dgm:pt modelId="{FACAECD6-B70A-4FEA-A40F-FC8389522B49}" type="pres">
      <dgm:prSet presAssocID="{D2C8A207-4D63-47B1-93F2-2F0F9B528756}" presName="desTx" presStyleLbl="alignAccFollowNode1" presStyleIdx="0" presStyleCnt="1" custLinFactNeighborX="-1" custLinFactNeighborY="2144">
        <dgm:presLayoutVars>
          <dgm:bulletEnabled val="1"/>
        </dgm:presLayoutVars>
      </dgm:prSet>
      <dgm:spPr/>
    </dgm:pt>
  </dgm:ptLst>
  <dgm:cxnLst>
    <dgm:cxn modelId="{3FEFA09B-9F92-4A9E-815B-823B1298DA6B}" type="presOf" srcId="{D2C8A207-4D63-47B1-93F2-2F0F9B528756}" destId="{776F3AB7-F321-4EB1-B2A6-AF0BE6951F47}" srcOrd="0" destOrd="0" presId="urn:microsoft.com/office/officeart/2005/8/layout/hList1"/>
    <dgm:cxn modelId="{E4A206A1-BFA8-4ED0-8E36-205C181094BC}" type="presOf" srcId="{C53492BA-25CE-420A-B895-2729C8AC345A}" destId="{FACAECD6-B70A-4FEA-A40F-FC8389522B49}" srcOrd="0" destOrd="0" presId="urn:microsoft.com/office/officeart/2005/8/layout/hList1"/>
    <dgm:cxn modelId="{48A8DBA5-8B0B-461C-8706-E6944E40EA7C}" type="presOf" srcId="{8B0F0E6C-B4A3-45E6-98BE-EBD04E92D73D}" destId="{5DE0675C-61E8-4490-9B78-098BE3545912}" srcOrd="0" destOrd="0" presId="urn:microsoft.com/office/officeart/2005/8/layout/hList1"/>
    <dgm:cxn modelId="{91E52ABE-AFE6-429B-9F8E-56B1E4A1D681}" srcId="{8B0F0E6C-B4A3-45E6-98BE-EBD04E92D73D}" destId="{D2C8A207-4D63-47B1-93F2-2F0F9B528756}" srcOrd="0" destOrd="0" parTransId="{BEFD42D8-245D-4EE1-A986-F6F31FC93B24}" sibTransId="{F866DC5E-8A6E-4B5A-959D-144FEEEFF5E8}"/>
    <dgm:cxn modelId="{B68B22BF-5CF7-46AD-91B4-F9B1893BC8CE}" srcId="{D2C8A207-4D63-47B1-93F2-2F0F9B528756}" destId="{C53492BA-25CE-420A-B895-2729C8AC345A}" srcOrd="0" destOrd="0" parTransId="{95484489-F170-4A06-949C-E0F558F581EF}" sibTransId="{D1C289A5-5CE1-4C57-A8D2-5B3F7E5E3293}"/>
    <dgm:cxn modelId="{AB5789EC-3B16-453C-9C0B-629AA797BE65}" type="presParOf" srcId="{5DE0675C-61E8-4490-9B78-098BE3545912}" destId="{9E55ED7B-9392-49AC-862A-60D32016A4B7}" srcOrd="0" destOrd="0" presId="urn:microsoft.com/office/officeart/2005/8/layout/hList1"/>
    <dgm:cxn modelId="{3D7B6CDC-28AC-43B8-8300-B72951A7787A}" type="presParOf" srcId="{9E55ED7B-9392-49AC-862A-60D32016A4B7}" destId="{776F3AB7-F321-4EB1-B2A6-AF0BE6951F47}" srcOrd="0" destOrd="0" presId="urn:microsoft.com/office/officeart/2005/8/layout/hList1"/>
    <dgm:cxn modelId="{1039610D-4D57-4747-A0CE-729E2ADF60A3}" type="presParOf" srcId="{9E55ED7B-9392-49AC-862A-60D32016A4B7}" destId="{FACAECD6-B70A-4FEA-A40F-FC8389522B49}"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203AB1EB-3C3D-4B8B-BD15-BAFEDF397E57}" type="doc">
      <dgm:prSet loTypeId="urn:microsoft.com/office/officeart/2005/8/layout/hList1" loCatId="list" qsTypeId="urn:microsoft.com/office/officeart/2005/8/quickstyle/simple1#148" qsCatId="simple" csTypeId="urn:microsoft.com/office/officeart/2005/8/colors/accent1_2#101" csCatId="accent1" phldr="1"/>
      <dgm:spPr/>
      <dgm:t>
        <a:bodyPr/>
        <a:lstStyle/>
        <a:p>
          <a:endParaRPr lang="fr-FR"/>
        </a:p>
      </dgm:t>
    </dgm:pt>
    <dgm:pt modelId="{BA0C060F-DCEB-4F3F-BC16-00371D7EA6B9}">
      <dgm:prSet/>
      <dgm:spPr/>
      <dgm:t>
        <a:bodyPr/>
        <a:lstStyle/>
        <a:p>
          <a:pPr rtl="0"/>
          <a:r>
            <a:rPr lang="fr-FR" b="1" baseline="0" dirty="0"/>
            <a:t>Règles liées aux frais professionnels du BTP </a:t>
          </a:r>
          <a:endParaRPr lang="fr-FR" dirty="0"/>
        </a:p>
      </dgm:t>
    </dgm:pt>
    <dgm:pt modelId="{C598B464-926D-4B15-AF08-1A2B58AAFCB4}" type="parTrans" cxnId="{ACC0E1B6-B477-4622-98CC-E1078B8EE2A2}">
      <dgm:prSet/>
      <dgm:spPr/>
      <dgm:t>
        <a:bodyPr/>
        <a:lstStyle/>
        <a:p>
          <a:endParaRPr lang="fr-FR"/>
        </a:p>
      </dgm:t>
    </dgm:pt>
    <dgm:pt modelId="{A2200D89-58E9-4A96-9AF8-EBB328EC0369}" type="sibTrans" cxnId="{ACC0E1B6-B477-4622-98CC-E1078B8EE2A2}">
      <dgm:prSet/>
      <dgm:spPr/>
      <dgm:t>
        <a:bodyPr/>
        <a:lstStyle/>
        <a:p>
          <a:endParaRPr lang="fr-FR"/>
        </a:p>
      </dgm:t>
    </dgm:pt>
    <dgm:pt modelId="{C9EF55E6-5939-47B2-B62F-DD5CA5F2B9DE}">
      <dgm:prSet/>
      <dgm:spPr/>
      <dgm:t>
        <a:bodyPr/>
        <a:lstStyle/>
        <a:p>
          <a:pPr rtl="0">
            <a:buFont typeface="Wingdings" panose="05000000000000000000" pitchFamily="2" charset="2"/>
            <a:buChar char="§"/>
          </a:pPr>
          <a:r>
            <a:rPr lang="fr-FR" b="1" dirty="0"/>
            <a:t>Il existe un barème spécifique d’exonération des frais professionnels</a:t>
          </a:r>
          <a:endParaRPr lang="fr-FR" dirty="0"/>
        </a:p>
      </dgm:t>
    </dgm:pt>
    <dgm:pt modelId="{9D78658D-93DD-43C6-9E03-F7856C359B7A}" type="parTrans" cxnId="{44635F47-C3B3-48BE-93BD-FEB819745A42}">
      <dgm:prSet/>
      <dgm:spPr/>
      <dgm:t>
        <a:bodyPr/>
        <a:lstStyle/>
        <a:p>
          <a:endParaRPr lang="fr-FR"/>
        </a:p>
      </dgm:t>
    </dgm:pt>
    <dgm:pt modelId="{3F177F5E-A68A-4C1B-9992-9CEAC639BC87}" type="sibTrans" cxnId="{44635F47-C3B3-48BE-93BD-FEB819745A42}">
      <dgm:prSet/>
      <dgm:spPr/>
      <dgm:t>
        <a:bodyPr/>
        <a:lstStyle/>
        <a:p>
          <a:endParaRPr lang="fr-FR"/>
        </a:p>
      </dgm:t>
    </dgm:pt>
    <dgm:pt modelId="{320630A8-4F43-412A-96A5-3F7A479565E4}">
      <dgm:prSet/>
      <dgm:spPr/>
      <dgm:t>
        <a:bodyPr/>
        <a:lstStyle/>
        <a:p>
          <a:pPr rtl="0">
            <a:buFont typeface="Wingdings" panose="05000000000000000000" pitchFamily="2" charset="2"/>
            <a:buChar char="§"/>
          </a:pPr>
          <a:r>
            <a:rPr lang="fr-FR" b="1" dirty="0"/>
            <a:t>L’abattement de 10 % n’est pas applicable à la base CSG-RDS</a:t>
          </a:r>
          <a:endParaRPr lang="fr-FR" dirty="0"/>
        </a:p>
      </dgm:t>
    </dgm:pt>
    <dgm:pt modelId="{06AB3D58-CB4C-4921-A67D-89A3461BFE87}" type="parTrans" cxnId="{23183A67-8162-4425-BFFE-64B6A7904150}">
      <dgm:prSet/>
      <dgm:spPr/>
      <dgm:t>
        <a:bodyPr/>
        <a:lstStyle/>
        <a:p>
          <a:endParaRPr lang="fr-FR"/>
        </a:p>
      </dgm:t>
    </dgm:pt>
    <dgm:pt modelId="{07FE6209-9584-4638-9147-86EAAE73BA51}" type="sibTrans" cxnId="{23183A67-8162-4425-BFFE-64B6A7904150}">
      <dgm:prSet/>
      <dgm:spPr/>
      <dgm:t>
        <a:bodyPr/>
        <a:lstStyle/>
        <a:p>
          <a:endParaRPr lang="fr-FR"/>
        </a:p>
      </dgm:t>
    </dgm:pt>
    <dgm:pt modelId="{17A04813-852E-4AB3-AB2E-2F7F3B2DA241}">
      <dgm:prSet/>
      <dgm:spPr/>
      <dgm:t>
        <a:bodyPr/>
        <a:lstStyle/>
        <a:p>
          <a:pPr rtl="0">
            <a:buFont typeface="Wingdings" panose="05000000000000000000" pitchFamily="2" charset="2"/>
            <a:buChar char="§"/>
          </a:pPr>
          <a:r>
            <a:rPr lang="fr-FR" b="1" dirty="0"/>
            <a:t>Le montant maximum de l’abattement est de 7 600 € par année civile et par salarié</a:t>
          </a:r>
          <a:endParaRPr lang="fr-FR" dirty="0"/>
        </a:p>
      </dgm:t>
    </dgm:pt>
    <dgm:pt modelId="{CC3ED4E1-AA96-40BE-AE18-ECD3AD61E990}" type="parTrans" cxnId="{2319E696-CFC6-4430-80F2-87726381C032}">
      <dgm:prSet/>
      <dgm:spPr/>
      <dgm:t>
        <a:bodyPr/>
        <a:lstStyle/>
        <a:p>
          <a:endParaRPr lang="fr-FR"/>
        </a:p>
      </dgm:t>
    </dgm:pt>
    <dgm:pt modelId="{82E93068-ABC2-4A7A-A52A-63D24060E449}" type="sibTrans" cxnId="{2319E696-CFC6-4430-80F2-87726381C032}">
      <dgm:prSet/>
      <dgm:spPr/>
      <dgm:t>
        <a:bodyPr/>
        <a:lstStyle/>
        <a:p>
          <a:endParaRPr lang="fr-FR"/>
        </a:p>
      </dgm:t>
    </dgm:pt>
    <dgm:pt modelId="{ABB7C983-BBDB-403A-B639-4B533E92047C}">
      <dgm:prSet/>
      <dgm:spPr/>
      <dgm:t>
        <a:bodyPr/>
        <a:lstStyle/>
        <a:p>
          <a:pPr rtl="0">
            <a:buFont typeface="Wingdings" panose="05000000000000000000" pitchFamily="2" charset="2"/>
            <a:buChar char="§"/>
          </a:pPr>
          <a:r>
            <a:rPr lang="fr-FR" b="1" dirty="0"/>
            <a:t>Selon l’option abattement ou non, l’assiette des cotisations est différente</a:t>
          </a:r>
          <a:endParaRPr lang="fr-FR" dirty="0"/>
        </a:p>
      </dgm:t>
    </dgm:pt>
    <dgm:pt modelId="{3EE0D6E4-CFD3-4A1C-8A25-B13F372FDA7C}" type="parTrans" cxnId="{1840628D-E8FB-4B66-B57C-74CDEB0BF4E4}">
      <dgm:prSet/>
      <dgm:spPr/>
      <dgm:t>
        <a:bodyPr/>
        <a:lstStyle/>
        <a:p>
          <a:endParaRPr lang="fr-FR"/>
        </a:p>
      </dgm:t>
    </dgm:pt>
    <dgm:pt modelId="{E645A0F6-280D-405A-A4AD-5CB9D86A113C}" type="sibTrans" cxnId="{1840628D-E8FB-4B66-B57C-74CDEB0BF4E4}">
      <dgm:prSet/>
      <dgm:spPr/>
      <dgm:t>
        <a:bodyPr/>
        <a:lstStyle/>
        <a:p>
          <a:endParaRPr lang="fr-FR"/>
        </a:p>
      </dgm:t>
    </dgm:pt>
    <dgm:pt modelId="{0D6D5E50-AF60-48BE-8648-78DFD050DB46}">
      <dgm:prSet/>
      <dgm:spPr/>
      <dgm:t>
        <a:bodyPr/>
        <a:lstStyle/>
        <a:p>
          <a:pPr rtl="0">
            <a:buFont typeface="Wingdings" panose="05000000000000000000" pitchFamily="2" charset="2"/>
            <a:buChar char="§"/>
          </a:pPr>
          <a:r>
            <a:rPr lang="fr-FR" b="1" dirty="0"/>
            <a:t>Il existe une base minimale à respecter (voir développement dans le cas « petits déplacements et brut abattu »</a:t>
          </a:r>
          <a:r>
            <a:rPr lang="fr-FR" dirty="0"/>
            <a:t>)</a:t>
          </a:r>
        </a:p>
      </dgm:t>
    </dgm:pt>
    <dgm:pt modelId="{8576BB6C-6296-4F9B-9962-98502E26FE67}" type="parTrans" cxnId="{54D2D09A-FEC5-46F1-BA3C-15A309B468F0}">
      <dgm:prSet/>
      <dgm:spPr/>
    </dgm:pt>
    <dgm:pt modelId="{4D2797D6-6A98-4036-B904-D28FEEA125DF}" type="sibTrans" cxnId="{54D2D09A-FEC5-46F1-BA3C-15A309B468F0}">
      <dgm:prSet/>
      <dgm:spPr/>
    </dgm:pt>
    <dgm:pt modelId="{44A6F185-60A6-4FEF-AC68-EDB99F78DEF8}">
      <dgm:prSet/>
      <dgm:spPr/>
      <dgm:t>
        <a:bodyPr/>
        <a:lstStyle/>
        <a:p>
          <a:pPr rtl="0">
            <a:buFont typeface="Webdings" panose="05030102010509060703" pitchFamily="18" charset="2"/>
            <a:buChar char="4"/>
          </a:pPr>
          <a:r>
            <a:rPr lang="fr-FR" b="1" dirty="0"/>
            <a:t>1 exercice est prévu, en fin de séquence, avec bulletin de paye d’un salarié avec abattement ou sans abattement </a:t>
          </a:r>
          <a:endParaRPr lang="fr-FR" dirty="0"/>
        </a:p>
      </dgm:t>
    </dgm:pt>
    <dgm:pt modelId="{CE1152DF-8C60-4024-A69F-230AEBDD6EE3}" type="parTrans" cxnId="{E71C0F21-9775-44B0-AC07-1437D01433C8}">
      <dgm:prSet/>
      <dgm:spPr/>
    </dgm:pt>
    <dgm:pt modelId="{F256EF74-1102-4E44-8166-0766E4033475}" type="sibTrans" cxnId="{E71C0F21-9775-44B0-AC07-1437D01433C8}">
      <dgm:prSet/>
      <dgm:spPr/>
    </dgm:pt>
    <dgm:pt modelId="{E41918EA-6DD3-40AA-BBB5-97FAC902D14C}" type="pres">
      <dgm:prSet presAssocID="{203AB1EB-3C3D-4B8B-BD15-BAFEDF397E57}" presName="Name0" presStyleCnt="0">
        <dgm:presLayoutVars>
          <dgm:dir/>
          <dgm:animLvl val="lvl"/>
          <dgm:resizeHandles val="exact"/>
        </dgm:presLayoutVars>
      </dgm:prSet>
      <dgm:spPr/>
    </dgm:pt>
    <dgm:pt modelId="{99DB79B8-7ACB-49F6-83AE-607532B7D9E2}" type="pres">
      <dgm:prSet presAssocID="{BA0C060F-DCEB-4F3F-BC16-00371D7EA6B9}" presName="composite" presStyleCnt="0"/>
      <dgm:spPr/>
    </dgm:pt>
    <dgm:pt modelId="{56CF9A97-B1EE-4395-A145-4033F0530E95}" type="pres">
      <dgm:prSet presAssocID="{BA0C060F-DCEB-4F3F-BC16-00371D7EA6B9}" presName="parTx" presStyleLbl="alignNode1" presStyleIdx="0" presStyleCnt="1">
        <dgm:presLayoutVars>
          <dgm:chMax val="0"/>
          <dgm:chPref val="0"/>
          <dgm:bulletEnabled val="1"/>
        </dgm:presLayoutVars>
      </dgm:prSet>
      <dgm:spPr/>
    </dgm:pt>
    <dgm:pt modelId="{4DD40BBF-7C29-4C38-90E2-A0B8CA4D62E2}" type="pres">
      <dgm:prSet presAssocID="{BA0C060F-DCEB-4F3F-BC16-00371D7EA6B9}" presName="desTx" presStyleLbl="alignAccFollowNode1" presStyleIdx="0" presStyleCnt="1">
        <dgm:presLayoutVars>
          <dgm:bulletEnabled val="1"/>
        </dgm:presLayoutVars>
      </dgm:prSet>
      <dgm:spPr/>
    </dgm:pt>
  </dgm:ptLst>
  <dgm:cxnLst>
    <dgm:cxn modelId="{E71C0F21-9775-44B0-AC07-1437D01433C8}" srcId="{ABB7C983-BBDB-403A-B639-4B533E92047C}" destId="{44A6F185-60A6-4FEF-AC68-EDB99F78DEF8}" srcOrd="0" destOrd="0" parTransId="{CE1152DF-8C60-4024-A69F-230AEBDD6EE3}" sibTransId="{F256EF74-1102-4E44-8166-0766E4033475}"/>
    <dgm:cxn modelId="{21691A3B-9A10-4005-A169-28823ABDC226}" type="presOf" srcId="{ABB7C983-BBDB-403A-B639-4B533E92047C}" destId="{4DD40BBF-7C29-4C38-90E2-A0B8CA4D62E2}" srcOrd="0" destOrd="4" presId="urn:microsoft.com/office/officeart/2005/8/layout/hList1"/>
    <dgm:cxn modelId="{3A6EBD3F-B0E8-46A2-B23D-EDA8B33B5F77}" type="presOf" srcId="{320630A8-4F43-412A-96A5-3F7A479565E4}" destId="{4DD40BBF-7C29-4C38-90E2-A0B8CA4D62E2}" srcOrd="0" destOrd="1" presId="urn:microsoft.com/office/officeart/2005/8/layout/hList1"/>
    <dgm:cxn modelId="{23183A67-8162-4425-BFFE-64B6A7904150}" srcId="{BA0C060F-DCEB-4F3F-BC16-00371D7EA6B9}" destId="{320630A8-4F43-412A-96A5-3F7A479565E4}" srcOrd="1" destOrd="0" parTransId="{06AB3D58-CB4C-4921-A67D-89A3461BFE87}" sibTransId="{07FE6209-9584-4638-9147-86EAAE73BA51}"/>
    <dgm:cxn modelId="{44635F47-C3B3-48BE-93BD-FEB819745A42}" srcId="{BA0C060F-DCEB-4F3F-BC16-00371D7EA6B9}" destId="{C9EF55E6-5939-47B2-B62F-DD5CA5F2B9DE}" srcOrd="0" destOrd="0" parTransId="{9D78658D-93DD-43C6-9E03-F7856C359B7A}" sibTransId="{3F177F5E-A68A-4C1B-9992-9CEAC639BC87}"/>
    <dgm:cxn modelId="{5A7FAD54-A829-484E-9B31-B55DDF136E63}" type="presOf" srcId="{44A6F185-60A6-4FEF-AC68-EDB99F78DEF8}" destId="{4DD40BBF-7C29-4C38-90E2-A0B8CA4D62E2}" srcOrd="0" destOrd="5" presId="urn:microsoft.com/office/officeart/2005/8/layout/hList1"/>
    <dgm:cxn modelId="{7FE7EB83-1727-441A-9041-F81A5AA1AC90}" type="presOf" srcId="{203AB1EB-3C3D-4B8B-BD15-BAFEDF397E57}" destId="{E41918EA-6DD3-40AA-BBB5-97FAC902D14C}" srcOrd="0" destOrd="0" presId="urn:microsoft.com/office/officeart/2005/8/layout/hList1"/>
    <dgm:cxn modelId="{6E5BBD8C-F40A-4316-B55F-CECDAD0D391B}" type="presOf" srcId="{0D6D5E50-AF60-48BE-8648-78DFD050DB46}" destId="{4DD40BBF-7C29-4C38-90E2-A0B8CA4D62E2}" srcOrd="0" destOrd="3" presId="urn:microsoft.com/office/officeart/2005/8/layout/hList1"/>
    <dgm:cxn modelId="{1840628D-E8FB-4B66-B57C-74CDEB0BF4E4}" srcId="{BA0C060F-DCEB-4F3F-BC16-00371D7EA6B9}" destId="{ABB7C983-BBDB-403A-B639-4B533E92047C}" srcOrd="4" destOrd="0" parTransId="{3EE0D6E4-CFD3-4A1C-8A25-B13F372FDA7C}" sibTransId="{E645A0F6-280D-405A-A4AD-5CB9D86A113C}"/>
    <dgm:cxn modelId="{2319E696-CFC6-4430-80F2-87726381C032}" srcId="{BA0C060F-DCEB-4F3F-BC16-00371D7EA6B9}" destId="{17A04813-852E-4AB3-AB2E-2F7F3B2DA241}" srcOrd="2" destOrd="0" parTransId="{CC3ED4E1-AA96-40BE-AE18-ECD3AD61E990}" sibTransId="{82E93068-ABC2-4A7A-A52A-63D24060E449}"/>
    <dgm:cxn modelId="{54D2D09A-FEC5-46F1-BA3C-15A309B468F0}" srcId="{BA0C060F-DCEB-4F3F-BC16-00371D7EA6B9}" destId="{0D6D5E50-AF60-48BE-8648-78DFD050DB46}" srcOrd="3" destOrd="0" parTransId="{8576BB6C-6296-4F9B-9962-98502E26FE67}" sibTransId="{4D2797D6-6A98-4036-B904-D28FEEA125DF}"/>
    <dgm:cxn modelId="{2186EF9C-0FD2-434F-8C95-5EFA6F9E600A}" type="presOf" srcId="{C9EF55E6-5939-47B2-B62F-DD5CA5F2B9DE}" destId="{4DD40BBF-7C29-4C38-90E2-A0B8CA4D62E2}" srcOrd="0" destOrd="0" presId="urn:microsoft.com/office/officeart/2005/8/layout/hList1"/>
    <dgm:cxn modelId="{ACC0E1B6-B477-4622-98CC-E1078B8EE2A2}" srcId="{203AB1EB-3C3D-4B8B-BD15-BAFEDF397E57}" destId="{BA0C060F-DCEB-4F3F-BC16-00371D7EA6B9}" srcOrd="0" destOrd="0" parTransId="{C598B464-926D-4B15-AF08-1A2B58AAFCB4}" sibTransId="{A2200D89-58E9-4A96-9AF8-EBB328EC0369}"/>
    <dgm:cxn modelId="{80AF24D7-63C6-4915-B577-897B9C5E21B6}" type="presOf" srcId="{BA0C060F-DCEB-4F3F-BC16-00371D7EA6B9}" destId="{56CF9A97-B1EE-4395-A145-4033F0530E95}" srcOrd="0" destOrd="0" presId="urn:microsoft.com/office/officeart/2005/8/layout/hList1"/>
    <dgm:cxn modelId="{4BA19FD7-7E90-4124-8504-C53D0F10F7CF}" type="presOf" srcId="{17A04813-852E-4AB3-AB2E-2F7F3B2DA241}" destId="{4DD40BBF-7C29-4C38-90E2-A0B8CA4D62E2}" srcOrd="0" destOrd="2" presId="urn:microsoft.com/office/officeart/2005/8/layout/hList1"/>
    <dgm:cxn modelId="{444F9CAD-88D3-42AA-9D09-4E8B286CFAB3}" type="presParOf" srcId="{E41918EA-6DD3-40AA-BBB5-97FAC902D14C}" destId="{99DB79B8-7ACB-49F6-83AE-607532B7D9E2}" srcOrd="0" destOrd="0" presId="urn:microsoft.com/office/officeart/2005/8/layout/hList1"/>
    <dgm:cxn modelId="{96286D86-FCE8-443A-BCC6-968D53DFE1EB}" type="presParOf" srcId="{99DB79B8-7ACB-49F6-83AE-607532B7D9E2}" destId="{56CF9A97-B1EE-4395-A145-4033F0530E95}" srcOrd="0" destOrd="0" presId="urn:microsoft.com/office/officeart/2005/8/layout/hList1"/>
    <dgm:cxn modelId="{41FB4B83-1B69-4CE7-BD14-0B28BC69148F}" type="presParOf" srcId="{99DB79B8-7ACB-49F6-83AE-607532B7D9E2}" destId="{4DD40BBF-7C29-4C38-90E2-A0B8CA4D62E2}"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4862824F-0262-4B5E-BB43-F747F783977C}" type="doc">
      <dgm:prSet loTypeId="urn:microsoft.com/office/officeart/2005/8/layout/hList1" loCatId="list" qsTypeId="urn:microsoft.com/office/officeart/2005/8/quickstyle/simple1#149" qsCatId="simple" csTypeId="urn:microsoft.com/office/officeart/2005/8/colors/accent1_2#102" csCatId="accent1" phldr="1"/>
      <dgm:spPr/>
      <dgm:t>
        <a:bodyPr/>
        <a:lstStyle/>
        <a:p>
          <a:endParaRPr lang="fr-FR"/>
        </a:p>
      </dgm:t>
    </dgm:pt>
    <dgm:pt modelId="{3CB50671-AEA4-45B6-99A6-7D1DFD28E719}">
      <dgm:prSet custT="1"/>
      <dgm:spPr/>
      <dgm:t>
        <a:bodyPr/>
        <a:lstStyle/>
        <a:p>
          <a:pPr rtl="0">
            <a:spcAft>
              <a:spcPts val="0"/>
            </a:spcAft>
          </a:pPr>
          <a:r>
            <a:rPr lang="fr-FR" sz="1800" b="1" baseline="0" dirty="0"/>
            <a:t>Les règles spécifiques du BTP – origine indemnités de congés payés </a:t>
          </a:r>
          <a:endParaRPr lang="fr-FR" sz="2800" dirty="0"/>
        </a:p>
      </dgm:t>
    </dgm:pt>
    <dgm:pt modelId="{FD545227-8660-4C8C-8A29-4B578C886807}" type="parTrans" cxnId="{469A14EA-3A33-4FD8-9414-4023E5E43B05}">
      <dgm:prSet/>
      <dgm:spPr/>
      <dgm:t>
        <a:bodyPr/>
        <a:lstStyle/>
        <a:p>
          <a:endParaRPr lang="fr-FR"/>
        </a:p>
      </dgm:t>
    </dgm:pt>
    <dgm:pt modelId="{6EB95AF4-B7CB-48DC-B9C3-6D4023D55A6C}" type="sibTrans" cxnId="{469A14EA-3A33-4FD8-9414-4023E5E43B05}">
      <dgm:prSet/>
      <dgm:spPr/>
      <dgm:t>
        <a:bodyPr/>
        <a:lstStyle/>
        <a:p>
          <a:endParaRPr lang="fr-FR"/>
        </a:p>
      </dgm:t>
    </dgm:pt>
    <dgm:pt modelId="{B61FE722-D7FE-4B79-BC5E-9E2BBC6DB49D}">
      <dgm:prSet custT="1"/>
      <dgm:spPr/>
      <dgm:t>
        <a:bodyPr/>
        <a:lstStyle/>
        <a:p>
          <a:pPr rtl="0">
            <a:buFont typeface="Wingdings" panose="05000000000000000000" pitchFamily="2" charset="2"/>
            <a:buChar char="§"/>
          </a:pPr>
          <a:r>
            <a:rPr lang="fr-FR" sz="1600" b="1" dirty="0"/>
            <a:t>Le FNAL et le versement mobilité (ex versement transport) dû sur les indemnités </a:t>
          </a:r>
          <a:br>
            <a:rPr lang="fr-FR" sz="1600" b="1" dirty="0"/>
          </a:br>
          <a:r>
            <a:rPr lang="fr-FR" sz="1600" b="1" dirty="0"/>
            <a:t>de congés payés sont à verser par les employeurs et non par la caisse des CP </a:t>
          </a:r>
          <a:br>
            <a:rPr lang="fr-FR" sz="1600" b="1" dirty="0"/>
          </a:br>
          <a:r>
            <a:rPr lang="fr-FR" sz="1600" b="1" dirty="0"/>
            <a:t>(d’où majoration de 11.50 % des bases)</a:t>
          </a:r>
          <a:endParaRPr lang="fr-FR" sz="1600" dirty="0"/>
        </a:p>
      </dgm:t>
    </dgm:pt>
    <dgm:pt modelId="{A7DB2102-268F-4389-A08C-0679A2A05483}" type="parTrans" cxnId="{7EEC156D-E45E-4142-BBDD-F4F81830585E}">
      <dgm:prSet/>
      <dgm:spPr/>
      <dgm:t>
        <a:bodyPr/>
        <a:lstStyle/>
        <a:p>
          <a:endParaRPr lang="fr-FR"/>
        </a:p>
      </dgm:t>
    </dgm:pt>
    <dgm:pt modelId="{1905F71D-2E2A-4539-BC13-F121E0B5D3B6}" type="sibTrans" cxnId="{7EEC156D-E45E-4142-BBDD-F4F81830585E}">
      <dgm:prSet/>
      <dgm:spPr/>
      <dgm:t>
        <a:bodyPr/>
        <a:lstStyle/>
        <a:p>
          <a:endParaRPr lang="fr-FR"/>
        </a:p>
      </dgm:t>
    </dgm:pt>
    <dgm:pt modelId="{AABA8397-5213-4FBE-80D9-A1B3B0C2ECA1}" type="pres">
      <dgm:prSet presAssocID="{4862824F-0262-4B5E-BB43-F747F783977C}" presName="Name0" presStyleCnt="0">
        <dgm:presLayoutVars>
          <dgm:dir/>
          <dgm:animLvl val="lvl"/>
          <dgm:resizeHandles val="exact"/>
        </dgm:presLayoutVars>
      </dgm:prSet>
      <dgm:spPr/>
    </dgm:pt>
    <dgm:pt modelId="{7246ECF1-6063-4209-BCB7-552BB2BBEB00}" type="pres">
      <dgm:prSet presAssocID="{3CB50671-AEA4-45B6-99A6-7D1DFD28E719}" presName="composite" presStyleCnt="0"/>
      <dgm:spPr/>
    </dgm:pt>
    <dgm:pt modelId="{FFBD2A85-5BDC-4972-B044-6EA60703CE5B}" type="pres">
      <dgm:prSet presAssocID="{3CB50671-AEA4-45B6-99A6-7D1DFD28E719}" presName="parTx" presStyleLbl="alignNode1" presStyleIdx="0" presStyleCnt="1" custScaleX="99685" custScaleY="93910">
        <dgm:presLayoutVars>
          <dgm:chMax val="0"/>
          <dgm:chPref val="0"/>
          <dgm:bulletEnabled val="1"/>
        </dgm:presLayoutVars>
      </dgm:prSet>
      <dgm:spPr/>
    </dgm:pt>
    <dgm:pt modelId="{12BA1498-23EA-4EF1-98EF-B72274A4C0BE}" type="pres">
      <dgm:prSet presAssocID="{3CB50671-AEA4-45B6-99A6-7D1DFD28E719}" presName="desTx" presStyleLbl="alignAccFollowNode1" presStyleIdx="0" presStyleCnt="1" custLinFactY="50402" custLinFactNeighborY="100000">
        <dgm:presLayoutVars>
          <dgm:bulletEnabled val="1"/>
        </dgm:presLayoutVars>
      </dgm:prSet>
      <dgm:spPr/>
    </dgm:pt>
  </dgm:ptLst>
  <dgm:cxnLst>
    <dgm:cxn modelId="{3267620C-B8E3-4647-B0E8-C886259DD961}" type="presOf" srcId="{3CB50671-AEA4-45B6-99A6-7D1DFD28E719}" destId="{FFBD2A85-5BDC-4972-B044-6EA60703CE5B}" srcOrd="0" destOrd="0" presId="urn:microsoft.com/office/officeart/2005/8/layout/hList1"/>
    <dgm:cxn modelId="{7EEC156D-E45E-4142-BBDD-F4F81830585E}" srcId="{3CB50671-AEA4-45B6-99A6-7D1DFD28E719}" destId="{B61FE722-D7FE-4B79-BC5E-9E2BBC6DB49D}" srcOrd="0" destOrd="0" parTransId="{A7DB2102-268F-4389-A08C-0679A2A05483}" sibTransId="{1905F71D-2E2A-4539-BC13-F121E0B5D3B6}"/>
    <dgm:cxn modelId="{2BE87E57-AA56-43AA-9550-46788685CAB4}" type="presOf" srcId="{4862824F-0262-4B5E-BB43-F747F783977C}" destId="{AABA8397-5213-4FBE-80D9-A1B3B0C2ECA1}" srcOrd="0" destOrd="0" presId="urn:microsoft.com/office/officeart/2005/8/layout/hList1"/>
    <dgm:cxn modelId="{F4D31891-0596-479E-ADFD-4684EC9ECE4B}" type="presOf" srcId="{B61FE722-D7FE-4B79-BC5E-9E2BBC6DB49D}" destId="{12BA1498-23EA-4EF1-98EF-B72274A4C0BE}" srcOrd="0" destOrd="0" presId="urn:microsoft.com/office/officeart/2005/8/layout/hList1"/>
    <dgm:cxn modelId="{469A14EA-3A33-4FD8-9414-4023E5E43B05}" srcId="{4862824F-0262-4B5E-BB43-F747F783977C}" destId="{3CB50671-AEA4-45B6-99A6-7D1DFD28E719}" srcOrd="0" destOrd="0" parTransId="{FD545227-8660-4C8C-8A29-4B578C886807}" sibTransId="{6EB95AF4-B7CB-48DC-B9C3-6D4023D55A6C}"/>
    <dgm:cxn modelId="{C83F564A-16B1-4289-8016-CE3BC31651D6}" type="presParOf" srcId="{AABA8397-5213-4FBE-80D9-A1B3B0C2ECA1}" destId="{7246ECF1-6063-4209-BCB7-552BB2BBEB00}" srcOrd="0" destOrd="0" presId="urn:microsoft.com/office/officeart/2005/8/layout/hList1"/>
    <dgm:cxn modelId="{A0447CC1-925C-42C1-9314-6EB0B56FAA2F}" type="presParOf" srcId="{7246ECF1-6063-4209-BCB7-552BB2BBEB00}" destId="{FFBD2A85-5BDC-4972-B044-6EA60703CE5B}" srcOrd="0" destOrd="0" presId="urn:microsoft.com/office/officeart/2005/8/layout/hList1"/>
    <dgm:cxn modelId="{CB426142-770E-4EFE-B1F9-F0411755E7D9}" type="presParOf" srcId="{7246ECF1-6063-4209-BCB7-552BB2BBEB00}" destId="{12BA1498-23EA-4EF1-98EF-B72274A4C0BE}"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9929CC64-6988-4200-BD17-8D4EAF1DF958}" type="doc">
      <dgm:prSet loTypeId="urn:microsoft.com/office/officeart/2005/8/layout/vList2" loCatId="list" qsTypeId="urn:microsoft.com/office/officeart/2005/8/quickstyle/simple1#150" qsCatId="simple" csTypeId="urn:microsoft.com/office/officeart/2005/8/colors/accent1_2#103" csCatId="accent1" phldr="1"/>
      <dgm:spPr/>
      <dgm:t>
        <a:bodyPr/>
        <a:lstStyle/>
        <a:p>
          <a:endParaRPr lang="fr-FR"/>
        </a:p>
      </dgm:t>
    </dgm:pt>
    <dgm:pt modelId="{928F2576-560D-42AE-9981-A834C953682E}" type="pres">
      <dgm:prSet presAssocID="{9929CC64-6988-4200-BD17-8D4EAF1DF958}" presName="linear" presStyleCnt="0">
        <dgm:presLayoutVars>
          <dgm:animLvl val="lvl"/>
          <dgm:resizeHandles val="exact"/>
        </dgm:presLayoutVars>
      </dgm:prSet>
      <dgm:spPr/>
    </dgm:pt>
  </dgm:ptLst>
  <dgm:cxnLst>
    <dgm:cxn modelId="{A9F7E45D-6B1B-4764-93F1-E46377BE646F}" type="presOf" srcId="{9929CC64-6988-4200-BD17-8D4EAF1DF958}" destId="{928F2576-560D-42AE-9981-A834C953682E}"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A7DCB825-7C6C-4A5E-8CD0-33BDFAA2D27B}" type="doc">
      <dgm:prSet loTypeId="urn:microsoft.com/office/officeart/2005/8/layout/vList2" loCatId="list" qsTypeId="urn:microsoft.com/office/officeart/2005/8/quickstyle/simple1#151" qsCatId="simple" csTypeId="urn:microsoft.com/office/officeart/2005/8/colors/accent1_2#104" csCatId="accent1" phldr="1"/>
      <dgm:spPr/>
      <dgm:t>
        <a:bodyPr/>
        <a:lstStyle/>
        <a:p>
          <a:endParaRPr lang="fr-FR"/>
        </a:p>
      </dgm:t>
    </dgm:pt>
    <dgm:pt modelId="{C8418EE3-50D9-4F09-A2D8-EFC918A19E9A}">
      <dgm:prSet phldrT="[Texte]" custT="1"/>
      <dgm:spPr/>
      <dgm:t>
        <a:bodyPr/>
        <a:lstStyle/>
        <a:p>
          <a:pPr algn="ctr"/>
          <a:r>
            <a:rPr lang="fr-FR" sz="1800" dirty="0"/>
            <a:t>Versement mobilité (ex VT) et chantiers</a:t>
          </a:r>
        </a:p>
      </dgm:t>
    </dgm:pt>
    <dgm:pt modelId="{EF2E2514-866C-4171-A660-5C9F10ABE521}" type="parTrans" cxnId="{D23C7781-03CE-4C43-BEAE-7373FC13D6D8}">
      <dgm:prSet/>
      <dgm:spPr/>
      <dgm:t>
        <a:bodyPr/>
        <a:lstStyle/>
        <a:p>
          <a:endParaRPr lang="fr-FR"/>
        </a:p>
      </dgm:t>
    </dgm:pt>
    <dgm:pt modelId="{BC78B250-1C1E-4F5A-A25F-E7E4A3BDECB3}" type="sibTrans" cxnId="{D23C7781-03CE-4C43-BEAE-7373FC13D6D8}">
      <dgm:prSet/>
      <dgm:spPr/>
      <dgm:t>
        <a:bodyPr/>
        <a:lstStyle/>
        <a:p>
          <a:endParaRPr lang="fr-FR"/>
        </a:p>
      </dgm:t>
    </dgm:pt>
    <dgm:pt modelId="{43DE70FF-EB74-43B1-88A1-9FAA3F21FAE9}">
      <dgm:prSet phldrT="[Texte]" custT="1"/>
      <dgm:spPr/>
      <dgm:t>
        <a:bodyPr/>
        <a:lstStyle/>
        <a:p>
          <a:pPr algn="just">
            <a:buFont typeface="Wingdings" panose="05000000000000000000" pitchFamily="2" charset="2"/>
            <a:buChar char="§"/>
          </a:pPr>
          <a:r>
            <a:rPr lang="fr-FR" sz="1600" dirty="0"/>
            <a:t>Les salariés sont pris en compte au titre de l’établissement tenant le registre unique du personnel (RUP) sur lequel ils sont inscrits</a:t>
          </a:r>
        </a:p>
      </dgm:t>
    </dgm:pt>
    <dgm:pt modelId="{77103734-FFA0-4114-8BD4-1BE0C4CA45CB}" type="parTrans" cxnId="{9D4F59BB-F86F-4AB4-85E3-0526988B14EF}">
      <dgm:prSet/>
      <dgm:spPr/>
      <dgm:t>
        <a:bodyPr/>
        <a:lstStyle/>
        <a:p>
          <a:endParaRPr lang="fr-FR"/>
        </a:p>
      </dgm:t>
    </dgm:pt>
    <dgm:pt modelId="{CF20F585-E8B3-4DB2-9CBA-B45F9D6D721A}" type="sibTrans" cxnId="{9D4F59BB-F86F-4AB4-85E3-0526988B14EF}">
      <dgm:prSet/>
      <dgm:spPr/>
      <dgm:t>
        <a:bodyPr/>
        <a:lstStyle/>
        <a:p>
          <a:endParaRPr lang="fr-FR"/>
        </a:p>
      </dgm:t>
    </dgm:pt>
    <dgm:pt modelId="{DCE41881-5398-445E-81CA-CEC557F4C4E1}">
      <dgm:prSet phldrT="[Texte]" custT="1"/>
      <dgm:spPr/>
      <dgm:t>
        <a:bodyPr/>
        <a:lstStyle/>
        <a:p>
          <a:pPr algn="just">
            <a:buFont typeface="Wingdings" panose="05000000000000000000" pitchFamily="2" charset="2"/>
            <a:buChar char="§"/>
          </a:pPr>
          <a:r>
            <a:rPr lang="fr-FR" sz="1600" dirty="0"/>
            <a:t>Pour les salariés qui exercent en dehors d'un établissement de l’employeur, il est tenu compte du lieu où est exercée cette activité plus de 3 mois consécutifs dans une zone (dans la même zone) où a été institué le VT, cette règle vaut pour le calcul de l’effectif et pour la détermination de l’assiette du versement de transport </a:t>
          </a:r>
        </a:p>
      </dgm:t>
    </dgm:pt>
    <dgm:pt modelId="{22CD65BC-57EE-493C-A9BB-00C24715D552}" type="parTrans" cxnId="{D37DD7AF-FE09-4CA1-A327-2ABD58988B99}">
      <dgm:prSet/>
      <dgm:spPr/>
      <dgm:t>
        <a:bodyPr/>
        <a:lstStyle/>
        <a:p>
          <a:endParaRPr lang="fr-FR"/>
        </a:p>
      </dgm:t>
    </dgm:pt>
    <dgm:pt modelId="{65B81EEB-6C42-498F-ADD0-52BEF3B1EE76}" type="sibTrans" cxnId="{D37DD7AF-FE09-4CA1-A327-2ABD58988B99}">
      <dgm:prSet/>
      <dgm:spPr/>
      <dgm:t>
        <a:bodyPr/>
        <a:lstStyle/>
        <a:p>
          <a:endParaRPr lang="fr-FR"/>
        </a:p>
      </dgm:t>
    </dgm:pt>
    <dgm:pt modelId="{65523457-4BF1-415F-A925-14C37F8E3DC4}">
      <dgm:prSet phldrT="[Texte]" custT="1"/>
      <dgm:spPr/>
      <dgm:t>
        <a:bodyPr/>
        <a:lstStyle/>
        <a:p>
          <a:pPr algn="just">
            <a:buFont typeface="Wingdings" panose="05000000000000000000" pitchFamily="2" charset="2"/>
            <a:buChar char="§"/>
          </a:pPr>
          <a:r>
            <a:rPr lang="fr-FR" sz="1600" dirty="0"/>
            <a:t>Concrètement, le salarié est retenu sur la zone à compter du premier jour du 4</a:t>
          </a:r>
          <a:r>
            <a:rPr lang="fr-FR" sz="1600" baseline="30000" dirty="0"/>
            <a:t>e</a:t>
          </a:r>
          <a:r>
            <a:rPr lang="fr-FR" sz="1600" dirty="0"/>
            <a:t> mois d’exercice de son activité en dehors d’un établissement de l’employeur</a:t>
          </a:r>
        </a:p>
      </dgm:t>
    </dgm:pt>
    <dgm:pt modelId="{388D8233-03FD-4E9A-9FF9-C28419786830}" type="parTrans" cxnId="{758D7E20-44F0-44A0-9853-9FC5ADA2701C}">
      <dgm:prSet/>
      <dgm:spPr/>
      <dgm:t>
        <a:bodyPr/>
        <a:lstStyle/>
        <a:p>
          <a:endParaRPr lang="fr-FR"/>
        </a:p>
      </dgm:t>
    </dgm:pt>
    <dgm:pt modelId="{35FCE638-B4EC-496A-92D4-2BDC0FC174F0}" type="sibTrans" cxnId="{758D7E20-44F0-44A0-9853-9FC5ADA2701C}">
      <dgm:prSet/>
      <dgm:spPr/>
      <dgm:t>
        <a:bodyPr/>
        <a:lstStyle/>
        <a:p>
          <a:endParaRPr lang="fr-FR"/>
        </a:p>
      </dgm:t>
    </dgm:pt>
    <dgm:pt modelId="{14282832-1A01-447E-B30D-79974196E3AB}" type="pres">
      <dgm:prSet presAssocID="{A7DCB825-7C6C-4A5E-8CD0-33BDFAA2D27B}" presName="linear" presStyleCnt="0">
        <dgm:presLayoutVars>
          <dgm:animLvl val="lvl"/>
          <dgm:resizeHandles val="exact"/>
        </dgm:presLayoutVars>
      </dgm:prSet>
      <dgm:spPr/>
    </dgm:pt>
    <dgm:pt modelId="{F70AB001-7595-4D48-B094-7163D62DDA98}" type="pres">
      <dgm:prSet presAssocID="{C8418EE3-50D9-4F09-A2D8-EFC918A19E9A}" presName="parentText" presStyleLbl="node1" presStyleIdx="0" presStyleCnt="1" custScaleY="130180" custLinFactY="-128697" custLinFactNeighborY="-200000">
        <dgm:presLayoutVars>
          <dgm:chMax val="0"/>
          <dgm:bulletEnabled val="1"/>
        </dgm:presLayoutVars>
      </dgm:prSet>
      <dgm:spPr/>
    </dgm:pt>
    <dgm:pt modelId="{5B1EAEF9-90B1-4C10-B65B-D469AF1A44D9}" type="pres">
      <dgm:prSet presAssocID="{C8418EE3-50D9-4F09-A2D8-EFC918A19E9A}" presName="childText" presStyleLbl="revTx" presStyleIdx="0" presStyleCnt="1" custScaleY="1548146" custLinFactY="100000" custLinFactNeighborX="79" custLinFactNeighborY="126231">
        <dgm:presLayoutVars>
          <dgm:bulletEnabled val="1"/>
        </dgm:presLayoutVars>
      </dgm:prSet>
      <dgm:spPr/>
    </dgm:pt>
  </dgm:ptLst>
  <dgm:cxnLst>
    <dgm:cxn modelId="{758D7E20-44F0-44A0-9853-9FC5ADA2701C}" srcId="{C8418EE3-50D9-4F09-A2D8-EFC918A19E9A}" destId="{65523457-4BF1-415F-A925-14C37F8E3DC4}" srcOrd="2" destOrd="0" parTransId="{388D8233-03FD-4E9A-9FF9-C28419786830}" sibTransId="{35FCE638-B4EC-496A-92D4-2BDC0FC174F0}"/>
    <dgm:cxn modelId="{7F629D42-E630-4CD4-BB5D-82893FE79C39}" type="presOf" srcId="{C8418EE3-50D9-4F09-A2D8-EFC918A19E9A}" destId="{F70AB001-7595-4D48-B094-7163D62DDA98}" srcOrd="0" destOrd="0" presId="urn:microsoft.com/office/officeart/2005/8/layout/vList2"/>
    <dgm:cxn modelId="{6B30B545-EC01-47A0-9FB8-351EC56507CE}" type="presOf" srcId="{DCE41881-5398-445E-81CA-CEC557F4C4E1}" destId="{5B1EAEF9-90B1-4C10-B65B-D469AF1A44D9}" srcOrd="0" destOrd="1" presId="urn:microsoft.com/office/officeart/2005/8/layout/vList2"/>
    <dgm:cxn modelId="{EC242454-6ED4-46A5-8416-0E106B4CD745}" type="presOf" srcId="{43DE70FF-EB74-43B1-88A1-9FAA3F21FAE9}" destId="{5B1EAEF9-90B1-4C10-B65B-D469AF1A44D9}" srcOrd="0" destOrd="0" presId="urn:microsoft.com/office/officeart/2005/8/layout/vList2"/>
    <dgm:cxn modelId="{D23C7781-03CE-4C43-BEAE-7373FC13D6D8}" srcId="{A7DCB825-7C6C-4A5E-8CD0-33BDFAA2D27B}" destId="{C8418EE3-50D9-4F09-A2D8-EFC918A19E9A}" srcOrd="0" destOrd="0" parTransId="{EF2E2514-866C-4171-A660-5C9F10ABE521}" sibTransId="{BC78B250-1C1E-4F5A-A25F-E7E4A3BDECB3}"/>
    <dgm:cxn modelId="{D37DD7AF-FE09-4CA1-A327-2ABD58988B99}" srcId="{C8418EE3-50D9-4F09-A2D8-EFC918A19E9A}" destId="{DCE41881-5398-445E-81CA-CEC557F4C4E1}" srcOrd="1" destOrd="0" parTransId="{22CD65BC-57EE-493C-A9BB-00C24715D552}" sibTransId="{65B81EEB-6C42-498F-ADD0-52BEF3B1EE76}"/>
    <dgm:cxn modelId="{13E701B2-375B-483E-9E44-D3990927D594}" type="presOf" srcId="{A7DCB825-7C6C-4A5E-8CD0-33BDFAA2D27B}" destId="{14282832-1A01-447E-B30D-79974196E3AB}" srcOrd="0" destOrd="0" presId="urn:microsoft.com/office/officeart/2005/8/layout/vList2"/>
    <dgm:cxn modelId="{9D4F59BB-F86F-4AB4-85E3-0526988B14EF}" srcId="{C8418EE3-50D9-4F09-A2D8-EFC918A19E9A}" destId="{43DE70FF-EB74-43B1-88A1-9FAA3F21FAE9}" srcOrd="0" destOrd="0" parTransId="{77103734-FFA0-4114-8BD4-1BE0C4CA45CB}" sibTransId="{CF20F585-E8B3-4DB2-9CBA-B45F9D6D721A}"/>
    <dgm:cxn modelId="{4A3362FA-6E85-4BF1-B17E-1AF569BEF2AA}" type="presOf" srcId="{65523457-4BF1-415F-A925-14C37F8E3DC4}" destId="{5B1EAEF9-90B1-4C10-B65B-D469AF1A44D9}" srcOrd="0" destOrd="2" presId="urn:microsoft.com/office/officeart/2005/8/layout/vList2"/>
    <dgm:cxn modelId="{B426A218-9661-4960-B3C5-3CCC633A25A6}" type="presParOf" srcId="{14282832-1A01-447E-B30D-79974196E3AB}" destId="{F70AB001-7595-4D48-B094-7163D62DDA98}" srcOrd="0" destOrd="0" presId="urn:microsoft.com/office/officeart/2005/8/layout/vList2"/>
    <dgm:cxn modelId="{D0C2247A-9569-4796-BC43-EEA43C979E62}" type="presParOf" srcId="{14282832-1A01-447E-B30D-79974196E3AB}" destId="{5B1EAEF9-90B1-4C10-B65B-D469AF1A44D9}" srcOrd="1"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29.xml><?xml version="1.0" encoding="utf-8"?>
<dgm:dataModel xmlns:dgm="http://schemas.openxmlformats.org/drawingml/2006/diagram" xmlns:a="http://schemas.openxmlformats.org/drawingml/2006/main">
  <dgm:ptLst>
    <dgm:pt modelId="{14C863C6-16EE-4B1E-8EAB-2CCC5336B03A}" type="doc">
      <dgm:prSet loTypeId="urn:microsoft.com/office/officeart/2005/8/layout/vList3" loCatId="list" qsTypeId="urn:microsoft.com/office/officeart/2005/8/quickstyle/simple1#152" qsCatId="simple" csTypeId="urn:microsoft.com/office/officeart/2005/8/colors/accent1_2#105" csCatId="accent1" phldr="1"/>
      <dgm:spPr/>
      <dgm:t>
        <a:bodyPr/>
        <a:lstStyle/>
        <a:p>
          <a:endParaRPr lang="fr-FR"/>
        </a:p>
      </dgm:t>
    </dgm:pt>
    <dgm:pt modelId="{C1624E3F-84F8-451C-B1F6-11EA470B3DDF}">
      <dgm:prSet custT="1"/>
      <dgm:spPr/>
      <dgm:t>
        <a:bodyPr/>
        <a:lstStyle/>
        <a:p>
          <a:pPr rtl="0">
            <a:buNone/>
          </a:pPr>
          <a:r>
            <a:rPr lang="x-none" sz="1800" b="0" baseline="0" dirty="0"/>
            <a:t>Les entreprises du BTP sont autorisées à neutraliser certaines  périodes relatives</a:t>
          </a:r>
          <a:endParaRPr lang="fr-FR" sz="1800" b="0" dirty="0"/>
        </a:p>
      </dgm:t>
    </dgm:pt>
    <dgm:pt modelId="{446F16D9-05A2-4B93-B1B9-82057E6E5A68}" type="parTrans" cxnId="{2723A562-29ED-46C7-8EC3-86055DBCE926}">
      <dgm:prSet/>
      <dgm:spPr/>
      <dgm:t>
        <a:bodyPr/>
        <a:lstStyle/>
        <a:p>
          <a:endParaRPr lang="fr-FR"/>
        </a:p>
      </dgm:t>
    </dgm:pt>
    <dgm:pt modelId="{73E5910D-284C-4FE3-913E-4DE67C5673D3}" type="sibTrans" cxnId="{2723A562-29ED-46C7-8EC3-86055DBCE926}">
      <dgm:prSet/>
      <dgm:spPr/>
      <dgm:t>
        <a:bodyPr/>
        <a:lstStyle/>
        <a:p>
          <a:endParaRPr lang="fr-FR"/>
        </a:p>
      </dgm:t>
    </dgm:pt>
    <dgm:pt modelId="{43BEB6E7-4377-4C3B-B465-5BD91B548CD0}">
      <dgm:prSet custT="1"/>
      <dgm:spPr/>
      <dgm:t>
        <a:bodyPr/>
        <a:lstStyle/>
        <a:p>
          <a:pPr rtl="0">
            <a:buFont typeface="Wingdings" panose="05000000000000000000" pitchFamily="2" charset="2"/>
            <a:buChar char="§"/>
          </a:pPr>
          <a:r>
            <a:rPr lang="fr-FR" sz="1600" b="0" dirty="0"/>
            <a:t>A</a:t>
          </a:r>
          <a:r>
            <a:rPr lang="x-none" sz="1600" b="0" dirty="0"/>
            <a:t>ux périodes d’indemnisation</a:t>
          </a:r>
          <a:br>
            <a:rPr lang="fr-FR" sz="1600" b="0" dirty="0"/>
          </a:br>
          <a:r>
            <a:rPr lang="x-none" sz="1600" b="0" dirty="0"/>
            <a:t>de congés payés</a:t>
          </a:r>
          <a:endParaRPr lang="fr-FR" sz="1600" b="0" dirty="0"/>
        </a:p>
      </dgm:t>
    </dgm:pt>
    <dgm:pt modelId="{D3289660-4741-4B62-8A4D-41FE6521D8A3}" type="parTrans" cxnId="{C4211DBA-CF2E-4090-80C5-2882259E282A}">
      <dgm:prSet/>
      <dgm:spPr/>
      <dgm:t>
        <a:bodyPr/>
        <a:lstStyle/>
        <a:p>
          <a:endParaRPr lang="fr-FR"/>
        </a:p>
      </dgm:t>
    </dgm:pt>
    <dgm:pt modelId="{569095B9-E733-421C-879A-B34A14AF7027}" type="sibTrans" cxnId="{C4211DBA-CF2E-4090-80C5-2882259E282A}">
      <dgm:prSet/>
      <dgm:spPr/>
      <dgm:t>
        <a:bodyPr/>
        <a:lstStyle/>
        <a:p>
          <a:endParaRPr lang="fr-FR"/>
        </a:p>
      </dgm:t>
    </dgm:pt>
    <dgm:pt modelId="{D59B7E9E-A46C-4E39-905E-A49C4E68E4E3}">
      <dgm:prSet custT="1"/>
      <dgm:spPr/>
      <dgm:t>
        <a:bodyPr/>
        <a:lstStyle/>
        <a:p>
          <a:pPr rtl="0">
            <a:buFont typeface="Wingdings" panose="05000000000000000000" pitchFamily="2" charset="2"/>
            <a:buChar char="§"/>
          </a:pPr>
          <a:r>
            <a:rPr lang="fr-FR" sz="1600" b="0" dirty="0"/>
            <a:t>A</a:t>
          </a:r>
          <a:r>
            <a:rPr lang="x-none" sz="1600" b="0" dirty="0"/>
            <a:t>ux périodes d’indemnisation</a:t>
          </a:r>
          <a:br>
            <a:rPr lang="fr-FR" sz="1600" b="0" dirty="0"/>
          </a:br>
          <a:r>
            <a:rPr lang="fr-FR" sz="1600" b="0" dirty="0"/>
            <a:t>du chômage-intempéries</a:t>
          </a:r>
        </a:p>
      </dgm:t>
    </dgm:pt>
    <dgm:pt modelId="{968F6D82-1026-4745-92E7-92B1E15D6EB1}" type="parTrans" cxnId="{9F28A58F-E039-41AD-919E-58FC50A80DED}">
      <dgm:prSet/>
      <dgm:spPr/>
      <dgm:t>
        <a:bodyPr/>
        <a:lstStyle/>
        <a:p>
          <a:endParaRPr lang="fr-FR"/>
        </a:p>
      </dgm:t>
    </dgm:pt>
    <dgm:pt modelId="{E6861E9F-A7C8-4862-AC37-0383E728EB09}" type="sibTrans" cxnId="{9F28A58F-E039-41AD-919E-58FC50A80DED}">
      <dgm:prSet/>
      <dgm:spPr/>
      <dgm:t>
        <a:bodyPr/>
        <a:lstStyle/>
        <a:p>
          <a:endParaRPr lang="fr-FR"/>
        </a:p>
      </dgm:t>
    </dgm:pt>
    <dgm:pt modelId="{87092C45-460B-41A0-AE93-2963A1F6B80A}">
      <dgm:prSet custT="1"/>
      <dgm:spPr/>
      <dgm:t>
        <a:bodyPr/>
        <a:lstStyle/>
        <a:p>
          <a:pPr rtl="0">
            <a:buFont typeface="Wingdings" panose="05000000000000000000" pitchFamily="2" charset="2"/>
            <a:buChar char="§"/>
          </a:pPr>
          <a:r>
            <a:rPr lang="fr-FR" sz="1600" b="0" dirty="0"/>
            <a:t>A</a:t>
          </a:r>
          <a:r>
            <a:rPr lang="x-none" sz="1600" b="0" dirty="0"/>
            <a:t>ux périodes d’indemnisation d'arrêts de travail par les organismes professionnels</a:t>
          </a:r>
          <a:endParaRPr lang="fr-FR" sz="1600" b="0" dirty="0"/>
        </a:p>
      </dgm:t>
    </dgm:pt>
    <dgm:pt modelId="{AA132BED-6EAB-40C9-A441-43D7650B400D}" type="parTrans" cxnId="{BEB7F6C4-7232-4C44-B5DF-4B7641E5D919}">
      <dgm:prSet/>
      <dgm:spPr/>
      <dgm:t>
        <a:bodyPr/>
        <a:lstStyle/>
        <a:p>
          <a:endParaRPr lang="fr-FR"/>
        </a:p>
      </dgm:t>
    </dgm:pt>
    <dgm:pt modelId="{7EE8C48E-8D0C-4EEF-9243-8AED715479FC}" type="sibTrans" cxnId="{BEB7F6C4-7232-4C44-B5DF-4B7641E5D919}">
      <dgm:prSet/>
      <dgm:spPr/>
      <dgm:t>
        <a:bodyPr/>
        <a:lstStyle/>
        <a:p>
          <a:endParaRPr lang="fr-FR"/>
        </a:p>
      </dgm:t>
    </dgm:pt>
    <dgm:pt modelId="{B989AAF5-E289-48B6-9014-7F70371FF4BF}" type="pres">
      <dgm:prSet presAssocID="{14C863C6-16EE-4B1E-8EAB-2CCC5336B03A}" presName="linearFlow" presStyleCnt="0">
        <dgm:presLayoutVars>
          <dgm:dir/>
          <dgm:resizeHandles val="exact"/>
        </dgm:presLayoutVars>
      </dgm:prSet>
      <dgm:spPr/>
    </dgm:pt>
    <dgm:pt modelId="{586F5E72-31DF-427E-BDD6-280FD68B0F4A}" type="pres">
      <dgm:prSet presAssocID="{C1624E3F-84F8-451C-B1F6-11EA470B3DDF}" presName="composite" presStyleCnt="0"/>
      <dgm:spPr/>
    </dgm:pt>
    <dgm:pt modelId="{0CE6E942-90F2-411E-9ABC-A665694CDFBF}" type="pres">
      <dgm:prSet presAssocID="{C1624E3F-84F8-451C-B1F6-11EA470B3DDF}" presName="imgShp" presStyleLbl="fgImgPlace1" presStyleIdx="0" presStyleCnt="1" custLinFactNeighborX="-1621" custLinFactNeighborY="-3310"/>
      <dgm:spPr/>
    </dgm:pt>
    <dgm:pt modelId="{E1CBB275-20DB-4695-8176-BCD86852D610}" type="pres">
      <dgm:prSet presAssocID="{C1624E3F-84F8-451C-B1F6-11EA470B3DDF}" presName="txShp" presStyleLbl="node1" presStyleIdx="0" presStyleCnt="1" custScaleY="90805" custLinFactNeighborY="-2976">
        <dgm:presLayoutVars>
          <dgm:bulletEnabled val="1"/>
        </dgm:presLayoutVars>
      </dgm:prSet>
      <dgm:spPr/>
    </dgm:pt>
  </dgm:ptLst>
  <dgm:cxnLst>
    <dgm:cxn modelId="{BD03D23C-E06A-4AFE-A507-532F22C46F9C}" type="presOf" srcId="{C1624E3F-84F8-451C-B1F6-11EA470B3DDF}" destId="{E1CBB275-20DB-4695-8176-BCD86852D610}" srcOrd="0" destOrd="0" presId="urn:microsoft.com/office/officeart/2005/8/layout/vList3"/>
    <dgm:cxn modelId="{2723A562-29ED-46C7-8EC3-86055DBCE926}" srcId="{14C863C6-16EE-4B1E-8EAB-2CCC5336B03A}" destId="{C1624E3F-84F8-451C-B1F6-11EA470B3DDF}" srcOrd="0" destOrd="0" parTransId="{446F16D9-05A2-4B93-B1B9-82057E6E5A68}" sibTransId="{73E5910D-284C-4FE3-913E-4DE67C5673D3}"/>
    <dgm:cxn modelId="{46283167-00E5-4C4F-94C2-F2C36C7F5EBF}" type="presOf" srcId="{14C863C6-16EE-4B1E-8EAB-2CCC5336B03A}" destId="{B989AAF5-E289-48B6-9014-7F70371FF4BF}" srcOrd="0" destOrd="0" presId="urn:microsoft.com/office/officeart/2005/8/layout/vList3"/>
    <dgm:cxn modelId="{75B04057-EB08-4716-BC4B-A140FFBD0BDF}" type="presOf" srcId="{87092C45-460B-41A0-AE93-2963A1F6B80A}" destId="{E1CBB275-20DB-4695-8176-BCD86852D610}" srcOrd="0" destOrd="3" presId="urn:microsoft.com/office/officeart/2005/8/layout/vList3"/>
    <dgm:cxn modelId="{9F28A58F-E039-41AD-919E-58FC50A80DED}" srcId="{C1624E3F-84F8-451C-B1F6-11EA470B3DDF}" destId="{D59B7E9E-A46C-4E39-905E-A49C4E68E4E3}" srcOrd="1" destOrd="0" parTransId="{968F6D82-1026-4745-92E7-92B1E15D6EB1}" sibTransId="{E6861E9F-A7C8-4862-AC37-0383E728EB09}"/>
    <dgm:cxn modelId="{993A98B6-25AF-4011-910D-860D1F2F2CC3}" type="presOf" srcId="{43BEB6E7-4377-4C3B-B465-5BD91B548CD0}" destId="{E1CBB275-20DB-4695-8176-BCD86852D610}" srcOrd="0" destOrd="1" presId="urn:microsoft.com/office/officeart/2005/8/layout/vList3"/>
    <dgm:cxn modelId="{C4211DBA-CF2E-4090-80C5-2882259E282A}" srcId="{C1624E3F-84F8-451C-B1F6-11EA470B3DDF}" destId="{43BEB6E7-4377-4C3B-B465-5BD91B548CD0}" srcOrd="0" destOrd="0" parTransId="{D3289660-4741-4B62-8A4D-41FE6521D8A3}" sibTransId="{569095B9-E733-421C-879A-B34A14AF7027}"/>
    <dgm:cxn modelId="{BEB7F6C4-7232-4C44-B5DF-4B7641E5D919}" srcId="{C1624E3F-84F8-451C-B1F6-11EA470B3DDF}" destId="{87092C45-460B-41A0-AE93-2963A1F6B80A}" srcOrd="2" destOrd="0" parTransId="{AA132BED-6EAB-40C9-A441-43D7650B400D}" sibTransId="{7EE8C48E-8D0C-4EEF-9243-8AED715479FC}"/>
    <dgm:cxn modelId="{68C765FF-9A12-4338-B7EE-D965216EFA9E}" type="presOf" srcId="{D59B7E9E-A46C-4E39-905E-A49C4E68E4E3}" destId="{E1CBB275-20DB-4695-8176-BCD86852D610}" srcOrd="0" destOrd="2" presId="urn:microsoft.com/office/officeart/2005/8/layout/vList3"/>
    <dgm:cxn modelId="{11D01144-B50A-45EC-B62F-841C83B4D169}" type="presParOf" srcId="{B989AAF5-E289-48B6-9014-7F70371FF4BF}" destId="{586F5E72-31DF-427E-BDD6-280FD68B0F4A}" srcOrd="0" destOrd="0" presId="urn:microsoft.com/office/officeart/2005/8/layout/vList3"/>
    <dgm:cxn modelId="{5214ADF7-7D34-4545-8116-D988C9D2EBC9}" type="presParOf" srcId="{586F5E72-31DF-427E-BDD6-280FD68B0F4A}" destId="{0CE6E942-90F2-411E-9ABC-A665694CDFBF}" srcOrd="0" destOrd="0" presId="urn:microsoft.com/office/officeart/2005/8/layout/vList3"/>
    <dgm:cxn modelId="{86A3F728-7022-4832-8FC1-A2BDFE615C96}" type="presParOf" srcId="{586F5E72-31DF-427E-BDD6-280FD68B0F4A}" destId="{E1CBB275-20DB-4695-8176-BCD86852D610}" srcOrd="1" destOrd="0" presId="urn:microsoft.com/office/officeart/2005/8/layout/vLis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0.xml><?xml version="1.0" encoding="utf-8"?>
<dgm:dataModel xmlns:dgm="http://schemas.openxmlformats.org/drawingml/2006/diagram" xmlns:a="http://schemas.openxmlformats.org/drawingml/2006/main">
  <dgm:ptLst>
    <dgm:pt modelId="{C57700B8-AB4B-4D5E-B0DF-24C6296E0002}" type="doc">
      <dgm:prSet loTypeId="urn:microsoft.com/office/officeart/2005/8/layout/target3" loCatId="relationship" qsTypeId="urn:microsoft.com/office/officeart/2005/8/quickstyle/simple1#153" qsCatId="simple" csTypeId="urn:microsoft.com/office/officeart/2005/8/colors/accent1_2#106" csCatId="accent1" phldr="1"/>
      <dgm:spPr/>
      <dgm:t>
        <a:bodyPr/>
        <a:lstStyle/>
        <a:p>
          <a:endParaRPr lang="fr-FR"/>
        </a:p>
      </dgm:t>
    </dgm:pt>
    <dgm:pt modelId="{7B07D239-E44B-4053-9580-731FD04B7E16}">
      <dgm:prSet custT="1"/>
      <dgm:spPr/>
      <dgm:t>
        <a:bodyPr/>
        <a:lstStyle/>
        <a:p>
          <a:pPr rtl="0"/>
          <a:r>
            <a:rPr lang="fr-FR" sz="1400" b="1" baseline="0" dirty="0"/>
            <a:t>Il existe un cas : bulletin de paye et comparaison avec ou sans abattement</a:t>
          </a:r>
          <a:endParaRPr lang="fr-FR" sz="1400" dirty="0"/>
        </a:p>
      </dgm:t>
    </dgm:pt>
    <dgm:pt modelId="{0C5AA5D4-A443-40B4-8B5B-9E3BD827A2E8}" type="parTrans" cxnId="{AB4C12AC-8686-49A8-A1C1-46D614063E52}">
      <dgm:prSet/>
      <dgm:spPr/>
      <dgm:t>
        <a:bodyPr/>
        <a:lstStyle/>
        <a:p>
          <a:endParaRPr lang="fr-FR"/>
        </a:p>
      </dgm:t>
    </dgm:pt>
    <dgm:pt modelId="{F9514B13-93DE-4EF6-A9D6-AFB8F7F7E3EB}" type="sibTrans" cxnId="{AB4C12AC-8686-49A8-A1C1-46D614063E52}">
      <dgm:prSet/>
      <dgm:spPr/>
      <dgm:t>
        <a:bodyPr/>
        <a:lstStyle/>
        <a:p>
          <a:endParaRPr lang="fr-FR"/>
        </a:p>
      </dgm:t>
    </dgm:pt>
    <dgm:pt modelId="{65B3E50F-7C81-488F-89F1-8C51DC78B990}">
      <dgm:prSet custT="1"/>
      <dgm:spPr/>
      <dgm:t>
        <a:bodyPr/>
        <a:lstStyle/>
        <a:p>
          <a:pPr rtl="0"/>
          <a:r>
            <a:rPr lang="fr-FR" sz="1400" b="1" baseline="0" dirty="0"/>
            <a:t>Le corrigé propose une paye avec abattement et une paye sans abattement</a:t>
          </a:r>
          <a:endParaRPr lang="fr-FR" sz="1400" dirty="0"/>
        </a:p>
      </dgm:t>
    </dgm:pt>
    <dgm:pt modelId="{0339B0D8-5096-488A-BB1D-0898B8BCDC67}" type="parTrans" cxnId="{0B4E5DA5-A8F3-4859-8976-B45706E9FB69}">
      <dgm:prSet/>
      <dgm:spPr/>
      <dgm:t>
        <a:bodyPr/>
        <a:lstStyle/>
        <a:p>
          <a:endParaRPr lang="fr-FR"/>
        </a:p>
      </dgm:t>
    </dgm:pt>
    <dgm:pt modelId="{948851D8-26BF-4ABD-B161-52E3F3D451A2}" type="sibTrans" cxnId="{0B4E5DA5-A8F3-4859-8976-B45706E9FB69}">
      <dgm:prSet/>
      <dgm:spPr/>
      <dgm:t>
        <a:bodyPr/>
        <a:lstStyle/>
        <a:p>
          <a:endParaRPr lang="fr-FR"/>
        </a:p>
      </dgm:t>
    </dgm:pt>
    <dgm:pt modelId="{2A6F605A-A9DF-43AA-8205-0BBEC8FD6355}">
      <dgm:prSet custT="1"/>
      <dgm:spPr/>
      <dgm:t>
        <a:bodyPr/>
        <a:lstStyle/>
        <a:p>
          <a:pPr rtl="0"/>
          <a:r>
            <a:rPr lang="fr-FR" sz="1400" b="1" baseline="0" dirty="0"/>
            <a:t>Le corrigé permet d’affirmer que dans certains cas, </a:t>
          </a:r>
        </a:p>
        <a:p>
          <a:pPr rtl="0"/>
          <a:r>
            <a:rPr lang="fr-FR" sz="1400" b="1" baseline="0" dirty="0"/>
            <a:t>l’écart entre une paye avec abattement et sans abattement est peu élevé</a:t>
          </a:r>
          <a:endParaRPr lang="fr-FR" sz="1400" dirty="0"/>
        </a:p>
      </dgm:t>
    </dgm:pt>
    <dgm:pt modelId="{0078C915-4FFA-4FEB-A008-66D487F14F47}" type="parTrans" cxnId="{0E0B748C-9B1C-4EA0-8429-F3040EC833F4}">
      <dgm:prSet/>
      <dgm:spPr/>
      <dgm:t>
        <a:bodyPr/>
        <a:lstStyle/>
        <a:p>
          <a:endParaRPr lang="fr-FR"/>
        </a:p>
      </dgm:t>
    </dgm:pt>
    <dgm:pt modelId="{EF5A094F-FF5E-4C2F-BC77-E8FD0122EE33}" type="sibTrans" cxnId="{0E0B748C-9B1C-4EA0-8429-F3040EC833F4}">
      <dgm:prSet/>
      <dgm:spPr/>
      <dgm:t>
        <a:bodyPr/>
        <a:lstStyle/>
        <a:p>
          <a:endParaRPr lang="fr-FR"/>
        </a:p>
      </dgm:t>
    </dgm:pt>
    <dgm:pt modelId="{9CCB25C8-92CA-44F5-B6FA-BBF000D0DA67}">
      <dgm:prSet custT="1"/>
      <dgm:spPr/>
      <dgm:t>
        <a:bodyPr/>
        <a:lstStyle/>
        <a:p>
          <a:pPr algn="ctr" rtl="0"/>
          <a:r>
            <a:rPr lang="fr-FR" sz="1400" b="1" baseline="0" dirty="0"/>
            <a:t>Le cas a pour but de vous permettre en récupérant les corrigés </a:t>
          </a:r>
        </a:p>
        <a:p>
          <a:pPr algn="ctr" rtl="0"/>
          <a:r>
            <a:rPr lang="fr-FR" sz="1400" b="1" baseline="0" dirty="0"/>
            <a:t>de comprendre les bases de calcul</a:t>
          </a:r>
          <a:endParaRPr lang="fr-FR" sz="1400" dirty="0"/>
        </a:p>
      </dgm:t>
    </dgm:pt>
    <dgm:pt modelId="{82ECD2FA-B79F-4E53-8132-92626466C7C6}" type="parTrans" cxnId="{D7A6BC13-CF73-4E0F-841E-C7A298F65D6F}">
      <dgm:prSet/>
      <dgm:spPr/>
      <dgm:t>
        <a:bodyPr/>
        <a:lstStyle/>
        <a:p>
          <a:endParaRPr lang="fr-FR"/>
        </a:p>
      </dgm:t>
    </dgm:pt>
    <dgm:pt modelId="{C4FE00A7-E59A-40E2-9750-F002FB8CC145}" type="sibTrans" cxnId="{D7A6BC13-CF73-4E0F-841E-C7A298F65D6F}">
      <dgm:prSet/>
      <dgm:spPr/>
      <dgm:t>
        <a:bodyPr/>
        <a:lstStyle/>
        <a:p>
          <a:endParaRPr lang="fr-FR"/>
        </a:p>
      </dgm:t>
    </dgm:pt>
    <dgm:pt modelId="{BBB5A353-DBD8-491D-ACDF-C05E1EDFA1E5}" type="pres">
      <dgm:prSet presAssocID="{C57700B8-AB4B-4D5E-B0DF-24C6296E0002}" presName="Name0" presStyleCnt="0">
        <dgm:presLayoutVars>
          <dgm:chMax val="7"/>
          <dgm:dir/>
          <dgm:animLvl val="lvl"/>
          <dgm:resizeHandles val="exact"/>
        </dgm:presLayoutVars>
      </dgm:prSet>
      <dgm:spPr/>
    </dgm:pt>
    <dgm:pt modelId="{913E41C5-0B56-4440-A805-5DD2A8D209C6}" type="pres">
      <dgm:prSet presAssocID="{7B07D239-E44B-4053-9580-731FD04B7E16}" presName="circle1" presStyleLbl="node1" presStyleIdx="0" presStyleCnt="4"/>
      <dgm:spPr/>
    </dgm:pt>
    <dgm:pt modelId="{59AD89AA-A0CB-4E4A-921F-7060CB037C51}" type="pres">
      <dgm:prSet presAssocID="{7B07D239-E44B-4053-9580-731FD04B7E16}" presName="space" presStyleCnt="0"/>
      <dgm:spPr/>
    </dgm:pt>
    <dgm:pt modelId="{99652A0D-EF04-42BE-B828-CC8759D803D2}" type="pres">
      <dgm:prSet presAssocID="{7B07D239-E44B-4053-9580-731FD04B7E16}" presName="rect1" presStyleLbl="alignAcc1" presStyleIdx="0" presStyleCnt="4"/>
      <dgm:spPr/>
    </dgm:pt>
    <dgm:pt modelId="{AF5DD4E7-625D-4A97-82FD-8E02CE206440}" type="pres">
      <dgm:prSet presAssocID="{65B3E50F-7C81-488F-89F1-8C51DC78B990}" presName="vertSpace2" presStyleLbl="node1" presStyleIdx="0" presStyleCnt="4"/>
      <dgm:spPr/>
    </dgm:pt>
    <dgm:pt modelId="{3D7528A4-29E7-4385-B9C8-3B38B63F01D3}" type="pres">
      <dgm:prSet presAssocID="{65B3E50F-7C81-488F-89F1-8C51DC78B990}" presName="circle2" presStyleLbl="node1" presStyleIdx="1" presStyleCnt="4"/>
      <dgm:spPr/>
    </dgm:pt>
    <dgm:pt modelId="{09203F4E-B532-49E1-BE3D-3B0D30259214}" type="pres">
      <dgm:prSet presAssocID="{65B3E50F-7C81-488F-89F1-8C51DC78B990}" presName="rect2" presStyleLbl="alignAcc1" presStyleIdx="1" presStyleCnt="4"/>
      <dgm:spPr/>
    </dgm:pt>
    <dgm:pt modelId="{5D123814-1FE1-4044-828F-D8E3C0096542}" type="pres">
      <dgm:prSet presAssocID="{2A6F605A-A9DF-43AA-8205-0BBEC8FD6355}" presName="vertSpace3" presStyleLbl="node1" presStyleIdx="1" presStyleCnt="4"/>
      <dgm:spPr/>
    </dgm:pt>
    <dgm:pt modelId="{8997A38D-8571-4047-A708-AF40FE8E097E}" type="pres">
      <dgm:prSet presAssocID="{2A6F605A-A9DF-43AA-8205-0BBEC8FD6355}" presName="circle3" presStyleLbl="node1" presStyleIdx="2" presStyleCnt="4"/>
      <dgm:spPr/>
    </dgm:pt>
    <dgm:pt modelId="{8B9E050C-4639-4AEF-948B-6CC56DF753E9}" type="pres">
      <dgm:prSet presAssocID="{2A6F605A-A9DF-43AA-8205-0BBEC8FD6355}" presName="rect3" presStyleLbl="alignAcc1" presStyleIdx="2" presStyleCnt="4"/>
      <dgm:spPr/>
    </dgm:pt>
    <dgm:pt modelId="{04B0C768-666E-4910-BB71-22D294724B53}" type="pres">
      <dgm:prSet presAssocID="{9CCB25C8-92CA-44F5-B6FA-BBF000D0DA67}" presName="vertSpace4" presStyleLbl="node1" presStyleIdx="2" presStyleCnt="4"/>
      <dgm:spPr/>
    </dgm:pt>
    <dgm:pt modelId="{FE84E411-5A9D-4499-B8C6-F5A4793296AD}" type="pres">
      <dgm:prSet presAssocID="{9CCB25C8-92CA-44F5-B6FA-BBF000D0DA67}" presName="circle4" presStyleLbl="node1" presStyleIdx="3" presStyleCnt="4"/>
      <dgm:spPr/>
    </dgm:pt>
    <dgm:pt modelId="{00D64F03-3E3D-48C6-9374-7130FA3605CA}" type="pres">
      <dgm:prSet presAssocID="{9CCB25C8-92CA-44F5-B6FA-BBF000D0DA67}" presName="rect4" presStyleLbl="alignAcc1" presStyleIdx="3" presStyleCnt="4"/>
      <dgm:spPr/>
    </dgm:pt>
    <dgm:pt modelId="{97271750-3BB9-4416-A4CB-BCA9B3C35313}" type="pres">
      <dgm:prSet presAssocID="{7B07D239-E44B-4053-9580-731FD04B7E16}" presName="rect1ParTxNoCh" presStyleLbl="alignAcc1" presStyleIdx="3" presStyleCnt="4">
        <dgm:presLayoutVars>
          <dgm:chMax val="1"/>
          <dgm:bulletEnabled val="1"/>
        </dgm:presLayoutVars>
      </dgm:prSet>
      <dgm:spPr/>
    </dgm:pt>
    <dgm:pt modelId="{8DD43E85-0FA0-40FC-9EAA-DC5702F3B630}" type="pres">
      <dgm:prSet presAssocID="{65B3E50F-7C81-488F-89F1-8C51DC78B990}" presName="rect2ParTxNoCh" presStyleLbl="alignAcc1" presStyleIdx="3" presStyleCnt="4">
        <dgm:presLayoutVars>
          <dgm:chMax val="1"/>
          <dgm:bulletEnabled val="1"/>
        </dgm:presLayoutVars>
      </dgm:prSet>
      <dgm:spPr/>
    </dgm:pt>
    <dgm:pt modelId="{3B1AEB06-E409-46CA-B8F5-72D7E39CF8E7}" type="pres">
      <dgm:prSet presAssocID="{2A6F605A-A9DF-43AA-8205-0BBEC8FD6355}" presName="rect3ParTxNoCh" presStyleLbl="alignAcc1" presStyleIdx="3" presStyleCnt="4">
        <dgm:presLayoutVars>
          <dgm:chMax val="1"/>
          <dgm:bulletEnabled val="1"/>
        </dgm:presLayoutVars>
      </dgm:prSet>
      <dgm:spPr/>
    </dgm:pt>
    <dgm:pt modelId="{51C0375D-4469-41F2-93ED-6D18377806BC}" type="pres">
      <dgm:prSet presAssocID="{9CCB25C8-92CA-44F5-B6FA-BBF000D0DA67}" presName="rect4ParTxNoCh" presStyleLbl="alignAcc1" presStyleIdx="3" presStyleCnt="4">
        <dgm:presLayoutVars>
          <dgm:chMax val="1"/>
          <dgm:bulletEnabled val="1"/>
        </dgm:presLayoutVars>
      </dgm:prSet>
      <dgm:spPr/>
    </dgm:pt>
  </dgm:ptLst>
  <dgm:cxnLst>
    <dgm:cxn modelId="{D7A6BC13-CF73-4E0F-841E-C7A298F65D6F}" srcId="{C57700B8-AB4B-4D5E-B0DF-24C6296E0002}" destId="{9CCB25C8-92CA-44F5-B6FA-BBF000D0DA67}" srcOrd="3" destOrd="0" parTransId="{82ECD2FA-B79F-4E53-8132-92626466C7C6}" sibTransId="{C4FE00A7-E59A-40E2-9750-F002FB8CC145}"/>
    <dgm:cxn modelId="{D65D1714-60DF-4A5A-BBEF-523EEB6D4BF6}" type="presOf" srcId="{65B3E50F-7C81-488F-89F1-8C51DC78B990}" destId="{09203F4E-B532-49E1-BE3D-3B0D30259214}" srcOrd="0" destOrd="0" presId="urn:microsoft.com/office/officeart/2005/8/layout/target3"/>
    <dgm:cxn modelId="{8F561529-2F7A-4DC0-9F02-923EC8ECED5E}" type="presOf" srcId="{65B3E50F-7C81-488F-89F1-8C51DC78B990}" destId="{8DD43E85-0FA0-40FC-9EAA-DC5702F3B630}" srcOrd="1" destOrd="0" presId="urn:microsoft.com/office/officeart/2005/8/layout/target3"/>
    <dgm:cxn modelId="{B023D45B-D34A-4316-82E5-D85FE31DA9B8}" type="presOf" srcId="{7B07D239-E44B-4053-9580-731FD04B7E16}" destId="{99652A0D-EF04-42BE-B828-CC8759D803D2}" srcOrd="0" destOrd="0" presId="urn:microsoft.com/office/officeart/2005/8/layout/target3"/>
    <dgm:cxn modelId="{6878775C-EA2E-4B15-85BA-9F7C38EA919E}" type="presOf" srcId="{C57700B8-AB4B-4D5E-B0DF-24C6296E0002}" destId="{BBB5A353-DBD8-491D-ACDF-C05E1EDFA1E5}" srcOrd="0" destOrd="0" presId="urn:microsoft.com/office/officeart/2005/8/layout/target3"/>
    <dgm:cxn modelId="{E3FA2B50-2ACD-469A-B7C6-CA6D7257EFB8}" type="presOf" srcId="{9CCB25C8-92CA-44F5-B6FA-BBF000D0DA67}" destId="{00D64F03-3E3D-48C6-9374-7130FA3605CA}" srcOrd="0" destOrd="0" presId="urn:microsoft.com/office/officeart/2005/8/layout/target3"/>
    <dgm:cxn modelId="{A28FA452-4705-424D-94B1-97C56DD7B829}" type="presOf" srcId="{7B07D239-E44B-4053-9580-731FD04B7E16}" destId="{97271750-3BB9-4416-A4CB-BCA9B3C35313}" srcOrd="1" destOrd="0" presId="urn:microsoft.com/office/officeart/2005/8/layout/target3"/>
    <dgm:cxn modelId="{0E0B748C-9B1C-4EA0-8429-F3040EC833F4}" srcId="{C57700B8-AB4B-4D5E-B0DF-24C6296E0002}" destId="{2A6F605A-A9DF-43AA-8205-0BBEC8FD6355}" srcOrd="2" destOrd="0" parTransId="{0078C915-4FFA-4FEB-A008-66D487F14F47}" sibTransId="{EF5A094F-FF5E-4C2F-BC77-E8FD0122EE33}"/>
    <dgm:cxn modelId="{3C457995-B9CC-47EE-8227-6CC1CA86C409}" type="presOf" srcId="{2A6F605A-A9DF-43AA-8205-0BBEC8FD6355}" destId="{8B9E050C-4639-4AEF-948B-6CC56DF753E9}" srcOrd="0" destOrd="0" presId="urn:microsoft.com/office/officeart/2005/8/layout/target3"/>
    <dgm:cxn modelId="{0B4E5DA5-A8F3-4859-8976-B45706E9FB69}" srcId="{C57700B8-AB4B-4D5E-B0DF-24C6296E0002}" destId="{65B3E50F-7C81-488F-89F1-8C51DC78B990}" srcOrd="1" destOrd="0" parTransId="{0339B0D8-5096-488A-BB1D-0898B8BCDC67}" sibTransId="{948851D8-26BF-4ABD-B161-52E3F3D451A2}"/>
    <dgm:cxn modelId="{AB4C12AC-8686-49A8-A1C1-46D614063E52}" srcId="{C57700B8-AB4B-4D5E-B0DF-24C6296E0002}" destId="{7B07D239-E44B-4053-9580-731FD04B7E16}" srcOrd="0" destOrd="0" parTransId="{0C5AA5D4-A443-40B4-8B5B-9E3BD827A2E8}" sibTransId="{F9514B13-93DE-4EF6-A9D6-AFB8F7F7E3EB}"/>
    <dgm:cxn modelId="{D1A6F3BD-9ECF-4772-A3B7-311F248DCE2C}" type="presOf" srcId="{2A6F605A-A9DF-43AA-8205-0BBEC8FD6355}" destId="{3B1AEB06-E409-46CA-B8F5-72D7E39CF8E7}" srcOrd="1" destOrd="0" presId="urn:microsoft.com/office/officeart/2005/8/layout/target3"/>
    <dgm:cxn modelId="{EAFCF1E4-EBEB-4798-BA8C-B61A4AA5D112}" type="presOf" srcId="{9CCB25C8-92CA-44F5-B6FA-BBF000D0DA67}" destId="{51C0375D-4469-41F2-93ED-6D18377806BC}" srcOrd="1" destOrd="0" presId="urn:microsoft.com/office/officeart/2005/8/layout/target3"/>
    <dgm:cxn modelId="{BD474B7D-ECA6-46AD-8925-469E67EDCFAF}" type="presParOf" srcId="{BBB5A353-DBD8-491D-ACDF-C05E1EDFA1E5}" destId="{913E41C5-0B56-4440-A805-5DD2A8D209C6}" srcOrd="0" destOrd="0" presId="urn:microsoft.com/office/officeart/2005/8/layout/target3"/>
    <dgm:cxn modelId="{6DB62116-30B1-4FE1-9242-C90950F62252}" type="presParOf" srcId="{BBB5A353-DBD8-491D-ACDF-C05E1EDFA1E5}" destId="{59AD89AA-A0CB-4E4A-921F-7060CB037C51}" srcOrd="1" destOrd="0" presId="urn:microsoft.com/office/officeart/2005/8/layout/target3"/>
    <dgm:cxn modelId="{03A3AE2D-9AB5-4FBD-9A1B-262E7AC52641}" type="presParOf" srcId="{BBB5A353-DBD8-491D-ACDF-C05E1EDFA1E5}" destId="{99652A0D-EF04-42BE-B828-CC8759D803D2}" srcOrd="2" destOrd="0" presId="urn:microsoft.com/office/officeart/2005/8/layout/target3"/>
    <dgm:cxn modelId="{438BC658-6672-49CB-9E54-50877B406BE9}" type="presParOf" srcId="{BBB5A353-DBD8-491D-ACDF-C05E1EDFA1E5}" destId="{AF5DD4E7-625D-4A97-82FD-8E02CE206440}" srcOrd="3" destOrd="0" presId="urn:microsoft.com/office/officeart/2005/8/layout/target3"/>
    <dgm:cxn modelId="{21C71543-7070-4104-895A-116DAFEFF6B7}" type="presParOf" srcId="{BBB5A353-DBD8-491D-ACDF-C05E1EDFA1E5}" destId="{3D7528A4-29E7-4385-B9C8-3B38B63F01D3}" srcOrd="4" destOrd="0" presId="urn:microsoft.com/office/officeart/2005/8/layout/target3"/>
    <dgm:cxn modelId="{6E0CF93B-3934-4ABE-8850-5A2EC1AB9407}" type="presParOf" srcId="{BBB5A353-DBD8-491D-ACDF-C05E1EDFA1E5}" destId="{09203F4E-B532-49E1-BE3D-3B0D30259214}" srcOrd="5" destOrd="0" presId="urn:microsoft.com/office/officeart/2005/8/layout/target3"/>
    <dgm:cxn modelId="{FAE82D49-CF21-40B4-A171-E1DF0E0775AC}" type="presParOf" srcId="{BBB5A353-DBD8-491D-ACDF-C05E1EDFA1E5}" destId="{5D123814-1FE1-4044-828F-D8E3C0096542}" srcOrd="6" destOrd="0" presId="urn:microsoft.com/office/officeart/2005/8/layout/target3"/>
    <dgm:cxn modelId="{C127EB63-0532-4227-9924-6BC8C7C21303}" type="presParOf" srcId="{BBB5A353-DBD8-491D-ACDF-C05E1EDFA1E5}" destId="{8997A38D-8571-4047-A708-AF40FE8E097E}" srcOrd="7" destOrd="0" presId="urn:microsoft.com/office/officeart/2005/8/layout/target3"/>
    <dgm:cxn modelId="{DEF35325-F630-4A6E-AACB-86B970F977BE}" type="presParOf" srcId="{BBB5A353-DBD8-491D-ACDF-C05E1EDFA1E5}" destId="{8B9E050C-4639-4AEF-948B-6CC56DF753E9}" srcOrd="8" destOrd="0" presId="urn:microsoft.com/office/officeart/2005/8/layout/target3"/>
    <dgm:cxn modelId="{4CA3DF36-DB89-4F98-8B2C-4D194FF9F031}" type="presParOf" srcId="{BBB5A353-DBD8-491D-ACDF-C05E1EDFA1E5}" destId="{04B0C768-666E-4910-BB71-22D294724B53}" srcOrd="9" destOrd="0" presId="urn:microsoft.com/office/officeart/2005/8/layout/target3"/>
    <dgm:cxn modelId="{DB47327F-113E-4D91-893E-8652ADCE93F5}" type="presParOf" srcId="{BBB5A353-DBD8-491D-ACDF-C05E1EDFA1E5}" destId="{FE84E411-5A9D-4499-B8C6-F5A4793296AD}" srcOrd="10" destOrd="0" presId="urn:microsoft.com/office/officeart/2005/8/layout/target3"/>
    <dgm:cxn modelId="{9EE0C53D-FA5E-4004-9386-7788ACA6EC56}" type="presParOf" srcId="{BBB5A353-DBD8-491D-ACDF-C05E1EDFA1E5}" destId="{00D64F03-3E3D-48C6-9374-7130FA3605CA}" srcOrd="11" destOrd="0" presId="urn:microsoft.com/office/officeart/2005/8/layout/target3"/>
    <dgm:cxn modelId="{A7027947-515E-4D0D-A96D-3985940C8AFB}" type="presParOf" srcId="{BBB5A353-DBD8-491D-ACDF-C05E1EDFA1E5}" destId="{97271750-3BB9-4416-A4CB-BCA9B3C35313}" srcOrd="12" destOrd="0" presId="urn:microsoft.com/office/officeart/2005/8/layout/target3"/>
    <dgm:cxn modelId="{97EA93DF-7647-47A7-8D60-1C8F75159E94}" type="presParOf" srcId="{BBB5A353-DBD8-491D-ACDF-C05E1EDFA1E5}" destId="{8DD43E85-0FA0-40FC-9EAA-DC5702F3B630}" srcOrd="13" destOrd="0" presId="urn:microsoft.com/office/officeart/2005/8/layout/target3"/>
    <dgm:cxn modelId="{089754A4-BD60-49C7-9ECB-A832A958A613}" type="presParOf" srcId="{BBB5A353-DBD8-491D-ACDF-C05E1EDFA1E5}" destId="{3B1AEB06-E409-46CA-B8F5-72D7E39CF8E7}" srcOrd="14" destOrd="0" presId="urn:microsoft.com/office/officeart/2005/8/layout/target3"/>
    <dgm:cxn modelId="{A0737EEB-B31D-44BC-B605-52241E9F012B}" type="presParOf" srcId="{BBB5A353-DBD8-491D-ACDF-C05E1EDFA1E5}" destId="{51C0375D-4469-41F2-93ED-6D18377806BC}" srcOrd="15" destOrd="0" presId="urn:microsoft.com/office/officeart/2005/8/layout/targe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1.xml><?xml version="1.0" encoding="utf-8"?>
<dgm:dataModel xmlns:dgm="http://schemas.openxmlformats.org/drawingml/2006/diagram" xmlns:a="http://schemas.openxmlformats.org/drawingml/2006/main">
  <dgm:ptLst>
    <dgm:pt modelId="{3B69E3CD-A084-45A8-9E59-EE431D1B8FF0}" type="doc">
      <dgm:prSet loTypeId="urn:microsoft.com/office/officeart/2005/8/layout/pyramid2" loCatId="pyramid" qsTypeId="urn:microsoft.com/office/officeart/2005/8/quickstyle/simple1#154" qsCatId="simple" csTypeId="urn:microsoft.com/office/officeart/2005/8/colors/accent1_2#107" csCatId="accent1" phldr="1"/>
      <dgm:spPr/>
      <dgm:t>
        <a:bodyPr/>
        <a:lstStyle/>
        <a:p>
          <a:endParaRPr lang="fr-FR"/>
        </a:p>
      </dgm:t>
    </dgm:pt>
    <dgm:pt modelId="{ADD5E2D8-F1D0-442B-8DCF-864CE56955E2}">
      <dgm:prSet custT="1"/>
      <dgm:spPr/>
      <dgm:t>
        <a:bodyPr/>
        <a:lstStyle/>
        <a:p>
          <a:pPr rtl="0"/>
          <a:r>
            <a:rPr lang="fr-FR" sz="1100" b="1" baseline="0" dirty="0"/>
            <a:t>Les conventions collectives</a:t>
          </a:r>
          <a:br>
            <a:rPr lang="fr-FR" sz="1100" b="1" baseline="0" dirty="0"/>
          </a:br>
          <a:r>
            <a:rPr lang="fr-FR" sz="1100" b="1" baseline="0" dirty="0"/>
            <a:t>du BTP imposent, sous certaines conditions, </a:t>
          </a:r>
          <a:br>
            <a:rPr lang="fr-FR" sz="1100" b="1" baseline="0" dirty="0"/>
          </a:br>
          <a:r>
            <a:rPr lang="fr-FR" sz="1100" b="1" baseline="0" dirty="0"/>
            <a:t>la pratique d’un maintien</a:t>
          </a:r>
          <a:br>
            <a:rPr lang="fr-FR" sz="1100" b="1" baseline="0" dirty="0"/>
          </a:br>
          <a:r>
            <a:rPr lang="fr-FR" sz="1100" b="1" baseline="0" dirty="0"/>
            <a:t>de salaire (total ou partiel) sous déduction des IJSS</a:t>
          </a:r>
          <a:endParaRPr lang="fr-FR" sz="1100" dirty="0"/>
        </a:p>
      </dgm:t>
    </dgm:pt>
    <dgm:pt modelId="{B095AD59-5B5A-4F95-BDB9-20E9C8CED745}" type="parTrans" cxnId="{A699682A-9A95-4F53-83E3-84604B546ABA}">
      <dgm:prSet/>
      <dgm:spPr/>
      <dgm:t>
        <a:bodyPr/>
        <a:lstStyle/>
        <a:p>
          <a:endParaRPr lang="fr-FR"/>
        </a:p>
      </dgm:t>
    </dgm:pt>
    <dgm:pt modelId="{362779BD-8ECF-46F4-A029-181938935034}" type="sibTrans" cxnId="{A699682A-9A95-4F53-83E3-84604B546ABA}">
      <dgm:prSet/>
      <dgm:spPr/>
      <dgm:t>
        <a:bodyPr/>
        <a:lstStyle/>
        <a:p>
          <a:endParaRPr lang="fr-FR"/>
        </a:p>
      </dgm:t>
    </dgm:pt>
    <dgm:pt modelId="{AD2F0673-B7D9-4136-8539-2E2BB1BFA642}">
      <dgm:prSet custT="1"/>
      <dgm:spPr/>
      <dgm:t>
        <a:bodyPr/>
        <a:lstStyle/>
        <a:p>
          <a:pPr rtl="0"/>
          <a:r>
            <a:rPr lang="fr-FR" sz="1100" b="1" baseline="0" dirty="0"/>
            <a:t>Pour les cadres bâtiment, ceux-ci se voient appliquer l’indemnité complémentaire légale prévue par la loi sur</a:t>
          </a:r>
          <a:br>
            <a:rPr lang="fr-FR" sz="1100" b="1" baseline="0" dirty="0"/>
          </a:br>
          <a:r>
            <a:rPr lang="fr-FR" sz="1100" b="1" baseline="0" dirty="0"/>
            <a:t>la mensualisation (convention collective des cadres </a:t>
          </a:r>
          <a:br>
            <a:rPr lang="fr-FR" sz="1100" b="1" baseline="0" dirty="0"/>
          </a:br>
          <a:r>
            <a:rPr lang="fr-FR" sz="1100" b="1" baseline="0" dirty="0"/>
            <a:t>non étendu)</a:t>
          </a:r>
          <a:endParaRPr lang="fr-FR" sz="1100" dirty="0"/>
        </a:p>
      </dgm:t>
    </dgm:pt>
    <dgm:pt modelId="{C4DED66B-A5EE-4B8F-8559-A18C46A89FEE}" type="parTrans" cxnId="{A8FA77DA-4487-4C36-9A94-45150FE0BD32}">
      <dgm:prSet/>
      <dgm:spPr/>
      <dgm:t>
        <a:bodyPr/>
        <a:lstStyle/>
        <a:p>
          <a:endParaRPr lang="fr-FR"/>
        </a:p>
      </dgm:t>
    </dgm:pt>
    <dgm:pt modelId="{BDE08371-A997-41E0-B767-1C3390F4AA43}" type="sibTrans" cxnId="{A8FA77DA-4487-4C36-9A94-45150FE0BD32}">
      <dgm:prSet/>
      <dgm:spPr/>
      <dgm:t>
        <a:bodyPr/>
        <a:lstStyle/>
        <a:p>
          <a:endParaRPr lang="fr-FR"/>
        </a:p>
      </dgm:t>
    </dgm:pt>
    <dgm:pt modelId="{8B3A8525-F523-4DA7-AD27-A863C78D8EC1}" type="pres">
      <dgm:prSet presAssocID="{3B69E3CD-A084-45A8-9E59-EE431D1B8FF0}" presName="compositeShape" presStyleCnt="0">
        <dgm:presLayoutVars>
          <dgm:dir/>
          <dgm:resizeHandles/>
        </dgm:presLayoutVars>
      </dgm:prSet>
      <dgm:spPr/>
    </dgm:pt>
    <dgm:pt modelId="{B162EE75-DCBD-45BF-A6EB-B20186545B3D}" type="pres">
      <dgm:prSet presAssocID="{3B69E3CD-A084-45A8-9E59-EE431D1B8FF0}" presName="pyramid" presStyleLbl="node1" presStyleIdx="0" presStyleCnt="1"/>
      <dgm:spPr/>
    </dgm:pt>
    <dgm:pt modelId="{2DC19C3A-B233-424E-AE3B-82256FE412F1}" type="pres">
      <dgm:prSet presAssocID="{3B69E3CD-A084-45A8-9E59-EE431D1B8FF0}" presName="theList" presStyleCnt="0"/>
      <dgm:spPr/>
    </dgm:pt>
    <dgm:pt modelId="{9E54F86C-361A-4DAE-94AA-14DB3C6AA162}" type="pres">
      <dgm:prSet presAssocID="{ADD5E2D8-F1D0-442B-8DCF-864CE56955E2}" presName="aNode" presStyleLbl="fgAcc1" presStyleIdx="0" presStyleCnt="2" custScaleX="111443">
        <dgm:presLayoutVars>
          <dgm:bulletEnabled val="1"/>
        </dgm:presLayoutVars>
      </dgm:prSet>
      <dgm:spPr/>
    </dgm:pt>
    <dgm:pt modelId="{9C7B7C6D-6601-4705-88F4-A9D100E105FD}" type="pres">
      <dgm:prSet presAssocID="{ADD5E2D8-F1D0-442B-8DCF-864CE56955E2}" presName="aSpace" presStyleCnt="0"/>
      <dgm:spPr/>
    </dgm:pt>
    <dgm:pt modelId="{C6245332-C400-41BA-950C-3F3B84D08238}" type="pres">
      <dgm:prSet presAssocID="{AD2F0673-B7D9-4136-8539-2E2BB1BFA642}" presName="aNode" presStyleLbl="fgAcc1" presStyleIdx="1" presStyleCnt="2" custScaleX="112921">
        <dgm:presLayoutVars>
          <dgm:bulletEnabled val="1"/>
        </dgm:presLayoutVars>
      </dgm:prSet>
      <dgm:spPr/>
    </dgm:pt>
    <dgm:pt modelId="{97D75296-0DE9-4BA9-9F20-EAA7D7A1EB02}" type="pres">
      <dgm:prSet presAssocID="{AD2F0673-B7D9-4136-8539-2E2BB1BFA642}" presName="aSpace" presStyleCnt="0"/>
      <dgm:spPr/>
    </dgm:pt>
  </dgm:ptLst>
  <dgm:cxnLst>
    <dgm:cxn modelId="{A699682A-9A95-4F53-83E3-84604B546ABA}" srcId="{3B69E3CD-A084-45A8-9E59-EE431D1B8FF0}" destId="{ADD5E2D8-F1D0-442B-8DCF-864CE56955E2}" srcOrd="0" destOrd="0" parTransId="{B095AD59-5B5A-4F95-BDB9-20E9C8CED745}" sibTransId="{362779BD-8ECF-46F4-A029-181938935034}"/>
    <dgm:cxn modelId="{7BBC3579-A9FA-4454-AC8E-29AA6C4F4185}" type="presOf" srcId="{3B69E3CD-A084-45A8-9E59-EE431D1B8FF0}" destId="{8B3A8525-F523-4DA7-AD27-A863C78D8EC1}" srcOrd="0" destOrd="0" presId="urn:microsoft.com/office/officeart/2005/8/layout/pyramid2"/>
    <dgm:cxn modelId="{095C555A-622F-4246-B393-C285501608E8}" type="presOf" srcId="{AD2F0673-B7D9-4136-8539-2E2BB1BFA642}" destId="{C6245332-C400-41BA-950C-3F3B84D08238}" srcOrd="0" destOrd="0" presId="urn:microsoft.com/office/officeart/2005/8/layout/pyramid2"/>
    <dgm:cxn modelId="{A8FA77DA-4487-4C36-9A94-45150FE0BD32}" srcId="{3B69E3CD-A084-45A8-9E59-EE431D1B8FF0}" destId="{AD2F0673-B7D9-4136-8539-2E2BB1BFA642}" srcOrd="1" destOrd="0" parTransId="{C4DED66B-A5EE-4B8F-8559-A18C46A89FEE}" sibTransId="{BDE08371-A997-41E0-B767-1C3390F4AA43}"/>
    <dgm:cxn modelId="{0231A3E1-9B35-4444-816F-465004930D96}" type="presOf" srcId="{ADD5E2D8-F1D0-442B-8DCF-864CE56955E2}" destId="{9E54F86C-361A-4DAE-94AA-14DB3C6AA162}" srcOrd="0" destOrd="0" presId="urn:microsoft.com/office/officeart/2005/8/layout/pyramid2"/>
    <dgm:cxn modelId="{31D9BD3C-8DC0-4C54-B952-2A926F9F9A07}" type="presParOf" srcId="{8B3A8525-F523-4DA7-AD27-A863C78D8EC1}" destId="{B162EE75-DCBD-45BF-A6EB-B20186545B3D}" srcOrd="0" destOrd="0" presId="urn:microsoft.com/office/officeart/2005/8/layout/pyramid2"/>
    <dgm:cxn modelId="{3A124C1C-A801-4ACD-8653-B158515DEF94}" type="presParOf" srcId="{8B3A8525-F523-4DA7-AD27-A863C78D8EC1}" destId="{2DC19C3A-B233-424E-AE3B-82256FE412F1}" srcOrd="1" destOrd="0" presId="urn:microsoft.com/office/officeart/2005/8/layout/pyramid2"/>
    <dgm:cxn modelId="{33D61F1E-A72E-46AC-AC09-75603D74A5C9}" type="presParOf" srcId="{2DC19C3A-B233-424E-AE3B-82256FE412F1}" destId="{9E54F86C-361A-4DAE-94AA-14DB3C6AA162}" srcOrd="0" destOrd="0" presId="urn:microsoft.com/office/officeart/2005/8/layout/pyramid2"/>
    <dgm:cxn modelId="{D71A8EBE-DFFA-49EF-85F7-8674F31D75CC}" type="presParOf" srcId="{2DC19C3A-B233-424E-AE3B-82256FE412F1}" destId="{9C7B7C6D-6601-4705-88F4-A9D100E105FD}" srcOrd="1" destOrd="0" presId="urn:microsoft.com/office/officeart/2005/8/layout/pyramid2"/>
    <dgm:cxn modelId="{BA8B333B-A6C4-43A4-9282-6834476D8721}" type="presParOf" srcId="{2DC19C3A-B233-424E-AE3B-82256FE412F1}" destId="{C6245332-C400-41BA-950C-3F3B84D08238}" srcOrd="2" destOrd="0" presId="urn:microsoft.com/office/officeart/2005/8/layout/pyramid2"/>
    <dgm:cxn modelId="{C72C80E0-CDA4-4B04-B755-F0A7729F93DE}" type="presParOf" srcId="{2DC19C3A-B233-424E-AE3B-82256FE412F1}" destId="{97D75296-0DE9-4BA9-9F20-EAA7D7A1EB02}" srcOrd="3" destOrd="0" presId="urn:microsoft.com/office/officeart/2005/8/layout/pyramid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2.xml><?xml version="1.0" encoding="utf-8"?>
<dgm:dataModel xmlns:dgm="http://schemas.openxmlformats.org/drawingml/2006/diagram" xmlns:a="http://schemas.openxmlformats.org/drawingml/2006/main">
  <dgm:ptLst>
    <dgm:pt modelId="{67A1A445-2D2C-4104-9DE0-00D026F5269F}" type="doc">
      <dgm:prSet loTypeId="urn:microsoft.com/office/officeart/2005/8/layout/vList5" loCatId="list" qsTypeId="urn:microsoft.com/office/officeart/2005/8/quickstyle/simple1#155" qsCatId="simple" csTypeId="urn:microsoft.com/office/officeart/2005/8/colors/accent1_2#108" csCatId="accent1" phldr="1"/>
      <dgm:spPr/>
      <dgm:t>
        <a:bodyPr/>
        <a:lstStyle/>
        <a:p>
          <a:endParaRPr lang="fr-FR"/>
        </a:p>
      </dgm:t>
    </dgm:pt>
    <dgm:pt modelId="{DC4AE4E9-7175-4BB1-B5FE-80EAA1F8AE14}">
      <dgm:prSet custT="1"/>
      <dgm:spPr/>
      <dgm:t>
        <a:bodyPr/>
        <a:lstStyle/>
        <a:p>
          <a:pPr rtl="0"/>
          <a:r>
            <a:rPr lang="fr-FR" sz="2800" b="1" baseline="0" dirty="0"/>
            <a:t>Arrêt inférieur à 90 jours  </a:t>
          </a:r>
          <a:endParaRPr lang="fr-FR" sz="2800" dirty="0"/>
        </a:p>
      </dgm:t>
    </dgm:pt>
    <dgm:pt modelId="{AFB6DF67-FBCD-48F9-910B-63F9FBA78C9A}" type="parTrans" cxnId="{FABC6A81-E0B2-48FF-B311-29DAB6076429}">
      <dgm:prSet/>
      <dgm:spPr/>
      <dgm:t>
        <a:bodyPr/>
        <a:lstStyle/>
        <a:p>
          <a:endParaRPr lang="fr-FR"/>
        </a:p>
      </dgm:t>
    </dgm:pt>
    <dgm:pt modelId="{EEE7E39A-1F47-4D01-B0C1-155664421ACB}" type="sibTrans" cxnId="{FABC6A81-E0B2-48FF-B311-29DAB6076429}">
      <dgm:prSet/>
      <dgm:spPr/>
      <dgm:t>
        <a:bodyPr/>
        <a:lstStyle/>
        <a:p>
          <a:endParaRPr lang="fr-FR"/>
        </a:p>
      </dgm:t>
    </dgm:pt>
    <dgm:pt modelId="{B89A2F1A-D8CC-4994-A372-728EDEBED84C}">
      <dgm:prSet/>
      <dgm:spPr/>
      <dgm:t>
        <a:bodyPr/>
        <a:lstStyle/>
        <a:p>
          <a:pPr marL="180000" indent="-180000" rtl="0">
            <a:buFont typeface="Wingdings" panose="05000000000000000000" pitchFamily="2" charset="2"/>
            <a:buChar char="§"/>
          </a:pPr>
          <a:r>
            <a:rPr lang="fr-FR" b="1" dirty="0"/>
            <a:t>L’entreprise n’a pas l’obligation de souscrire un contrat « garantie arrêt de travail » pour les arrêts inférieurs à 91 jours (GAT – 91 jours)</a:t>
          </a:r>
          <a:endParaRPr lang="fr-FR" dirty="0"/>
        </a:p>
      </dgm:t>
    </dgm:pt>
    <dgm:pt modelId="{EF09ECD4-7468-4F07-AD2D-FABA04F5C683}" type="parTrans" cxnId="{3EF95D66-55FB-4F6F-A25E-C0B5B63608C3}">
      <dgm:prSet/>
      <dgm:spPr/>
      <dgm:t>
        <a:bodyPr/>
        <a:lstStyle/>
        <a:p>
          <a:endParaRPr lang="fr-FR"/>
        </a:p>
      </dgm:t>
    </dgm:pt>
    <dgm:pt modelId="{A0DF6CBA-BEA5-4FF0-ACC7-0AB1E4AC7FE4}" type="sibTrans" cxnId="{3EF95D66-55FB-4F6F-A25E-C0B5B63608C3}">
      <dgm:prSet/>
      <dgm:spPr/>
      <dgm:t>
        <a:bodyPr/>
        <a:lstStyle/>
        <a:p>
          <a:endParaRPr lang="fr-FR"/>
        </a:p>
      </dgm:t>
    </dgm:pt>
    <dgm:pt modelId="{0E84DAC9-4D43-42B2-AA4E-7B4BE1E8F71D}">
      <dgm:prSet custT="1"/>
      <dgm:spPr/>
      <dgm:t>
        <a:bodyPr/>
        <a:lstStyle/>
        <a:p>
          <a:pPr rtl="0"/>
          <a:r>
            <a:rPr lang="fr-FR" sz="2800" b="1" baseline="0" dirty="0"/>
            <a:t>Arrêt supérieur à 90 jours  </a:t>
          </a:r>
          <a:endParaRPr lang="fr-FR" sz="2800" dirty="0"/>
        </a:p>
      </dgm:t>
    </dgm:pt>
    <dgm:pt modelId="{662BEC43-5555-48BB-8B47-FE831FB190DD}" type="parTrans" cxnId="{0E6DB4C5-8160-43F2-858E-359C5ECD1B0F}">
      <dgm:prSet/>
      <dgm:spPr/>
      <dgm:t>
        <a:bodyPr/>
        <a:lstStyle/>
        <a:p>
          <a:endParaRPr lang="fr-FR"/>
        </a:p>
      </dgm:t>
    </dgm:pt>
    <dgm:pt modelId="{B8A35097-CCB3-4B3B-92F3-E974E6291A5E}" type="sibTrans" cxnId="{0E6DB4C5-8160-43F2-858E-359C5ECD1B0F}">
      <dgm:prSet/>
      <dgm:spPr/>
      <dgm:t>
        <a:bodyPr/>
        <a:lstStyle/>
        <a:p>
          <a:endParaRPr lang="fr-FR"/>
        </a:p>
      </dgm:t>
    </dgm:pt>
    <dgm:pt modelId="{9D8758CD-61AF-42DD-8759-01DFDE9B7F42}">
      <dgm:prSet/>
      <dgm:spPr/>
      <dgm:t>
        <a:bodyPr/>
        <a:lstStyle/>
        <a:p>
          <a:pPr marL="180000" indent="-180000" rtl="0">
            <a:buFont typeface="Wingdings" panose="05000000000000000000" pitchFamily="2" charset="2"/>
            <a:buChar char="§"/>
          </a:pPr>
          <a:r>
            <a:rPr lang="fr-FR" b="1" dirty="0"/>
            <a:t>L’entreprise a l’obligation de souscrire un contrat pour les indemnités journalières à partir de 91 jours</a:t>
          </a:r>
          <a:endParaRPr lang="fr-FR" dirty="0"/>
        </a:p>
      </dgm:t>
    </dgm:pt>
    <dgm:pt modelId="{FA17FEE8-6192-4184-8B56-E112636266B7}" type="parTrans" cxnId="{E850BD7B-17B8-4C99-B825-2DD248BB6F8F}">
      <dgm:prSet/>
      <dgm:spPr/>
      <dgm:t>
        <a:bodyPr/>
        <a:lstStyle/>
        <a:p>
          <a:endParaRPr lang="fr-FR"/>
        </a:p>
      </dgm:t>
    </dgm:pt>
    <dgm:pt modelId="{A0C6F73C-EE3B-4C2F-9505-A46A696B0E7B}" type="sibTrans" cxnId="{E850BD7B-17B8-4C99-B825-2DD248BB6F8F}">
      <dgm:prSet/>
      <dgm:spPr/>
      <dgm:t>
        <a:bodyPr/>
        <a:lstStyle/>
        <a:p>
          <a:endParaRPr lang="fr-FR"/>
        </a:p>
      </dgm:t>
    </dgm:pt>
    <dgm:pt modelId="{CE6E70BC-4AED-4323-9BE8-95CA42F2AE6F}">
      <dgm:prSet/>
      <dgm:spPr/>
      <dgm:t>
        <a:bodyPr/>
        <a:lstStyle/>
        <a:p>
          <a:pPr marL="180000" indent="-180000" rtl="0">
            <a:buFont typeface="Wingdings" panose="05000000000000000000" pitchFamily="2" charset="2"/>
            <a:buChar char="§"/>
          </a:pPr>
          <a:r>
            <a:rPr lang="fr-FR" b="1" dirty="0"/>
            <a:t>Adhésion à BTP-PRÉVOYANCE si l’entreprise choisit PRO-BTP pour la prévoyance</a:t>
          </a:r>
          <a:endParaRPr lang="fr-FR" dirty="0"/>
        </a:p>
      </dgm:t>
    </dgm:pt>
    <dgm:pt modelId="{8B60647D-D133-472A-8A32-862DDD56E6B1}" type="parTrans" cxnId="{685392D7-4483-4586-91B6-68FD572E682E}">
      <dgm:prSet/>
      <dgm:spPr/>
      <dgm:t>
        <a:bodyPr/>
        <a:lstStyle/>
        <a:p>
          <a:endParaRPr lang="fr-FR"/>
        </a:p>
      </dgm:t>
    </dgm:pt>
    <dgm:pt modelId="{55CF74B6-7CA4-46A1-83BE-59597E39DCC3}" type="sibTrans" cxnId="{685392D7-4483-4586-91B6-68FD572E682E}">
      <dgm:prSet/>
      <dgm:spPr/>
      <dgm:t>
        <a:bodyPr/>
        <a:lstStyle/>
        <a:p>
          <a:endParaRPr lang="fr-FR"/>
        </a:p>
      </dgm:t>
    </dgm:pt>
    <dgm:pt modelId="{4443BF5F-96A4-41D2-BD0D-BB85E4DD0971}" type="pres">
      <dgm:prSet presAssocID="{67A1A445-2D2C-4104-9DE0-00D026F5269F}" presName="Name0" presStyleCnt="0">
        <dgm:presLayoutVars>
          <dgm:dir/>
          <dgm:animLvl val="lvl"/>
          <dgm:resizeHandles val="exact"/>
        </dgm:presLayoutVars>
      </dgm:prSet>
      <dgm:spPr/>
    </dgm:pt>
    <dgm:pt modelId="{AFE6E15A-BA3C-47A5-979F-7F0A230DF8ED}" type="pres">
      <dgm:prSet presAssocID="{DC4AE4E9-7175-4BB1-B5FE-80EAA1F8AE14}" presName="linNode" presStyleCnt="0"/>
      <dgm:spPr/>
    </dgm:pt>
    <dgm:pt modelId="{032F7309-9045-4407-A7B9-707AB3396141}" type="pres">
      <dgm:prSet presAssocID="{DC4AE4E9-7175-4BB1-B5FE-80EAA1F8AE14}" presName="parentText" presStyleLbl="node1" presStyleIdx="0" presStyleCnt="2">
        <dgm:presLayoutVars>
          <dgm:chMax val="1"/>
          <dgm:bulletEnabled val="1"/>
        </dgm:presLayoutVars>
      </dgm:prSet>
      <dgm:spPr/>
    </dgm:pt>
    <dgm:pt modelId="{DEBEDFF7-5B7B-48E3-A36A-302D6A1CAAFD}" type="pres">
      <dgm:prSet presAssocID="{DC4AE4E9-7175-4BB1-B5FE-80EAA1F8AE14}" presName="descendantText" presStyleLbl="alignAccFollowNode1" presStyleIdx="0" presStyleCnt="2">
        <dgm:presLayoutVars>
          <dgm:bulletEnabled val="1"/>
        </dgm:presLayoutVars>
      </dgm:prSet>
      <dgm:spPr/>
    </dgm:pt>
    <dgm:pt modelId="{15B66E2A-7099-49AD-AA1C-D0BFB863AF23}" type="pres">
      <dgm:prSet presAssocID="{EEE7E39A-1F47-4D01-B0C1-155664421ACB}" presName="sp" presStyleCnt="0"/>
      <dgm:spPr/>
    </dgm:pt>
    <dgm:pt modelId="{504253DB-FE97-421A-B84B-9D28C20C2B36}" type="pres">
      <dgm:prSet presAssocID="{0E84DAC9-4D43-42B2-AA4E-7B4BE1E8F71D}" presName="linNode" presStyleCnt="0"/>
      <dgm:spPr/>
    </dgm:pt>
    <dgm:pt modelId="{CE3513C2-BDE6-44F8-918E-E9F8805A0B41}" type="pres">
      <dgm:prSet presAssocID="{0E84DAC9-4D43-42B2-AA4E-7B4BE1E8F71D}" presName="parentText" presStyleLbl="node1" presStyleIdx="1" presStyleCnt="2">
        <dgm:presLayoutVars>
          <dgm:chMax val="1"/>
          <dgm:bulletEnabled val="1"/>
        </dgm:presLayoutVars>
      </dgm:prSet>
      <dgm:spPr/>
    </dgm:pt>
    <dgm:pt modelId="{ACA1F4CD-B927-441E-BA0C-E7676FDD112A}" type="pres">
      <dgm:prSet presAssocID="{0E84DAC9-4D43-42B2-AA4E-7B4BE1E8F71D}" presName="descendantText" presStyleLbl="alignAccFollowNode1" presStyleIdx="1" presStyleCnt="2">
        <dgm:presLayoutVars>
          <dgm:bulletEnabled val="1"/>
        </dgm:presLayoutVars>
      </dgm:prSet>
      <dgm:spPr/>
    </dgm:pt>
  </dgm:ptLst>
  <dgm:cxnLst>
    <dgm:cxn modelId="{07F3B901-BBA5-40F2-B62D-431B268CFB3B}" type="presOf" srcId="{CE6E70BC-4AED-4323-9BE8-95CA42F2AE6F}" destId="{ACA1F4CD-B927-441E-BA0C-E7676FDD112A}" srcOrd="0" destOrd="1" presId="urn:microsoft.com/office/officeart/2005/8/layout/vList5"/>
    <dgm:cxn modelId="{1899F605-243E-4B01-B5BD-1A6BFBFA9CA2}" type="presOf" srcId="{0E84DAC9-4D43-42B2-AA4E-7B4BE1E8F71D}" destId="{CE3513C2-BDE6-44F8-918E-E9F8805A0B41}" srcOrd="0" destOrd="0" presId="urn:microsoft.com/office/officeart/2005/8/layout/vList5"/>
    <dgm:cxn modelId="{8B205109-CAE8-469E-8355-E0FDCDCE5051}" type="presOf" srcId="{67A1A445-2D2C-4104-9DE0-00D026F5269F}" destId="{4443BF5F-96A4-41D2-BD0D-BB85E4DD0971}" srcOrd="0" destOrd="0" presId="urn:microsoft.com/office/officeart/2005/8/layout/vList5"/>
    <dgm:cxn modelId="{3EF95D66-55FB-4F6F-A25E-C0B5B63608C3}" srcId="{DC4AE4E9-7175-4BB1-B5FE-80EAA1F8AE14}" destId="{B89A2F1A-D8CC-4994-A372-728EDEBED84C}" srcOrd="0" destOrd="0" parTransId="{EF09ECD4-7468-4F07-AD2D-FABA04F5C683}" sibTransId="{A0DF6CBA-BEA5-4FF0-ACC7-0AB1E4AC7FE4}"/>
    <dgm:cxn modelId="{E850BD7B-17B8-4C99-B825-2DD248BB6F8F}" srcId="{0E84DAC9-4D43-42B2-AA4E-7B4BE1E8F71D}" destId="{9D8758CD-61AF-42DD-8759-01DFDE9B7F42}" srcOrd="0" destOrd="0" parTransId="{FA17FEE8-6192-4184-8B56-E112636266B7}" sibTransId="{A0C6F73C-EE3B-4C2F-9505-A46A696B0E7B}"/>
    <dgm:cxn modelId="{FABC6A81-E0B2-48FF-B311-29DAB6076429}" srcId="{67A1A445-2D2C-4104-9DE0-00D026F5269F}" destId="{DC4AE4E9-7175-4BB1-B5FE-80EAA1F8AE14}" srcOrd="0" destOrd="0" parTransId="{AFB6DF67-FBCD-48F9-910B-63F9FBA78C9A}" sibTransId="{EEE7E39A-1F47-4D01-B0C1-155664421ACB}"/>
    <dgm:cxn modelId="{E55F01AE-975D-4EDE-8B94-9331D02861BC}" type="presOf" srcId="{B89A2F1A-D8CC-4994-A372-728EDEBED84C}" destId="{DEBEDFF7-5B7B-48E3-A36A-302D6A1CAAFD}" srcOrd="0" destOrd="0" presId="urn:microsoft.com/office/officeart/2005/8/layout/vList5"/>
    <dgm:cxn modelId="{0E6DB4C5-8160-43F2-858E-359C5ECD1B0F}" srcId="{67A1A445-2D2C-4104-9DE0-00D026F5269F}" destId="{0E84DAC9-4D43-42B2-AA4E-7B4BE1E8F71D}" srcOrd="1" destOrd="0" parTransId="{662BEC43-5555-48BB-8B47-FE831FB190DD}" sibTransId="{B8A35097-CCB3-4B3B-92F3-E974E6291A5E}"/>
    <dgm:cxn modelId="{7718E8CC-44A6-4B86-AB5B-B9FA85C7D219}" type="presOf" srcId="{DC4AE4E9-7175-4BB1-B5FE-80EAA1F8AE14}" destId="{032F7309-9045-4407-A7B9-707AB3396141}" srcOrd="0" destOrd="0" presId="urn:microsoft.com/office/officeart/2005/8/layout/vList5"/>
    <dgm:cxn modelId="{685392D7-4483-4586-91B6-68FD572E682E}" srcId="{0E84DAC9-4D43-42B2-AA4E-7B4BE1E8F71D}" destId="{CE6E70BC-4AED-4323-9BE8-95CA42F2AE6F}" srcOrd="1" destOrd="0" parTransId="{8B60647D-D133-472A-8A32-862DDD56E6B1}" sibTransId="{55CF74B6-7CA4-46A1-83BE-59597E39DCC3}"/>
    <dgm:cxn modelId="{898D24F4-78F0-42E6-9ADA-4ECFE78FDCAF}" type="presOf" srcId="{9D8758CD-61AF-42DD-8759-01DFDE9B7F42}" destId="{ACA1F4CD-B927-441E-BA0C-E7676FDD112A}" srcOrd="0" destOrd="0" presId="urn:microsoft.com/office/officeart/2005/8/layout/vList5"/>
    <dgm:cxn modelId="{E8018BC1-DE67-44B9-87DF-45DFB0D64270}" type="presParOf" srcId="{4443BF5F-96A4-41D2-BD0D-BB85E4DD0971}" destId="{AFE6E15A-BA3C-47A5-979F-7F0A230DF8ED}" srcOrd="0" destOrd="0" presId="urn:microsoft.com/office/officeart/2005/8/layout/vList5"/>
    <dgm:cxn modelId="{532CDFA5-4DBC-49DB-891D-D055B6F3CCC3}" type="presParOf" srcId="{AFE6E15A-BA3C-47A5-979F-7F0A230DF8ED}" destId="{032F7309-9045-4407-A7B9-707AB3396141}" srcOrd="0" destOrd="0" presId="urn:microsoft.com/office/officeart/2005/8/layout/vList5"/>
    <dgm:cxn modelId="{70419598-2FE3-4466-A9A4-C819803BABFE}" type="presParOf" srcId="{AFE6E15A-BA3C-47A5-979F-7F0A230DF8ED}" destId="{DEBEDFF7-5B7B-48E3-A36A-302D6A1CAAFD}" srcOrd="1" destOrd="0" presId="urn:microsoft.com/office/officeart/2005/8/layout/vList5"/>
    <dgm:cxn modelId="{2C4EB400-FAA7-44BA-B3F8-759415416799}" type="presParOf" srcId="{4443BF5F-96A4-41D2-BD0D-BB85E4DD0971}" destId="{15B66E2A-7099-49AD-AA1C-D0BFB863AF23}" srcOrd="1" destOrd="0" presId="urn:microsoft.com/office/officeart/2005/8/layout/vList5"/>
    <dgm:cxn modelId="{5156E708-362D-4E27-8209-8CE24DEEE1F7}" type="presParOf" srcId="{4443BF5F-96A4-41D2-BD0D-BB85E4DD0971}" destId="{504253DB-FE97-421A-B84B-9D28C20C2B36}" srcOrd="2" destOrd="0" presId="urn:microsoft.com/office/officeart/2005/8/layout/vList5"/>
    <dgm:cxn modelId="{8E0160B2-9087-4602-B571-F6E960FF6351}" type="presParOf" srcId="{504253DB-FE97-421A-B84B-9D28C20C2B36}" destId="{CE3513C2-BDE6-44F8-918E-E9F8805A0B41}" srcOrd="0" destOrd="0" presId="urn:microsoft.com/office/officeart/2005/8/layout/vList5"/>
    <dgm:cxn modelId="{63663D64-E1F0-492F-8780-D366F5C983BB}" type="presParOf" srcId="{504253DB-FE97-421A-B84B-9D28C20C2B36}" destId="{ACA1F4CD-B927-441E-BA0C-E7676FDD112A}"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3.xml><?xml version="1.0" encoding="utf-8"?>
<dgm:dataModel xmlns:dgm="http://schemas.openxmlformats.org/drawingml/2006/diagram" xmlns:a="http://schemas.openxmlformats.org/drawingml/2006/main">
  <dgm:ptLst>
    <dgm:pt modelId="{CE444721-EE1B-4A34-8E0B-9E3739A83BDB}" type="doc">
      <dgm:prSet loTypeId="urn:microsoft.com/office/officeart/2005/8/layout/vList2" loCatId="list" qsTypeId="urn:microsoft.com/office/officeart/2005/8/quickstyle/simple1#156" qsCatId="simple" csTypeId="urn:microsoft.com/office/officeart/2005/8/colors/accent1_2#109" csCatId="accent1" phldr="1"/>
      <dgm:spPr/>
      <dgm:t>
        <a:bodyPr/>
        <a:lstStyle/>
        <a:p>
          <a:endParaRPr lang="fr-FR"/>
        </a:p>
      </dgm:t>
    </dgm:pt>
    <dgm:pt modelId="{266B8C36-3035-4533-B53E-644B79A28234}">
      <dgm:prSet custT="1"/>
      <dgm:spPr/>
      <dgm:t>
        <a:bodyPr/>
        <a:lstStyle/>
        <a:p>
          <a:pPr algn="ctr" rtl="0"/>
          <a:r>
            <a:rPr lang="fr-FR" sz="2000" b="1" baseline="0" dirty="0"/>
            <a:t>Moins de 90 jours</a:t>
          </a:r>
          <a:endParaRPr lang="fr-FR" sz="2000" dirty="0"/>
        </a:p>
      </dgm:t>
    </dgm:pt>
    <dgm:pt modelId="{3012167E-2AD6-494F-9B6B-650F1906DBBC}" type="parTrans" cxnId="{15589829-72C5-4ADC-BD00-28D81DE1FB1C}">
      <dgm:prSet/>
      <dgm:spPr/>
      <dgm:t>
        <a:bodyPr/>
        <a:lstStyle/>
        <a:p>
          <a:endParaRPr lang="fr-FR"/>
        </a:p>
      </dgm:t>
    </dgm:pt>
    <dgm:pt modelId="{B4D3FB8B-B535-4464-A272-FBCA1589E5A4}" type="sibTrans" cxnId="{15589829-72C5-4ADC-BD00-28D81DE1FB1C}">
      <dgm:prSet/>
      <dgm:spPr/>
      <dgm:t>
        <a:bodyPr/>
        <a:lstStyle/>
        <a:p>
          <a:endParaRPr lang="fr-FR"/>
        </a:p>
      </dgm:t>
    </dgm:pt>
    <dgm:pt modelId="{636AFBB2-678A-4F2F-B57E-25F28A8CB9AC}">
      <dgm:prSet custT="1"/>
      <dgm:spPr/>
      <dgm:t>
        <a:bodyPr/>
        <a:lstStyle/>
        <a:p>
          <a:pPr marL="180000" indent="-180000" algn="just" rtl="0">
            <a:buFont typeface="Wingdings" panose="05000000000000000000" pitchFamily="2" charset="2"/>
            <a:buChar char="§"/>
          </a:pPr>
          <a:r>
            <a:rPr lang="fr-FR" sz="1800" b="1" baseline="0" dirty="0"/>
            <a:t>Les paiements sont effectués directement sur le compte de l’ouvrier ou sur celui de l’entreprise selon le mode de paiement choisi par l’entreprise</a:t>
          </a:r>
          <a:r>
            <a:rPr lang="fr-FR" sz="2000" b="1" baseline="0" dirty="0"/>
            <a:t> </a:t>
          </a:r>
          <a:r>
            <a:rPr lang="fr-FR" sz="2000" b="0" baseline="0" dirty="0"/>
            <a:t>(</a:t>
          </a:r>
          <a:r>
            <a:rPr lang="fr-FR" sz="1600" b="1" i="1" baseline="0" dirty="0"/>
            <a:t>le versement est net. BTP-Prévoyance a précompté les retenues et versé les charges sociales patronales)</a:t>
          </a:r>
          <a:endParaRPr lang="fr-FR" sz="2000" dirty="0"/>
        </a:p>
      </dgm:t>
    </dgm:pt>
    <dgm:pt modelId="{08B3A225-182F-4818-A5B0-4ADB6D41E944}" type="sibTrans" cxnId="{D017698B-F5B7-46C0-8BD7-1FAB9AC93720}">
      <dgm:prSet/>
      <dgm:spPr/>
      <dgm:t>
        <a:bodyPr/>
        <a:lstStyle/>
        <a:p>
          <a:endParaRPr lang="fr-FR"/>
        </a:p>
      </dgm:t>
    </dgm:pt>
    <dgm:pt modelId="{A93DFEC0-1428-4A92-894B-8C9E0A6961D0}" type="parTrans" cxnId="{D017698B-F5B7-46C0-8BD7-1FAB9AC93720}">
      <dgm:prSet/>
      <dgm:spPr/>
      <dgm:t>
        <a:bodyPr/>
        <a:lstStyle/>
        <a:p>
          <a:endParaRPr lang="fr-FR"/>
        </a:p>
      </dgm:t>
    </dgm:pt>
    <dgm:pt modelId="{42E0AEDA-2CCC-474A-8DA8-9F0B23E74054}">
      <dgm:prSet custT="1"/>
      <dgm:spPr/>
      <dgm:t>
        <a:bodyPr/>
        <a:lstStyle/>
        <a:p>
          <a:pPr marL="180000" indent="-180000" algn="just" rtl="0"/>
          <a:endParaRPr lang="fr-FR" sz="2000" dirty="0"/>
        </a:p>
      </dgm:t>
    </dgm:pt>
    <dgm:pt modelId="{FD5F769F-02EC-4D02-83F6-D52C7EFA1847}" type="parTrans" cxnId="{C8C389C8-33E6-4115-8B33-31F7AA28E4B6}">
      <dgm:prSet/>
      <dgm:spPr/>
      <dgm:t>
        <a:bodyPr/>
        <a:lstStyle/>
        <a:p>
          <a:endParaRPr lang="fr-FR"/>
        </a:p>
      </dgm:t>
    </dgm:pt>
    <dgm:pt modelId="{CD399431-7DFD-4A9D-972D-DC84515A3E75}" type="sibTrans" cxnId="{C8C389C8-33E6-4115-8B33-31F7AA28E4B6}">
      <dgm:prSet/>
      <dgm:spPr/>
      <dgm:t>
        <a:bodyPr/>
        <a:lstStyle/>
        <a:p>
          <a:endParaRPr lang="fr-FR"/>
        </a:p>
      </dgm:t>
    </dgm:pt>
    <dgm:pt modelId="{205BF865-111D-4D71-9295-F5A4554E550F}" type="pres">
      <dgm:prSet presAssocID="{CE444721-EE1B-4A34-8E0B-9E3739A83BDB}" presName="linear" presStyleCnt="0">
        <dgm:presLayoutVars>
          <dgm:animLvl val="lvl"/>
          <dgm:resizeHandles val="exact"/>
        </dgm:presLayoutVars>
      </dgm:prSet>
      <dgm:spPr/>
    </dgm:pt>
    <dgm:pt modelId="{294AFF4B-1778-418A-8663-1FD4346D7495}" type="pres">
      <dgm:prSet presAssocID="{266B8C36-3035-4533-B53E-644B79A28234}" presName="parentText" presStyleLbl="node1" presStyleIdx="0" presStyleCnt="1" custScaleY="47629" custLinFactNeighborY="-23449">
        <dgm:presLayoutVars>
          <dgm:chMax val="0"/>
          <dgm:bulletEnabled val="1"/>
        </dgm:presLayoutVars>
      </dgm:prSet>
      <dgm:spPr/>
    </dgm:pt>
    <dgm:pt modelId="{2A4A2374-807E-44E5-AEFC-D4A905795FFE}" type="pres">
      <dgm:prSet presAssocID="{266B8C36-3035-4533-B53E-644B79A28234}" presName="childText" presStyleLbl="revTx" presStyleIdx="0" presStyleCnt="1" custLinFactNeighborY="-28908">
        <dgm:presLayoutVars>
          <dgm:bulletEnabled val="1"/>
        </dgm:presLayoutVars>
      </dgm:prSet>
      <dgm:spPr/>
    </dgm:pt>
  </dgm:ptLst>
  <dgm:cxnLst>
    <dgm:cxn modelId="{15589829-72C5-4ADC-BD00-28D81DE1FB1C}" srcId="{CE444721-EE1B-4A34-8E0B-9E3739A83BDB}" destId="{266B8C36-3035-4533-B53E-644B79A28234}" srcOrd="0" destOrd="0" parTransId="{3012167E-2AD6-494F-9B6B-650F1906DBBC}" sibTransId="{B4D3FB8B-B535-4464-A272-FBCA1589E5A4}"/>
    <dgm:cxn modelId="{B6588034-7808-4489-A069-E06FCCE830BE}" type="presOf" srcId="{636AFBB2-678A-4F2F-B57E-25F28A8CB9AC}" destId="{2A4A2374-807E-44E5-AEFC-D4A905795FFE}" srcOrd="0" destOrd="1" presId="urn:microsoft.com/office/officeart/2005/8/layout/vList2"/>
    <dgm:cxn modelId="{D017698B-F5B7-46C0-8BD7-1FAB9AC93720}" srcId="{266B8C36-3035-4533-B53E-644B79A28234}" destId="{636AFBB2-678A-4F2F-B57E-25F28A8CB9AC}" srcOrd="1" destOrd="0" parTransId="{A93DFEC0-1428-4A92-894B-8C9E0A6961D0}" sibTransId="{08B3A225-182F-4818-A5B0-4ADB6D41E944}"/>
    <dgm:cxn modelId="{0962EF9A-21D7-4134-B8B1-89CD9FB0E90E}" type="presOf" srcId="{CE444721-EE1B-4A34-8E0B-9E3739A83BDB}" destId="{205BF865-111D-4D71-9295-F5A4554E550F}" srcOrd="0" destOrd="0" presId="urn:microsoft.com/office/officeart/2005/8/layout/vList2"/>
    <dgm:cxn modelId="{07FBAAC0-0950-4C66-BD18-BA16428D5EC6}" type="presOf" srcId="{266B8C36-3035-4533-B53E-644B79A28234}" destId="{294AFF4B-1778-418A-8663-1FD4346D7495}" srcOrd="0" destOrd="0" presId="urn:microsoft.com/office/officeart/2005/8/layout/vList2"/>
    <dgm:cxn modelId="{C8C389C8-33E6-4115-8B33-31F7AA28E4B6}" srcId="{266B8C36-3035-4533-B53E-644B79A28234}" destId="{42E0AEDA-2CCC-474A-8DA8-9F0B23E74054}" srcOrd="0" destOrd="0" parTransId="{FD5F769F-02EC-4D02-83F6-D52C7EFA1847}" sibTransId="{CD399431-7DFD-4A9D-972D-DC84515A3E75}"/>
    <dgm:cxn modelId="{B3A980C9-47FD-4362-800C-033620C40306}" type="presOf" srcId="{42E0AEDA-2CCC-474A-8DA8-9F0B23E74054}" destId="{2A4A2374-807E-44E5-AEFC-D4A905795FFE}" srcOrd="0" destOrd="0" presId="urn:microsoft.com/office/officeart/2005/8/layout/vList2"/>
    <dgm:cxn modelId="{4DF04CF9-FA80-4C7D-8651-325BAC97D339}" type="presParOf" srcId="{205BF865-111D-4D71-9295-F5A4554E550F}" destId="{294AFF4B-1778-418A-8663-1FD4346D7495}" srcOrd="0" destOrd="0" presId="urn:microsoft.com/office/officeart/2005/8/layout/vList2"/>
    <dgm:cxn modelId="{A9513A9F-6905-473C-9317-23FC8A4D3D42}" type="presParOf" srcId="{205BF865-111D-4D71-9295-F5A4554E550F}" destId="{2A4A2374-807E-44E5-AEFC-D4A905795FFE}"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4.xml><?xml version="1.0" encoding="utf-8"?>
<dgm:dataModel xmlns:dgm="http://schemas.openxmlformats.org/drawingml/2006/diagram" xmlns:a="http://schemas.openxmlformats.org/drawingml/2006/main">
  <dgm:ptLst>
    <dgm:pt modelId="{A1FF0067-FF57-4C46-B49D-F04D61629BEE}" type="doc">
      <dgm:prSet loTypeId="urn:microsoft.com/office/officeart/2005/8/layout/vList2" loCatId="list" qsTypeId="urn:microsoft.com/office/officeart/2005/8/quickstyle/simple1#157" qsCatId="simple" csTypeId="urn:microsoft.com/office/officeart/2005/8/colors/accent1_2#110" csCatId="accent1" phldr="1"/>
      <dgm:spPr/>
      <dgm:t>
        <a:bodyPr/>
        <a:lstStyle/>
        <a:p>
          <a:endParaRPr lang="fr-FR"/>
        </a:p>
      </dgm:t>
    </dgm:pt>
    <dgm:pt modelId="{6A8AF806-5EC6-4092-9149-054D343D0506}">
      <dgm:prSet/>
      <dgm:spPr/>
      <dgm:t>
        <a:bodyPr/>
        <a:lstStyle/>
        <a:p>
          <a:pPr algn="ctr" rtl="0"/>
          <a:r>
            <a:rPr lang="fr-FR" b="1" baseline="0" dirty="0"/>
            <a:t>Plus de 90 jours</a:t>
          </a:r>
          <a:endParaRPr lang="fr-FR" dirty="0"/>
        </a:p>
      </dgm:t>
    </dgm:pt>
    <dgm:pt modelId="{797BE72E-B15B-41BC-BAC3-49E348EF33F5}" type="parTrans" cxnId="{3F906BA4-13E6-4D60-BCB6-7485F6391C31}">
      <dgm:prSet/>
      <dgm:spPr/>
      <dgm:t>
        <a:bodyPr/>
        <a:lstStyle/>
        <a:p>
          <a:endParaRPr lang="fr-FR"/>
        </a:p>
      </dgm:t>
    </dgm:pt>
    <dgm:pt modelId="{702EC6C4-9037-4F97-A3FA-B38804BA0D25}" type="sibTrans" cxnId="{3F906BA4-13E6-4D60-BCB6-7485F6391C31}">
      <dgm:prSet/>
      <dgm:spPr/>
      <dgm:t>
        <a:bodyPr/>
        <a:lstStyle/>
        <a:p>
          <a:endParaRPr lang="fr-FR"/>
        </a:p>
      </dgm:t>
    </dgm:pt>
    <dgm:pt modelId="{E9AB0C03-2BBA-451A-8CA3-7212C2B4AFD3}">
      <dgm:prSet custT="1"/>
      <dgm:spPr/>
      <dgm:t>
        <a:bodyPr/>
        <a:lstStyle/>
        <a:p>
          <a:pPr algn="just" rtl="0">
            <a:buClr>
              <a:schemeClr val="accent1"/>
            </a:buClr>
            <a:buFont typeface="Wingdings" panose="05000000000000000000" pitchFamily="2" charset="2"/>
            <a:buChar char="§"/>
          </a:pPr>
          <a:r>
            <a:rPr lang="fr-FR" sz="2000" b="1" baseline="0" dirty="0"/>
            <a:t>Au-delà de 90 jours d’absence, le salarié est pris en charge par le régime obligatoire PRO-BTP + 90 jours</a:t>
          </a:r>
          <a:endParaRPr lang="fr-FR" sz="2000" dirty="0"/>
        </a:p>
      </dgm:t>
    </dgm:pt>
    <dgm:pt modelId="{B463E3AB-E301-4264-BF18-444C9F685F7B}" type="parTrans" cxnId="{0342A178-8F16-4DC2-B707-4643A356F336}">
      <dgm:prSet/>
      <dgm:spPr/>
      <dgm:t>
        <a:bodyPr/>
        <a:lstStyle/>
        <a:p>
          <a:endParaRPr lang="fr-FR"/>
        </a:p>
      </dgm:t>
    </dgm:pt>
    <dgm:pt modelId="{385F8A71-704F-4CC0-B925-315953B9D624}" type="sibTrans" cxnId="{0342A178-8F16-4DC2-B707-4643A356F336}">
      <dgm:prSet/>
      <dgm:spPr/>
      <dgm:t>
        <a:bodyPr/>
        <a:lstStyle/>
        <a:p>
          <a:endParaRPr lang="fr-FR"/>
        </a:p>
      </dgm:t>
    </dgm:pt>
    <dgm:pt modelId="{030D1305-DC34-4378-B292-B84FFA51386A}">
      <dgm:prSet custT="1"/>
      <dgm:spPr/>
      <dgm:t>
        <a:bodyPr/>
        <a:lstStyle/>
        <a:p>
          <a:pPr algn="just" rtl="0">
            <a:buClr>
              <a:schemeClr val="accent1"/>
            </a:buClr>
            <a:buFont typeface="Wingdings" panose="05000000000000000000" pitchFamily="2" charset="2"/>
            <a:buChar char="§"/>
          </a:pPr>
          <a:r>
            <a:rPr lang="fr-FR" sz="2000" b="1" baseline="0" dirty="0"/>
            <a:t>Le principe est depuis 2014</a:t>
          </a:r>
          <a:endParaRPr lang="fr-FR" sz="2000" dirty="0"/>
        </a:p>
      </dgm:t>
    </dgm:pt>
    <dgm:pt modelId="{BA185C2F-E1C1-4E89-8F53-A2AFCF4E1591}" type="parTrans" cxnId="{9B769C19-170E-415A-AFE9-33356DE5B4F7}">
      <dgm:prSet/>
      <dgm:spPr/>
      <dgm:t>
        <a:bodyPr/>
        <a:lstStyle/>
        <a:p>
          <a:endParaRPr lang="fr-FR"/>
        </a:p>
      </dgm:t>
    </dgm:pt>
    <dgm:pt modelId="{0E2B323E-A8B1-40A7-9731-CF02CC4604C2}" type="sibTrans" cxnId="{9B769C19-170E-415A-AFE9-33356DE5B4F7}">
      <dgm:prSet/>
      <dgm:spPr/>
      <dgm:t>
        <a:bodyPr/>
        <a:lstStyle/>
        <a:p>
          <a:endParaRPr lang="fr-FR"/>
        </a:p>
      </dgm:t>
    </dgm:pt>
    <dgm:pt modelId="{2BD329E5-4D59-4E9B-8195-BD03BC112FB8}">
      <dgm:prSet custT="1"/>
      <dgm:spPr/>
      <dgm:t>
        <a:bodyPr/>
        <a:lstStyle/>
        <a:p>
          <a:pPr algn="just" rtl="0">
            <a:buClr>
              <a:schemeClr val="accent1"/>
            </a:buClr>
            <a:buFont typeface="Webdings" panose="05030102010509060703" pitchFamily="18" charset="2"/>
            <a:buChar char="4"/>
          </a:pPr>
          <a:r>
            <a:rPr lang="fr-FR" sz="2000" b="1" dirty="0"/>
            <a:t>PRO-BTP effectue désormais un versement direct sur le compte de l’entreprise des indemnités complémentaires brutes, sans précompter la CSG/CRDS. L’entreprise après avoir appliqué les cotisations sociales, verse alors les indemnités à l’ouvrier malade. Ce système était déjà applicable aux ETAM et aux cadres</a:t>
          </a:r>
          <a:endParaRPr lang="fr-FR" sz="2000" dirty="0"/>
        </a:p>
      </dgm:t>
    </dgm:pt>
    <dgm:pt modelId="{236035BE-4E64-493E-B898-7FB9FD0A1F85}" type="parTrans" cxnId="{1F88696C-E044-4BB0-A672-D8F70EF36AEC}">
      <dgm:prSet/>
      <dgm:spPr/>
    </dgm:pt>
    <dgm:pt modelId="{F2F32F08-3D62-43CA-9DC7-B9F0CFA90049}" type="sibTrans" cxnId="{1F88696C-E044-4BB0-A672-D8F70EF36AEC}">
      <dgm:prSet/>
      <dgm:spPr/>
    </dgm:pt>
    <dgm:pt modelId="{D672BBDE-5C1B-484F-8F67-4DBB695EAC70}" type="pres">
      <dgm:prSet presAssocID="{A1FF0067-FF57-4C46-B49D-F04D61629BEE}" presName="linear" presStyleCnt="0">
        <dgm:presLayoutVars>
          <dgm:animLvl val="lvl"/>
          <dgm:resizeHandles val="exact"/>
        </dgm:presLayoutVars>
      </dgm:prSet>
      <dgm:spPr/>
    </dgm:pt>
    <dgm:pt modelId="{EDD1BACA-CC73-451B-8B86-C837DCCFA0E4}" type="pres">
      <dgm:prSet presAssocID="{6A8AF806-5EC6-4092-9149-054D343D0506}" presName="parentText" presStyleLbl="node1" presStyleIdx="0" presStyleCnt="1" custScaleY="118619">
        <dgm:presLayoutVars>
          <dgm:chMax val="0"/>
          <dgm:bulletEnabled val="1"/>
        </dgm:presLayoutVars>
      </dgm:prSet>
      <dgm:spPr/>
    </dgm:pt>
    <dgm:pt modelId="{A64E9C18-4694-49C4-87FB-8B3A2D654C0D}" type="pres">
      <dgm:prSet presAssocID="{6A8AF806-5EC6-4092-9149-054D343D0506}" presName="childText" presStyleLbl="revTx" presStyleIdx="0" presStyleCnt="1">
        <dgm:presLayoutVars>
          <dgm:bulletEnabled val="1"/>
        </dgm:presLayoutVars>
      </dgm:prSet>
      <dgm:spPr/>
    </dgm:pt>
  </dgm:ptLst>
  <dgm:cxnLst>
    <dgm:cxn modelId="{1ACBF50F-F28B-4D00-B893-4761BF8044B6}" type="presOf" srcId="{030D1305-DC34-4378-B292-B84FFA51386A}" destId="{A64E9C18-4694-49C4-87FB-8B3A2D654C0D}" srcOrd="0" destOrd="1" presId="urn:microsoft.com/office/officeart/2005/8/layout/vList2"/>
    <dgm:cxn modelId="{452DBD16-E6C8-4CFA-AE33-33E7E0E83C09}" type="presOf" srcId="{2BD329E5-4D59-4E9B-8195-BD03BC112FB8}" destId="{A64E9C18-4694-49C4-87FB-8B3A2D654C0D}" srcOrd="0" destOrd="2" presId="urn:microsoft.com/office/officeart/2005/8/layout/vList2"/>
    <dgm:cxn modelId="{9B769C19-170E-415A-AFE9-33356DE5B4F7}" srcId="{6A8AF806-5EC6-4092-9149-054D343D0506}" destId="{030D1305-DC34-4378-B292-B84FFA51386A}" srcOrd="1" destOrd="0" parTransId="{BA185C2F-E1C1-4E89-8F53-A2AFCF4E1591}" sibTransId="{0E2B323E-A8B1-40A7-9731-CF02CC4604C2}"/>
    <dgm:cxn modelId="{DF7F3630-5BC7-4B8E-838E-CF8137D6DF3E}" type="presOf" srcId="{6A8AF806-5EC6-4092-9149-054D343D0506}" destId="{EDD1BACA-CC73-451B-8B86-C837DCCFA0E4}" srcOrd="0" destOrd="0" presId="urn:microsoft.com/office/officeart/2005/8/layout/vList2"/>
    <dgm:cxn modelId="{6A05EE33-B04E-4F32-81F6-530343ACDCB3}" type="presOf" srcId="{E9AB0C03-2BBA-451A-8CA3-7212C2B4AFD3}" destId="{A64E9C18-4694-49C4-87FB-8B3A2D654C0D}" srcOrd="0" destOrd="0" presId="urn:microsoft.com/office/officeart/2005/8/layout/vList2"/>
    <dgm:cxn modelId="{E2F03D5C-F549-4625-9A9E-DAABF56A9099}" type="presOf" srcId="{A1FF0067-FF57-4C46-B49D-F04D61629BEE}" destId="{D672BBDE-5C1B-484F-8F67-4DBB695EAC70}" srcOrd="0" destOrd="0" presId="urn:microsoft.com/office/officeart/2005/8/layout/vList2"/>
    <dgm:cxn modelId="{1F88696C-E044-4BB0-A672-D8F70EF36AEC}" srcId="{030D1305-DC34-4378-B292-B84FFA51386A}" destId="{2BD329E5-4D59-4E9B-8195-BD03BC112FB8}" srcOrd="0" destOrd="0" parTransId="{236035BE-4E64-493E-B898-7FB9FD0A1F85}" sibTransId="{F2F32F08-3D62-43CA-9DC7-B9F0CFA90049}"/>
    <dgm:cxn modelId="{0342A178-8F16-4DC2-B707-4643A356F336}" srcId="{6A8AF806-5EC6-4092-9149-054D343D0506}" destId="{E9AB0C03-2BBA-451A-8CA3-7212C2B4AFD3}" srcOrd="0" destOrd="0" parTransId="{B463E3AB-E301-4264-BF18-444C9F685F7B}" sibTransId="{385F8A71-704F-4CC0-B925-315953B9D624}"/>
    <dgm:cxn modelId="{3F906BA4-13E6-4D60-BCB6-7485F6391C31}" srcId="{A1FF0067-FF57-4C46-B49D-F04D61629BEE}" destId="{6A8AF806-5EC6-4092-9149-054D343D0506}" srcOrd="0" destOrd="0" parTransId="{797BE72E-B15B-41BC-BAC3-49E348EF33F5}" sibTransId="{702EC6C4-9037-4F97-A3FA-B38804BA0D25}"/>
    <dgm:cxn modelId="{D4A43C53-7DF6-4F74-BE23-12BDDB003083}" type="presParOf" srcId="{D672BBDE-5C1B-484F-8F67-4DBB695EAC70}" destId="{EDD1BACA-CC73-451B-8B86-C837DCCFA0E4}" srcOrd="0" destOrd="0" presId="urn:microsoft.com/office/officeart/2005/8/layout/vList2"/>
    <dgm:cxn modelId="{C158AB76-A965-4070-9D1F-F3211040F1EF}" type="presParOf" srcId="{D672BBDE-5C1B-484F-8F67-4DBB695EAC70}" destId="{A64E9C18-4694-49C4-87FB-8B3A2D654C0D}"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5.xml><?xml version="1.0" encoding="utf-8"?>
<dgm:dataModel xmlns:dgm="http://schemas.openxmlformats.org/drawingml/2006/diagram" xmlns:a="http://schemas.openxmlformats.org/drawingml/2006/main">
  <dgm:ptLst>
    <dgm:pt modelId="{DC19E32B-DB31-4742-8B8F-36264082310F}" type="doc">
      <dgm:prSet loTypeId="urn:microsoft.com/office/officeart/2005/8/layout/vList2" loCatId="list" qsTypeId="urn:microsoft.com/office/officeart/2005/8/quickstyle/simple1#158" qsCatId="simple" csTypeId="urn:microsoft.com/office/officeart/2005/8/colors/accent1_2#111" csCatId="accent1" phldr="1"/>
      <dgm:spPr/>
      <dgm:t>
        <a:bodyPr/>
        <a:lstStyle/>
        <a:p>
          <a:endParaRPr lang="fr-FR"/>
        </a:p>
      </dgm:t>
    </dgm:pt>
    <dgm:pt modelId="{5D8B0212-B096-4D8D-8CF9-8BFD0F03D538}">
      <dgm:prSet/>
      <dgm:spPr/>
      <dgm:t>
        <a:bodyPr/>
        <a:lstStyle/>
        <a:p>
          <a:pPr algn="ctr" rtl="0"/>
          <a:r>
            <a:rPr lang="fr-FR" b="1" baseline="0" dirty="0"/>
            <a:t>Autre particularité importante du BTP les congés payés</a:t>
          </a:r>
          <a:endParaRPr lang="fr-FR" dirty="0"/>
        </a:p>
      </dgm:t>
    </dgm:pt>
    <dgm:pt modelId="{4C2B4CCB-0B28-4F78-B1B4-9D710FE35B8F}" type="parTrans" cxnId="{EA9DB485-C28D-4C5C-9CEB-622406B12F34}">
      <dgm:prSet/>
      <dgm:spPr/>
      <dgm:t>
        <a:bodyPr/>
        <a:lstStyle/>
        <a:p>
          <a:endParaRPr lang="fr-FR"/>
        </a:p>
      </dgm:t>
    </dgm:pt>
    <dgm:pt modelId="{ED736CA2-D042-4D08-B9AF-FD5B71B01AF5}" type="sibTrans" cxnId="{EA9DB485-C28D-4C5C-9CEB-622406B12F34}">
      <dgm:prSet/>
      <dgm:spPr/>
      <dgm:t>
        <a:bodyPr/>
        <a:lstStyle/>
        <a:p>
          <a:endParaRPr lang="fr-FR"/>
        </a:p>
      </dgm:t>
    </dgm:pt>
    <dgm:pt modelId="{7EE4B2D7-96E2-478C-A755-6EDFF0D26213}">
      <dgm:prSet/>
      <dgm:spPr/>
      <dgm:t>
        <a:bodyPr/>
        <a:lstStyle/>
        <a:p>
          <a:pPr marL="180000" indent="-180000" algn="just" rtl="0">
            <a:spcAft>
              <a:spcPts val="600"/>
            </a:spcAft>
            <a:buClr>
              <a:schemeClr val="accent1"/>
            </a:buClr>
            <a:buFont typeface="Wingdings" panose="05000000000000000000" pitchFamily="2" charset="2"/>
            <a:buChar char="§"/>
          </a:pPr>
          <a:r>
            <a:rPr lang="fr-FR" b="1" dirty="0"/>
            <a:t>Caisse de CP régionale pour les entreprises du bâtiment et nationale pour les entreprises des travaux publics</a:t>
          </a:r>
          <a:endParaRPr lang="fr-FR" dirty="0"/>
        </a:p>
      </dgm:t>
    </dgm:pt>
    <dgm:pt modelId="{F89DD442-FF35-414E-A919-DA9BD536888B}" type="parTrans" cxnId="{64E8E083-2A74-4E9F-87D1-D29CF021736F}">
      <dgm:prSet/>
      <dgm:spPr/>
      <dgm:t>
        <a:bodyPr/>
        <a:lstStyle/>
        <a:p>
          <a:endParaRPr lang="fr-FR"/>
        </a:p>
      </dgm:t>
    </dgm:pt>
    <dgm:pt modelId="{F6A76276-F8A1-4A8E-BD24-A95C2BD0D5FB}" type="sibTrans" cxnId="{64E8E083-2A74-4E9F-87D1-D29CF021736F}">
      <dgm:prSet/>
      <dgm:spPr/>
      <dgm:t>
        <a:bodyPr/>
        <a:lstStyle/>
        <a:p>
          <a:endParaRPr lang="fr-FR"/>
        </a:p>
      </dgm:t>
    </dgm:pt>
    <dgm:pt modelId="{1CD43149-D084-4145-83AE-90828067FB29}">
      <dgm:prSet/>
      <dgm:spPr/>
      <dgm:t>
        <a:bodyPr/>
        <a:lstStyle/>
        <a:p>
          <a:pPr marL="180000" indent="-180000" algn="just" rtl="0">
            <a:spcAft>
              <a:spcPts val="600"/>
            </a:spcAft>
            <a:buClr>
              <a:schemeClr val="accent1"/>
            </a:buClr>
            <a:buFont typeface="Wingdings" panose="05000000000000000000" pitchFamily="2" charset="2"/>
            <a:buChar char="§"/>
          </a:pPr>
          <a:r>
            <a:rPr lang="fr-FR" b="1" dirty="0"/>
            <a:t>La période de référence pour l'acquisition des congés va du 1</a:t>
          </a:r>
          <a:r>
            <a:rPr lang="fr-FR" b="1" baseline="30000" dirty="0"/>
            <a:t>er</a:t>
          </a:r>
          <a:r>
            <a:rPr lang="fr-FR" b="1" dirty="0"/>
            <a:t> avril au </a:t>
          </a:r>
          <a:br>
            <a:rPr lang="fr-FR" b="1" dirty="0"/>
          </a:br>
          <a:r>
            <a:rPr lang="fr-FR" b="1" dirty="0"/>
            <a:t>31 mars</a:t>
          </a:r>
          <a:endParaRPr lang="fr-FR" dirty="0"/>
        </a:p>
      </dgm:t>
    </dgm:pt>
    <dgm:pt modelId="{A804F5A2-D9A8-43DD-9AC7-12D141AF92C1}" type="parTrans" cxnId="{E07955B3-4C16-40B2-9B16-F18671F76008}">
      <dgm:prSet/>
      <dgm:spPr/>
      <dgm:t>
        <a:bodyPr/>
        <a:lstStyle/>
        <a:p>
          <a:endParaRPr lang="fr-FR"/>
        </a:p>
      </dgm:t>
    </dgm:pt>
    <dgm:pt modelId="{E30B4CBD-3A40-4C3D-AD28-B0B5F2B2DBB9}" type="sibTrans" cxnId="{E07955B3-4C16-40B2-9B16-F18671F76008}">
      <dgm:prSet/>
      <dgm:spPr/>
      <dgm:t>
        <a:bodyPr/>
        <a:lstStyle/>
        <a:p>
          <a:endParaRPr lang="fr-FR"/>
        </a:p>
      </dgm:t>
    </dgm:pt>
    <dgm:pt modelId="{02B36424-237F-47F9-8B34-ECF0763E7EF0}">
      <dgm:prSet/>
      <dgm:spPr/>
      <dgm:t>
        <a:bodyPr/>
        <a:lstStyle/>
        <a:p>
          <a:pPr marL="180000" indent="-180000" algn="just" rtl="0">
            <a:spcAft>
              <a:spcPts val="600"/>
            </a:spcAft>
            <a:buClr>
              <a:schemeClr val="accent1"/>
            </a:buClr>
            <a:buFont typeface="Wingdings" panose="05000000000000000000" pitchFamily="2" charset="2"/>
            <a:buChar char="§"/>
          </a:pPr>
          <a:r>
            <a:rPr lang="fr-FR" b="1" dirty="0"/>
            <a:t>Les congés payés ne sont pas payés directement par l’entreprise au salarié mais par une caisse de congés payés indépendante. Les périodes de congés payés doivent être complètement neutralisées sur le bulletin de paie</a:t>
          </a:r>
          <a:endParaRPr lang="fr-FR" dirty="0"/>
        </a:p>
      </dgm:t>
    </dgm:pt>
    <dgm:pt modelId="{985D3A1D-2BAB-4C6B-8536-23160AFA5D72}" type="parTrans" cxnId="{ADB8AFD4-D739-465F-BAD3-113D89ECB212}">
      <dgm:prSet/>
      <dgm:spPr/>
      <dgm:t>
        <a:bodyPr/>
        <a:lstStyle/>
        <a:p>
          <a:endParaRPr lang="fr-FR"/>
        </a:p>
      </dgm:t>
    </dgm:pt>
    <dgm:pt modelId="{D11B07F9-3B63-426E-BEF6-9B38E5EDD7C9}" type="sibTrans" cxnId="{ADB8AFD4-D739-465F-BAD3-113D89ECB212}">
      <dgm:prSet/>
      <dgm:spPr/>
      <dgm:t>
        <a:bodyPr/>
        <a:lstStyle/>
        <a:p>
          <a:endParaRPr lang="fr-FR"/>
        </a:p>
      </dgm:t>
    </dgm:pt>
    <dgm:pt modelId="{0A474014-1BAC-4CE4-B51C-07B4157C7D6D}">
      <dgm:prSet/>
      <dgm:spPr/>
      <dgm:t>
        <a:bodyPr/>
        <a:lstStyle/>
        <a:p>
          <a:pPr marL="180000" indent="-180000" algn="just" rtl="0">
            <a:spcAft>
              <a:spcPts val="600"/>
            </a:spcAft>
            <a:buClr>
              <a:schemeClr val="accent1"/>
            </a:buClr>
            <a:buFont typeface="Wingdings" panose="05000000000000000000" pitchFamily="2" charset="2"/>
            <a:buChar char="§"/>
          </a:pPr>
          <a:r>
            <a:rPr lang="fr-FR" b="1" dirty="0"/>
            <a:t>L'article L.3141-19 du Code de travail sur le fractionnement s'applique. La règle du fractionnement  est différente pour les cadres, ingénieurs et ETAM du BTP</a:t>
          </a:r>
          <a:endParaRPr lang="fr-FR" dirty="0"/>
        </a:p>
      </dgm:t>
    </dgm:pt>
    <dgm:pt modelId="{86BCFA48-77DB-46EB-B07B-028360101D65}" type="parTrans" cxnId="{0FBF5890-3C23-475D-A2B8-843E043B3C98}">
      <dgm:prSet/>
      <dgm:spPr/>
      <dgm:t>
        <a:bodyPr/>
        <a:lstStyle/>
        <a:p>
          <a:endParaRPr lang="fr-FR"/>
        </a:p>
      </dgm:t>
    </dgm:pt>
    <dgm:pt modelId="{035B2D19-1F19-4260-AD31-642161B6B7C5}" type="sibTrans" cxnId="{0FBF5890-3C23-475D-A2B8-843E043B3C98}">
      <dgm:prSet/>
      <dgm:spPr/>
      <dgm:t>
        <a:bodyPr/>
        <a:lstStyle/>
        <a:p>
          <a:endParaRPr lang="fr-FR"/>
        </a:p>
      </dgm:t>
    </dgm:pt>
    <dgm:pt modelId="{262E2074-EAD1-4741-BB91-C25562E1B22E}" type="pres">
      <dgm:prSet presAssocID="{DC19E32B-DB31-4742-8B8F-36264082310F}" presName="linear" presStyleCnt="0">
        <dgm:presLayoutVars>
          <dgm:animLvl val="lvl"/>
          <dgm:resizeHandles val="exact"/>
        </dgm:presLayoutVars>
      </dgm:prSet>
      <dgm:spPr/>
    </dgm:pt>
    <dgm:pt modelId="{AA996801-DA6F-44D3-A6E9-0E18E0446572}" type="pres">
      <dgm:prSet presAssocID="{5D8B0212-B096-4D8D-8CF9-8BFD0F03D538}" presName="parentText" presStyleLbl="node1" presStyleIdx="0" presStyleCnt="1">
        <dgm:presLayoutVars>
          <dgm:chMax val="0"/>
          <dgm:bulletEnabled val="1"/>
        </dgm:presLayoutVars>
      </dgm:prSet>
      <dgm:spPr/>
    </dgm:pt>
    <dgm:pt modelId="{465E8CAB-B84C-4E3E-BA93-0F72DEF2077A}" type="pres">
      <dgm:prSet presAssocID="{5D8B0212-B096-4D8D-8CF9-8BFD0F03D538}" presName="childText" presStyleLbl="revTx" presStyleIdx="0" presStyleCnt="1">
        <dgm:presLayoutVars>
          <dgm:bulletEnabled val="1"/>
        </dgm:presLayoutVars>
      </dgm:prSet>
      <dgm:spPr/>
    </dgm:pt>
  </dgm:ptLst>
  <dgm:cxnLst>
    <dgm:cxn modelId="{AC6E5E40-1E91-42A0-A5FE-C28CFBE7E491}" type="presOf" srcId="{7EE4B2D7-96E2-478C-A755-6EDFF0D26213}" destId="{465E8CAB-B84C-4E3E-BA93-0F72DEF2077A}" srcOrd="0" destOrd="0" presId="urn:microsoft.com/office/officeart/2005/8/layout/vList2"/>
    <dgm:cxn modelId="{CBE1FA53-55E7-4F61-82F6-C0A63D1644D0}" type="presOf" srcId="{1CD43149-D084-4145-83AE-90828067FB29}" destId="{465E8CAB-B84C-4E3E-BA93-0F72DEF2077A}" srcOrd="0" destOrd="1" presId="urn:microsoft.com/office/officeart/2005/8/layout/vList2"/>
    <dgm:cxn modelId="{23450B5A-3764-49FF-8945-B990D3C808C0}" type="presOf" srcId="{DC19E32B-DB31-4742-8B8F-36264082310F}" destId="{262E2074-EAD1-4741-BB91-C25562E1B22E}" srcOrd="0" destOrd="0" presId="urn:microsoft.com/office/officeart/2005/8/layout/vList2"/>
    <dgm:cxn modelId="{64E8E083-2A74-4E9F-87D1-D29CF021736F}" srcId="{5D8B0212-B096-4D8D-8CF9-8BFD0F03D538}" destId="{7EE4B2D7-96E2-478C-A755-6EDFF0D26213}" srcOrd="0" destOrd="0" parTransId="{F89DD442-FF35-414E-A919-DA9BD536888B}" sibTransId="{F6A76276-F8A1-4A8E-BD24-A95C2BD0D5FB}"/>
    <dgm:cxn modelId="{EA9DB485-C28D-4C5C-9CEB-622406B12F34}" srcId="{DC19E32B-DB31-4742-8B8F-36264082310F}" destId="{5D8B0212-B096-4D8D-8CF9-8BFD0F03D538}" srcOrd="0" destOrd="0" parTransId="{4C2B4CCB-0B28-4F78-B1B4-9D710FE35B8F}" sibTransId="{ED736CA2-D042-4D08-B9AF-FD5B71B01AF5}"/>
    <dgm:cxn modelId="{F27E2C88-1B3B-4502-B756-20035912AF5C}" type="presOf" srcId="{5D8B0212-B096-4D8D-8CF9-8BFD0F03D538}" destId="{AA996801-DA6F-44D3-A6E9-0E18E0446572}" srcOrd="0" destOrd="0" presId="urn:microsoft.com/office/officeart/2005/8/layout/vList2"/>
    <dgm:cxn modelId="{0FBF5890-3C23-475D-A2B8-843E043B3C98}" srcId="{5D8B0212-B096-4D8D-8CF9-8BFD0F03D538}" destId="{0A474014-1BAC-4CE4-B51C-07B4157C7D6D}" srcOrd="3" destOrd="0" parTransId="{86BCFA48-77DB-46EB-B07B-028360101D65}" sibTransId="{035B2D19-1F19-4260-AD31-642161B6B7C5}"/>
    <dgm:cxn modelId="{5A2A62A2-04F0-41F1-8791-91BD90D6D368}" type="presOf" srcId="{02B36424-237F-47F9-8B34-ECF0763E7EF0}" destId="{465E8CAB-B84C-4E3E-BA93-0F72DEF2077A}" srcOrd="0" destOrd="2" presId="urn:microsoft.com/office/officeart/2005/8/layout/vList2"/>
    <dgm:cxn modelId="{E07955B3-4C16-40B2-9B16-F18671F76008}" srcId="{5D8B0212-B096-4D8D-8CF9-8BFD0F03D538}" destId="{1CD43149-D084-4145-83AE-90828067FB29}" srcOrd="1" destOrd="0" parTransId="{A804F5A2-D9A8-43DD-9AC7-12D141AF92C1}" sibTransId="{E30B4CBD-3A40-4C3D-AD28-B0B5F2B2DBB9}"/>
    <dgm:cxn modelId="{94CAB0B6-B618-4CC5-B477-BBEE924CF787}" type="presOf" srcId="{0A474014-1BAC-4CE4-B51C-07B4157C7D6D}" destId="{465E8CAB-B84C-4E3E-BA93-0F72DEF2077A}" srcOrd="0" destOrd="3" presId="urn:microsoft.com/office/officeart/2005/8/layout/vList2"/>
    <dgm:cxn modelId="{ADB8AFD4-D739-465F-BAD3-113D89ECB212}" srcId="{5D8B0212-B096-4D8D-8CF9-8BFD0F03D538}" destId="{02B36424-237F-47F9-8B34-ECF0763E7EF0}" srcOrd="2" destOrd="0" parTransId="{985D3A1D-2BAB-4C6B-8536-23160AFA5D72}" sibTransId="{D11B07F9-3B63-426E-BEF6-9B38E5EDD7C9}"/>
    <dgm:cxn modelId="{46B377A6-DB14-4E30-BE8D-E35A93B537E4}" type="presParOf" srcId="{262E2074-EAD1-4741-BB91-C25562E1B22E}" destId="{AA996801-DA6F-44D3-A6E9-0E18E0446572}" srcOrd="0" destOrd="0" presId="urn:microsoft.com/office/officeart/2005/8/layout/vList2"/>
    <dgm:cxn modelId="{D0FFD7E9-1FC6-4A8F-8E3C-805C844A0097}" type="presParOf" srcId="{262E2074-EAD1-4741-BB91-C25562E1B22E}" destId="{465E8CAB-B84C-4E3E-BA93-0F72DEF2077A}"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6.xml><?xml version="1.0" encoding="utf-8"?>
<dgm:dataModel xmlns:dgm="http://schemas.openxmlformats.org/drawingml/2006/diagram" xmlns:a="http://schemas.openxmlformats.org/drawingml/2006/main">
  <dgm:ptLst>
    <dgm:pt modelId="{D59E2221-8A68-4AA7-948D-E054C3FE1186}" type="doc">
      <dgm:prSet loTypeId="urn:microsoft.com/office/officeart/2005/8/layout/vList2" loCatId="list" qsTypeId="urn:microsoft.com/office/officeart/2005/8/quickstyle/simple1#159" qsCatId="simple" csTypeId="urn:microsoft.com/office/officeart/2005/8/colors/accent1_2#112" csCatId="accent1" phldr="1"/>
      <dgm:spPr/>
      <dgm:t>
        <a:bodyPr/>
        <a:lstStyle/>
        <a:p>
          <a:endParaRPr lang="fr-FR"/>
        </a:p>
      </dgm:t>
    </dgm:pt>
    <dgm:pt modelId="{213FB200-BEDC-4B4C-B81A-3D69412977A8}">
      <dgm:prSet/>
      <dgm:spPr/>
      <dgm:t>
        <a:bodyPr/>
        <a:lstStyle/>
        <a:p>
          <a:pPr rtl="0"/>
          <a:r>
            <a:rPr lang="fr-FR" b="1" baseline="0" dirty="0"/>
            <a:t>Les intempéries</a:t>
          </a:r>
          <a:endParaRPr lang="fr-FR" dirty="0"/>
        </a:p>
      </dgm:t>
    </dgm:pt>
    <dgm:pt modelId="{2A74366B-842A-4735-B6B0-63238DF775C5}" type="parTrans" cxnId="{860A3E78-80F7-496C-980B-AF992E2C149D}">
      <dgm:prSet/>
      <dgm:spPr/>
      <dgm:t>
        <a:bodyPr/>
        <a:lstStyle/>
        <a:p>
          <a:endParaRPr lang="fr-FR"/>
        </a:p>
      </dgm:t>
    </dgm:pt>
    <dgm:pt modelId="{DFF62089-7466-49FB-803A-569CC8E87669}" type="sibTrans" cxnId="{860A3E78-80F7-496C-980B-AF992E2C149D}">
      <dgm:prSet/>
      <dgm:spPr/>
      <dgm:t>
        <a:bodyPr/>
        <a:lstStyle/>
        <a:p>
          <a:endParaRPr lang="fr-FR"/>
        </a:p>
      </dgm:t>
    </dgm:pt>
    <dgm:pt modelId="{63D9B28D-FAB0-4406-BE15-77E8076C5042}">
      <dgm:prSet custT="1"/>
      <dgm:spPr/>
      <dgm:t>
        <a:bodyPr/>
        <a:lstStyle/>
        <a:p>
          <a:pPr marL="180000" indent="-180000" algn="just" rtl="0">
            <a:buClr>
              <a:schemeClr val="accent1"/>
            </a:buClr>
            <a:buFont typeface="Wingdings" panose="05000000000000000000" pitchFamily="2" charset="2"/>
            <a:buChar char="§"/>
          </a:pPr>
          <a:r>
            <a:rPr lang="fr-FR" sz="1500" b="1" dirty="0"/>
            <a:t>Conformément à l’article L. 5424-8 du Code du travail, </a:t>
          </a:r>
          <a:r>
            <a:rPr lang="fr-FR" sz="1500" b="1" i="1" dirty="0"/>
            <a:t>« sont considérées comme intempéries les conditions atmosphériques et les inondations lorsqu’elles rendent effectivement l’accomplissement du travail dangereux ou impossible eu égard, soit à la santé ou à la sécurité des salariés, soit à la nature ou à la technique du travail à accomplir »</a:t>
          </a:r>
          <a:endParaRPr lang="fr-FR" sz="1500" i="1" dirty="0"/>
        </a:p>
      </dgm:t>
    </dgm:pt>
    <dgm:pt modelId="{F9BBFE12-990F-4583-A8A7-E09D5FE8330D}" type="parTrans" cxnId="{8F5C0196-87AA-4E3A-B1B7-D69F5836ECA0}">
      <dgm:prSet/>
      <dgm:spPr/>
      <dgm:t>
        <a:bodyPr/>
        <a:lstStyle/>
        <a:p>
          <a:endParaRPr lang="fr-FR"/>
        </a:p>
      </dgm:t>
    </dgm:pt>
    <dgm:pt modelId="{59899329-48EC-4C42-A2E6-95A18389AB47}" type="sibTrans" cxnId="{8F5C0196-87AA-4E3A-B1B7-D69F5836ECA0}">
      <dgm:prSet/>
      <dgm:spPr/>
      <dgm:t>
        <a:bodyPr/>
        <a:lstStyle/>
        <a:p>
          <a:endParaRPr lang="fr-FR"/>
        </a:p>
      </dgm:t>
    </dgm:pt>
    <dgm:pt modelId="{92E926F9-B37A-48CC-B20C-3EAB07DEF958}">
      <dgm:prSet custT="1"/>
      <dgm:spPr/>
      <dgm:t>
        <a:bodyPr/>
        <a:lstStyle/>
        <a:p>
          <a:pPr marL="180000" indent="-180000" algn="l" rtl="0">
            <a:buClr>
              <a:schemeClr val="accent1"/>
            </a:buClr>
            <a:buFont typeface="Wingdings" panose="05000000000000000000" pitchFamily="2" charset="2"/>
            <a:buChar char="§"/>
          </a:pPr>
          <a:r>
            <a:rPr lang="fr-FR" sz="1500" b="1" dirty="0"/>
            <a:t>Possibilité d’arrêter le chantier dans les conditions prévues ci-dessus</a:t>
          </a:r>
          <a:endParaRPr lang="fr-FR" sz="1500" dirty="0"/>
        </a:p>
      </dgm:t>
    </dgm:pt>
    <dgm:pt modelId="{2462E26C-81D8-439A-8D16-2DB86916648A}" type="parTrans" cxnId="{74985925-B6A8-48C8-B3DA-C923FE0A36A5}">
      <dgm:prSet/>
      <dgm:spPr/>
      <dgm:t>
        <a:bodyPr/>
        <a:lstStyle/>
        <a:p>
          <a:endParaRPr lang="fr-FR"/>
        </a:p>
      </dgm:t>
    </dgm:pt>
    <dgm:pt modelId="{A79E7326-CB9D-43CF-B62A-761F06BA78DD}" type="sibTrans" cxnId="{74985925-B6A8-48C8-B3DA-C923FE0A36A5}">
      <dgm:prSet/>
      <dgm:spPr/>
      <dgm:t>
        <a:bodyPr/>
        <a:lstStyle/>
        <a:p>
          <a:endParaRPr lang="fr-FR"/>
        </a:p>
      </dgm:t>
    </dgm:pt>
    <dgm:pt modelId="{254AAFC2-FD87-4ACC-A7A5-2398DC67EB1B}">
      <dgm:prSet/>
      <dgm:spPr/>
      <dgm:t>
        <a:bodyPr/>
        <a:lstStyle/>
        <a:p>
          <a:pPr rtl="0"/>
          <a:r>
            <a:rPr lang="fr-FR" b="1" baseline="0" dirty="0"/>
            <a:t>Procédures</a:t>
          </a:r>
          <a:endParaRPr lang="fr-FR" dirty="0"/>
        </a:p>
      </dgm:t>
    </dgm:pt>
    <dgm:pt modelId="{C1BD7BA9-AEA4-4A9C-AA14-211CEF6690E3}" type="parTrans" cxnId="{EAA4C066-8F58-469C-A374-03AC63528CD6}">
      <dgm:prSet/>
      <dgm:spPr/>
      <dgm:t>
        <a:bodyPr/>
        <a:lstStyle/>
        <a:p>
          <a:endParaRPr lang="fr-FR"/>
        </a:p>
      </dgm:t>
    </dgm:pt>
    <dgm:pt modelId="{00EF0381-6BA2-4FDB-ADC9-FDFE1073DA7A}" type="sibTrans" cxnId="{EAA4C066-8F58-469C-A374-03AC63528CD6}">
      <dgm:prSet/>
      <dgm:spPr/>
      <dgm:t>
        <a:bodyPr/>
        <a:lstStyle/>
        <a:p>
          <a:endParaRPr lang="fr-FR"/>
        </a:p>
      </dgm:t>
    </dgm:pt>
    <dgm:pt modelId="{4576074E-3ED6-415E-90DB-BFADBBB53A52}">
      <dgm:prSet custT="1"/>
      <dgm:spPr/>
      <dgm:t>
        <a:bodyPr/>
        <a:lstStyle/>
        <a:p>
          <a:pPr marL="180000" indent="-180000" rtl="0">
            <a:buClr>
              <a:schemeClr val="accent1"/>
            </a:buClr>
            <a:buFont typeface="Wingdings" panose="05000000000000000000" pitchFamily="2" charset="2"/>
            <a:buChar char="§"/>
          </a:pPr>
          <a:r>
            <a:rPr lang="fr-FR" sz="1500" b="1" dirty="0"/>
            <a:t>L'arrêt du travail en cas d’intempéries est décidé par l’entrepreneur ou par son représentant sur le chantier après consultation CSE (Comité Social et Économique)</a:t>
          </a:r>
          <a:endParaRPr lang="fr-FR" sz="1500" dirty="0"/>
        </a:p>
      </dgm:t>
    </dgm:pt>
    <dgm:pt modelId="{7093A98F-05EB-40F0-A307-F9CD7B9A2FF2}" type="parTrans" cxnId="{D96FCA27-40F9-4ADF-89EE-3D75A44BD933}">
      <dgm:prSet/>
      <dgm:spPr/>
      <dgm:t>
        <a:bodyPr/>
        <a:lstStyle/>
        <a:p>
          <a:endParaRPr lang="fr-FR"/>
        </a:p>
      </dgm:t>
    </dgm:pt>
    <dgm:pt modelId="{81C214CD-CF9D-489A-B22E-AB077B5AED09}" type="sibTrans" cxnId="{D96FCA27-40F9-4ADF-89EE-3D75A44BD933}">
      <dgm:prSet/>
      <dgm:spPr/>
      <dgm:t>
        <a:bodyPr/>
        <a:lstStyle/>
        <a:p>
          <a:endParaRPr lang="fr-FR"/>
        </a:p>
      </dgm:t>
    </dgm:pt>
    <dgm:pt modelId="{C1C54CBC-0A18-4622-9F3D-017715049C6A}" type="pres">
      <dgm:prSet presAssocID="{D59E2221-8A68-4AA7-948D-E054C3FE1186}" presName="linear" presStyleCnt="0">
        <dgm:presLayoutVars>
          <dgm:animLvl val="lvl"/>
          <dgm:resizeHandles val="exact"/>
        </dgm:presLayoutVars>
      </dgm:prSet>
      <dgm:spPr/>
    </dgm:pt>
    <dgm:pt modelId="{B8A59F18-391C-40A0-B2FA-94D8AF92CEB3}" type="pres">
      <dgm:prSet presAssocID="{213FB200-BEDC-4B4C-B81A-3D69412977A8}" presName="parentText" presStyleLbl="node1" presStyleIdx="0" presStyleCnt="2" custScaleY="67301">
        <dgm:presLayoutVars>
          <dgm:chMax val="0"/>
          <dgm:bulletEnabled val="1"/>
        </dgm:presLayoutVars>
      </dgm:prSet>
      <dgm:spPr/>
    </dgm:pt>
    <dgm:pt modelId="{C746CDF2-2A8A-4EC3-B78D-3ED3A635832C}" type="pres">
      <dgm:prSet presAssocID="{213FB200-BEDC-4B4C-B81A-3D69412977A8}" presName="childText" presStyleLbl="revTx" presStyleIdx="0" presStyleCnt="2">
        <dgm:presLayoutVars>
          <dgm:bulletEnabled val="1"/>
        </dgm:presLayoutVars>
      </dgm:prSet>
      <dgm:spPr/>
    </dgm:pt>
    <dgm:pt modelId="{27F5D855-339C-433D-99EE-C3FB6460BF7D}" type="pres">
      <dgm:prSet presAssocID="{254AAFC2-FD87-4ACC-A7A5-2398DC67EB1B}" presName="parentText" presStyleLbl="node1" presStyleIdx="1" presStyleCnt="2" custScaleY="65665">
        <dgm:presLayoutVars>
          <dgm:chMax val="0"/>
          <dgm:bulletEnabled val="1"/>
        </dgm:presLayoutVars>
      </dgm:prSet>
      <dgm:spPr/>
    </dgm:pt>
    <dgm:pt modelId="{6ED9E2FB-1EF4-4BAF-BBC2-DEA7AD25F946}" type="pres">
      <dgm:prSet presAssocID="{254AAFC2-FD87-4ACC-A7A5-2398DC67EB1B}" presName="childText" presStyleLbl="revTx" presStyleIdx="1" presStyleCnt="2">
        <dgm:presLayoutVars>
          <dgm:bulletEnabled val="1"/>
        </dgm:presLayoutVars>
      </dgm:prSet>
      <dgm:spPr/>
    </dgm:pt>
  </dgm:ptLst>
  <dgm:cxnLst>
    <dgm:cxn modelId="{B52EEA18-FCAA-4C89-BA09-641C440B68CD}" type="presOf" srcId="{63D9B28D-FAB0-4406-BE15-77E8076C5042}" destId="{C746CDF2-2A8A-4EC3-B78D-3ED3A635832C}" srcOrd="0" destOrd="0" presId="urn:microsoft.com/office/officeart/2005/8/layout/vList2"/>
    <dgm:cxn modelId="{74985925-B6A8-48C8-B3DA-C923FE0A36A5}" srcId="{213FB200-BEDC-4B4C-B81A-3D69412977A8}" destId="{92E926F9-B37A-48CC-B20C-3EAB07DEF958}" srcOrd="1" destOrd="0" parTransId="{2462E26C-81D8-439A-8D16-2DB86916648A}" sibTransId="{A79E7326-CB9D-43CF-B62A-761F06BA78DD}"/>
    <dgm:cxn modelId="{04DED725-9109-45EA-AB19-368DB3B29D32}" type="presOf" srcId="{213FB200-BEDC-4B4C-B81A-3D69412977A8}" destId="{B8A59F18-391C-40A0-B2FA-94D8AF92CEB3}" srcOrd="0" destOrd="0" presId="urn:microsoft.com/office/officeart/2005/8/layout/vList2"/>
    <dgm:cxn modelId="{D96FCA27-40F9-4ADF-89EE-3D75A44BD933}" srcId="{254AAFC2-FD87-4ACC-A7A5-2398DC67EB1B}" destId="{4576074E-3ED6-415E-90DB-BFADBBB53A52}" srcOrd="0" destOrd="0" parTransId="{7093A98F-05EB-40F0-A307-F9CD7B9A2FF2}" sibTransId="{81C214CD-CF9D-489A-B22E-AB077B5AED09}"/>
    <dgm:cxn modelId="{D7B60636-3DB0-4D48-A1C6-6C8037E731E1}" type="presOf" srcId="{92E926F9-B37A-48CC-B20C-3EAB07DEF958}" destId="{C746CDF2-2A8A-4EC3-B78D-3ED3A635832C}" srcOrd="0" destOrd="1" presId="urn:microsoft.com/office/officeart/2005/8/layout/vList2"/>
    <dgm:cxn modelId="{EAA4C066-8F58-469C-A374-03AC63528CD6}" srcId="{D59E2221-8A68-4AA7-948D-E054C3FE1186}" destId="{254AAFC2-FD87-4ACC-A7A5-2398DC67EB1B}" srcOrd="1" destOrd="0" parTransId="{C1BD7BA9-AEA4-4A9C-AA14-211CEF6690E3}" sibTransId="{00EF0381-6BA2-4FDB-ADC9-FDFE1073DA7A}"/>
    <dgm:cxn modelId="{4F68E46C-CE37-4CEB-BA00-6E3D56423D6C}" type="presOf" srcId="{254AAFC2-FD87-4ACC-A7A5-2398DC67EB1B}" destId="{27F5D855-339C-433D-99EE-C3FB6460BF7D}" srcOrd="0" destOrd="0" presId="urn:microsoft.com/office/officeart/2005/8/layout/vList2"/>
    <dgm:cxn modelId="{860A3E78-80F7-496C-980B-AF992E2C149D}" srcId="{D59E2221-8A68-4AA7-948D-E054C3FE1186}" destId="{213FB200-BEDC-4B4C-B81A-3D69412977A8}" srcOrd="0" destOrd="0" parTransId="{2A74366B-842A-4735-B6B0-63238DF775C5}" sibTransId="{DFF62089-7466-49FB-803A-569CC8E87669}"/>
    <dgm:cxn modelId="{8F5C0196-87AA-4E3A-B1B7-D69F5836ECA0}" srcId="{213FB200-BEDC-4B4C-B81A-3D69412977A8}" destId="{63D9B28D-FAB0-4406-BE15-77E8076C5042}" srcOrd="0" destOrd="0" parTransId="{F9BBFE12-990F-4583-A8A7-E09D5FE8330D}" sibTransId="{59899329-48EC-4C42-A2E6-95A18389AB47}"/>
    <dgm:cxn modelId="{2E3FEEA7-25A4-42CC-AA60-CF54F7CE8568}" type="presOf" srcId="{D59E2221-8A68-4AA7-948D-E054C3FE1186}" destId="{C1C54CBC-0A18-4622-9F3D-017715049C6A}" srcOrd="0" destOrd="0" presId="urn:microsoft.com/office/officeart/2005/8/layout/vList2"/>
    <dgm:cxn modelId="{EF1CBDD1-3913-4F25-A4DF-A13E3C4B8AD4}" type="presOf" srcId="{4576074E-3ED6-415E-90DB-BFADBBB53A52}" destId="{6ED9E2FB-1EF4-4BAF-BBC2-DEA7AD25F946}" srcOrd="0" destOrd="0" presId="urn:microsoft.com/office/officeart/2005/8/layout/vList2"/>
    <dgm:cxn modelId="{614CAC7B-F2F7-46BC-B190-BC9BA976A3BE}" type="presParOf" srcId="{C1C54CBC-0A18-4622-9F3D-017715049C6A}" destId="{B8A59F18-391C-40A0-B2FA-94D8AF92CEB3}" srcOrd="0" destOrd="0" presId="urn:microsoft.com/office/officeart/2005/8/layout/vList2"/>
    <dgm:cxn modelId="{9F212B49-8DA7-4F3E-8049-257A887A9E7A}" type="presParOf" srcId="{C1C54CBC-0A18-4622-9F3D-017715049C6A}" destId="{C746CDF2-2A8A-4EC3-B78D-3ED3A635832C}" srcOrd="1" destOrd="0" presId="urn:microsoft.com/office/officeart/2005/8/layout/vList2"/>
    <dgm:cxn modelId="{5F09D2F1-5DBC-4436-A6C5-F73B5B0A5CCD}" type="presParOf" srcId="{C1C54CBC-0A18-4622-9F3D-017715049C6A}" destId="{27F5D855-339C-433D-99EE-C3FB6460BF7D}" srcOrd="2" destOrd="0" presId="urn:microsoft.com/office/officeart/2005/8/layout/vList2"/>
    <dgm:cxn modelId="{6F0E417A-3F2B-4DD5-B255-4F7433FB23B9}" type="presParOf" srcId="{C1C54CBC-0A18-4622-9F3D-017715049C6A}" destId="{6ED9E2FB-1EF4-4BAF-BBC2-DEA7AD25F946}"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7.xml><?xml version="1.0" encoding="utf-8"?>
<dgm:dataModel xmlns:dgm="http://schemas.openxmlformats.org/drawingml/2006/diagram" xmlns:a="http://schemas.openxmlformats.org/drawingml/2006/main">
  <dgm:ptLst>
    <dgm:pt modelId="{7B224A14-92BE-4639-9D42-2943C339BA7D}" type="doc">
      <dgm:prSet loTypeId="urn:microsoft.com/office/officeart/2005/8/layout/target3" loCatId="relationship" qsTypeId="urn:microsoft.com/office/officeart/2005/8/quickstyle/simple1#160" qsCatId="simple" csTypeId="urn:microsoft.com/office/officeart/2005/8/colors/accent1_2#113" csCatId="accent1" phldr="1"/>
      <dgm:spPr/>
      <dgm:t>
        <a:bodyPr/>
        <a:lstStyle/>
        <a:p>
          <a:endParaRPr lang="fr-FR"/>
        </a:p>
      </dgm:t>
    </dgm:pt>
    <dgm:pt modelId="{F46C21D0-332E-49DE-A23D-B6EEAF78A458}">
      <dgm:prSet/>
      <dgm:spPr/>
      <dgm:t>
        <a:bodyPr/>
        <a:lstStyle/>
        <a:p>
          <a:pPr rtl="0"/>
          <a:r>
            <a:rPr lang="fr-FR" b="1" baseline="0" dirty="0"/>
            <a:t>Il existe un exercice</a:t>
          </a:r>
          <a:endParaRPr lang="fr-FR" dirty="0"/>
        </a:p>
      </dgm:t>
    </dgm:pt>
    <dgm:pt modelId="{C07A24D8-34DC-4EC7-BE13-71D8FB17AC8C}" type="parTrans" cxnId="{D839172B-1B3A-4009-AD36-BF93A84A1610}">
      <dgm:prSet/>
      <dgm:spPr/>
      <dgm:t>
        <a:bodyPr/>
        <a:lstStyle/>
        <a:p>
          <a:endParaRPr lang="fr-FR"/>
        </a:p>
      </dgm:t>
    </dgm:pt>
    <dgm:pt modelId="{4AB5CFB7-28FA-48C2-8D2A-CC3BF69D0112}" type="sibTrans" cxnId="{D839172B-1B3A-4009-AD36-BF93A84A1610}">
      <dgm:prSet/>
      <dgm:spPr/>
      <dgm:t>
        <a:bodyPr/>
        <a:lstStyle/>
        <a:p>
          <a:endParaRPr lang="fr-FR"/>
        </a:p>
      </dgm:t>
    </dgm:pt>
    <dgm:pt modelId="{FB154CCC-322D-4412-BF57-A5261D0EAED6}">
      <dgm:prSet/>
      <dgm:spPr/>
      <dgm:t>
        <a:bodyPr/>
        <a:lstStyle/>
        <a:p>
          <a:pPr algn="just" rtl="0"/>
          <a:r>
            <a:rPr lang="fr-FR" b="1" baseline="0" dirty="0"/>
            <a:t>En cas d’indemnités de chômage intempérie, l’employeur doit vérifier si la rémunération du salarié telle que calculée en tenant compte de l’indemnisation du chômage intempéries est au moins égale à un plancher (SMIC net). Ce point est traité à la fin du corrigé. Les logiciels doivent être capables de faire cette vérification</a:t>
          </a:r>
          <a:endParaRPr lang="fr-FR" dirty="0"/>
        </a:p>
      </dgm:t>
    </dgm:pt>
    <dgm:pt modelId="{E389A54D-49CD-447A-A711-1455670927A6}" type="parTrans" cxnId="{E6B48E45-2BF7-4C93-A16D-DCC7DAD8F481}">
      <dgm:prSet/>
      <dgm:spPr/>
      <dgm:t>
        <a:bodyPr/>
        <a:lstStyle/>
        <a:p>
          <a:endParaRPr lang="fr-FR"/>
        </a:p>
      </dgm:t>
    </dgm:pt>
    <dgm:pt modelId="{1B353C60-AC48-4172-BE75-EDB0C3AB3466}" type="sibTrans" cxnId="{E6B48E45-2BF7-4C93-A16D-DCC7DAD8F481}">
      <dgm:prSet/>
      <dgm:spPr/>
      <dgm:t>
        <a:bodyPr/>
        <a:lstStyle/>
        <a:p>
          <a:endParaRPr lang="fr-FR"/>
        </a:p>
      </dgm:t>
    </dgm:pt>
    <dgm:pt modelId="{81EB547E-899B-4CDE-8B23-C00A1E8004B5}" type="pres">
      <dgm:prSet presAssocID="{7B224A14-92BE-4639-9D42-2943C339BA7D}" presName="Name0" presStyleCnt="0">
        <dgm:presLayoutVars>
          <dgm:chMax val="7"/>
          <dgm:dir/>
          <dgm:animLvl val="lvl"/>
          <dgm:resizeHandles val="exact"/>
        </dgm:presLayoutVars>
      </dgm:prSet>
      <dgm:spPr/>
    </dgm:pt>
    <dgm:pt modelId="{6AB5557D-0576-4347-9B8F-872783D17121}" type="pres">
      <dgm:prSet presAssocID="{F46C21D0-332E-49DE-A23D-B6EEAF78A458}" presName="circle1" presStyleLbl="node1" presStyleIdx="0" presStyleCnt="2"/>
      <dgm:spPr/>
    </dgm:pt>
    <dgm:pt modelId="{BC013A48-9589-455B-9874-ED0F1716381E}" type="pres">
      <dgm:prSet presAssocID="{F46C21D0-332E-49DE-A23D-B6EEAF78A458}" presName="space" presStyleCnt="0"/>
      <dgm:spPr/>
    </dgm:pt>
    <dgm:pt modelId="{510728F3-0280-4626-BBC3-FD33A7EDE6C7}" type="pres">
      <dgm:prSet presAssocID="{F46C21D0-332E-49DE-A23D-B6EEAF78A458}" presName="rect1" presStyleLbl="alignAcc1" presStyleIdx="0" presStyleCnt="2"/>
      <dgm:spPr/>
    </dgm:pt>
    <dgm:pt modelId="{FEC73FAE-5374-4AA1-B9C7-8C8422BB274F}" type="pres">
      <dgm:prSet presAssocID="{FB154CCC-322D-4412-BF57-A5261D0EAED6}" presName="vertSpace2" presStyleLbl="node1" presStyleIdx="0" presStyleCnt="2"/>
      <dgm:spPr/>
    </dgm:pt>
    <dgm:pt modelId="{2AFCDAE8-0E65-4514-91F8-A6CF65C3A473}" type="pres">
      <dgm:prSet presAssocID="{FB154CCC-322D-4412-BF57-A5261D0EAED6}" presName="circle2" presStyleLbl="node1" presStyleIdx="1" presStyleCnt="2" custScaleY="121750"/>
      <dgm:spPr/>
    </dgm:pt>
    <dgm:pt modelId="{6A3D9209-F7E6-4D8D-A70B-ECFC51227997}" type="pres">
      <dgm:prSet presAssocID="{FB154CCC-322D-4412-BF57-A5261D0EAED6}" presName="rect2" presStyleLbl="alignAcc1" presStyleIdx="1" presStyleCnt="2" custScaleY="122381"/>
      <dgm:spPr/>
    </dgm:pt>
    <dgm:pt modelId="{2AA3AB94-5DAF-4077-A4B0-181D0B88624C}" type="pres">
      <dgm:prSet presAssocID="{F46C21D0-332E-49DE-A23D-B6EEAF78A458}" presName="rect1ParTxNoCh" presStyleLbl="alignAcc1" presStyleIdx="1" presStyleCnt="2">
        <dgm:presLayoutVars>
          <dgm:chMax val="1"/>
          <dgm:bulletEnabled val="1"/>
        </dgm:presLayoutVars>
      </dgm:prSet>
      <dgm:spPr/>
    </dgm:pt>
    <dgm:pt modelId="{5AB9D350-D3F4-4297-93C2-26237545992B}" type="pres">
      <dgm:prSet presAssocID="{FB154CCC-322D-4412-BF57-A5261D0EAED6}" presName="rect2ParTxNoCh" presStyleLbl="alignAcc1" presStyleIdx="1" presStyleCnt="2">
        <dgm:presLayoutVars>
          <dgm:chMax val="1"/>
          <dgm:bulletEnabled val="1"/>
        </dgm:presLayoutVars>
      </dgm:prSet>
      <dgm:spPr/>
    </dgm:pt>
  </dgm:ptLst>
  <dgm:cxnLst>
    <dgm:cxn modelId="{D839172B-1B3A-4009-AD36-BF93A84A1610}" srcId="{7B224A14-92BE-4639-9D42-2943C339BA7D}" destId="{F46C21D0-332E-49DE-A23D-B6EEAF78A458}" srcOrd="0" destOrd="0" parTransId="{C07A24D8-34DC-4EC7-BE13-71D8FB17AC8C}" sibTransId="{4AB5CFB7-28FA-48C2-8D2A-CC3BF69D0112}"/>
    <dgm:cxn modelId="{E6B48E45-2BF7-4C93-A16D-DCC7DAD8F481}" srcId="{7B224A14-92BE-4639-9D42-2943C339BA7D}" destId="{FB154CCC-322D-4412-BF57-A5261D0EAED6}" srcOrd="1" destOrd="0" parTransId="{E389A54D-49CD-447A-A711-1455670927A6}" sibTransId="{1B353C60-AC48-4172-BE75-EDB0C3AB3466}"/>
    <dgm:cxn modelId="{68B08152-5704-42B0-AD7D-DBBE6E40B3F3}" type="presOf" srcId="{FB154CCC-322D-4412-BF57-A5261D0EAED6}" destId="{5AB9D350-D3F4-4297-93C2-26237545992B}" srcOrd="1" destOrd="0" presId="urn:microsoft.com/office/officeart/2005/8/layout/target3"/>
    <dgm:cxn modelId="{F9AD4B9C-884F-4917-B8D1-FE2902B060D2}" type="presOf" srcId="{F46C21D0-332E-49DE-A23D-B6EEAF78A458}" destId="{2AA3AB94-5DAF-4077-A4B0-181D0B88624C}" srcOrd="1" destOrd="0" presId="urn:microsoft.com/office/officeart/2005/8/layout/target3"/>
    <dgm:cxn modelId="{B96159B8-D595-43C3-A204-0CCF00F0ACE2}" type="presOf" srcId="{F46C21D0-332E-49DE-A23D-B6EEAF78A458}" destId="{510728F3-0280-4626-BBC3-FD33A7EDE6C7}" srcOrd="0" destOrd="0" presId="urn:microsoft.com/office/officeart/2005/8/layout/target3"/>
    <dgm:cxn modelId="{DF69A7F1-8B89-41B4-A512-0BFD36FE92EC}" type="presOf" srcId="{FB154CCC-322D-4412-BF57-A5261D0EAED6}" destId="{6A3D9209-F7E6-4D8D-A70B-ECFC51227997}" srcOrd="0" destOrd="0" presId="urn:microsoft.com/office/officeart/2005/8/layout/target3"/>
    <dgm:cxn modelId="{5F1911F8-AD7D-452C-BB8F-FE17EE37B42E}" type="presOf" srcId="{7B224A14-92BE-4639-9D42-2943C339BA7D}" destId="{81EB547E-899B-4CDE-8B23-C00A1E8004B5}" srcOrd="0" destOrd="0" presId="urn:microsoft.com/office/officeart/2005/8/layout/target3"/>
    <dgm:cxn modelId="{D491E79C-3E00-4169-B0FD-171C530A513D}" type="presParOf" srcId="{81EB547E-899B-4CDE-8B23-C00A1E8004B5}" destId="{6AB5557D-0576-4347-9B8F-872783D17121}" srcOrd="0" destOrd="0" presId="urn:microsoft.com/office/officeart/2005/8/layout/target3"/>
    <dgm:cxn modelId="{03F12943-9077-4F34-84F0-246D916C28D3}" type="presParOf" srcId="{81EB547E-899B-4CDE-8B23-C00A1E8004B5}" destId="{BC013A48-9589-455B-9874-ED0F1716381E}" srcOrd="1" destOrd="0" presId="urn:microsoft.com/office/officeart/2005/8/layout/target3"/>
    <dgm:cxn modelId="{2E93FE9C-B409-4671-9E8F-EECC02E93AF3}" type="presParOf" srcId="{81EB547E-899B-4CDE-8B23-C00A1E8004B5}" destId="{510728F3-0280-4626-BBC3-FD33A7EDE6C7}" srcOrd="2" destOrd="0" presId="urn:microsoft.com/office/officeart/2005/8/layout/target3"/>
    <dgm:cxn modelId="{A2883202-0000-4BEE-AD69-81E8AB3934D2}" type="presParOf" srcId="{81EB547E-899B-4CDE-8B23-C00A1E8004B5}" destId="{FEC73FAE-5374-4AA1-B9C7-8C8422BB274F}" srcOrd="3" destOrd="0" presId="urn:microsoft.com/office/officeart/2005/8/layout/target3"/>
    <dgm:cxn modelId="{20EA2D98-6E57-469C-ADA3-6D3D7F4B9D42}" type="presParOf" srcId="{81EB547E-899B-4CDE-8B23-C00A1E8004B5}" destId="{2AFCDAE8-0E65-4514-91F8-A6CF65C3A473}" srcOrd="4" destOrd="0" presId="urn:microsoft.com/office/officeart/2005/8/layout/target3"/>
    <dgm:cxn modelId="{7B20EFAA-86DE-466B-8B8E-8CFF89AC318E}" type="presParOf" srcId="{81EB547E-899B-4CDE-8B23-C00A1E8004B5}" destId="{6A3D9209-F7E6-4D8D-A70B-ECFC51227997}" srcOrd="5" destOrd="0" presId="urn:microsoft.com/office/officeart/2005/8/layout/target3"/>
    <dgm:cxn modelId="{DDBFA326-6B1C-4AE9-B7CE-6951A8230F18}" type="presParOf" srcId="{81EB547E-899B-4CDE-8B23-C00A1E8004B5}" destId="{2AA3AB94-5DAF-4077-A4B0-181D0B88624C}" srcOrd="6" destOrd="0" presId="urn:microsoft.com/office/officeart/2005/8/layout/target3"/>
    <dgm:cxn modelId="{1530841B-A677-4DF5-B02C-95F1F5B792B5}" type="presParOf" srcId="{81EB547E-899B-4CDE-8B23-C00A1E8004B5}" destId="{5AB9D350-D3F4-4297-93C2-26237545992B}" srcOrd="7" destOrd="0" presId="urn:microsoft.com/office/officeart/2005/8/layout/targe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8.xml><?xml version="1.0" encoding="utf-8"?>
<dgm:dataModel xmlns:dgm="http://schemas.openxmlformats.org/drawingml/2006/diagram" xmlns:a="http://schemas.openxmlformats.org/drawingml/2006/main">
  <dgm:ptLst>
    <dgm:pt modelId="{048CE1BA-58D3-435A-8A08-A8E10390178E}" type="doc">
      <dgm:prSet loTypeId="urn:microsoft.com/office/officeart/2005/8/layout/vList2" loCatId="list" qsTypeId="urn:microsoft.com/office/officeart/2005/8/quickstyle/simple1#161" qsCatId="simple" csTypeId="urn:microsoft.com/office/officeart/2005/8/colors/accent1_2#114" csCatId="accent1" phldr="1"/>
      <dgm:spPr/>
      <dgm:t>
        <a:bodyPr/>
        <a:lstStyle/>
        <a:p>
          <a:endParaRPr lang="fr-FR"/>
        </a:p>
      </dgm:t>
    </dgm:pt>
    <dgm:pt modelId="{82269EB1-E83E-429C-BA88-AEFDA6AB893E}">
      <dgm:prSet/>
      <dgm:spPr/>
      <dgm:t>
        <a:bodyPr/>
        <a:lstStyle/>
        <a:p>
          <a:pPr marL="180000" indent="-180000" algn="l" rtl="0"/>
          <a:r>
            <a:rPr lang="fr-FR" dirty="0"/>
            <a:t>	En cas de renouvellement de CDD sans interruption ou de transformation de CDD en CDI, il faut faire une actualisation de la carte BTP</a:t>
          </a:r>
        </a:p>
      </dgm:t>
    </dgm:pt>
    <dgm:pt modelId="{3DD25BE6-BE88-4316-BAE4-0851EC7EA07E}" type="parTrans" cxnId="{518FEE4B-35EF-4FF3-8B37-3127A3295715}">
      <dgm:prSet/>
      <dgm:spPr/>
      <dgm:t>
        <a:bodyPr/>
        <a:lstStyle/>
        <a:p>
          <a:endParaRPr lang="fr-FR"/>
        </a:p>
      </dgm:t>
    </dgm:pt>
    <dgm:pt modelId="{CFA1CC21-BD3A-4B2D-8A0A-08751E82579A}" type="sibTrans" cxnId="{518FEE4B-35EF-4FF3-8B37-3127A3295715}">
      <dgm:prSet/>
      <dgm:spPr/>
      <dgm:t>
        <a:bodyPr/>
        <a:lstStyle/>
        <a:p>
          <a:endParaRPr lang="fr-FR"/>
        </a:p>
      </dgm:t>
    </dgm:pt>
    <dgm:pt modelId="{997FC60E-7947-4CC1-8A6C-3A890A00EE35}">
      <dgm:prSet/>
      <dgm:spPr/>
      <dgm:t>
        <a:bodyPr/>
        <a:lstStyle/>
        <a:p>
          <a:pPr marL="180000" indent="-180000" algn="l" rtl="0">
            <a:buClr>
              <a:schemeClr val="accent1"/>
            </a:buClr>
            <a:buFont typeface="Wingdings" panose="05000000000000000000" pitchFamily="2" charset="2"/>
            <a:buChar char="§"/>
          </a:pPr>
          <a:r>
            <a:rPr lang="fr-FR" dirty="0"/>
            <a:t>En cas de prolongation de CDD sans interruption de contrat : il faut mettre à jour la date de fin de contrat </a:t>
          </a:r>
        </a:p>
      </dgm:t>
    </dgm:pt>
    <dgm:pt modelId="{C293FBDD-44AD-45AC-8DA1-EAF956CE259A}" type="parTrans" cxnId="{D5B828F2-3105-464A-99BD-978B8D380AE3}">
      <dgm:prSet/>
      <dgm:spPr/>
      <dgm:t>
        <a:bodyPr/>
        <a:lstStyle/>
        <a:p>
          <a:endParaRPr lang="fr-FR"/>
        </a:p>
      </dgm:t>
    </dgm:pt>
    <dgm:pt modelId="{D3DADCEF-3978-4FA6-9B29-C902C18E828C}" type="sibTrans" cxnId="{D5B828F2-3105-464A-99BD-978B8D380AE3}">
      <dgm:prSet/>
      <dgm:spPr/>
      <dgm:t>
        <a:bodyPr/>
        <a:lstStyle/>
        <a:p>
          <a:endParaRPr lang="fr-FR"/>
        </a:p>
      </dgm:t>
    </dgm:pt>
    <dgm:pt modelId="{BCABD46E-8504-4F58-AA22-C073A423E2EE}">
      <dgm:prSet/>
      <dgm:spPr/>
      <dgm:t>
        <a:bodyPr/>
        <a:lstStyle/>
        <a:p>
          <a:pPr>
            <a:buClr>
              <a:schemeClr val="accent1"/>
            </a:buClr>
            <a:buFont typeface="Wingdings" panose="05000000000000000000" pitchFamily="2" charset="2"/>
            <a:buChar char="§"/>
          </a:pPr>
          <a:r>
            <a:rPr lang="fr-FR" dirty="0"/>
            <a:t>En cas de transformation de CDD en CDI : il faut supprimer la date de fin de contrat</a:t>
          </a:r>
        </a:p>
      </dgm:t>
    </dgm:pt>
    <dgm:pt modelId="{7E120CAF-A9F0-40FF-A247-3B323109D50F}" type="parTrans" cxnId="{BF3F603C-8E84-455D-9E18-C513D0D9B43C}">
      <dgm:prSet/>
      <dgm:spPr/>
      <dgm:t>
        <a:bodyPr/>
        <a:lstStyle/>
        <a:p>
          <a:endParaRPr lang="fr-FR"/>
        </a:p>
      </dgm:t>
    </dgm:pt>
    <dgm:pt modelId="{D5C081D5-DF9F-432A-B6F0-37812D892884}" type="sibTrans" cxnId="{BF3F603C-8E84-455D-9E18-C513D0D9B43C}">
      <dgm:prSet/>
      <dgm:spPr/>
      <dgm:t>
        <a:bodyPr/>
        <a:lstStyle/>
        <a:p>
          <a:endParaRPr lang="fr-FR"/>
        </a:p>
      </dgm:t>
    </dgm:pt>
    <dgm:pt modelId="{9CEDF7FF-E70E-4BAA-B4F5-542E3C744D80}" type="pres">
      <dgm:prSet presAssocID="{048CE1BA-58D3-435A-8A08-A8E10390178E}" presName="linear" presStyleCnt="0">
        <dgm:presLayoutVars>
          <dgm:animLvl val="lvl"/>
          <dgm:resizeHandles val="exact"/>
        </dgm:presLayoutVars>
      </dgm:prSet>
      <dgm:spPr/>
    </dgm:pt>
    <dgm:pt modelId="{6F9F5488-000E-47A2-A42A-7C1A7D3F12D0}" type="pres">
      <dgm:prSet presAssocID="{82269EB1-E83E-429C-BA88-AEFDA6AB893E}" presName="parentText" presStyleLbl="node1" presStyleIdx="0" presStyleCnt="1">
        <dgm:presLayoutVars>
          <dgm:chMax val="0"/>
          <dgm:bulletEnabled val="1"/>
        </dgm:presLayoutVars>
      </dgm:prSet>
      <dgm:spPr/>
    </dgm:pt>
    <dgm:pt modelId="{6E351C26-1EB6-45BF-98DE-7FC3F10293D6}" type="pres">
      <dgm:prSet presAssocID="{82269EB1-E83E-429C-BA88-AEFDA6AB893E}" presName="childText" presStyleLbl="revTx" presStyleIdx="0" presStyleCnt="1">
        <dgm:presLayoutVars>
          <dgm:bulletEnabled val="1"/>
        </dgm:presLayoutVars>
      </dgm:prSet>
      <dgm:spPr/>
    </dgm:pt>
  </dgm:ptLst>
  <dgm:cxnLst>
    <dgm:cxn modelId="{F000C737-94D0-49BC-A2AD-39D119030FB6}" type="presOf" srcId="{82269EB1-E83E-429C-BA88-AEFDA6AB893E}" destId="{6F9F5488-000E-47A2-A42A-7C1A7D3F12D0}" srcOrd="0" destOrd="0" presId="urn:microsoft.com/office/officeart/2005/8/layout/vList2"/>
    <dgm:cxn modelId="{BF3F603C-8E84-455D-9E18-C513D0D9B43C}" srcId="{82269EB1-E83E-429C-BA88-AEFDA6AB893E}" destId="{BCABD46E-8504-4F58-AA22-C073A423E2EE}" srcOrd="1" destOrd="0" parTransId="{7E120CAF-A9F0-40FF-A247-3B323109D50F}" sibTransId="{D5C081D5-DF9F-432A-B6F0-37812D892884}"/>
    <dgm:cxn modelId="{518FEE4B-35EF-4FF3-8B37-3127A3295715}" srcId="{048CE1BA-58D3-435A-8A08-A8E10390178E}" destId="{82269EB1-E83E-429C-BA88-AEFDA6AB893E}" srcOrd="0" destOrd="0" parTransId="{3DD25BE6-BE88-4316-BAE4-0851EC7EA07E}" sibTransId="{CFA1CC21-BD3A-4B2D-8A0A-08751E82579A}"/>
    <dgm:cxn modelId="{1E0B155A-DFB3-4EB8-9056-0C142F317AF3}" type="presOf" srcId="{BCABD46E-8504-4F58-AA22-C073A423E2EE}" destId="{6E351C26-1EB6-45BF-98DE-7FC3F10293D6}" srcOrd="0" destOrd="1" presId="urn:microsoft.com/office/officeart/2005/8/layout/vList2"/>
    <dgm:cxn modelId="{ACBC8CDF-4DA4-40C4-9C09-F43A8442F7C2}" type="presOf" srcId="{997FC60E-7947-4CC1-8A6C-3A890A00EE35}" destId="{6E351C26-1EB6-45BF-98DE-7FC3F10293D6}" srcOrd="0" destOrd="0" presId="urn:microsoft.com/office/officeart/2005/8/layout/vList2"/>
    <dgm:cxn modelId="{D5B828F2-3105-464A-99BD-978B8D380AE3}" srcId="{82269EB1-E83E-429C-BA88-AEFDA6AB893E}" destId="{997FC60E-7947-4CC1-8A6C-3A890A00EE35}" srcOrd="0" destOrd="0" parTransId="{C293FBDD-44AD-45AC-8DA1-EAF956CE259A}" sibTransId="{D3DADCEF-3978-4FA6-9B29-C902C18E828C}"/>
    <dgm:cxn modelId="{8E54F9FE-555C-4046-ABD1-9062C05C7BDC}" type="presOf" srcId="{048CE1BA-58D3-435A-8A08-A8E10390178E}" destId="{9CEDF7FF-E70E-4BAA-B4F5-542E3C744D80}" srcOrd="0" destOrd="0" presId="urn:microsoft.com/office/officeart/2005/8/layout/vList2"/>
    <dgm:cxn modelId="{937AB0BF-FCFA-4D32-A0A9-295609019A1C}" type="presParOf" srcId="{9CEDF7FF-E70E-4BAA-B4F5-542E3C744D80}" destId="{6F9F5488-000E-47A2-A42A-7C1A7D3F12D0}" srcOrd="0" destOrd="0" presId="urn:microsoft.com/office/officeart/2005/8/layout/vList2"/>
    <dgm:cxn modelId="{52219A0F-C0E1-4055-B855-20A3E3DA461D}" type="presParOf" srcId="{9CEDF7FF-E70E-4BAA-B4F5-542E3C744D80}" destId="{6E351C26-1EB6-45BF-98DE-7FC3F10293D6}"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9.xml><?xml version="1.0" encoding="utf-8"?>
<dgm:dataModel xmlns:dgm="http://schemas.openxmlformats.org/drawingml/2006/diagram" xmlns:a="http://schemas.openxmlformats.org/drawingml/2006/main">
  <dgm:ptLst>
    <dgm:pt modelId="{048CE1BA-58D3-435A-8A08-A8E10390178E}" type="doc">
      <dgm:prSet loTypeId="urn:microsoft.com/office/officeart/2005/8/layout/vList2" loCatId="list" qsTypeId="urn:microsoft.com/office/officeart/2005/8/quickstyle/simple1#162" qsCatId="simple" csTypeId="urn:microsoft.com/office/officeart/2005/8/colors/accent1_2#115" csCatId="accent1" phldr="1"/>
      <dgm:spPr/>
      <dgm:t>
        <a:bodyPr/>
        <a:lstStyle/>
        <a:p>
          <a:endParaRPr lang="fr-FR"/>
        </a:p>
      </dgm:t>
    </dgm:pt>
    <dgm:pt modelId="{5F869F93-AD1D-47E6-B62F-58139F9DA5C8}">
      <dgm:prSet/>
      <dgm:spPr/>
      <dgm:t>
        <a:bodyPr/>
        <a:lstStyle/>
        <a:p>
          <a:pPr algn="l" rtl="0"/>
          <a:r>
            <a:rPr lang="fr-FR" b="1" baseline="0" dirty="0"/>
            <a:t>Dans le BTP, lors du départ d’un salarié, les points spécifiques sont</a:t>
          </a:r>
          <a:endParaRPr lang="fr-FR" dirty="0"/>
        </a:p>
      </dgm:t>
    </dgm:pt>
    <dgm:pt modelId="{D4156092-19FB-4B2F-8FFF-BA82D2234759}" type="parTrans" cxnId="{8F2C612D-9BC4-4C6A-A976-109CEB3A1F4C}">
      <dgm:prSet/>
      <dgm:spPr/>
      <dgm:t>
        <a:bodyPr/>
        <a:lstStyle/>
        <a:p>
          <a:endParaRPr lang="fr-FR"/>
        </a:p>
      </dgm:t>
    </dgm:pt>
    <dgm:pt modelId="{57927CB8-DB5B-49D1-A96C-0D99BCDA7867}" type="sibTrans" cxnId="{8F2C612D-9BC4-4C6A-A976-109CEB3A1F4C}">
      <dgm:prSet/>
      <dgm:spPr/>
      <dgm:t>
        <a:bodyPr/>
        <a:lstStyle/>
        <a:p>
          <a:endParaRPr lang="fr-FR"/>
        </a:p>
      </dgm:t>
    </dgm:pt>
    <dgm:pt modelId="{82269EB1-E83E-429C-BA88-AEFDA6AB893E}">
      <dgm:prSet/>
      <dgm:spPr/>
      <dgm:t>
        <a:bodyPr/>
        <a:lstStyle/>
        <a:p>
          <a:pPr marL="180000" indent="-180000" algn="l" rtl="0">
            <a:buClr>
              <a:schemeClr val="accent1"/>
            </a:buClr>
            <a:buFont typeface="Wingdings" panose="05000000000000000000" pitchFamily="2" charset="2"/>
            <a:buChar char="§"/>
          </a:pPr>
          <a:r>
            <a:rPr lang="fr-FR" b="1" dirty="0"/>
            <a:t>L</a:t>
          </a:r>
          <a:r>
            <a:rPr lang="x-none" b="1" dirty="0"/>
            <a:t>e certificat doit mentionner le nombre de journées indemnisées depuis le 1</a:t>
          </a:r>
          <a:r>
            <a:rPr lang="x-none" b="1" baseline="30000" dirty="0"/>
            <a:t>er</a:t>
          </a:r>
          <a:r>
            <a:rPr lang="x-none" b="1" dirty="0"/>
            <a:t> janvier de l’année en cours au titre du </a:t>
          </a:r>
          <a:r>
            <a:rPr lang="x-none" b="1" dirty="0">
              <a:hlinkClick xmlns:r="http://schemas.openxmlformats.org/officeDocument/2006/relationships" r:id="rId1"/>
            </a:rPr>
            <a:t>chômage intempéries</a:t>
          </a:r>
          <a:endParaRPr lang="fr-FR" dirty="0"/>
        </a:p>
      </dgm:t>
    </dgm:pt>
    <dgm:pt modelId="{3DD25BE6-BE88-4316-BAE4-0851EC7EA07E}" type="parTrans" cxnId="{518FEE4B-35EF-4FF3-8B37-3127A3295715}">
      <dgm:prSet/>
      <dgm:spPr/>
      <dgm:t>
        <a:bodyPr/>
        <a:lstStyle/>
        <a:p>
          <a:endParaRPr lang="fr-FR"/>
        </a:p>
      </dgm:t>
    </dgm:pt>
    <dgm:pt modelId="{CFA1CC21-BD3A-4B2D-8A0A-08751E82579A}" type="sibTrans" cxnId="{518FEE4B-35EF-4FF3-8B37-3127A3295715}">
      <dgm:prSet/>
      <dgm:spPr/>
      <dgm:t>
        <a:bodyPr/>
        <a:lstStyle/>
        <a:p>
          <a:endParaRPr lang="fr-FR"/>
        </a:p>
      </dgm:t>
    </dgm:pt>
    <dgm:pt modelId="{54A67753-B13D-48EF-8EC8-A7947DF50726}">
      <dgm:prSet/>
      <dgm:spPr/>
      <dgm:t>
        <a:bodyPr/>
        <a:lstStyle/>
        <a:p>
          <a:pPr marL="180000" indent="-180000" algn="l" rtl="0">
            <a:buClr>
              <a:schemeClr val="accent1"/>
            </a:buClr>
            <a:buFont typeface="Wingdings" panose="05000000000000000000" pitchFamily="2" charset="2"/>
            <a:buChar char="§"/>
          </a:pPr>
          <a:r>
            <a:rPr lang="fr-FR" b="1" dirty="0"/>
            <a:t>U</a:t>
          </a:r>
          <a:r>
            <a:rPr lang="x-none" b="1" dirty="0"/>
            <a:t>ne déclaration doit être faite</a:t>
          </a:r>
          <a:r>
            <a:rPr lang="fr-FR" b="1" dirty="0"/>
            <a:t> </a:t>
          </a:r>
          <a:r>
            <a:rPr lang="x-none" b="1" dirty="0"/>
            <a:t>à la caisse des congés payés afin de transmettre</a:t>
          </a:r>
          <a:r>
            <a:rPr lang="fr-FR" b="1" dirty="0"/>
            <a:t> </a:t>
          </a:r>
          <a:r>
            <a:rPr lang="x-none" b="1" dirty="0"/>
            <a:t>les données de la période</a:t>
          </a:r>
          <a:r>
            <a:rPr lang="fr-FR" b="1" dirty="0"/>
            <a:t> </a:t>
          </a:r>
          <a:r>
            <a:rPr lang="x-none" b="1" dirty="0"/>
            <a:t>d'emploi entre</a:t>
          </a:r>
          <a:r>
            <a:rPr lang="fr-FR" b="1" dirty="0"/>
            <a:t> </a:t>
          </a:r>
          <a:r>
            <a:rPr lang="x-none" b="1" dirty="0"/>
            <a:t>le</a:t>
          </a:r>
          <a:r>
            <a:rPr lang="fr-FR" b="1" dirty="0"/>
            <a:t> </a:t>
          </a:r>
          <a:r>
            <a:rPr lang="x-none" b="1" dirty="0"/>
            <a:t>1</a:t>
          </a:r>
          <a:r>
            <a:rPr lang="x-none" b="1" baseline="30000" dirty="0"/>
            <a:t>er</a:t>
          </a:r>
          <a:r>
            <a:rPr lang="fr-FR" b="1" baseline="30000" dirty="0"/>
            <a:t> </a:t>
          </a:r>
          <a:r>
            <a:rPr lang="x-none" b="1" dirty="0"/>
            <a:t>avril précédent et la date du départ. La caisse,</a:t>
          </a:r>
          <a:r>
            <a:rPr lang="fr-FR" b="1" dirty="0"/>
            <a:t> </a:t>
          </a:r>
          <a:r>
            <a:rPr lang="x-none" b="1" dirty="0"/>
            <a:t>après</a:t>
          </a:r>
          <a:r>
            <a:rPr lang="fr-FR" b="1" dirty="0"/>
            <a:t> </a:t>
          </a:r>
          <a:r>
            <a:rPr lang="x-none" b="1" dirty="0"/>
            <a:t>contrôle des données saisies, adresse le certificat à remettre </a:t>
          </a:r>
          <a:r>
            <a:rPr lang="fr-FR" b="1" dirty="0"/>
            <a:t>au </a:t>
          </a:r>
          <a:r>
            <a:rPr lang="x-none" b="1" dirty="0"/>
            <a:t>salarié</a:t>
          </a:r>
          <a:endParaRPr lang="fr-FR" dirty="0"/>
        </a:p>
      </dgm:t>
    </dgm:pt>
    <dgm:pt modelId="{6C74793E-72BA-4FBC-8F0B-E0A8875002BA}" type="parTrans" cxnId="{115B918B-EF4F-464C-817D-AF872DA90075}">
      <dgm:prSet/>
      <dgm:spPr/>
      <dgm:t>
        <a:bodyPr/>
        <a:lstStyle/>
        <a:p>
          <a:endParaRPr lang="fr-FR"/>
        </a:p>
      </dgm:t>
    </dgm:pt>
    <dgm:pt modelId="{7A7918DB-4C6E-4B76-B657-66D7F01B1196}" type="sibTrans" cxnId="{115B918B-EF4F-464C-817D-AF872DA90075}">
      <dgm:prSet/>
      <dgm:spPr/>
      <dgm:t>
        <a:bodyPr/>
        <a:lstStyle/>
        <a:p>
          <a:endParaRPr lang="fr-FR"/>
        </a:p>
      </dgm:t>
    </dgm:pt>
    <dgm:pt modelId="{0BE4FCD8-BF69-487E-96F1-5DB6808D636E}">
      <dgm:prSet/>
      <dgm:spPr/>
      <dgm:t>
        <a:bodyPr/>
        <a:lstStyle/>
        <a:p>
          <a:pPr marL="180000" indent="-180000" algn="l" rtl="0">
            <a:buClr>
              <a:schemeClr val="accent1"/>
            </a:buClr>
            <a:buFont typeface="Wingdings" panose="05000000000000000000" pitchFamily="2" charset="2"/>
            <a:buChar char="§"/>
          </a:pPr>
          <a:r>
            <a:rPr lang="fr-FR" b="1" dirty="0"/>
            <a:t>Afin que la Carte BTP soit invalidée, l’employeur est tenu de la retourner au service Carte BTP en vue de sa destruction</a:t>
          </a:r>
        </a:p>
      </dgm:t>
    </dgm:pt>
    <dgm:pt modelId="{495FD931-4124-4A0F-AF0E-3E7BF1E07A55}" type="parTrans" cxnId="{09AF4B81-9396-41BA-BF13-E66EB0B9C206}">
      <dgm:prSet/>
      <dgm:spPr/>
      <dgm:t>
        <a:bodyPr/>
        <a:lstStyle/>
        <a:p>
          <a:endParaRPr lang="fr-FR"/>
        </a:p>
      </dgm:t>
    </dgm:pt>
    <dgm:pt modelId="{295BF58C-89FE-4C83-924B-2D71A0C3D21F}" type="sibTrans" cxnId="{09AF4B81-9396-41BA-BF13-E66EB0B9C206}">
      <dgm:prSet/>
      <dgm:spPr/>
      <dgm:t>
        <a:bodyPr/>
        <a:lstStyle/>
        <a:p>
          <a:endParaRPr lang="fr-FR"/>
        </a:p>
      </dgm:t>
    </dgm:pt>
    <dgm:pt modelId="{9CEDF7FF-E70E-4BAA-B4F5-542E3C744D80}" type="pres">
      <dgm:prSet presAssocID="{048CE1BA-58D3-435A-8A08-A8E10390178E}" presName="linear" presStyleCnt="0">
        <dgm:presLayoutVars>
          <dgm:animLvl val="lvl"/>
          <dgm:resizeHandles val="exact"/>
        </dgm:presLayoutVars>
      </dgm:prSet>
      <dgm:spPr/>
    </dgm:pt>
    <dgm:pt modelId="{441147BB-F31F-4216-BD76-5ECBB07F8E70}" type="pres">
      <dgm:prSet presAssocID="{5F869F93-AD1D-47E6-B62F-58139F9DA5C8}" presName="parentText" presStyleLbl="node1" presStyleIdx="0" presStyleCnt="1">
        <dgm:presLayoutVars>
          <dgm:chMax val="0"/>
          <dgm:bulletEnabled val="1"/>
        </dgm:presLayoutVars>
      </dgm:prSet>
      <dgm:spPr/>
    </dgm:pt>
    <dgm:pt modelId="{E17BDB7D-96BC-462F-8E07-CA5E2654F237}" type="pres">
      <dgm:prSet presAssocID="{5F869F93-AD1D-47E6-B62F-58139F9DA5C8}" presName="childText" presStyleLbl="revTx" presStyleIdx="0" presStyleCnt="1">
        <dgm:presLayoutVars>
          <dgm:bulletEnabled val="1"/>
        </dgm:presLayoutVars>
      </dgm:prSet>
      <dgm:spPr/>
    </dgm:pt>
  </dgm:ptLst>
  <dgm:cxnLst>
    <dgm:cxn modelId="{8F2C612D-9BC4-4C6A-A976-109CEB3A1F4C}" srcId="{048CE1BA-58D3-435A-8A08-A8E10390178E}" destId="{5F869F93-AD1D-47E6-B62F-58139F9DA5C8}" srcOrd="0" destOrd="0" parTransId="{D4156092-19FB-4B2F-8FFF-BA82D2234759}" sibTransId="{57927CB8-DB5B-49D1-A96C-0D99BCDA7867}"/>
    <dgm:cxn modelId="{76400336-291B-4756-8B48-C71220BD982F}" type="presOf" srcId="{048CE1BA-58D3-435A-8A08-A8E10390178E}" destId="{9CEDF7FF-E70E-4BAA-B4F5-542E3C744D80}" srcOrd="0" destOrd="0" presId="urn:microsoft.com/office/officeart/2005/8/layout/vList2"/>
    <dgm:cxn modelId="{1E640336-1E5F-4302-AE93-1DA8BF97A271}" type="presOf" srcId="{0BE4FCD8-BF69-487E-96F1-5DB6808D636E}" destId="{E17BDB7D-96BC-462F-8E07-CA5E2654F237}" srcOrd="0" destOrd="2" presId="urn:microsoft.com/office/officeart/2005/8/layout/vList2"/>
    <dgm:cxn modelId="{518FEE4B-35EF-4FF3-8B37-3127A3295715}" srcId="{5F869F93-AD1D-47E6-B62F-58139F9DA5C8}" destId="{82269EB1-E83E-429C-BA88-AEFDA6AB893E}" srcOrd="0" destOrd="0" parTransId="{3DD25BE6-BE88-4316-BAE4-0851EC7EA07E}" sibTransId="{CFA1CC21-BD3A-4B2D-8A0A-08751E82579A}"/>
    <dgm:cxn modelId="{6C01674E-57C4-41A8-B183-016240100DAF}" type="presOf" srcId="{82269EB1-E83E-429C-BA88-AEFDA6AB893E}" destId="{E17BDB7D-96BC-462F-8E07-CA5E2654F237}" srcOrd="0" destOrd="0" presId="urn:microsoft.com/office/officeart/2005/8/layout/vList2"/>
    <dgm:cxn modelId="{B6BF6F7C-5835-442E-B078-7D3F6A1FDE30}" type="presOf" srcId="{5F869F93-AD1D-47E6-B62F-58139F9DA5C8}" destId="{441147BB-F31F-4216-BD76-5ECBB07F8E70}" srcOrd="0" destOrd="0" presId="urn:microsoft.com/office/officeart/2005/8/layout/vList2"/>
    <dgm:cxn modelId="{09AF4B81-9396-41BA-BF13-E66EB0B9C206}" srcId="{5F869F93-AD1D-47E6-B62F-58139F9DA5C8}" destId="{0BE4FCD8-BF69-487E-96F1-5DB6808D636E}" srcOrd="2" destOrd="0" parTransId="{495FD931-4124-4A0F-AF0E-3E7BF1E07A55}" sibTransId="{295BF58C-89FE-4C83-924B-2D71A0C3D21F}"/>
    <dgm:cxn modelId="{115B918B-EF4F-464C-817D-AF872DA90075}" srcId="{5F869F93-AD1D-47E6-B62F-58139F9DA5C8}" destId="{54A67753-B13D-48EF-8EC8-A7947DF50726}" srcOrd="1" destOrd="0" parTransId="{6C74793E-72BA-4FBC-8F0B-E0A8875002BA}" sibTransId="{7A7918DB-4C6E-4B76-B657-66D7F01B1196}"/>
    <dgm:cxn modelId="{B3600DEB-E5B9-4C6E-8BE4-CF4E21DABC41}" type="presOf" srcId="{54A67753-B13D-48EF-8EC8-A7947DF50726}" destId="{E17BDB7D-96BC-462F-8E07-CA5E2654F237}" srcOrd="0" destOrd="1" presId="urn:microsoft.com/office/officeart/2005/8/layout/vList2"/>
    <dgm:cxn modelId="{45CD2414-717A-4861-8CEC-E2F9A1C09898}" type="presParOf" srcId="{9CEDF7FF-E70E-4BAA-B4F5-542E3C744D80}" destId="{441147BB-F31F-4216-BD76-5ECBB07F8E70}" srcOrd="0" destOrd="0" presId="urn:microsoft.com/office/officeart/2005/8/layout/vList2"/>
    <dgm:cxn modelId="{3699C24D-E3E9-4568-BF3E-F70FEB6D46E3}" type="presParOf" srcId="{9CEDF7FF-E70E-4BAA-B4F5-542E3C744D80}" destId="{E17BDB7D-96BC-462F-8E07-CA5E2654F237}"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0.xml><?xml version="1.0" encoding="utf-8"?>
<dgm:dataModel xmlns:dgm="http://schemas.openxmlformats.org/drawingml/2006/diagram" xmlns:a="http://schemas.openxmlformats.org/drawingml/2006/main">
  <dgm:ptLst>
    <dgm:pt modelId="{5850DC31-14ED-46B6-BFFF-BF1AE73A1FE1}" type="doc">
      <dgm:prSet loTypeId="urn:microsoft.com/office/officeart/2005/8/layout/vList2" loCatId="list" qsTypeId="urn:microsoft.com/office/officeart/2005/8/quickstyle/simple1#163" qsCatId="simple" csTypeId="urn:microsoft.com/office/officeart/2005/8/colors/accent1_2#116" csCatId="accent1" phldr="1"/>
      <dgm:spPr/>
      <dgm:t>
        <a:bodyPr/>
        <a:lstStyle/>
        <a:p>
          <a:endParaRPr lang="fr-FR"/>
        </a:p>
      </dgm:t>
    </dgm:pt>
    <dgm:pt modelId="{3B416064-86F0-460D-99B0-76CDAA80CDB4}">
      <dgm:prSet/>
      <dgm:spPr/>
      <dgm:t>
        <a:bodyPr/>
        <a:lstStyle/>
        <a:p>
          <a:pPr rtl="0"/>
          <a:r>
            <a:rPr lang="fr-FR" b="1" baseline="0" dirty="0"/>
            <a:t>Le préavis</a:t>
          </a:r>
          <a:endParaRPr lang="fr-FR" dirty="0"/>
        </a:p>
      </dgm:t>
    </dgm:pt>
    <dgm:pt modelId="{747A9800-721F-4DCD-B6F8-6546E21FE121}" type="parTrans" cxnId="{62693CA6-E410-4ECB-B026-12C04BD4C8D0}">
      <dgm:prSet/>
      <dgm:spPr/>
      <dgm:t>
        <a:bodyPr/>
        <a:lstStyle/>
        <a:p>
          <a:endParaRPr lang="fr-FR"/>
        </a:p>
      </dgm:t>
    </dgm:pt>
    <dgm:pt modelId="{0A225DA2-9691-4490-8CA9-F472D1427ED7}" type="sibTrans" cxnId="{62693CA6-E410-4ECB-B026-12C04BD4C8D0}">
      <dgm:prSet/>
      <dgm:spPr/>
      <dgm:t>
        <a:bodyPr/>
        <a:lstStyle/>
        <a:p>
          <a:endParaRPr lang="fr-FR"/>
        </a:p>
      </dgm:t>
    </dgm:pt>
    <dgm:pt modelId="{B2251416-7423-448F-BD6D-0229F90A3258}">
      <dgm:prSet/>
      <dgm:spPr/>
      <dgm:t>
        <a:bodyPr/>
        <a:lstStyle/>
        <a:p>
          <a:pPr rtl="0">
            <a:buClr>
              <a:schemeClr val="accent1"/>
            </a:buClr>
            <a:buFont typeface="Wingdings" panose="05000000000000000000" pitchFamily="2" charset="2"/>
            <a:buChar char="§"/>
          </a:pPr>
          <a:r>
            <a:rPr lang="fr-FR" b="1" baseline="0" dirty="0"/>
            <a:t>Durée du préavis variable selon la catégorie</a:t>
          </a:r>
          <a:endParaRPr lang="fr-FR" dirty="0"/>
        </a:p>
      </dgm:t>
    </dgm:pt>
    <dgm:pt modelId="{FAE1F838-CA2D-407A-9D7C-82CCA36D482A}" type="parTrans" cxnId="{B12BD916-71B6-4040-A23B-E5524147B497}">
      <dgm:prSet/>
      <dgm:spPr/>
      <dgm:t>
        <a:bodyPr/>
        <a:lstStyle/>
        <a:p>
          <a:endParaRPr lang="fr-FR"/>
        </a:p>
      </dgm:t>
    </dgm:pt>
    <dgm:pt modelId="{2AAD6C54-FBDD-4840-836D-864F225A4191}" type="sibTrans" cxnId="{B12BD916-71B6-4040-A23B-E5524147B497}">
      <dgm:prSet/>
      <dgm:spPr/>
      <dgm:t>
        <a:bodyPr/>
        <a:lstStyle/>
        <a:p>
          <a:endParaRPr lang="fr-FR"/>
        </a:p>
      </dgm:t>
    </dgm:pt>
    <dgm:pt modelId="{D8819771-9E17-485C-979C-472E0EB99522}">
      <dgm:prSet/>
      <dgm:spPr/>
      <dgm:t>
        <a:bodyPr/>
        <a:lstStyle/>
        <a:p>
          <a:pPr rtl="0">
            <a:buClr>
              <a:schemeClr val="accent1"/>
            </a:buClr>
            <a:buFont typeface="Wingdings" panose="05000000000000000000" pitchFamily="2" charset="2"/>
            <a:buChar char="§"/>
          </a:pPr>
          <a:r>
            <a:rPr lang="fr-FR" b="1" baseline="0" dirty="0"/>
            <a:t>Volonté d’harmoniser la durée du préavis par catégorie quel que soit le motif (démission ou licenciement)</a:t>
          </a:r>
          <a:endParaRPr lang="fr-FR" dirty="0"/>
        </a:p>
      </dgm:t>
    </dgm:pt>
    <dgm:pt modelId="{3FE581E3-CB08-4B83-838A-A79A644E0291}" type="parTrans" cxnId="{D0F83A4C-6000-4C0E-8349-450160146AC2}">
      <dgm:prSet/>
      <dgm:spPr/>
      <dgm:t>
        <a:bodyPr/>
        <a:lstStyle/>
        <a:p>
          <a:endParaRPr lang="fr-FR"/>
        </a:p>
      </dgm:t>
    </dgm:pt>
    <dgm:pt modelId="{EA7F1371-9C38-4229-B55E-8A49D8680896}" type="sibTrans" cxnId="{D0F83A4C-6000-4C0E-8349-450160146AC2}">
      <dgm:prSet/>
      <dgm:spPr/>
      <dgm:t>
        <a:bodyPr/>
        <a:lstStyle/>
        <a:p>
          <a:endParaRPr lang="fr-FR"/>
        </a:p>
      </dgm:t>
    </dgm:pt>
    <dgm:pt modelId="{DF519B34-85EE-4EFD-808D-EA277D770F43}">
      <dgm:prSet/>
      <dgm:spPr/>
      <dgm:t>
        <a:bodyPr/>
        <a:lstStyle/>
        <a:p>
          <a:pPr rtl="0">
            <a:buClr>
              <a:schemeClr val="accent1"/>
            </a:buClr>
            <a:buFont typeface="Wingdings" panose="05000000000000000000" pitchFamily="2" charset="2"/>
            <a:buChar char="§"/>
          </a:pPr>
          <a:r>
            <a:rPr lang="fr-FR" b="1" baseline="0" dirty="0"/>
            <a:t>Dans les conventions collectives, il existe un article sur les heures d’absence pour recherche d’emploi</a:t>
          </a:r>
          <a:endParaRPr lang="fr-FR" dirty="0"/>
        </a:p>
      </dgm:t>
    </dgm:pt>
    <dgm:pt modelId="{8EF09880-CE08-4866-BD94-4E5987CBD972}" type="parTrans" cxnId="{FC21AA7E-E240-4C9E-B391-08CC5730A3AC}">
      <dgm:prSet/>
      <dgm:spPr/>
      <dgm:t>
        <a:bodyPr/>
        <a:lstStyle/>
        <a:p>
          <a:endParaRPr lang="fr-FR"/>
        </a:p>
      </dgm:t>
    </dgm:pt>
    <dgm:pt modelId="{1A6E40AD-9F9E-449D-BE96-3A82A06F3E2C}" type="sibTrans" cxnId="{FC21AA7E-E240-4C9E-B391-08CC5730A3AC}">
      <dgm:prSet/>
      <dgm:spPr/>
      <dgm:t>
        <a:bodyPr/>
        <a:lstStyle/>
        <a:p>
          <a:endParaRPr lang="fr-FR"/>
        </a:p>
      </dgm:t>
    </dgm:pt>
    <dgm:pt modelId="{310E8829-2045-4D9C-808D-B66A8C4AEA90}">
      <dgm:prSet/>
      <dgm:spPr/>
      <dgm:t>
        <a:bodyPr/>
        <a:lstStyle/>
        <a:p>
          <a:pPr rtl="0">
            <a:buClr>
              <a:schemeClr val="accent1"/>
            </a:buClr>
            <a:buFont typeface="Wingdings" panose="05000000000000000000" pitchFamily="2" charset="2"/>
            <a:buChar char="§"/>
          </a:pPr>
          <a:r>
            <a:rPr lang="fr-FR" b="1" baseline="0" dirty="0"/>
            <a:t>Portabilité de la prévoyance avec PRO-BTP : il y a mutualisation (durée portée à 36 mois) </a:t>
          </a:r>
          <a:endParaRPr lang="fr-FR" dirty="0"/>
        </a:p>
      </dgm:t>
    </dgm:pt>
    <dgm:pt modelId="{9512C455-436D-440C-91FE-D2E109386791}" type="parTrans" cxnId="{8A4D9929-4E19-4C92-A90E-1AD4DA807256}">
      <dgm:prSet/>
      <dgm:spPr/>
      <dgm:t>
        <a:bodyPr/>
        <a:lstStyle/>
        <a:p>
          <a:endParaRPr lang="fr-FR"/>
        </a:p>
      </dgm:t>
    </dgm:pt>
    <dgm:pt modelId="{6EF2619E-C98D-4F12-B8A4-5BB5CEBC578A}" type="sibTrans" cxnId="{8A4D9929-4E19-4C92-A90E-1AD4DA807256}">
      <dgm:prSet/>
      <dgm:spPr/>
      <dgm:t>
        <a:bodyPr/>
        <a:lstStyle/>
        <a:p>
          <a:endParaRPr lang="fr-FR"/>
        </a:p>
      </dgm:t>
    </dgm:pt>
    <dgm:pt modelId="{B037D2D8-B8FD-4A10-9CA8-D6A721E653A0}" type="pres">
      <dgm:prSet presAssocID="{5850DC31-14ED-46B6-BFFF-BF1AE73A1FE1}" presName="linear" presStyleCnt="0">
        <dgm:presLayoutVars>
          <dgm:animLvl val="lvl"/>
          <dgm:resizeHandles val="exact"/>
        </dgm:presLayoutVars>
      </dgm:prSet>
      <dgm:spPr/>
    </dgm:pt>
    <dgm:pt modelId="{21AB7A41-2C53-4523-B2A8-1F301C1641CA}" type="pres">
      <dgm:prSet presAssocID="{3B416064-86F0-460D-99B0-76CDAA80CDB4}" presName="parentText" presStyleLbl="node1" presStyleIdx="0" presStyleCnt="1" custScaleY="86835">
        <dgm:presLayoutVars>
          <dgm:chMax val="0"/>
          <dgm:bulletEnabled val="1"/>
        </dgm:presLayoutVars>
      </dgm:prSet>
      <dgm:spPr/>
    </dgm:pt>
    <dgm:pt modelId="{1C023777-9667-4FFA-A6CA-5B1E4F1E0DDB}" type="pres">
      <dgm:prSet presAssocID="{3B416064-86F0-460D-99B0-76CDAA80CDB4}" presName="childText" presStyleLbl="revTx" presStyleIdx="0" presStyleCnt="1">
        <dgm:presLayoutVars>
          <dgm:bulletEnabled val="1"/>
        </dgm:presLayoutVars>
      </dgm:prSet>
      <dgm:spPr/>
    </dgm:pt>
  </dgm:ptLst>
  <dgm:cxnLst>
    <dgm:cxn modelId="{9B52FA03-BE76-496A-8BDE-A47969FD2728}" type="presOf" srcId="{D8819771-9E17-485C-979C-472E0EB99522}" destId="{1C023777-9667-4FFA-A6CA-5B1E4F1E0DDB}" srcOrd="0" destOrd="1" presId="urn:microsoft.com/office/officeart/2005/8/layout/vList2"/>
    <dgm:cxn modelId="{B12BD916-71B6-4040-A23B-E5524147B497}" srcId="{3B416064-86F0-460D-99B0-76CDAA80CDB4}" destId="{B2251416-7423-448F-BD6D-0229F90A3258}" srcOrd="0" destOrd="0" parTransId="{FAE1F838-CA2D-407A-9D7C-82CCA36D482A}" sibTransId="{2AAD6C54-FBDD-4840-836D-864F225A4191}"/>
    <dgm:cxn modelId="{8A4D9929-4E19-4C92-A90E-1AD4DA807256}" srcId="{3B416064-86F0-460D-99B0-76CDAA80CDB4}" destId="{310E8829-2045-4D9C-808D-B66A8C4AEA90}" srcOrd="3" destOrd="0" parTransId="{9512C455-436D-440C-91FE-D2E109386791}" sibTransId="{6EF2619E-C98D-4F12-B8A4-5BB5CEBC578A}"/>
    <dgm:cxn modelId="{D0F83A4C-6000-4C0E-8349-450160146AC2}" srcId="{3B416064-86F0-460D-99B0-76CDAA80CDB4}" destId="{D8819771-9E17-485C-979C-472E0EB99522}" srcOrd="1" destOrd="0" parTransId="{3FE581E3-CB08-4B83-838A-A79A644E0291}" sibTransId="{EA7F1371-9C38-4229-B55E-8A49D8680896}"/>
    <dgm:cxn modelId="{51E76D5A-BB7A-4917-BFE9-65EFA3279BDC}" type="presOf" srcId="{5850DC31-14ED-46B6-BFFF-BF1AE73A1FE1}" destId="{B037D2D8-B8FD-4A10-9CA8-D6A721E653A0}" srcOrd="0" destOrd="0" presId="urn:microsoft.com/office/officeart/2005/8/layout/vList2"/>
    <dgm:cxn modelId="{FC21AA7E-E240-4C9E-B391-08CC5730A3AC}" srcId="{3B416064-86F0-460D-99B0-76CDAA80CDB4}" destId="{DF519B34-85EE-4EFD-808D-EA277D770F43}" srcOrd="2" destOrd="0" parTransId="{8EF09880-CE08-4866-BD94-4E5987CBD972}" sibTransId="{1A6E40AD-9F9E-449D-BE96-3A82A06F3E2C}"/>
    <dgm:cxn modelId="{1960928D-4946-49F5-82A0-3D7EC2F1FE89}" type="presOf" srcId="{DF519B34-85EE-4EFD-808D-EA277D770F43}" destId="{1C023777-9667-4FFA-A6CA-5B1E4F1E0DDB}" srcOrd="0" destOrd="2" presId="urn:microsoft.com/office/officeart/2005/8/layout/vList2"/>
    <dgm:cxn modelId="{08016FA2-EBF0-4F7C-B620-B160AB721B27}" type="presOf" srcId="{310E8829-2045-4D9C-808D-B66A8C4AEA90}" destId="{1C023777-9667-4FFA-A6CA-5B1E4F1E0DDB}" srcOrd="0" destOrd="3" presId="urn:microsoft.com/office/officeart/2005/8/layout/vList2"/>
    <dgm:cxn modelId="{62693CA6-E410-4ECB-B026-12C04BD4C8D0}" srcId="{5850DC31-14ED-46B6-BFFF-BF1AE73A1FE1}" destId="{3B416064-86F0-460D-99B0-76CDAA80CDB4}" srcOrd="0" destOrd="0" parTransId="{747A9800-721F-4DCD-B6F8-6546E21FE121}" sibTransId="{0A225DA2-9691-4490-8CA9-F472D1427ED7}"/>
    <dgm:cxn modelId="{FD71E9A7-36B3-4D31-8FD4-50E1FF531CAD}" type="presOf" srcId="{3B416064-86F0-460D-99B0-76CDAA80CDB4}" destId="{21AB7A41-2C53-4523-B2A8-1F301C1641CA}" srcOrd="0" destOrd="0" presId="urn:microsoft.com/office/officeart/2005/8/layout/vList2"/>
    <dgm:cxn modelId="{E4C61BDC-54ED-4331-B907-AA973589CE9D}" type="presOf" srcId="{B2251416-7423-448F-BD6D-0229F90A3258}" destId="{1C023777-9667-4FFA-A6CA-5B1E4F1E0DDB}" srcOrd="0" destOrd="0" presId="urn:microsoft.com/office/officeart/2005/8/layout/vList2"/>
    <dgm:cxn modelId="{8C4D9E5B-75DC-4211-80AF-6B7A66983ADB}" type="presParOf" srcId="{B037D2D8-B8FD-4A10-9CA8-D6A721E653A0}" destId="{21AB7A41-2C53-4523-B2A8-1F301C1641CA}" srcOrd="0" destOrd="0" presId="urn:microsoft.com/office/officeart/2005/8/layout/vList2"/>
    <dgm:cxn modelId="{B37DDC4C-2E93-4409-B4AA-A17CD4AA79E1}" type="presParOf" srcId="{B037D2D8-B8FD-4A10-9CA8-D6A721E653A0}" destId="{1C023777-9667-4FFA-A6CA-5B1E4F1E0DDB}"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1.xml><?xml version="1.0" encoding="utf-8"?>
<dgm:dataModel xmlns:dgm="http://schemas.openxmlformats.org/drawingml/2006/diagram" xmlns:a="http://schemas.openxmlformats.org/drawingml/2006/main">
  <dgm:ptLst>
    <dgm:pt modelId="{3A89048A-ECCE-4289-9C17-0E901BCE69B4}" type="doc">
      <dgm:prSet loTypeId="urn:microsoft.com/office/officeart/2005/8/layout/vList2" loCatId="list" qsTypeId="urn:microsoft.com/office/officeart/2005/8/quickstyle/simple1#164" qsCatId="simple" csTypeId="urn:microsoft.com/office/officeart/2005/8/colors/accent1_2#117" csCatId="accent1" phldr="1"/>
      <dgm:spPr/>
      <dgm:t>
        <a:bodyPr/>
        <a:lstStyle/>
        <a:p>
          <a:endParaRPr lang="fr-FR"/>
        </a:p>
      </dgm:t>
    </dgm:pt>
    <dgm:pt modelId="{68A01B00-1B80-4280-9A1D-A473419A7BAA}">
      <dgm:prSet custT="1"/>
      <dgm:spPr/>
      <dgm:t>
        <a:bodyPr/>
        <a:lstStyle/>
        <a:p>
          <a:pPr rtl="0"/>
          <a:r>
            <a:rPr lang="fr-FR" sz="2600" b="1" baseline="0" dirty="0"/>
            <a:t>Le licenciement</a:t>
          </a:r>
          <a:endParaRPr lang="fr-FR" sz="2600" dirty="0"/>
        </a:p>
      </dgm:t>
    </dgm:pt>
    <dgm:pt modelId="{E01C00FB-6A99-49B8-B23A-5A6580505408}" type="parTrans" cxnId="{8C918237-F09D-4ED3-B8D9-89D4421867B3}">
      <dgm:prSet/>
      <dgm:spPr/>
      <dgm:t>
        <a:bodyPr/>
        <a:lstStyle/>
        <a:p>
          <a:endParaRPr lang="fr-FR"/>
        </a:p>
      </dgm:t>
    </dgm:pt>
    <dgm:pt modelId="{E6278E83-16DF-4221-8D60-4F0CE7A47F9F}" type="sibTrans" cxnId="{8C918237-F09D-4ED3-B8D9-89D4421867B3}">
      <dgm:prSet/>
      <dgm:spPr/>
      <dgm:t>
        <a:bodyPr/>
        <a:lstStyle/>
        <a:p>
          <a:endParaRPr lang="fr-FR"/>
        </a:p>
      </dgm:t>
    </dgm:pt>
    <dgm:pt modelId="{FE987B18-01F9-4D9D-BDF8-C00CC7C8F7FB}">
      <dgm:prSet custT="1"/>
      <dgm:spPr/>
      <dgm:t>
        <a:bodyPr/>
        <a:lstStyle/>
        <a:p>
          <a:pPr rtl="0">
            <a:buClr>
              <a:schemeClr val="accent1"/>
            </a:buClr>
            <a:buFont typeface="Wingdings" panose="05000000000000000000" pitchFamily="2" charset="2"/>
            <a:buChar char="§"/>
          </a:pPr>
          <a:r>
            <a:rPr lang="fr-FR" sz="2000" b="1" baseline="0" dirty="0"/>
            <a:t>Prendre la solution la plus avantageuse pour le salarié entre l’indemnité légale et conventionnelle (les règles sont différentes aussi bien pour l’assiette, l’ancienneté, le coefficient multiplicateur)</a:t>
          </a:r>
          <a:endParaRPr lang="fr-FR" sz="2000" dirty="0"/>
        </a:p>
      </dgm:t>
    </dgm:pt>
    <dgm:pt modelId="{1383222F-CBC1-4765-A177-35A270074958}" type="parTrans" cxnId="{589A2C28-4F2E-4D99-BFA1-4662D6F124E9}">
      <dgm:prSet/>
      <dgm:spPr/>
      <dgm:t>
        <a:bodyPr/>
        <a:lstStyle/>
        <a:p>
          <a:endParaRPr lang="fr-FR"/>
        </a:p>
      </dgm:t>
    </dgm:pt>
    <dgm:pt modelId="{125F57FB-BCC1-43B8-B7AC-8381B4DD5A67}" type="sibTrans" cxnId="{589A2C28-4F2E-4D99-BFA1-4662D6F124E9}">
      <dgm:prSet/>
      <dgm:spPr/>
      <dgm:t>
        <a:bodyPr/>
        <a:lstStyle/>
        <a:p>
          <a:endParaRPr lang="fr-FR"/>
        </a:p>
      </dgm:t>
    </dgm:pt>
    <dgm:pt modelId="{D2C10950-6444-4555-892F-F1834E6C1AAC}">
      <dgm:prSet custT="1"/>
      <dgm:spPr/>
      <dgm:t>
        <a:bodyPr/>
        <a:lstStyle/>
        <a:p>
          <a:pPr rtl="0">
            <a:buClr>
              <a:schemeClr val="accent1"/>
            </a:buClr>
            <a:buFont typeface="Wingdings" panose="05000000000000000000" pitchFamily="2" charset="2"/>
            <a:buChar char="§"/>
          </a:pPr>
          <a:r>
            <a:rPr lang="fr-FR" sz="2000" b="1" baseline="0" dirty="0"/>
            <a:t>Indemnité de licenciement majorée de 10 % pour les salariés âgés de plus de 55 ans (ouvriers, ETAM, cadres)</a:t>
          </a:r>
          <a:endParaRPr lang="fr-FR" sz="2000" dirty="0"/>
        </a:p>
      </dgm:t>
    </dgm:pt>
    <dgm:pt modelId="{5D20A9B6-2D2D-4BD8-B33E-8EB0AA9B6DB2}" type="parTrans" cxnId="{35457548-FB34-4AE2-815D-CA2CC5714024}">
      <dgm:prSet/>
      <dgm:spPr/>
      <dgm:t>
        <a:bodyPr/>
        <a:lstStyle/>
        <a:p>
          <a:endParaRPr lang="fr-FR"/>
        </a:p>
      </dgm:t>
    </dgm:pt>
    <dgm:pt modelId="{587EDC94-7A15-4E37-859E-4E889C6021CE}" type="sibTrans" cxnId="{35457548-FB34-4AE2-815D-CA2CC5714024}">
      <dgm:prSet/>
      <dgm:spPr/>
      <dgm:t>
        <a:bodyPr/>
        <a:lstStyle/>
        <a:p>
          <a:endParaRPr lang="fr-FR"/>
        </a:p>
      </dgm:t>
    </dgm:pt>
    <dgm:pt modelId="{57BC4F0B-576E-4A7A-B44E-1E4F7697D355}">
      <dgm:prSet custT="1"/>
      <dgm:spPr/>
      <dgm:t>
        <a:bodyPr/>
        <a:lstStyle/>
        <a:p>
          <a:pPr rtl="0">
            <a:buClr>
              <a:schemeClr val="accent1"/>
            </a:buClr>
            <a:buFont typeface="Wingdings" panose="05000000000000000000" pitchFamily="2" charset="2"/>
            <a:buChar char="§"/>
          </a:pPr>
          <a:r>
            <a:rPr lang="fr-FR" sz="2000" b="1" baseline="0" dirty="0"/>
            <a:t>Les ETAM et les cadres voient leurs indemnités plafonnées </a:t>
          </a:r>
          <a:endParaRPr lang="fr-FR" sz="2000" dirty="0"/>
        </a:p>
      </dgm:t>
    </dgm:pt>
    <dgm:pt modelId="{E804C5E2-D2DA-48F7-AA78-4EE12658A0CB}" type="parTrans" cxnId="{68FE21E3-39B6-40C2-90B9-2AF43D1E7D86}">
      <dgm:prSet/>
      <dgm:spPr/>
      <dgm:t>
        <a:bodyPr/>
        <a:lstStyle/>
        <a:p>
          <a:endParaRPr lang="fr-FR"/>
        </a:p>
      </dgm:t>
    </dgm:pt>
    <dgm:pt modelId="{7067F4C1-9AED-4DFF-A21C-06389665AD65}" type="sibTrans" cxnId="{68FE21E3-39B6-40C2-90B9-2AF43D1E7D86}">
      <dgm:prSet/>
      <dgm:spPr/>
      <dgm:t>
        <a:bodyPr/>
        <a:lstStyle/>
        <a:p>
          <a:endParaRPr lang="fr-FR"/>
        </a:p>
      </dgm:t>
    </dgm:pt>
    <dgm:pt modelId="{191041B2-F321-4C9F-8E30-B90F35D94B74}" type="pres">
      <dgm:prSet presAssocID="{3A89048A-ECCE-4289-9C17-0E901BCE69B4}" presName="linear" presStyleCnt="0">
        <dgm:presLayoutVars>
          <dgm:animLvl val="lvl"/>
          <dgm:resizeHandles val="exact"/>
        </dgm:presLayoutVars>
      </dgm:prSet>
      <dgm:spPr/>
    </dgm:pt>
    <dgm:pt modelId="{0CE73333-1E81-413E-9661-0FCB826758E1}" type="pres">
      <dgm:prSet presAssocID="{68A01B00-1B80-4280-9A1D-A473419A7BAA}" presName="parentText" presStyleLbl="node1" presStyleIdx="0" presStyleCnt="1" custScaleY="53411" custLinFactNeighborY="-1613">
        <dgm:presLayoutVars>
          <dgm:chMax val="0"/>
          <dgm:bulletEnabled val="1"/>
        </dgm:presLayoutVars>
      </dgm:prSet>
      <dgm:spPr/>
    </dgm:pt>
    <dgm:pt modelId="{E55C6B9D-95A9-4BBF-AF66-F7CC448F1917}" type="pres">
      <dgm:prSet presAssocID="{68A01B00-1B80-4280-9A1D-A473419A7BAA}" presName="childText" presStyleLbl="revTx" presStyleIdx="0" presStyleCnt="1">
        <dgm:presLayoutVars>
          <dgm:bulletEnabled val="1"/>
        </dgm:presLayoutVars>
      </dgm:prSet>
      <dgm:spPr/>
    </dgm:pt>
  </dgm:ptLst>
  <dgm:cxnLst>
    <dgm:cxn modelId="{63057E18-0F82-4510-9DC7-993AF12A55FF}" type="presOf" srcId="{3A89048A-ECCE-4289-9C17-0E901BCE69B4}" destId="{191041B2-F321-4C9F-8E30-B90F35D94B74}" srcOrd="0" destOrd="0" presId="urn:microsoft.com/office/officeart/2005/8/layout/vList2"/>
    <dgm:cxn modelId="{4EA09B25-B872-4A9C-A682-D1F108C8E09D}" type="presOf" srcId="{D2C10950-6444-4555-892F-F1834E6C1AAC}" destId="{E55C6B9D-95A9-4BBF-AF66-F7CC448F1917}" srcOrd="0" destOrd="1" presId="urn:microsoft.com/office/officeart/2005/8/layout/vList2"/>
    <dgm:cxn modelId="{589A2C28-4F2E-4D99-BFA1-4662D6F124E9}" srcId="{68A01B00-1B80-4280-9A1D-A473419A7BAA}" destId="{FE987B18-01F9-4D9D-BDF8-C00CC7C8F7FB}" srcOrd="0" destOrd="0" parTransId="{1383222F-CBC1-4765-A177-35A270074958}" sibTransId="{125F57FB-BCC1-43B8-B7AC-8381B4DD5A67}"/>
    <dgm:cxn modelId="{8C918237-F09D-4ED3-B8D9-89D4421867B3}" srcId="{3A89048A-ECCE-4289-9C17-0E901BCE69B4}" destId="{68A01B00-1B80-4280-9A1D-A473419A7BAA}" srcOrd="0" destOrd="0" parTransId="{E01C00FB-6A99-49B8-B23A-5A6580505408}" sibTransId="{E6278E83-16DF-4221-8D60-4F0CE7A47F9F}"/>
    <dgm:cxn modelId="{DF875B3C-1276-4059-923E-A1F51E338996}" type="presOf" srcId="{68A01B00-1B80-4280-9A1D-A473419A7BAA}" destId="{0CE73333-1E81-413E-9661-0FCB826758E1}" srcOrd="0" destOrd="0" presId="urn:microsoft.com/office/officeart/2005/8/layout/vList2"/>
    <dgm:cxn modelId="{35457548-FB34-4AE2-815D-CA2CC5714024}" srcId="{68A01B00-1B80-4280-9A1D-A473419A7BAA}" destId="{D2C10950-6444-4555-892F-F1834E6C1AAC}" srcOrd="1" destOrd="0" parTransId="{5D20A9B6-2D2D-4BD8-B33E-8EB0AA9B6DB2}" sibTransId="{587EDC94-7A15-4E37-859E-4E889C6021CE}"/>
    <dgm:cxn modelId="{B36B8F87-86D7-405A-9109-53B672157F31}" type="presOf" srcId="{FE987B18-01F9-4D9D-BDF8-C00CC7C8F7FB}" destId="{E55C6B9D-95A9-4BBF-AF66-F7CC448F1917}" srcOrd="0" destOrd="0" presId="urn:microsoft.com/office/officeart/2005/8/layout/vList2"/>
    <dgm:cxn modelId="{DB5274BF-008D-41C3-8028-3197D2F7DB71}" type="presOf" srcId="{57BC4F0B-576E-4A7A-B44E-1E4F7697D355}" destId="{E55C6B9D-95A9-4BBF-AF66-F7CC448F1917}" srcOrd="0" destOrd="2" presId="urn:microsoft.com/office/officeart/2005/8/layout/vList2"/>
    <dgm:cxn modelId="{68FE21E3-39B6-40C2-90B9-2AF43D1E7D86}" srcId="{68A01B00-1B80-4280-9A1D-A473419A7BAA}" destId="{57BC4F0B-576E-4A7A-B44E-1E4F7697D355}" srcOrd="2" destOrd="0" parTransId="{E804C5E2-D2DA-48F7-AA78-4EE12658A0CB}" sibTransId="{7067F4C1-9AED-4DFF-A21C-06389665AD65}"/>
    <dgm:cxn modelId="{177A5142-3D16-4901-B9F3-F30BAC588644}" type="presParOf" srcId="{191041B2-F321-4C9F-8E30-B90F35D94B74}" destId="{0CE73333-1E81-413E-9661-0FCB826758E1}" srcOrd="0" destOrd="0" presId="urn:microsoft.com/office/officeart/2005/8/layout/vList2"/>
    <dgm:cxn modelId="{B62FD868-0465-46B5-A804-E9872BBB779F}" type="presParOf" srcId="{191041B2-F321-4C9F-8E30-B90F35D94B74}" destId="{E55C6B9D-95A9-4BBF-AF66-F7CC448F1917}"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2.xml><?xml version="1.0" encoding="utf-8"?>
<dgm:dataModel xmlns:dgm="http://schemas.openxmlformats.org/drawingml/2006/diagram" xmlns:a="http://schemas.openxmlformats.org/drawingml/2006/main">
  <dgm:ptLst>
    <dgm:pt modelId="{1A84E33C-5949-4695-8352-0A13075407DF}" type="doc">
      <dgm:prSet loTypeId="urn:microsoft.com/office/officeart/2005/8/layout/vList2" loCatId="list" qsTypeId="urn:microsoft.com/office/officeart/2005/8/quickstyle/simple1#165" qsCatId="simple" csTypeId="urn:microsoft.com/office/officeart/2005/8/colors/accent1_2#118" csCatId="accent1" phldr="1"/>
      <dgm:spPr/>
      <dgm:t>
        <a:bodyPr/>
        <a:lstStyle/>
        <a:p>
          <a:endParaRPr lang="fr-FR"/>
        </a:p>
      </dgm:t>
    </dgm:pt>
    <dgm:pt modelId="{F81DBD3E-5EDF-49D1-BCEF-D22E212A9D3D}" type="pres">
      <dgm:prSet presAssocID="{1A84E33C-5949-4695-8352-0A13075407DF}" presName="linear" presStyleCnt="0">
        <dgm:presLayoutVars>
          <dgm:animLvl val="lvl"/>
          <dgm:resizeHandles val="exact"/>
        </dgm:presLayoutVars>
      </dgm:prSet>
      <dgm:spPr/>
    </dgm:pt>
  </dgm:ptLst>
  <dgm:cxnLst>
    <dgm:cxn modelId="{E3F11A69-4916-46B6-92DD-1F14001FF4F7}" type="presOf" srcId="{1A84E33C-5949-4695-8352-0A13075407DF}" destId="{F81DBD3E-5EDF-49D1-BCEF-D22E212A9D3D}"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3.xml><?xml version="1.0" encoding="utf-8"?>
<dgm:dataModel xmlns:dgm="http://schemas.openxmlformats.org/drawingml/2006/diagram" xmlns:a="http://schemas.openxmlformats.org/drawingml/2006/main">
  <dgm:ptLst>
    <dgm:pt modelId="{1A84E33C-5949-4695-8352-0A13075407DF}" type="doc">
      <dgm:prSet loTypeId="urn:microsoft.com/office/officeart/2005/8/layout/vList2" loCatId="list" qsTypeId="urn:microsoft.com/office/officeart/2005/8/quickstyle/simple1#166" qsCatId="simple" csTypeId="urn:microsoft.com/office/officeart/2005/8/colors/accent1_2#119" csCatId="accent1" phldr="1"/>
      <dgm:spPr/>
      <dgm:t>
        <a:bodyPr/>
        <a:lstStyle/>
        <a:p>
          <a:endParaRPr lang="fr-FR"/>
        </a:p>
      </dgm:t>
    </dgm:pt>
    <dgm:pt modelId="{EE6F49C2-8180-4711-B662-27A3B2BE8F58}">
      <dgm:prSet custT="1"/>
      <dgm:spPr/>
      <dgm:t>
        <a:bodyPr/>
        <a:lstStyle/>
        <a:p>
          <a:pPr rtl="0"/>
          <a:r>
            <a:rPr lang="fr-FR" sz="2600" b="1" baseline="0" dirty="0"/>
            <a:t>Le départ volontaire à la retraite de l’ouvrier</a:t>
          </a:r>
          <a:endParaRPr lang="fr-FR" sz="2600" dirty="0"/>
        </a:p>
      </dgm:t>
    </dgm:pt>
    <dgm:pt modelId="{96E818CC-734C-42E9-B899-281421C34A29}" type="parTrans" cxnId="{EF3B5807-8338-4FCE-970E-2B184D66D5B4}">
      <dgm:prSet/>
      <dgm:spPr/>
      <dgm:t>
        <a:bodyPr/>
        <a:lstStyle/>
        <a:p>
          <a:endParaRPr lang="fr-FR"/>
        </a:p>
      </dgm:t>
    </dgm:pt>
    <dgm:pt modelId="{22F56032-3B09-489A-A23B-E81D49EA0AC2}" type="sibTrans" cxnId="{EF3B5807-8338-4FCE-970E-2B184D66D5B4}">
      <dgm:prSet/>
      <dgm:spPr/>
      <dgm:t>
        <a:bodyPr/>
        <a:lstStyle/>
        <a:p>
          <a:endParaRPr lang="fr-FR"/>
        </a:p>
      </dgm:t>
    </dgm:pt>
    <dgm:pt modelId="{DDB0641F-EAB6-4C06-91F6-B8E67D5C0661}">
      <dgm:prSet custT="1"/>
      <dgm:spPr/>
      <dgm:t>
        <a:bodyPr/>
        <a:lstStyle/>
        <a:p>
          <a:pPr rtl="0">
            <a:buClr>
              <a:schemeClr val="accent1"/>
            </a:buClr>
            <a:buFont typeface="Wingdings" panose="05000000000000000000" pitchFamily="2" charset="2"/>
            <a:buChar char="§"/>
          </a:pPr>
          <a:r>
            <a:rPr lang="fr-FR" sz="2000" b="1" baseline="0" dirty="0"/>
            <a:t>BTP-Prévoyance (PRO-BTP) prend en charge le versement </a:t>
          </a:r>
          <a:br>
            <a:rPr lang="fr-FR" sz="2000" b="1" baseline="0" dirty="0"/>
          </a:br>
          <a:r>
            <a:rPr lang="fr-FR" sz="2000" b="1" baseline="0" dirty="0"/>
            <a:t>des indemnités de départ en retraite des ouvriers</a:t>
          </a:r>
          <a:endParaRPr lang="fr-FR" sz="2000" dirty="0"/>
        </a:p>
      </dgm:t>
    </dgm:pt>
    <dgm:pt modelId="{EFA1118A-3935-4900-8C2A-A2D21D1A9939}" type="parTrans" cxnId="{899DFBCA-DA4E-41A4-9E27-F2195144076E}">
      <dgm:prSet/>
      <dgm:spPr/>
      <dgm:t>
        <a:bodyPr/>
        <a:lstStyle/>
        <a:p>
          <a:endParaRPr lang="fr-FR"/>
        </a:p>
      </dgm:t>
    </dgm:pt>
    <dgm:pt modelId="{ACD0779A-DFD7-4175-97F0-FD0156E98999}" type="sibTrans" cxnId="{899DFBCA-DA4E-41A4-9E27-F2195144076E}">
      <dgm:prSet/>
      <dgm:spPr/>
      <dgm:t>
        <a:bodyPr/>
        <a:lstStyle/>
        <a:p>
          <a:endParaRPr lang="fr-FR"/>
        </a:p>
      </dgm:t>
    </dgm:pt>
    <dgm:pt modelId="{69A66470-F711-4BB3-A539-0724E47625A5}">
      <dgm:prSet custT="1"/>
      <dgm:spPr/>
      <dgm:t>
        <a:bodyPr/>
        <a:lstStyle/>
        <a:p>
          <a:pPr rtl="0">
            <a:buClr>
              <a:schemeClr val="accent1"/>
            </a:buClr>
            <a:buFont typeface="Wingdings" panose="05000000000000000000" pitchFamily="2" charset="2"/>
            <a:buChar char="§"/>
          </a:pPr>
          <a:r>
            <a:rPr lang="fr-FR" sz="2000" b="1" baseline="0" dirty="0"/>
            <a:t>L’indemnité est versée directement au salarié </a:t>
          </a:r>
          <a:endParaRPr lang="fr-FR" sz="2000" dirty="0"/>
        </a:p>
      </dgm:t>
    </dgm:pt>
    <dgm:pt modelId="{3514349F-21C4-43C4-9419-6571D775A77E}" type="parTrans" cxnId="{E55361E0-1FD8-4D3C-A1D8-1EF72423BFB7}">
      <dgm:prSet/>
      <dgm:spPr/>
      <dgm:t>
        <a:bodyPr/>
        <a:lstStyle/>
        <a:p>
          <a:endParaRPr lang="fr-FR"/>
        </a:p>
      </dgm:t>
    </dgm:pt>
    <dgm:pt modelId="{F4C82665-C968-4D86-83B7-26874CFF6820}" type="sibTrans" cxnId="{E55361E0-1FD8-4D3C-A1D8-1EF72423BFB7}">
      <dgm:prSet/>
      <dgm:spPr/>
      <dgm:t>
        <a:bodyPr/>
        <a:lstStyle/>
        <a:p>
          <a:endParaRPr lang="fr-FR"/>
        </a:p>
      </dgm:t>
    </dgm:pt>
    <dgm:pt modelId="{F81DBD3E-5EDF-49D1-BCEF-D22E212A9D3D}" type="pres">
      <dgm:prSet presAssocID="{1A84E33C-5949-4695-8352-0A13075407DF}" presName="linear" presStyleCnt="0">
        <dgm:presLayoutVars>
          <dgm:animLvl val="lvl"/>
          <dgm:resizeHandles val="exact"/>
        </dgm:presLayoutVars>
      </dgm:prSet>
      <dgm:spPr/>
    </dgm:pt>
    <dgm:pt modelId="{03D25E11-AFA9-4FD9-8AAB-B639CEF6A002}" type="pres">
      <dgm:prSet presAssocID="{EE6F49C2-8180-4711-B662-27A3B2BE8F58}" presName="parentText" presStyleLbl="node1" presStyleIdx="0" presStyleCnt="1" custScaleY="48219" custLinFactNeighborY="-46844">
        <dgm:presLayoutVars>
          <dgm:chMax val="0"/>
          <dgm:bulletEnabled val="1"/>
        </dgm:presLayoutVars>
      </dgm:prSet>
      <dgm:spPr/>
    </dgm:pt>
    <dgm:pt modelId="{9A6E4683-E9EC-43A0-B66D-CB3E199D08AB}" type="pres">
      <dgm:prSet presAssocID="{EE6F49C2-8180-4711-B662-27A3B2BE8F58}" presName="childText" presStyleLbl="revTx" presStyleIdx="0" presStyleCnt="1" custScaleY="108329" custLinFactNeighborY="-32685">
        <dgm:presLayoutVars>
          <dgm:bulletEnabled val="1"/>
        </dgm:presLayoutVars>
      </dgm:prSet>
      <dgm:spPr/>
    </dgm:pt>
  </dgm:ptLst>
  <dgm:cxnLst>
    <dgm:cxn modelId="{82CD7707-12AE-4F51-92FF-560D106670DC}" type="presOf" srcId="{EE6F49C2-8180-4711-B662-27A3B2BE8F58}" destId="{03D25E11-AFA9-4FD9-8AAB-B639CEF6A002}" srcOrd="0" destOrd="0" presId="urn:microsoft.com/office/officeart/2005/8/layout/vList2"/>
    <dgm:cxn modelId="{EF3B5807-8338-4FCE-970E-2B184D66D5B4}" srcId="{1A84E33C-5949-4695-8352-0A13075407DF}" destId="{EE6F49C2-8180-4711-B662-27A3B2BE8F58}" srcOrd="0" destOrd="0" parTransId="{96E818CC-734C-42E9-B899-281421C34A29}" sibTransId="{22F56032-3B09-489A-A23B-E81D49EA0AC2}"/>
    <dgm:cxn modelId="{90B05B08-32F0-4BEE-A9F6-2D9D2E306EAB}" type="presOf" srcId="{69A66470-F711-4BB3-A539-0724E47625A5}" destId="{9A6E4683-E9EC-43A0-B66D-CB3E199D08AB}" srcOrd="0" destOrd="1" presId="urn:microsoft.com/office/officeart/2005/8/layout/vList2"/>
    <dgm:cxn modelId="{75729061-DE30-4ED3-9AFA-13B377F77DB0}" type="presOf" srcId="{1A84E33C-5949-4695-8352-0A13075407DF}" destId="{F81DBD3E-5EDF-49D1-BCEF-D22E212A9D3D}" srcOrd="0" destOrd="0" presId="urn:microsoft.com/office/officeart/2005/8/layout/vList2"/>
    <dgm:cxn modelId="{899DFBCA-DA4E-41A4-9E27-F2195144076E}" srcId="{EE6F49C2-8180-4711-B662-27A3B2BE8F58}" destId="{DDB0641F-EAB6-4C06-91F6-B8E67D5C0661}" srcOrd="0" destOrd="0" parTransId="{EFA1118A-3935-4900-8C2A-A2D21D1A9939}" sibTransId="{ACD0779A-DFD7-4175-97F0-FD0156E98999}"/>
    <dgm:cxn modelId="{E55361E0-1FD8-4D3C-A1D8-1EF72423BFB7}" srcId="{EE6F49C2-8180-4711-B662-27A3B2BE8F58}" destId="{69A66470-F711-4BB3-A539-0724E47625A5}" srcOrd="1" destOrd="0" parTransId="{3514349F-21C4-43C4-9419-6571D775A77E}" sibTransId="{F4C82665-C968-4D86-83B7-26874CFF6820}"/>
    <dgm:cxn modelId="{9B17AAE7-1EAE-4984-918A-0263D10E25D1}" type="presOf" srcId="{DDB0641F-EAB6-4C06-91F6-B8E67D5C0661}" destId="{9A6E4683-E9EC-43A0-B66D-CB3E199D08AB}" srcOrd="0" destOrd="0" presId="urn:microsoft.com/office/officeart/2005/8/layout/vList2"/>
    <dgm:cxn modelId="{782D5A6C-56A9-4220-8FB2-02BB879DB954}" type="presParOf" srcId="{F81DBD3E-5EDF-49D1-BCEF-D22E212A9D3D}" destId="{03D25E11-AFA9-4FD9-8AAB-B639CEF6A002}" srcOrd="0" destOrd="0" presId="urn:microsoft.com/office/officeart/2005/8/layout/vList2"/>
    <dgm:cxn modelId="{7B8BC3E1-3D46-4FDA-B276-2C1CD5501554}" type="presParOf" srcId="{F81DBD3E-5EDF-49D1-BCEF-D22E212A9D3D}" destId="{9A6E4683-E9EC-43A0-B66D-CB3E199D08AB}"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4.xml><?xml version="1.0" encoding="utf-8"?>
<dgm:dataModel xmlns:dgm="http://schemas.openxmlformats.org/drawingml/2006/diagram" xmlns:a="http://schemas.openxmlformats.org/drawingml/2006/main">
  <dgm:ptLst>
    <dgm:pt modelId="{5056ADB8-4ABC-4FB1-9BFB-8E592ABFC272}" type="doc">
      <dgm:prSet loTypeId="urn:microsoft.com/office/officeart/2005/8/layout/vList2" loCatId="list" qsTypeId="urn:microsoft.com/office/officeart/2005/8/quickstyle/simple1#167" qsCatId="simple" csTypeId="urn:microsoft.com/office/officeart/2005/8/colors/accent1_2#120" csCatId="accent1" phldr="1"/>
      <dgm:spPr/>
      <dgm:t>
        <a:bodyPr/>
        <a:lstStyle/>
        <a:p>
          <a:endParaRPr lang="fr-FR"/>
        </a:p>
      </dgm:t>
    </dgm:pt>
    <dgm:pt modelId="{9E39CD32-BFD1-47F3-B8B1-8C8ED8F8AA1E}" type="pres">
      <dgm:prSet presAssocID="{5056ADB8-4ABC-4FB1-9BFB-8E592ABFC272}" presName="linear" presStyleCnt="0">
        <dgm:presLayoutVars>
          <dgm:animLvl val="lvl"/>
          <dgm:resizeHandles val="exact"/>
        </dgm:presLayoutVars>
      </dgm:prSet>
      <dgm:spPr/>
    </dgm:pt>
  </dgm:ptLst>
  <dgm:cxnLst>
    <dgm:cxn modelId="{687D5212-BD46-4DD6-8407-9AB8A74ECC6A}" type="presOf" srcId="{5056ADB8-4ABC-4FB1-9BFB-8E592ABFC272}" destId="{9E39CD32-BFD1-47F3-B8B1-8C8ED8F8AA1E}"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5.xml><?xml version="1.0" encoding="utf-8"?>
<dgm:dataModel xmlns:dgm="http://schemas.openxmlformats.org/drawingml/2006/diagram" xmlns:a="http://schemas.openxmlformats.org/drawingml/2006/main">
  <dgm:ptLst>
    <dgm:pt modelId="{5056ADB8-4ABC-4FB1-9BFB-8E592ABFC272}" type="doc">
      <dgm:prSet loTypeId="urn:microsoft.com/office/officeart/2005/8/layout/vList2" loCatId="list" qsTypeId="urn:microsoft.com/office/officeart/2005/8/quickstyle/simple1#168" qsCatId="simple" csTypeId="urn:microsoft.com/office/officeart/2005/8/colors/accent1_2#121" csCatId="accent1" phldr="1"/>
      <dgm:spPr/>
      <dgm:t>
        <a:bodyPr/>
        <a:lstStyle/>
        <a:p>
          <a:endParaRPr lang="fr-FR"/>
        </a:p>
      </dgm:t>
    </dgm:pt>
    <dgm:pt modelId="{4ED3A1FF-432A-48F7-85A1-9091895502AA}">
      <dgm:prSet custT="1"/>
      <dgm:spPr/>
      <dgm:t>
        <a:bodyPr/>
        <a:lstStyle/>
        <a:p>
          <a:pPr rtl="0"/>
          <a:r>
            <a:rPr lang="fr-FR" sz="2600" b="1" baseline="0" dirty="0"/>
            <a:t>Mise à la retraite de l’ouvrier par l’employeur</a:t>
          </a:r>
          <a:endParaRPr lang="fr-FR" sz="2600" dirty="0"/>
        </a:p>
      </dgm:t>
    </dgm:pt>
    <dgm:pt modelId="{BB3A8CE0-4118-41BB-887E-E6178D0950C5}" type="parTrans" cxnId="{4F97C862-9496-443E-BCA5-C814359E2206}">
      <dgm:prSet/>
      <dgm:spPr/>
      <dgm:t>
        <a:bodyPr/>
        <a:lstStyle/>
        <a:p>
          <a:endParaRPr lang="fr-FR"/>
        </a:p>
      </dgm:t>
    </dgm:pt>
    <dgm:pt modelId="{A6E95F9B-4DAA-4CEC-895B-064201D97865}" type="sibTrans" cxnId="{4F97C862-9496-443E-BCA5-C814359E2206}">
      <dgm:prSet/>
      <dgm:spPr/>
      <dgm:t>
        <a:bodyPr/>
        <a:lstStyle/>
        <a:p>
          <a:endParaRPr lang="fr-FR"/>
        </a:p>
      </dgm:t>
    </dgm:pt>
    <dgm:pt modelId="{C9BDDD13-93F5-4826-B99A-DC483954E84B}">
      <dgm:prSet custT="1"/>
      <dgm:spPr/>
      <dgm:t>
        <a:bodyPr/>
        <a:lstStyle/>
        <a:p>
          <a:pPr rtl="0">
            <a:buClr>
              <a:schemeClr val="accent1"/>
            </a:buClr>
            <a:buFont typeface="Wingdings" panose="05000000000000000000" pitchFamily="2" charset="2"/>
            <a:buChar char="§"/>
          </a:pPr>
          <a:r>
            <a:rPr lang="fr-FR" sz="2000" b="1" baseline="0" dirty="0"/>
            <a:t>BTP-Prévoyance (PRO-BTP) se substitue pour les ouvriers au dernier employeur affilié à cette caisse et verse l’indemnité de mise à la retraite</a:t>
          </a:r>
          <a:endParaRPr lang="fr-FR" sz="2000" dirty="0"/>
        </a:p>
      </dgm:t>
    </dgm:pt>
    <dgm:pt modelId="{F6183F8B-EF2C-481E-A633-1BE55D3AC582}" type="parTrans" cxnId="{80113230-C7BC-4D0F-91B6-0CCF2A3CE60D}">
      <dgm:prSet/>
      <dgm:spPr/>
      <dgm:t>
        <a:bodyPr/>
        <a:lstStyle/>
        <a:p>
          <a:endParaRPr lang="fr-FR"/>
        </a:p>
      </dgm:t>
    </dgm:pt>
    <dgm:pt modelId="{2AB1B148-026F-4D59-84E6-EECFE04EAB49}" type="sibTrans" cxnId="{80113230-C7BC-4D0F-91B6-0CCF2A3CE60D}">
      <dgm:prSet/>
      <dgm:spPr/>
      <dgm:t>
        <a:bodyPr/>
        <a:lstStyle/>
        <a:p>
          <a:endParaRPr lang="fr-FR"/>
        </a:p>
      </dgm:t>
    </dgm:pt>
    <dgm:pt modelId="{9E39CD32-BFD1-47F3-B8B1-8C8ED8F8AA1E}" type="pres">
      <dgm:prSet presAssocID="{5056ADB8-4ABC-4FB1-9BFB-8E592ABFC272}" presName="linear" presStyleCnt="0">
        <dgm:presLayoutVars>
          <dgm:animLvl val="lvl"/>
          <dgm:resizeHandles val="exact"/>
        </dgm:presLayoutVars>
      </dgm:prSet>
      <dgm:spPr/>
    </dgm:pt>
    <dgm:pt modelId="{BE0BB428-4549-4154-AC7A-734C32CD6A2C}" type="pres">
      <dgm:prSet presAssocID="{4ED3A1FF-432A-48F7-85A1-9091895502AA}" presName="parentText" presStyleLbl="node1" presStyleIdx="0" presStyleCnt="1" custScaleY="48584" custLinFactNeighborY="-54121">
        <dgm:presLayoutVars>
          <dgm:chMax val="0"/>
          <dgm:bulletEnabled val="1"/>
        </dgm:presLayoutVars>
      </dgm:prSet>
      <dgm:spPr/>
    </dgm:pt>
    <dgm:pt modelId="{1028D588-9945-45B0-AFBC-829FD9E1E013}" type="pres">
      <dgm:prSet presAssocID="{4ED3A1FF-432A-48F7-85A1-9091895502AA}" presName="childText" presStyleLbl="revTx" presStyleIdx="0" presStyleCnt="1" custLinFactNeighborY="-43938">
        <dgm:presLayoutVars>
          <dgm:bulletEnabled val="1"/>
        </dgm:presLayoutVars>
      </dgm:prSet>
      <dgm:spPr/>
    </dgm:pt>
  </dgm:ptLst>
  <dgm:cxnLst>
    <dgm:cxn modelId="{80113230-C7BC-4D0F-91B6-0CCF2A3CE60D}" srcId="{4ED3A1FF-432A-48F7-85A1-9091895502AA}" destId="{C9BDDD13-93F5-4826-B99A-DC483954E84B}" srcOrd="0" destOrd="0" parTransId="{F6183F8B-EF2C-481E-A633-1BE55D3AC582}" sibTransId="{2AB1B148-026F-4D59-84E6-EECFE04EAB49}"/>
    <dgm:cxn modelId="{4F97C862-9496-443E-BCA5-C814359E2206}" srcId="{5056ADB8-4ABC-4FB1-9BFB-8E592ABFC272}" destId="{4ED3A1FF-432A-48F7-85A1-9091895502AA}" srcOrd="0" destOrd="0" parTransId="{BB3A8CE0-4118-41BB-887E-E6178D0950C5}" sibTransId="{A6E95F9B-4DAA-4CEC-895B-064201D97865}"/>
    <dgm:cxn modelId="{859FC469-28D8-4189-B906-545A323E1739}" type="presOf" srcId="{C9BDDD13-93F5-4826-B99A-DC483954E84B}" destId="{1028D588-9945-45B0-AFBC-829FD9E1E013}" srcOrd="0" destOrd="0" presId="urn:microsoft.com/office/officeart/2005/8/layout/vList2"/>
    <dgm:cxn modelId="{84AE1D6A-1754-43F4-B86B-CE743E66151B}" type="presOf" srcId="{4ED3A1FF-432A-48F7-85A1-9091895502AA}" destId="{BE0BB428-4549-4154-AC7A-734C32CD6A2C}" srcOrd="0" destOrd="0" presId="urn:microsoft.com/office/officeart/2005/8/layout/vList2"/>
    <dgm:cxn modelId="{7F18ADB0-A0C6-41B9-AB9B-4EC60B0332CA}" type="presOf" srcId="{5056ADB8-4ABC-4FB1-9BFB-8E592ABFC272}" destId="{9E39CD32-BFD1-47F3-B8B1-8C8ED8F8AA1E}" srcOrd="0" destOrd="0" presId="urn:microsoft.com/office/officeart/2005/8/layout/vList2"/>
    <dgm:cxn modelId="{7C3E4853-30D7-4538-8E62-E51FF5C96A5F}" type="presParOf" srcId="{9E39CD32-BFD1-47F3-B8B1-8C8ED8F8AA1E}" destId="{BE0BB428-4549-4154-AC7A-734C32CD6A2C}" srcOrd="0" destOrd="0" presId="urn:microsoft.com/office/officeart/2005/8/layout/vList2"/>
    <dgm:cxn modelId="{A7A0E034-59C6-48A6-9B3B-02491848DE48}" type="presParOf" srcId="{9E39CD32-BFD1-47F3-B8B1-8C8ED8F8AA1E}" destId="{1028D588-9945-45B0-AFBC-829FD9E1E013}"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6.xml><?xml version="1.0" encoding="utf-8"?>
<dgm:dataModel xmlns:dgm="http://schemas.openxmlformats.org/drawingml/2006/diagram" xmlns:a="http://schemas.openxmlformats.org/drawingml/2006/main">
  <dgm:ptLst>
    <dgm:pt modelId="{5056ADB8-4ABC-4FB1-9BFB-8E592ABFC272}" type="doc">
      <dgm:prSet loTypeId="urn:microsoft.com/office/officeart/2005/8/layout/vList2" loCatId="list" qsTypeId="urn:microsoft.com/office/officeart/2005/8/quickstyle/simple1#169" qsCatId="simple" csTypeId="urn:microsoft.com/office/officeart/2005/8/colors/accent1_2#122" csCatId="accent1" phldr="1"/>
      <dgm:spPr/>
      <dgm:t>
        <a:bodyPr/>
        <a:lstStyle/>
        <a:p>
          <a:endParaRPr lang="fr-FR"/>
        </a:p>
      </dgm:t>
    </dgm:pt>
    <dgm:pt modelId="{4ED3A1FF-432A-48F7-85A1-9091895502AA}">
      <dgm:prSet custT="1"/>
      <dgm:spPr/>
      <dgm:t>
        <a:bodyPr/>
        <a:lstStyle/>
        <a:p>
          <a:pPr rtl="0"/>
          <a:r>
            <a:rPr lang="fr-FR" sz="2600" b="1" baseline="0" dirty="0"/>
            <a:t>Mise à la retraite de l’ouvrier par l’employeur</a:t>
          </a:r>
          <a:endParaRPr lang="fr-FR" sz="2600" dirty="0"/>
        </a:p>
      </dgm:t>
    </dgm:pt>
    <dgm:pt modelId="{BB3A8CE0-4118-41BB-887E-E6178D0950C5}" type="parTrans" cxnId="{4F97C862-9496-443E-BCA5-C814359E2206}">
      <dgm:prSet/>
      <dgm:spPr/>
      <dgm:t>
        <a:bodyPr/>
        <a:lstStyle/>
        <a:p>
          <a:endParaRPr lang="fr-FR"/>
        </a:p>
      </dgm:t>
    </dgm:pt>
    <dgm:pt modelId="{A6E95F9B-4DAA-4CEC-895B-064201D97865}" type="sibTrans" cxnId="{4F97C862-9496-443E-BCA5-C814359E2206}">
      <dgm:prSet/>
      <dgm:spPr/>
      <dgm:t>
        <a:bodyPr/>
        <a:lstStyle/>
        <a:p>
          <a:endParaRPr lang="fr-FR"/>
        </a:p>
      </dgm:t>
    </dgm:pt>
    <dgm:pt modelId="{C9BDDD13-93F5-4826-B99A-DC483954E84B}">
      <dgm:prSet custT="1"/>
      <dgm:spPr/>
      <dgm:t>
        <a:bodyPr/>
        <a:lstStyle/>
        <a:p>
          <a:pPr rtl="0">
            <a:buClr>
              <a:schemeClr val="accent1"/>
            </a:buClr>
            <a:buFont typeface="Wingdings" panose="05000000000000000000" pitchFamily="2" charset="2"/>
            <a:buChar char="§"/>
          </a:pPr>
          <a:r>
            <a:rPr lang="fr-FR" sz="2000" b="1" baseline="0" dirty="0"/>
            <a:t>BTP-Prévoyance (PRO-BTP) se substitue pour les ouvriers au dernier employeur affilié à cette caisse et verse l’indemnité </a:t>
          </a:r>
          <a:br>
            <a:rPr lang="fr-FR" sz="2000" b="1" baseline="0" dirty="0"/>
          </a:br>
          <a:r>
            <a:rPr lang="fr-FR" sz="2000" b="1" baseline="0" dirty="0"/>
            <a:t>de mise à la retraite</a:t>
          </a:r>
          <a:endParaRPr lang="fr-FR" sz="2000" dirty="0"/>
        </a:p>
      </dgm:t>
    </dgm:pt>
    <dgm:pt modelId="{F6183F8B-EF2C-481E-A633-1BE55D3AC582}" type="parTrans" cxnId="{80113230-C7BC-4D0F-91B6-0CCF2A3CE60D}">
      <dgm:prSet/>
      <dgm:spPr/>
      <dgm:t>
        <a:bodyPr/>
        <a:lstStyle/>
        <a:p>
          <a:endParaRPr lang="fr-FR"/>
        </a:p>
      </dgm:t>
    </dgm:pt>
    <dgm:pt modelId="{2AB1B148-026F-4D59-84E6-EECFE04EAB49}" type="sibTrans" cxnId="{80113230-C7BC-4D0F-91B6-0CCF2A3CE60D}">
      <dgm:prSet/>
      <dgm:spPr/>
      <dgm:t>
        <a:bodyPr/>
        <a:lstStyle/>
        <a:p>
          <a:endParaRPr lang="fr-FR"/>
        </a:p>
      </dgm:t>
    </dgm:pt>
    <dgm:pt modelId="{9E39CD32-BFD1-47F3-B8B1-8C8ED8F8AA1E}" type="pres">
      <dgm:prSet presAssocID="{5056ADB8-4ABC-4FB1-9BFB-8E592ABFC272}" presName="linear" presStyleCnt="0">
        <dgm:presLayoutVars>
          <dgm:animLvl val="lvl"/>
          <dgm:resizeHandles val="exact"/>
        </dgm:presLayoutVars>
      </dgm:prSet>
      <dgm:spPr/>
    </dgm:pt>
    <dgm:pt modelId="{BE0BB428-4549-4154-AC7A-734C32CD6A2C}" type="pres">
      <dgm:prSet presAssocID="{4ED3A1FF-432A-48F7-85A1-9091895502AA}" presName="parentText" presStyleLbl="node1" presStyleIdx="0" presStyleCnt="1" custScaleY="48584" custLinFactNeighborY="-54121">
        <dgm:presLayoutVars>
          <dgm:chMax val="0"/>
          <dgm:bulletEnabled val="1"/>
        </dgm:presLayoutVars>
      </dgm:prSet>
      <dgm:spPr/>
    </dgm:pt>
    <dgm:pt modelId="{1028D588-9945-45B0-AFBC-829FD9E1E013}" type="pres">
      <dgm:prSet presAssocID="{4ED3A1FF-432A-48F7-85A1-9091895502AA}" presName="childText" presStyleLbl="revTx" presStyleIdx="0" presStyleCnt="1" custLinFactNeighborY="-43938">
        <dgm:presLayoutVars>
          <dgm:bulletEnabled val="1"/>
        </dgm:presLayoutVars>
      </dgm:prSet>
      <dgm:spPr/>
    </dgm:pt>
  </dgm:ptLst>
  <dgm:cxnLst>
    <dgm:cxn modelId="{80113230-C7BC-4D0F-91B6-0CCF2A3CE60D}" srcId="{4ED3A1FF-432A-48F7-85A1-9091895502AA}" destId="{C9BDDD13-93F5-4826-B99A-DC483954E84B}" srcOrd="0" destOrd="0" parTransId="{F6183F8B-EF2C-481E-A633-1BE55D3AC582}" sibTransId="{2AB1B148-026F-4D59-84E6-EECFE04EAB49}"/>
    <dgm:cxn modelId="{4F97C862-9496-443E-BCA5-C814359E2206}" srcId="{5056ADB8-4ABC-4FB1-9BFB-8E592ABFC272}" destId="{4ED3A1FF-432A-48F7-85A1-9091895502AA}" srcOrd="0" destOrd="0" parTransId="{BB3A8CE0-4118-41BB-887E-E6178D0950C5}" sibTransId="{A6E95F9B-4DAA-4CEC-895B-064201D97865}"/>
    <dgm:cxn modelId="{7FDD8968-0725-4ECB-9843-7A7AD7565CE7}" type="presOf" srcId="{4ED3A1FF-432A-48F7-85A1-9091895502AA}" destId="{BE0BB428-4549-4154-AC7A-734C32CD6A2C}" srcOrd="0" destOrd="0" presId="urn:microsoft.com/office/officeart/2005/8/layout/vList2"/>
    <dgm:cxn modelId="{65D619CF-4D94-400D-B28D-4928AB126583}" type="presOf" srcId="{5056ADB8-4ABC-4FB1-9BFB-8E592ABFC272}" destId="{9E39CD32-BFD1-47F3-B8B1-8C8ED8F8AA1E}" srcOrd="0" destOrd="0" presId="urn:microsoft.com/office/officeart/2005/8/layout/vList2"/>
    <dgm:cxn modelId="{B43C02E1-2D81-44BE-9366-595E94E62CE4}" type="presOf" srcId="{C9BDDD13-93F5-4826-B99A-DC483954E84B}" destId="{1028D588-9945-45B0-AFBC-829FD9E1E013}" srcOrd="0" destOrd="0" presId="urn:microsoft.com/office/officeart/2005/8/layout/vList2"/>
    <dgm:cxn modelId="{C15B2D05-7906-40D4-93C3-0224EDE20F74}" type="presParOf" srcId="{9E39CD32-BFD1-47F3-B8B1-8C8ED8F8AA1E}" destId="{BE0BB428-4549-4154-AC7A-734C32CD6A2C}" srcOrd="0" destOrd="0" presId="urn:microsoft.com/office/officeart/2005/8/layout/vList2"/>
    <dgm:cxn modelId="{4D423D86-A0C3-45A2-B5E7-B9FA22ABC3F3}" type="presParOf" srcId="{9E39CD32-BFD1-47F3-B8B1-8C8ED8F8AA1E}" destId="{1028D588-9945-45B0-AFBC-829FD9E1E013}"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0C3C11-A649-432C-8B5F-999E075A085B}">
      <dsp:nvSpPr>
        <dsp:cNvPr id="0" name=""/>
        <dsp:cNvSpPr/>
      </dsp:nvSpPr>
      <dsp:spPr>
        <a:xfrm>
          <a:off x="6853" y="-367796"/>
          <a:ext cx="2477400" cy="779946"/>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fr-FR" sz="1600" kern="1200" dirty="0"/>
            <a:t>Bloc 1 - Domaines réservés</a:t>
          </a:r>
          <a:br>
            <a:rPr lang="fr-FR" sz="1600" kern="1200" dirty="0"/>
          </a:br>
          <a:r>
            <a:rPr lang="fr-FR" sz="1600" kern="1200" dirty="0"/>
            <a:t>à la branche</a:t>
          </a:r>
        </a:p>
      </dsp:txBody>
      <dsp:txXfrm>
        <a:off x="6853" y="-367796"/>
        <a:ext cx="2477400" cy="779946"/>
      </dsp:txXfrm>
    </dsp:sp>
    <dsp:sp modelId="{78B40F22-4B03-4434-AC04-67E6ED390309}">
      <dsp:nvSpPr>
        <dsp:cNvPr id="0" name=""/>
        <dsp:cNvSpPr/>
      </dsp:nvSpPr>
      <dsp:spPr>
        <a:xfrm>
          <a:off x="6853" y="412150"/>
          <a:ext cx="2477400" cy="2250899"/>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9342" tIns="69342" rIns="92456" bIns="104013" numCol="1" spcCol="1270" anchor="t" anchorCtr="0">
          <a:noAutofit/>
        </a:bodyPr>
        <a:lstStyle/>
        <a:p>
          <a:pPr marL="114300" lvl="1" indent="-114300" algn="l" defTabSz="577850">
            <a:lnSpc>
              <a:spcPct val="90000"/>
            </a:lnSpc>
            <a:spcBef>
              <a:spcPct val="0"/>
            </a:spcBef>
            <a:spcAft>
              <a:spcPct val="15000"/>
            </a:spcAft>
            <a:buFont typeface="Wingdings" panose="05000000000000000000" pitchFamily="2" charset="2"/>
            <a:buChar char="§"/>
          </a:pPr>
          <a:r>
            <a:rPr lang="fr-FR" sz="1300" i="1" kern="1200" dirty="0"/>
            <a:t>Salaires minima</a:t>
          </a:r>
          <a:endParaRPr lang="fr-FR" sz="1300" kern="1200" dirty="0"/>
        </a:p>
        <a:p>
          <a:pPr marL="114300" lvl="1" indent="-114300" algn="l" defTabSz="577850">
            <a:lnSpc>
              <a:spcPct val="90000"/>
            </a:lnSpc>
            <a:spcBef>
              <a:spcPct val="0"/>
            </a:spcBef>
            <a:spcAft>
              <a:spcPct val="15000"/>
            </a:spcAft>
            <a:buFont typeface="Wingdings" panose="05000000000000000000" pitchFamily="2" charset="2"/>
            <a:buChar char="§"/>
          </a:pPr>
          <a:r>
            <a:rPr lang="fr-FR" sz="1300" i="1" kern="1200" dirty="0"/>
            <a:t>Classifications</a:t>
          </a:r>
        </a:p>
        <a:p>
          <a:pPr marL="114300" lvl="1" indent="-114300" algn="l" defTabSz="577850">
            <a:lnSpc>
              <a:spcPct val="90000"/>
            </a:lnSpc>
            <a:spcBef>
              <a:spcPct val="0"/>
            </a:spcBef>
            <a:spcAft>
              <a:spcPct val="15000"/>
            </a:spcAft>
            <a:buFont typeface="Wingdings" panose="05000000000000000000" pitchFamily="2" charset="2"/>
            <a:buChar char="§"/>
          </a:pPr>
          <a:r>
            <a:rPr lang="fr-FR" sz="1300" i="1" kern="1200" dirty="0"/>
            <a:t>Garanties collectives complémentaires</a:t>
          </a:r>
        </a:p>
        <a:p>
          <a:pPr marL="114300" lvl="1" indent="-114300" algn="l" defTabSz="577850">
            <a:lnSpc>
              <a:spcPct val="90000"/>
            </a:lnSpc>
            <a:spcBef>
              <a:spcPct val="0"/>
            </a:spcBef>
            <a:spcAft>
              <a:spcPct val="15000"/>
            </a:spcAft>
            <a:buFont typeface="Wingdings" panose="05000000000000000000" pitchFamily="2" charset="2"/>
            <a:buChar char="§"/>
          </a:pPr>
          <a:r>
            <a:rPr lang="fr-FR" sz="1300" i="1" kern="1200" dirty="0"/>
            <a:t>CDD et contrat de travail temporaire</a:t>
          </a:r>
        </a:p>
        <a:p>
          <a:pPr marL="114300" lvl="1" indent="-114300" algn="l" defTabSz="577850">
            <a:lnSpc>
              <a:spcPct val="90000"/>
            </a:lnSpc>
            <a:spcBef>
              <a:spcPct val="0"/>
            </a:spcBef>
            <a:spcAft>
              <a:spcPct val="15000"/>
            </a:spcAft>
            <a:buFont typeface="Wingdings" panose="05000000000000000000" pitchFamily="2" charset="2"/>
            <a:buChar char="§"/>
          </a:pPr>
          <a:r>
            <a:rPr lang="fr-FR" sz="1300" i="1" kern="1200" dirty="0"/>
            <a:t>CDI de chantier ou d’opération</a:t>
          </a:r>
        </a:p>
        <a:p>
          <a:pPr marL="114300" lvl="1" indent="-114300" algn="l" defTabSz="577850">
            <a:lnSpc>
              <a:spcPct val="90000"/>
            </a:lnSpc>
            <a:spcBef>
              <a:spcPct val="0"/>
            </a:spcBef>
            <a:spcAft>
              <a:spcPct val="15000"/>
            </a:spcAft>
            <a:buFont typeface="Wingdings" panose="05000000000000000000" pitchFamily="2" charset="2"/>
            <a:buChar char="§"/>
          </a:pPr>
          <a:r>
            <a:rPr lang="fr-FR" sz="1300" i="1" kern="1200" dirty="0"/>
            <a:t>Période d’essai</a:t>
          </a:r>
        </a:p>
        <a:p>
          <a:pPr marL="114300" lvl="1" indent="-114300" algn="l" defTabSz="577850">
            <a:lnSpc>
              <a:spcPct val="90000"/>
            </a:lnSpc>
            <a:spcBef>
              <a:spcPct val="0"/>
            </a:spcBef>
            <a:spcAft>
              <a:spcPct val="15000"/>
            </a:spcAft>
            <a:buFont typeface="Wingdings" panose="05000000000000000000" pitchFamily="2" charset="2"/>
            <a:buChar char="§"/>
          </a:pPr>
          <a:r>
            <a:rPr lang="fr-FR" sz="1300" i="1" kern="1200" dirty="0"/>
            <a:t>Quelques dispositions sur le temps partiel… </a:t>
          </a:r>
        </a:p>
      </dsp:txBody>
      <dsp:txXfrm>
        <a:off x="6853" y="412150"/>
        <a:ext cx="2477400" cy="2250899"/>
      </dsp:txXfrm>
    </dsp:sp>
    <dsp:sp modelId="{686DF497-959B-40F4-8EE0-A0158CD51B75}">
      <dsp:nvSpPr>
        <dsp:cNvPr id="0" name=""/>
        <dsp:cNvSpPr/>
      </dsp:nvSpPr>
      <dsp:spPr>
        <a:xfrm>
          <a:off x="2830751" y="-367796"/>
          <a:ext cx="2477400" cy="779946"/>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fr-FR" sz="1600" kern="1200" dirty="0"/>
            <a:t>Bloc 2 - Clause de verrouillage possible</a:t>
          </a:r>
        </a:p>
      </dsp:txBody>
      <dsp:txXfrm>
        <a:off x="2830751" y="-367796"/>
        <a:ext cx="2477400" cy="779946"/>
      </dsp:txXfrm>
    </dsp:sp>
    <dsp:sp modelId="{AAEEFF55-E07F-46CB-8C79-E7B24378BFBB}">
      <dsp:nvSpPr>
        <dsp:cNvPr id="0" name=""/>
        <dsp:cNvSpPr/>
      </dsp:nvSpPr>
      <dsp:spPr>
        <a:xfrm>
          <a:off x="2830751" y="412150"/>
          <a:ext cx="2477400" cy="2250899"/>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9342" tIns="69342" rIns="92456" bIns="104013" numCol="1" spcCol="1270" anchor="t" anchorCtr="0">
          <a:noAutofit/>
        </a:bodyPr>
        <a:lstStyle/>
        <a:p>
          <a:pPr marL="114300" lvl="1" indent="-114300" algn="l" defTabSz="577850">
            <a:lnSpc>
              <a:spcPct val="90000"/>
            </a:lnSpc>
            <a:spcBef>
              <a:spcPct val="0"/>
            </a:spcBef>
            <a:spcAft>
              <a:spcPct val="15000"/>
            </a:spcAft>
            <a:buFont typeface="Wingdings" panose="05000000000000000000" pitchFamily="2" charset="2"/>
            <a:buChar char="§"/>
          </a:pPr>
          <a:r>
            <a:rPr lang="fr-FR" sz="1300" i="1" kern="1200" dirty="0"/>
            <a:t>Primes pour travaux dangereux ou insalubres</a:t>
          </a:r>
          <a:endParaRPr lang="fr-FR" sz="1300" kern="1200" dirty="0"/>
        </a:p>
        <a:p>
          <a:pPr marL="114300" lvl="1" indent="-114300" algn="l" defTabSz="577850">
            <a:lnSpc>
              <a:spcPct val="90000"/>
            </a:lnSpc>
            <a:spcBef>
              <a:spcPct val="0"/>
            </a:spcBef>
            <a:spcAft>
              <a:spcPct val="15000"/>
            </a:spcAft>
            <a:buFont typeface="Wingdings" panose="05000000000000000000" pitchFamily="2" charset="2"/>
            <a:buChar char="§"/>
          </a:pPr>
          <a:r>
            <a:rPr lang="fr-FR" sz="1300" i="1" kern="1200" dirty="0"/>
            <a:t>Prévention des risques professionnels</a:t>
          </a:r>
        </a:p>
        <a:p>
          <a:pPr marL="114300" lvl="1" indent="-114300" algn="l" defTabSz="577850">
            <a:lnSpc>
              <a:spcPct val="90000"/>
            </a:lnSpc>
            <a:spcBef>
              <a:spcPct val="0"/>
            </a:spcBef>
            <a:spcAft>
              <a:spcPct val="15000"/>
            </a:spcAft>
            <a:buFont typeface="Wingdings" panose="05000000000000000000" pitchFamily="2" charset="2"/>
            <a:buChar char="§"/>
          </a:pPr>
          <a:r>
            <a:rPr lang="fr-FR" sz="1300" i="1" kern="1200" dirty="0"/>
            <a:t>Délégués syndicaux</a:t>
          </a:r>
        </a:p>
        <a:p>
          <a:pPr marL="114300" lvl="1" indent="-114300" algn="l" defTabSz="577850">
            <a:lnSpc>
              <a:spcPct val="90000"/>
            </a:lnSpc>
            <a:spcBef>
              <a:spcPct val="0"/>
            </a:spcBef>
            <a:spcAft>
              <a:spcPct val="15000"/>
            </a:spcAft>
            <a:buFont typeface="Wingdings" panose="05000000000000000000" pitchFamily="2" charset="2"/>
            <a:buChar char="§"/>
          </a:pPr>
          <a:r>
            <a:rPr lang="fr-FR" sz="1300" i="1" kern="1200" dirty="0"/>
            <a:t>Travailleurs handicapés</a:t>
          </a:r>
        </a:p>
        <a:p>
          <a:pPr marL="114300" lvl="1" indent="-114300" algn="l" defTabSz="577850">
            <a:lnSpc>
              <a:spcPct val="90000"/>
            </a:lnSpc>
            <a:spcBef>
              <a:spcPct val="0"/>
            </a:spcBef>
            <a:spcAft>
              <a:spcPct val="15000"/>
            </a:spcAft>
            <a:buFont typeface="Wingdings" panose="05000000000000000000" pitchFamily="2" charset="2"/>
            <a:buChar char="§"/>
          </a:pPr>
          <a:endParaRPr lang="fr-FR" sz="1300" i="1" kern="1200" dirty="0"/>
        </a:p>
        <a:p>
          <a:pPr marL="114300" lvl="1" indent="-114300" algn="l" defTabSz="577850">
            <a:lnSpc>
              <a:spcPct val="90000"/>
            </a:lnSpc>
            <a:spcBef>
              <a:spcPct val="0"/>
            </a:spcBef>
            <a:spcAft>
              <a:spcPct val="15000"/>
            </a:spcAft>
            <a:buFont typeface="Wingdings" panose="05000000000000000000" pitchFamily="2" charset="2"/>
            <a:buChar char="§"/>
          </a:pPr>
          <a:r>
            <a:rPr lang="fr-FR" sz="1300" i="1" kern="1200" dirty="0"/>
            <a:t>Les conventions collectives de bâtiment n’ont pas interdit de faire des accords d’entreprise dérogatoire</a:t>
          </a:r>
        </a:p>
      </dsp:txBody>
      <dsp:txXfrm>
        <a:off x="2830751" y="412150"/>
        <a:ext cx="2477400" cy="2250899"/>
      </dsp:txXfrm>
    </dsp:sp>
    <dsp:sp modelId="{5C9193F5-2819-4823-AD08-A815FD3E9205}">
      <dsp:nvSpPr>
        <dsp:cNvPr id="0" name=""/>
        <dsp:cNvSpPr/>
      </dsp:nvSpPr>
      <dsp:spPr>
        <a:xfrm>
          <a:off x="5654649" y="-367796"/>
          <a:ext cx="2477400" cy="779946"/>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fr-FR" sz="1600" kern="1200" dirty="0"/>
            <a:t>Bloc 2 - L’accord de branche prime</a:t>
          </a:r>
        </a:p>
      </dsp:txBody>
      <dsp:txXfrm>
        <a:off x="5654649" y="-367796"/>
        <a:ext cx="2477400" cy="779946"/>
      </dsp:txXfrm>
    </dsp:sp>
    <dsp:sp modelId="{52252796-28CF-4D3A-AC0F-FC9883841605}">
      <dsp:nvSpPr>
        <dsp:cNvPr id="0" name=""/>
        <dsp:cNvSpPr/>
      </dsp:nvSpPr>
      <dsp:spPr>
        <a:xfrm>
          <a:off x="5654649" y="412150"/>
          <a:ext cx="2477400" cy="2250899"/>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9342" tIns="69342" rIns="92456" bIns="104013" numCol="1" spcCol="1270" anchor="t" anchorCtr="0">
          <a:noAutofit/>
        </a:bodyPr>
        <a:lstStyle/>
        <a:p>
          <a:pPr marL="114300" lvl="1" indent="-114300" algn="l" defTabSz="577850">
            <a:lnSpc>
              <a:spcPct val="90000"/>
            </a:lnSpc>
            <a:spcBef>
              <a:spcPct val="0"/>
            </a:spcBef>
            <a:spcAft>
              <a:spcPct val="15000"/>
            </a:spcAft>
            <a:buFont typeface="Wingdings" panose="05000000000000000000" pitchFamily="2" charset="2"/>
            <a:buChar char="§"/>
          </a:pPr>
          <a:r>
            <a:rPr lang="fr-FR" sz="1300" i="1" kern="1200" dirty="0"/>
            <a:t>Durée du travail</a:t>
          </a:r>
          <a:endParaRPr lang="fr-FR" sz="1300" kern="1200" dirty="0"/>
        </a:p>
        <a:p>
          <a:pPr marL="114300" lvl="1" indent="-114300" algn="l" defTabSz="577850">
            <a:lnSpc>
              <a:spcPct val="90000"/>
            </a:lnSpc>
            <a:spcBef>
              <a:spcPct val="0"/>
            </a:spcBef>
            <a:spcAft>
              <a:spcPct val="15000"/>
            </a:spcAft>
            <a:buFont typeface="Wingdings" panose="05000000000000000000" pitchFamily="2" charset="2"/>
            <a:buChar char="§"/>
          </a:pPr>
          <a:r>
            <a:rPr lang="fr-FR" sz="1300" i="1" kern="1200" dirty="0"/>
            <a:t>13</a:t>
          </a:r>
          <a:r>
            <a:rPr lang="fr-FR" sz="1300" i="1" kern="1200" baseline="30000" dirty="0"/>
            <a:t>e</a:t>
          </a:r>
          <a:r>
            <a:rPr lang="fr-FR" sz="1300" i="1" kern="1200" dirty="0"/>
            <a:t> mois</a:t>
          </a:r>
        </a:p>
        <a:p>
          <a:pPr marL="114300" lvl="1" indent="-114300" algn="l" defTabSz="577850">
            <a:lnSpc>
              <a:spcPct val="90000"/>
            </a:lnSpc>
            <a:spcBef>
              <a:spcPct val="0"/>
            </a:spcBef>
            <a:spcAft>
              <a:spcPct val="15000"/>
            </a:spcAft>
            <a:buFont typeface="Wingdings" panose="05000000000000000000" pitchFamily="2" charset="2"/>
            <a:buChar char="§"/>
          </a:pPr>
          <a:r>
            <a:rPr lang="fr-FR" sz="1300" i="1" kern="1200" dirty="0"/>
            <a:t>Indemnité de rupture, préavis…</a:t>
          </a:r>
        </a:p>
      </dsp:txBody>
      <dsp:txXfrm>
        <a:off x="5654649" y="412150"/>
        <a:ext cx="2477400" cy="225089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EE68D8-BB2B-4FBC-AAD8-D5E654FFC7E1}">
      <dsp:nvSpPr>
        <dsp:cNvPr id="0" name=""/>
        <dsp:cNvSpPr/>
      </dsp:nvSpPr>
      <dsp:spPr>
        <a:xfrm>
          <a:off x="0" y="465186"/>
          <a:ext cx="8447048" cy="1009022"/>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rtl="0">
            <a:lnSpc>
              <a:spcPct val="90000"/>
            </a:lnSpc>
            <a:spcBef>
              <a:spcPct val="0"/>
            </a:spcBef>
            <a:spcAft>
              <a:spcPct val="35000"/>
            </a:spcAft>
            <a:buNone/>
          </a:pPr>
          <a:r>
            <a:rPr lang="fr-FR" sz="2000" b="1" kern="1200" baseline="0" dirty="0"/>
            <a:t>Comme les dispositions des deux Conventions Collectives Nationales du 7 mars 2018 pouvaient être appliquées entre le 1</a:t>
          </a:r>
          <a:r>
            <a:rPr lang="fr-FR" sz="2000" b="1" kern="1200" baseline="30000" dirty="0"/>
            <a:t>er</a:t>
          </a:r>
          <a:r>
            <a:rPr lang="fr-FR" sz="2000" b="1" kern="1200" baseline="0" dirty="0"/>
            <a:t> juillet 2018 </a:t>
          </a:r>
          <a:br>
            <a:rPr lang="fr-FR" sz="2000" b="1" kern="1200" baseline="0" dirty="0"/>
          </a:br>
          <a:r>
            <a:rPr lang="fr-FR" sz="2000" b="1" kern="1200" baseline="0" dirty="0"/>
            <a:t>et 24 février 2019, il est possible de retrouver ces dispositions dans</a:t>
          </a:r>
          <a:endParaRPr lang="fr-FR" sz="2000" kern="1200" dirty="0"/>
        </a:p>
      </dsp:txBody>
      <dsp:txXfrm>
        <a:off x="29553" y="494739"/>
        <a:ext cx="8387942" cy="949916"/>
      </dsp:txXfrm>
    </dsp:sp>
    <dsp:sp modelId="{CC48D553-3B7A-479C-962D-69EBBF85B1B9}">
      <dsp:nvSpPr>
        <dsp:cNvPr id="0" name=""/>
        <dsp:cNvSpPr/>
      </dsp:nvSpPr>
      <dsp:spPr>
        <a:xfrm>
          <a:off x="844704" y="1474208"/>
          <a:ext cx="847105" cy="706234"/>
        </a:xfrm>
        <a:custGeom>
          <a:avLst/>
          <a:gdLst/>
          <a:ahLst/>
          <a:cxnLst/>
          <a:rect l="0" t="0" r="0" b="0"/>
          <a:pathLst>
            <a:path>
              <a:moveTo>
                <a:pt x="0" y="0"/>
              </a:moveTo>
              <a:lnTo>
                <a:pt x="0" y="706234"/>
              </a:lnTo>
              <a:lnTo>
                <a:pt x="847105" y="706234"/>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2064739-CC5E-48F8-A728-E37A6BFD15A1}">
      <dsp:nvSpPr>
        <dsp:cNvPr id="0" name=""/>
        <dsp:cNvSpPr/>
      </dsp:nvSpPr>
      <dsp:spPr>
        <a:xfrm>
          <a:off x="1691810" y="1675932"/>
          <a:ext cx="5043447" cy="1009022"/>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38100" rIns="57150" bIns="38100" numCol="1" spcCol="1270" anchor="ctr" anchorCtr="0">
          <a:noAutofit/>
        </a:bodyPr>
        <a:lstStyle/>
        <a:p>
          <a:pPr marL="0" lvl="0" indent="0" algn="ctr" defTabSz="1333500" rtl="0">
            <a:lnSpc>
              <a:spcPct val="90000"/>
            </a:lnSpc>
            <a:spcBef>
              <a:spcPct val="0"/>
            </a:spcBef>
            <a:spcAft>
              <a:spcPct val="35000"/>
            </a:spcAft>
            <a:buNone/>
          </a:pPr>
          <a:r>
            <a:rPr lang="fr-FR" sz="3000" b="1" kern="1200" baseline="0" dirty="0"/>
            <a:t> Les dernières diapositives de cette animation</a:t>
          </a:r>
          <a:endParaRPr lang="fr-FR" sz="3000" kern="1200" dirty="0"/>
        </a:p>
      </dsp:txBody>
      <dsp:txXfrm>
        <a:off x="1721363" y="1705485"/>
        <a:ext cx="4984341" cy="94991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8CB544-81E9-4884-8DA9-6D5418EA9718}">
      <dsp:nvSpPr>
        <dsp:cNvPr id="0" name=""/>
        <dsp:cNvSpPr/>
      </dsp:nvSpPr>
      <dsp:spPr>
        <a:xfrm>
          <a:off x="2447957" y="161"/>
          <a:ext cx="3555935" cy="3099286"/>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rtl="0">
            <a:lnSpc>
              <a:spcPct val="90000"/>
            </a:lnSpc>
            <a:spcBef>
              <a:spcPct val="0"/>
            </a:spcBef>
            <a:spcAft>
              <a:spcPct val="35000"/>
            </a:spcAft>
            <a:buNone/>
          </a:pPr>
          <a:r>
            <a:rPr lang="fr-FR" sz="2000" b="1" kern="1200" baseline="0" dirty="0"/>
            <a:t>Il existe des différences entre </a:t>
          </a:r>
          <a:br>
            <a:rPr lang="fr-FR" sz="2000" b="1" kern="1200" baseline="0" dirty="0"/>
          </a:br>
          <a:r>
            <a:rPr lang="fr-FR" sz="2000" b="1" kern="1200" baseline="0" dirty="0"/>
            <a:t>la convention collective du bâtiment et la convention collective des travaux publics</a:t>
          </a:r>
          <a:endParaRPr lang="fr-FR" sz="2000" kern="1200" dirty="0"/>
        </a:p>
      </dsp:txBody>
      <dsp:txXfrm>
        <a:off x="2968712" y="454041"/>
        <a:ext cx="2514425" cy="219152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45C853-B684-4A57-9825-A2C3787F60FD}">
      <dsp:nvSpPr>
        <dsp:cNvPr id="0" name=""/>
        <dsp:cNvSpPr/>
      </dsp:nvSpPr>
      <dsp:spPr>
        <a:xfrm>
          <a:off x="0" y="544"/>
          <a:ext cx="8451850" cy="73359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rtl="0">
            <a:lnSpc>
              <a:spcPct val="90000"/>
            </a:lnSpc>
            <a:spcBef>
              <a:spcPct val="0"/>
            </a:spcBef>
            <a:spcAft>
              <a:spcPct val="35000"/>
            </a:spcAft>
            <a:buNone/>
          </a:pPr>
          <a:r>
            <a:rPr lang="fr-FR" sz="1900" b="1" kern="1200" baseline="0"/>
            <a:t>Par remise aux salariés lors de l'embauche d'une notice d'information (Article R2262-1 du code du travail)</a:t>
          </a:r>
          <a:endParaRPr lang="fr-FR" sz="1900" kern="1200"/>
        </a:p>
      </dsp:txBody>
      <dsp:txXfrm>
        <a:off x="35811" y="36355"/>
        <a:ext cx="8380228" cy="661968"/>
      </dsp:txXfrm>
    </dsp:sp>
    <dsp:sp modelId="{BF3DACCA-C2DC-4107-BA66-0F161C08A499}">
      <dsp:nvSpPr>
        <dsp:cNvPr id="0" name=""/>
        <dsp:cNvSpPr/>
      </dsp:nvSpPr>
      <dsp:spPr>
        <a:xfrm>
          <a:off x="0" y="788854"/>
          <a:ext cx="8451850" cy="73359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rtl="0">
            <a:lnSpc>
              <a:spcPct val="90000"/>
            </a:lnSpc>
            <a:spcBef>
              <a:spcPct val="0"/>
            </a:spcBef>
            <a:spcAft>
              <a:spcPct val="35000"/>
            </a:spcAft>
            <a:buNone/>
          </a:pPr>
          <a:r>
            <a:rPr lang="fr-FR" sz="1900" b="1" kern="1200" baseline="0"/>
            <a:t>Par l'insertion de la mention dans le contrat de travail </a:t>
          </a:r>
          <a:endParaRPr lang="fr-FR" sz="1900" kern="1200"/>
        </a:p>
      </dsp:txBody>
      <dsp:txXfrm>
        <a:off x="35811" y="824665"/>
        <a:ext cx="8380228" cy="661968"/>
      </dsp:txXfrm>
    </dsp:sp>
    <dsp:sp modelId="{C106FE3A-9554-435C-B2B9-2DEA4000B515}">
      <dsp:nvSpPr>
        <dsp:cNvPr id="0" name=""/>
        <dsp:cNvSpPr/>
      </dsp:nvSpPr>
      <dsp:spPr>
        <a:xfrm>
          <a:off x="0" y="1577164"/>
          <a:ext cx="8451850" cy="73359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rtl="0">
            <a:lnSpc>
              <a:spcPct val="90000"/>
            </a:lnSpc>
            <a:spcBef>
              <a:spcPct val="0"/>
            </a:spcBef>
            <a:spcAft>
              <a:spcPct val="35000"/>
            </a:spcAft>
            <a:buNone/>
          </a:pPr>
          <a:r>
            <a:rPr lang="fr-FR" sz="1900" b="1" kern="1200" baseline="0" dirty="0"/>
            <a:t>Par l'affichage (ou information par tout moyen)</a:t>
          </a:r>
          <a:endParaRPr lang="fr-FR" sz="1900" kern="1200" dirty="0"/>
        </a:p>
      </dsp:txBody>
      <dsp:txXfrm>
        <a:off x="35811" y="1612975"/>
        <a:ext cx="8380228" cy="661968"/>
      </dsp:txXfrm>
    </dsp:sp>
    <dsp:sp modelId="{DE2B0FA2-1AF6-402C-AEE5-FC43486009D4}">
      <dsp:nvSpPr>
        <dsp:cNvPr id="0" name=""/>
        <dsp:cNvSpPr/>
      </dsp:nvSpPr>
      <dsp:spPr>
        <a:xfrm>
          <a:off x="0" y="2365474"/>
          <a:ext cx="8451850" cy="73359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rtl="0">
            <a:lnSpc>
              <a:spcPct val="90000"/>
            </a:lnSpc>
            <a:spcBef>
              <a:spcPct val="0"/>
            </a:spcBef>
            <a:spcAft>
              <a:spcPct val="35000"/>
            </a:spcAft>
            <a:buNone/>
          </a:pPr>
          <a:r>
            <a:rPr lang="fr-FR" sz="1900" b="1" kern="1200" baseline="0"/>
            <a:t>Par mention sur le bulletin de paie (convention nationale + régionale)</a:t>
          </a:r>
          <a:endParaRPr lang="fr-FR" sz="1900" kern="1200"/>
        </a:p>
      </dsp:txBody>
      <dsp:txXfrm>
        <a:off x="35811" y="2401285"/>
        <a:ext cx="8380228" cy="66196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F57A41-B920-444D-8B20-048888A2CB86}">
      <dsp:nvSpPr>
        <dsp:cNvPr id="0" name=""/>
        <dsp:cNvSpPr/>
      </dsp:nvSpPr>
      <dsp:spPr>
        <a:xfrm>
          <a:off x="0" y="133103"/>
          <a:ext cx="8438617" cy="89722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fr-FR" sz="1800" kern="1200" dirty="0"/>
            <a:t>Règlement intérieur ou note de service, formation sécurité, document unique d’évaluation des risques, intervenant en prévention des risques, etc. </a:t>
          </a:r>
        </a:p>
      </dsp:txBody>
      <dsp:txXfrm>
        <a:off x="43799" y="176902"/>
        <a:ext cx="8351019" cy="809631"/>
      </dsp:txXfrm>
    </dsp:sp>
    <dsp:sp modelId="{3C606777-BFD4-47F4-8FAA-FD542F7E9331}">
      <dsp:nvSpPr>
        <dsp:cNvPr id="0" name=""/>
        <dsp:cNvSpPr/>
      </dsp:nvSpPr>
      <dsp:spPr>
        <a:xfrm>
          <a:off x="0" y="1003595"/>
          <a:ext cx="8438617" cy="76597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fr-FR" sz="1800" kern="1200" dirty="0"/>
            <a:t>Respecter les spécificités comme </a:t>
          </a:r>
        </a:p>
      </dsp:txBody>
      <dsp:txXfrm>
        <a:off x="37392" y="1040987"/>
        <a:ext cx="8363833" cy="691195"/>
      </dsp:txXfrm>
    </dsp:sp>
    <dsp:sp modelId="{B441B202-3A25-4A88-B374-FDF0A8411DE7}">
      <dsp:nvSpPr>
        <dsp:cNvPr id="0" name=""/>
        <dsp:cNvSpPr/>
      </dsp:nvSpPr>
      <dsp:spPr>
        <a:xfrm>
          <a:off x="0" y="1769575"/>
          <a:ext cx="8438617" cy="1952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7926" tIns="22860" rIns="128016" bIns="22860" numCol="1" spcCol="1270" anchor="t" anchorCtr="0">
          <a:noAutofit/>
        </a:bodyPr>
        <a:lstStyle/>
        <a:p>
          <a:pPr marL="114300" lvl="1" indent="-114300" algn="l" defTabSz="622300">
            <a:lnSpc>
              <a:spcPct val="90000"/>
            </a:lnSpc>
            <a:spcBef>
              <a:spcPct val="0"/>
            </a:spcBef>
            <a:spcAft>
              <a:spcPct val="20000"/>
            </a:spcAft>
            <a:buClr>
              <a:schemeClr val="accent1"/>
            </a:buClr>
            <a:buFont typeface="Wingdings" panose="05000000000000000000" pitchFamily="2" charset="2"/>
            <a:buChar char="§"/>
          </a:pPr>
          <a:r>
            <a:rPr lang="fr-FR" sz="1400" kern="1200" dirty="0"/>
            <a:t>Mise à disposition au moins 3 litres d’eau par jour et par travailleur (article R.4534-143 du Code du travail)</a:t>
          </a:r>
        </a:p>
        <a:p>
          <a:pPr marL="114300" lvl="1" indent="-114300" algn="l" defTabSz="622300">
            <a:lnSpc>
              <a:spcPct val="90000"/>
            </a:lnSpc>
            <a:spcBef>
              <a:spcPct val="0"/>
            </a:spcBef>
            <a:spcAft>
              <a:spcPct val="20000"/>
            </a:spcAft>
            <a:buClr>
              <a:schemeClr val="accent1"/>
            </a:buClr>
            <a:buFont typeface="Wingdings" panose="05000000000000000000" pitchFamily="2" charset="2"/>
            <a:buChar char="§"/>
          </a:pPr>
          <a:r>
            <a:rPr lang="fr-FR" sz="1400" kern="1200" dirty="0"/>
            <a:t>Respect des CCN ouvriers BTP qui permettent au salarié effectuant des travaux pénibles de bénéficier d’un temps de pause rémunéré correspondant à 10 % du temps de travail « pénible » (ce temps de pause est considéré comme du temps de travail effectif)</a:t>
          </a:r>
        </a:p>
      </dsp:txBody>
      <dsp:txXfrm>
        <a:off x="0" y="1769575"/>
        <a:ext cx="8438617" cy="195231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DC91FE-EDE2-4253-97DE-455385F69C59}">
      <dsp:nvSpPr>
        <dsp:cNvPr id="0" name=""/>
        <dsp:cNvSpPr/>
      </dsp:nvSpPr>
      <dsp:spPr>
        <a:xfrm>
          <a:off x="0" y="0"/>
          <a:ext cx="8451850" cy="458358"/>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rtl="0">
            <a:lnSpc>
              <a:spcPct val="90000"/>
            </a:lnSpc>
            <a:spcBef>
              <a:spcPct val="0"/>
            </a:spcBef>
            <a:spcAft>
              <a:spcPct val="35000"/>
            </a:spcAft>
            <a:buNone/>
          </a:pPr>
          <a:r>
            <a:rPr lang="fr-FR" sz="1800" b="0" kern="1200" baseline="0" dirty="0"/>
            <a:t>L’entreprise doit </a:t>
          </a:r>
          <a:endParaRPr lang="fr-FR" sz="1800" b="0" kern="1200" dirty="0"/>
        </a:p>
      </dsp:txBody>
      <dsp:txXfrm>
        <a:off x="22375" y="22375"/>
        <a:ext cx="8407100" cy="413608"/>
      </dsp:txXfrm>
    </dsp:sp>
    <dsp:sp modelId="{6BC7E04E-831F-402B-A4D1-1FAE7F3B1EE7}">
      <dsp:nvSpPr>
        <dsp:cNvPr id="0" name=""/>
        <dsp:cNvSpPr/>
      </dsp:nvSpPr>
      <dsp:spPr>
        <a:xfrm>
          <a:off x="0" y="460213"/>
          <a:ext cx="8451850" cy="26401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8346" tIns="22860" rIns="128016" bIns="22860" numCol="1" spcCol="1270" anchor="t" anchorCtr="0">
          <a:noAutofit/>
        </a:bodyPr>
        <a:lstStyle/>
        <a:p>
          <a:pPr marL="171450" lvl="1" indent="-171450" algn="l" defTabSz="800100" rtl="0">
            <a:lnSpc>
              <a:spcPct val="90000"/>
            </a:lnSpc>
            <a:spcBef>
              <a:spcPct val="0"/>
            </a:spcBef>
            <a:spcAft>
              <a:spcPct val="20000"/>
            </a:spcAft>
            <a:buClr>
              <a:schemeClr val="accent1"/>
            </a:buClr>
            <a:buFont typeface="Wingdings" panose="05000000000000000000" pitchFamily="2" charset="2"/>
            <a:buChar char="§"/>
          </a:pPr>
          <a:r>
            <a:rPr lang="fr-FR" sz="1800" b="0" kern="1200" dirty="0"/>
            <a:t>Identifier tous les risques (art. L2312-9) donc identifier les 10 facteurs mentionnés à l’art. L 4161-1 du Code du travail</a:t>
          </a:r>
        </a:p>
        <a:p>
          <a:pPr marL="171450" lvl="1" indent="-171450" algn="l" defTabSz="800100" rtl="0">
            <a:lnSpc>
              <a:spcPct val="90000"/>
            </a:lnSpc>
            <a:spcBef>
              <a:spcPct val="0"/>
            </a:spcBef>
            <a:spcAft>
              <a:spcPct val="20000"/>
            </a:spcAft>
            <a:buClr>
              <a:schemeClr val="accent1"/>
            </a:buClr>
            <a:buFont typeface="Wingdings" panose="05000000000000000000" pitchFamily="2" charset="2"/>
            <a:buChar char="§"/>
          </a:pPr>
          <a:r>
            <a:rPr lang="fr-FR" sz="1800" b="0" kern="1200" dirty="0"/>
            <a:t>Quantifier les dépassements (6 facteurs de risques professionnels sont à déclarer en cas d’atteinte ou de dépassement des seuils)</a:t>
          </a:r>
        </a:p>
        <a:p>
          <a:pPr marL="171450" lvl="1" indent="-171450" algn="just" defTabSz="800100" rtl="0">
            <a:lnSpc>
              <a:spcPct val="90000"/>
            </a:lnSpc>
            <a:spcBef>
              <a:spcPct val="0"/>
            </a:spcBef>
            <a:spcAft>
              <a:spcPct val="20000"/>
            </a:spcAft>
            <a:buClr>
              <a:schemeClr val="accent1"/>
            </a:buClr>
            <a:buFont typeface="Wingdings" panose="05000000000000000000" pitchFamily="2" charset="2"/>
            <a:buChar char="§"/>
          </a:pPr>
          <a:r>
            <a:rPr lang="fr-FR" sz="1800" b="0" kern="1200" dirty="0"/>
            <a:t>Compléter le DUER en mettant en annexe les données collectives utiles à l’évaluation des expositions aux facteurs de pénibilité et La proportion de salariés exposés à ces facteurs au-delà des seuils (art. R. 4121-1-1 du Code du travail)</a:t>
          </a:r>
        </a:p>
        <a:p>
          <a:pPr marL="171450" lvl="1" indent="-171450" algn="l" defTabSz="711200">
            <a:lnSpc>
              <a:spcPct val="90000"/>
            </a:lnSpc>
            <a:spcBef>
              <a:spcPct val="0"/>
            </a:spcBef>
            <a:spcAft>
              <a:spcPct val="20000"/>
            </a:spcAft>
            <a:buChar char="•"/>
          </a:pPr>
          <a:endParaRPr lang="fr-FR" sz="1600" b="0" kern="1200" dirty="0"/>
        </a:p>
      </dsp:txBody>
      <dsp:txXfrm>
        <a:off x="0" y="460213"/>
        <a:ext cx="8451850" cy="264017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B0BFC54-73F9-4029-AFE2-114B023C163C}">
      <dsp:nvSpPr>
        <dsp:cNvPr id="0" name=""/>
        <dsp:cNvSpPr/>
      </dsp:nvSpPr>
      <dsp:spPr>
        <a:xfrm rot="5400000">
          <a:off x="4286835" y="-1095822"/>
          <a:ext cx="2920844" cy="5382516"/>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80000" lvl="1" indent="-180000" algn="l" defTabSz="666750" rtl="0">
            <a:lnSpc>
              <a:spcPct val="90000"/>
            </a:lnSpc>
            <a:spcBef>
              <a:spcPct val="0"/>
            </a:spcBef>
            <a:spcAft>
              <a:spcPct val="15000"/>
            </a:spcAft>
            <a:buFont typeface="Wingdings" panose="05000000000000000000" pitchFamily="2" charset="2"/>
            <a:buChar char="§"/>
          </a:pPr>
          <a:r>
            <a:rPr lang="fr-FR" sz="1500" b="1" kern="1200" dirty="0"/>
            <a:t>Effectuer une évaluation annuelle de l’exposition de chaque travailleur en fonction des conditions de travail habituelles du poste occupé</a:t>
          </a:r>
          <a:endParaRPr lang="fr-FR" sz="1500" kern="1200" dirty="0"/>
        </a:p>
        <a:p>
          <a:pPr marL="180000" lvl="1" indent="-180000" algn="l" defTabSz="666750" rtl="0">
            <a:lnSpc>
              <a:spcPct val="90000"/>
            </a:lnSpc>
            <a:spcBef>
              <a:spcPct val="0"/>
            </a:spcBef>
            <a:spcAft>
              <a:spcPct val="15000"/>
            </a:spcAft>
            <a:buFont typeface="Wingdings" panose="05000000000000000000" pitchFamily="2" charset="2"/>
            <a:buChar char="§"/>
          </a:pPr>
          <a:r>
            <a:rPr lang="fr-FR" sz="1500" b="1" kern="1200" dirty="0"/>
            <a:t>Consigner, en annexe du document unique d’évaluation des risques professionnels, les données collectives d’exposition aux facteurs</a:t>
          </a:r>
          <a:br>
            <a:rPr lang="fr-FR" sz="1500" b="1" kern="1200" dirty="0"/>
          </a:br>
          <a:r>
            <a:rPr lang="fr-FR" sz="1500" b="1" kern="1200" dirty="0"/>
            <a:t>de pénibilité</a:t>
          </a:r>
          <a:endParaRPr lang="fr-FR" sz="1500" kern="1200" dirty="0"/>
        </a:p>
        <a:p>
          <a:pPr marL="180000" lvl="1" indent="-180000" algn="l" defTabSz="666750" rtl="0">
            <a:lnSpc>
              <a:spcPct val="90000"/>
            </a:lnSpc>
            <a:spcBef>
              <a:spcPct val="0"/>
            </a:spcBef>
            <a:spcAft>
              <a:spcPct val="15000"/>
            </a:spcAft>
            <a:buFont typeface="Wingdings" panose="05000000000000000000" pitchFamily="2" charset="2"/>
            <a:buChar char="§"/>
          </a:pPr>
          <a:r>
            <a:rPr lang="fr-FR" sz="1500" b="1" kern="1200" dirty="0"/>
            <a:t>Renforcer les mesures de prévention et de protection collective et individuelle (par exemple, le port de casque anti-bruit peut permettre de rester en-dessous du seuil d’exposition au bruit) </a:t>
          </a:r>
          <a:endParaRPr lang="fr-FR" sz="1500" kern="1200" dirty="0"/>
        </a:p>
        <a:p>
          <a:pPr marL="180000" lvl="1" indent="-180000" algn="l" defTabSz="666750" rtl="0">
            <a:lnSpc>
              <a:spcPct val="90000"/>
            </a:lnSpc>
            <a:spcBef>
              <a:spcPct val="0"/>
            </a:spcBef>
            <a:spcAft>
              <a:spcPct val="15000"/>
            </a:spcAft>
            <a:buFont typeface="Wingdings" panose="05000000000000000000" pitchFamily="2" charset="2"/>
            <a:buChar char="§"/>
          </a:pPr>
          <a:r>
            <a:rPr lang="fr-FR" sz="1500" b="1" u="sng" kern="1200" dirty="0"/>
            <a:t>Déclarer les facteurs de pénibilité auxquels a été exposé chaque salarié au-delà des seuils</a:t>
          </a:r>
          <a:endParaRPr lang="fr-FR" sz="1500" kern="1200" dirty="0"/>
        </a:p>
      </dsp:txBody>
      <dsp:txXfrm rot="-5400000">
        <a:off x="3055999" y="277598"/>
        <a:ext cx="5239932" cy="2635676"/>
      </dsp:txXfrm>
    </dsp:sp>
    <dsp:sp modelId="{BE4D0158-6E71-456A-89C5-1F7A31A82BB7}">
      <dsp:nvSpPr>
        <dsp:cNvPr id="0" name=""/>
        <dsp:cNvSpPr/>
      </dsp:nvSpPr>
      <dsp:spPr>
        <a:xfrm>
          <a:off x="13333" y="1513"/>
          <a:ext cx="3042666" cy="3096582"/>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rtl="0">
            <a:lnSpc>
              <a:spcPct val="90000"/>
            </a:lnSpc>
            <a:spcBef>
              <a:spcPct val="0"/>
            </a:spcBef>
            <a:spcAft>
              <a:spcPct val="35000"/>
            </a:spcAft>
            <a:buNone/>
          </a:pPr>
          <a:r>
            <a:rPr lang="fr-FR" sz="1800" b="1" kern="1200" baseline="0" dirty="0"/>
            <a:t>L’employeur est soumis aux obligations suivantes</a:t>
          </a:r>
          <a:endParaRPr lang="fr-FR" sz="1800" kern="1200" dirty="0"/>
        </a:p>
      </dsp:txBody>
      <dsp:txXfrm>
        <a:off x="161864" y="150044"/>
        <a:ext cx="2745604" cy="279952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003510-2399-4BC2-9D6E-4174481A37E2}">
      <dsp:nvSpPr>
        <dsp:cNvPr id="0" name=""/>
        <dsp:cNvSpPr/>
      </dsp:nvSpPr>
      <dsp:spPr>
        <a:xfrm>
          <a:off x="0" y="13924"/>
          <a:ext cx="8451850" cy="651784"/>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fr-FR" sz="1800" kern="1200" dirty="0"/>
            <a:t>BÂTIMENT</a:t>
          </a:r>
        </a:p>
      </dsp:txBody>
      <dsp:txXfrm>
        <a:off x="31817" y="45741"/>
        <a:ext cx="8388216" cy="588150"/>
      </dsp:txXfrm>
    </dsp:sp>
    <dsp:sp modelId="{9115713F-898F-4A58-93AF-42ECF14D16C5}">
      <dsp:nvSpPr>
        <dsp:cNvPr id="0" name=""/>
        <dsp:cNvSpPr/>
      </dsp:nvSpPr>
      <dsp:spPr>
        <a:xfrm>
          <a:off x="0" y="665708"/>
          <a:ext cx="8451850" cy="10681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8346" tIns="22860" rIns="128016" bIns="22860" numCol="1" spcCol="1270" anchor="t" anchorCtr="0">
          <a:noAutofit/>
        </a:bodyPr>
        <a:lstStyle/>
        <a:p>
          <a:pPr marL="171450" lvl="1" indent="-171450" algn="l" defTabSz="800100">
            <a:lnSpc>
              <a:spcPct val="90000"/>
            </a:lnSpc>
            <a:spcBef>
              <a:spcPct val="0"/>
            </a:spcBef>
            <a:spcAft>
              <a:spcPct val="20000"/>
            </a:spcAft>
            <a:buClr>
              <a:schemeClr val="accent1"/>
            </a:buClr>
            <a:buFont typeface="Wingdings" panose="05000000000000000000" pitchFamily="2" charset="2"/>
            <a:buChar char="§"/>
          </a:pPr>
          <a:r>
            <a:rPr lang="fr-FR" sz="1800" kern="1200" dirty="0"/>
            <a:t>La durée maximale de la période d’essai est de 3 semaines (application de la CC 1990 = période d’essai maximale de 3 semaines pour les CDD de plus de 6 mois (Article L1242-10 code du travail + CC bâtiment ouvriers)</a:t>
          </a:r>
        </a:p>
        <a:p>
          <a:pPr marL="171450" lvl="1" indent="-171450" algn="l" defTabSz="800100">
            <a:lnSpc>
              <a:spcPct val="90000"/>
            </a:lnSpc>
            <a:spcBef>
              <a:spcPct val="0"/>
            </a:spcBef>
            <a:spcAft>
              <a:spcPct val="20000"/>
            </a:spcAft>
            <a:buClr>
              <a:schemeClr val="accent1"/>
            </a:buClr>
            <a:buFont typeface="Wingdings" panose="05000000000000000000" pitchFamily="2" charset="2"/>
            <a:buChar char="§"/>
          </a:pPr>
          <a:endParaRPr lang="fr-FR" sz="1800" kern="1200" dirty="0"/>
        </a:p>
      </dsp:txBody>
      <dsp:txXfrm>
        <a:off x="0" y="665708"/>
        <a:ext cx="8451850" cy="1068120"/>
      </dsp:txXfrm>
    </dsp:sp>
    <dsp:sp modelId="{0A627779-051A-43BD-8DBC-C8062B713E8F}">
      <dsp:nvSpPr>
        <dsp:cNvPr id="0" name=""/>
        <dsp:cNvSpPr/>
      </dsp:nvSpPr>
      <dsp:spPr>
        <a:xfrm>
          <a:off x="0" y="1733828"/>
          <a:ext cx="8451850" cy="640554"/>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fr-FR" sz="1800" kern="1200" dirty="0"/>
            <a:t>TRAVAUX PUBLICS</a:t>
          </a:r>
        </a:p>
      </dsp:txBody>
      <dsp:txXfrm>
        <a:off x="31269" y="1765097"/>
        <a:ext cx="8389312" cy="578016"/>
      </dsp:txXfrm>
    </dsp:sp>
    <dsp:sp modelId="{ACEE1D0E-2D08-4E70-BEA3-A36BEAC1C3C2}">
      <dsp:nvSpPr>
        <dsp:cNvPr id="0" name=""/>
        <dsp:cNvSpPr/>
      </dsp:nvSpPr>
      <dsp:spPr>
        <a:xfrm>
          <a:off x="0" y="2374383"/>
          <a:ext cx="8451850" cy="7120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8346" tIns="22860" rIns="128016" bIns="22860" numCol="1" spcCol="1270" anchor="t" anchorCtr="0">
          <a:noAutofit/>
        </a:bodyPr>
        <a:lstStyle/>
        <a:p>
          <a:pPr marL="171450" lvl="1" indent="-171450" algn="l" defTabSz="800100">
            <a:lnSpc>
              <a:spcPct val="90000"/>
            </a:lnSpc>
            <a:spcBef>
              <a:spcPct val="0"/>
            </a:spcBef>
            <a:spcAft>
              <a:spcPct val="20000"/>
            </a:spcAft>
            <a:buClr>
              <a:schemeClr val="accent1"/>
            </a:buClr>
            <a:buFont typeface="Wingdings" panose="05000000000000000000" pitchFamily="2" charset="2"/>
            <a:buChar char="§"/>
          </a:pPr>
          <a:r>
            <a:rPr lang="fr-FR" sz="1800" kern="1200" dirty="0"/>
            <a:t>Il y a un accord de branche CDD</a:t>
          </a:r>
        </a:p>
      </dsp:txBody>
      <dsp:txXfrm>
        <a:off x="0" y="2374383"/>
        <a:ext cx="8451850" cy="71208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71A086-F7A2-4B32-936D-C6DC025D8CB5}">
      <dsp:nvSpPr>
        <dsp:cNvPr id="0" name=""/>
        <dsp:cNvSpPr/>
      </dsp:nvSpPr>
      <dsp:spPr>
        <a:xfrm>
          <a:off x="0" y="0"/>
          <a:ext cx="3060340" cy="3060340"/>
        </a:xfrm>
        <a:prstGeom prst="pie">
          <a:avLst>
            <a:gd name="adj1" fmla="val 5400000"/>
            <a:gd name="adj2" fmla="val 1620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781CD51-CD29-46FA-8F4A-71DCDEB40E16}">
      <dsp:nvSpPr>
        <dsp:cNvPr id="0" name=""/>
        <dsp:cNvSpPr/>
      </dsp:nvSpPr>
      <dsp:spPr>
        <a:xfrm>
          <a:off x="1530170" y="0"/>
          <a:ext cx="6975775" cy="306034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rtl="0">
            <a:lnSpc>
              <a:spcPct val="90000"/>
            </a:lnSpc>
            <a:spcBef>
              <a:spcPct val="0"/>
            </a:spcBef>
            <a:spcAft>
              <a:spcPct val="35000"/>
            </a:spcAft>
            <a:buNone/>
          </a:pPr>
          <a:r>
            <a:rPr lang="fr-FR" sz="1900" b="1" kern="1200" baseline="0" dirty="0"/>
            <a:t>Il existe un exercice (étude de cas : livret social) ayant pour objectif l’information des salariés sur les contrats </a:t>
          </a:r>
          <a:br>
            <a:rPr lang="fr-FR" sz="1900" b="1" kern="1200" baseline="0" dirty="0"/>
          </a:br>
          <a:r>
            <a:rPr lang="fr-FR" sz="1900" b="1" kern="1200" baseline="0" dirty="0"/>
            <a:t>de prévoyance </a:t>
          </a:r>
          <a:endParaRPr lang="fr-FR" sz="1900" kern="1200" dirty="0"/>
        </a:p>
      </dsp:txBody>
      <dsp:txXfrm>
        <a:off x="1530170" y="0"/>
        <a:ext cx="6975775" cy="918103"/>
      </dsp:txXfrm>
    </dsp:sp>
    <dsp:sp modelId="{8EFD15FA-377C-4B9B-9EAA-F25DC5430A43}">
      <dsp:nvSpPr>
        <dsp:cNvPr id="0" name=""/>
        <dsp:cNvSpPr/>
      </dsp:nvSpPr>
      <dsp:spPr>
        <a:xfrm>
          <a:off x="535560" y="918103"/>
          <a:ext cx="1989219" cy="1989219"/>
        </a:xfrm>
        <a:prstGeom prst="pie">
          <a:avLst>
            <a:gd name="adj1" fmla="val 5400000"/>
            <a:gd name="adj2" fmla="val 1620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25E2E57-173B-429E-930B-51DB3E99B328}">
      <dsp:nvSpPr>
        <dsp:cNvPr id="0" name=""/>
        <dsp:cNvSpPr/>
      </dsp:nvSpPr>
      <dsp:spPr>
        <a:xfrm>
          <a:off x="1530170" y="918103"/>
          <a:ext cx="6975775" cy="1989219"/>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rtl="0">
            <a:lnSpc>
              <a:spcPct val="90000"/>
            </a:lnSpc>
            <a:spcBef>
              <a:spcPct val="0"/>
            </a:spcBef>
            <a:spcAft>
              <a:spcPct val="35000"/>
            </a:spcAft>
            <a:buNone/>
          </a:pPr>
          <a:r>
            <a:rPr lang="fr-FR" sz="1900" b="1" kern="1200" baseline="0" dirty="0"/>
            <a:t>Cet exercice permet de prendre connaissance </a:t>
          </a:r>
          <a:br>
            <a:rPr lang="fr-FR" sz="1900" b="1" kern="1200" baseline="0" dirty="0"/>
          </a:br>
          <a:r>
            <a:rPr lang="fr-FR" sz="1900" b="1" kern="1200" baseline="0" dirty="0"/>
            <a:t>des prévoyances prévues par la convention collective</a:t>
          </a:r>
          <a:br>
            <a:rPr lang="fr-FR" sz="1900" b="1" kern="1200" baseline="0" dirty="0"/>
          </a:br>
          <a:r>
            <a:rPr lang="fr-FR" sz="1900" b="1" kern="1200" baseline="0" dirty="0"/>
            <a:t>du bâtiment</a:t>
          </a:r>
          <a:endParaRPr lang="fr-FR" sz="1900" kern="1200" dirty="0"/>
        </a:p>
      </dsp:txBody>
      <dsp:txXfrm>
        <a:off x="1530170" y="918103"/>
        <a:ext cx="6975775" cy="918100"/>
      </dsp:txXfrm>
    </dsp:sp>
    <dsp:sp modelId="{75F7BD2A-DA38-4BC4-BCBC-CEA120451ADE}">
      <dsp:nvSpPr>
        <dsp:cNvPr id="0" name=""/>
        <dsp:cNvSpPr/>
      </dsp:nvSpPr>
      <dsp:spPr>
        <a:xfrm>
          <a:off x="1071119" y="1836204"/>
          <a:ext cx="918101" cy="918101"/>
        </a:xfrm>
        <a:prstGeom prst="pie">
          <a:avLst>
            <a:gd name="adj1" fmla="val 5400000"/>
            <a:gd name="adj2" fmla="val 1620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AE7E1E7-64CA-481C-8A23-4121247C82FA}">
      <dsp:nvSpPr>
        <dsp:cNvPr id="0" name=""/>
        <dsp:cNvSpPr/>
      </dsp:nvSpPr>
      <dsp:spPr>
        <a:xfrm>
          <a:off x="1530170" y="1836204"/>
          <a:ext cx="6975775" cy="918101"/>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rtl="0">
            <a:lnSpc>
              <a:spcPct val="90000"/>
            </a:lnSpc>
            <a:spcBef>
              <a:spcPct val="0"/>
            </a:spcBef>
            <a:spcAft>
              <a:spcPct val="35000"/>
            </a:spcAft>
            <a:buNone/>
          </a:pPr>
          <a:r>
            <a:rPr lang="fr-FR" sz="1900" b="1" kern="1200" baseline="0" dirty="0"/>
            <a:t>Le cas consiste en une simple comparaison entre les taux d’une entreprise du BTP et les taux prévus par la convention collective </a:t>
          </a:r>
          <a:endParaRPr lang="fr-FR" sz="1900" kern="1200" dirty="0"/>
        </a:p>
      </dsp:txBody>
      <dsp:txXfrm>
        <a:off x="1530170" y="1836204"/>
        <a:ext cx="6975775" cy="918101"/>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0ADA41-2858-420E-B0ED-4D1A7EDE2445}">
      <dsp:nvSpPr>
        <dsp:cNvPr id="0" name=""/>
        <dsp:cNvSpPr/>
      </dsp:nvSpPr>
      <dsp:spPr>
        <a:xfrm>
          <a:off x="0" y="202599"/>
          <a:ext cx="8451850" cy="101253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rtl="0">
            <a:lnSpc>
              <a:spcPct val="90000"/>
            </a:lnSpc>
            <a:spcBef>
              <a:spcPct val="0"/>
            </a:spcBef>
            <a:spcAft>
              <a:spcPct val="35000"/>
            </a:spcAft>
            <a:buNone/>
          </a:pPr>
          <a:r>
            <a:rPr lang="fr-FR" sz="1800" b="1" kern="1200" baseline="0" dirty="0"/>
            <a:t>Les grilles de classification du BTP comportent quatre niveaux qui sont définis par des critères ainsi pour les ouvriers </a:t>
          </a:r>
          <a:endParaRPr lang="fr-FR" sz="1800" kern="1200" dirty="0"/>
        </a:p>
      </dsp:txBody>
      <dsp:txXfrm>
        <a:off x="49428" y="252027"/>
        <a:ext cx="8352994" cy="913679"/>
      </dsp:txXfrm>
    </dsp:sp>
    <dsp:sp modelId="{8BE6F151-121B-48BF-AC8A-394EAB50E429}">
      <dsp:nvSpPr>
        <dsp:cNvPr id="0" name=""/>
        <dsp:cNvSpPr/>
      </dsp:nvSpPr>
      <dsp:spPr>
        <a:xfrm>
          <a:off x="0" y="1215134"/>
          <a:ext cx="8451850" cy="16818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8346" tIns="20320" rIns="113792" bIns="20320" numCol="1" spcCol="1270" anchor="t" anchorCtr="0">
          <a:noAutofit/>
        </a:bodyPr>
        <a:lstStyle/>
        <a:p>
          <a:pPr marL="171450" lvl="1" indent="-171450" algn="l" defTabSz="711200" rtl="0">
            <a:lnSpc>
              <a:spcPct val="90000"/>
            </a:lnSpc>
            <a:spcBef>
              <a:spcPct val="0"/>
            </a:spcBef>
            <a:spcAft>
              <a:spcPct val="20000"/>
            </a:spcAft>
            <a:buClr>
              <a:schemeClr val="accent1"/>
            </a:buClr>
            <a:buFont typeface="Wingdings" panose="05000000000000000000" pitchFamily="2" charset="2"/>
            <a:buChar char="§"/>
          </a:pPr>
          <a:r>
            <a:rPr lang="fr-FR" sz="1600" b="1" kern="1200" dirty="0"/>
            <a:t>Le contenu de l'activité, la responsabilité dans l'organisation du travail : que fait le salarié ? </a:t>
          </a:r>
          <a:endParaRPr lang="fr-FR" sz="1600" kern="1200" dirty="0"/>
        </a:p>
        <a:p>
          <a:pPr marL="171450" lvl="1" indent="-171450" algn="l" defTabSz="711200" rtl="0">
            <a:lnSpc>
              <a:spcPct val="90000"/>
            </a:lnSpc>
            <a:spcBef>
              <a:spcPct val="0"/>
            </a:spcBef>
            <a:spcAft>
              <a:spcPct val="20000"/>
            </a:spcAft>
            <a:buClr>
              <a:schemeClr val="accent1"/>
            </a:buClr>
            <a:buFont typeface="Wingdings" panose="05000000000000000000" pitchFamily="2" charset="2"/>
            <a:buChar char="§"/>
          </a:pPr>
          <a:r>
            <a:rPr lang="fr-FR" sz="1600" b="1" kern="1200" dirty="0"/>
            <a:t>L'autonomie, l'initiative, l'adaptation, la capacité à recevoir délégation : comment le fait-il ? </a:t>
          </a:r>
          <a:endParaRPr lang="fr-FR" sz="1600" kern="1200" dirty="0"/>
        </a:p>
        <a:p>
          <a:pPr marL="171450" lvl="1" indent="-171450" algn="l" defTabSz="711200" rtl="0">
            <a:lnSpc>
              <a:spcPct val="90000"/>
            </a:lnSpc>
            <a:spcBef>
              <a:spcPct val="0"/>
            </a:spcBef>
            <a:spcAft>
              <a:spcPct val="20000"/>
            </a:spcAft>
            <a:buClr>
              <a:schemeClr val="accent1"/>
            </a:buClr>
            <a:buFont typeface="Wingdings" panose="05000000000000000000" pitchFamily="2" charset="2"/>
            <a:buChar char="§"/>
          </a:pPr>
          <a:r>
            <a:rPr lang="fr-FR" sz="1600" b="1" kern="1200" dirty="0"/>
            <a:t>La technicité, l'expertise : de quelles connaissances techniques a-t-il besoin ? </a:t>
          </a:r>
          <a:endParaRPr lang="fr-FR" sz="1600" kern="1200" dirty="0"/>
        </a:p>
        <a:p>
          <a:pPr marL="171450" lvl="1" indent="-171450" algn="l" defTabSz="711200" rtl="0">
            <a:lnSpc>
              <a:spcPct val="90000"/>
            </a:lnSpc>
            <a:spcBef>
              <a:spcPct val="0"/>
            </a:spcBef>
            <a:spcAft>
              <a:spcPct val="20000"/>
            </a:spcAft>
            <a:buClr>
              <a:schemeClr val="accent1"/>
            </a:buClr>
            <a:buFont typeface="Wingdings" panose="05000000000000000000" pitchFamily="2" charset="2"/>
            <a:buChar char="§"/>
          </a:pPr>
          <a:r>
            <a:rPr lang="fr-FR" sz="1600" b="1" kern="1200" dirty="0"/>
            <a:t>Les compétences acquises par expérience ou formation : comment est identifiée l'acquisition de ses connaissances et de ses compétences ?</a:t>
          </a:r>
          <a:endParaRPr lang="fr-FR" sz="1600" kern="1200" dirty="0"/>
        </a:p>
      </dsp:txBody>
      <dsp:txXfrm>
        <a:off x="0" y="1215134"/>
        <a:ext cx="8451850" cy="1681875"/>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CE9843-DB49-4B98-98E3-A59B263DD6D1}">
      <dsp:nvSpPr>
        <dsp:cNvPr id="0" name=""/>
        <dsp:cNvSpPr/>
      </dsp:nvSpPr>
      <dsp:spPr>
        <a:xfrm rot="10800000">
          <a:off x="1616839" y="424"/>
          <a:ext cx="5620480" cy="804617"/>
        </a:xfrm>
        <a:prstGeom prst="homePlat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4814" tIns="60960" rIns="113792" bIns="60960" numCol="1" spcCol="1270" anchor="ctr" anchorCtr="0">
          <a:noAutofit/>
        </a:bodyPr>
        <a:lstStyle/>
        <a:p>
          <a:pPr marL="0" lvl="0" indent="0" algn="ctr" defTabSz="711200" rtl="0">
            <a:lnSpc>
              <a:spcPct val="90000"/>
            </a:lnSpc>
            <a:spcBef>
              <a:spcPct val="0"/>
            </a:spcBef>
            <a:spcAft>
              <a:spcPct val="35000"/>
            </a:spcAft>
            <a:buNone/>
          </a:pPr>
          <a:r>
            <a:rPr lang="fr-FR" sz="1600" b="1" kern="1200" baseline="0" dirty="0"/>
            <a:t>Il existe des classifications « plancher » des ouvriers BTP au regard des niveaux de diplômes</a:t>
          </a:r>
          <a:endParaRPr lang="fr-FR" sz="1600" kern="1200" dirty="0"/>
        </a:p>
      </dsp:txBody>
      <dsp:txXfrm rot="10800000">
        <a:off x="1817993" y="424"/>
        <a:ext cx="5419326" cy="804617"/>
      </dsp:txXfrm>
    </dsp:sp>
    <dsp:sp modelId="{47640F97-43C2-40D1-B727-29B905D3A316}">
      <dsp:nvSpPr>
        <dsp:cNvPr id="0" name=""/>
        <dsp:cNvSpPr/>
      </dsp:nvSpPr>
      <dsp:spPr>
        <a:xfrm>
          <a:off x="1214530" y="424"/>
          <a:ext cx="804617" cy="804617"/>
        </a:xfrm>
        <a:prstGeom prst="ellipse">
          <a:avLst/>
        </a:prstGeom>
        <a:solidFill>
          <a:schemeClr val="accent1">
            <a:tint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FDFE3DA-6222-4F83-9E41-60D214C9BA0E}">
      <dsp:nvSpPr>
        <dsp:cNvPr id="0" name=""/>
        <dsp:cNvSpPr/>
      </dsp:nvSpPr>
      <dsp:spPr>
        <a:xfrm rot="10800000">
          <a:off x="1616839" y="1025254"/>
          <a:ext cx="5620480" cy="804617"/>
        </a:xfrm>
        <a:prstGeom prst="homePlat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4814" tIns="60960" rIns="113792" bIns="60960" numCol="1" spcCol="1270" anchor="ctr" anchorCtr="0">
          <a:noAutofit/>
        </a:bodyPr>
        <a:lstStyle/>
        <a:p>
          <a:pPr marL="0" lvl="0" indent="0" algn="ctr" defTabSz="711200" rtl="0">
            <a:lnSpc>
              <a:spcPct val="90000"/>
            </a:lnSpc>
            <a:spcBef>
              <a:spcPct val="0"/>
            </a:spcBef>
            <a:spcAft>
              <a:spcPct val="35000"/>
            </a:spcAft>
            <a:buNone/>
          </a:pPr>
          <a:r>
            <a:rPr lang="fr-FR" sz="1600" b="1" kern="1200" baseline="0" dirty="0"/>
            <a:t>La polyvalence des ouvriers du BTP (titulaire de</a:t>
          </a:r>
          <a:br>
            <a:rPr lang="fr-FR" sz="1600" b="1" kern="1200" baseline="0" dirty="0"/>
          </a:br>
          <a:r>
            <a:rPr lang="fr-FR" sz="1600" b="1" kern="1200" baseline="0" dirty="0"/>
            <a:t>2 diplômes professionnels) donne lieu à attribution de points </a:t>
          </a:r>
          <a:endParaRPr lang="fr-FR" sz="1600" kern="1200" dirty="0"/>
        </a:p>
      </dsp:txBody>
      <dsp:txXfrm rot="10800000">
        <a:off x="1817993" y="1025254"/>
        <a:ext cx="5419326" cy="804617"/>
      </dsp:txXfrm>
    </dsp:sp>
    <dsp:sp modelId="{3E260DD0-7E1B-4093-BB83-BBA1781F8494}">
      <dsp:nvSpPr>
        <dsp:cNvPr id="0" name=""/>
        <dsp:cNvSpPr/>
      </dsp:nvSpPr>
      <dsp:spPr>
        <a:xfrm>
          <a:off x="1214530" y="1025254"/>
          <a:ext cx="804617" cy="804617"/>
        </a:xfrm>
        <a:prstGeom prst="ellipse">
          <a:avLst/>
        </a:prstGeom>
        <a:solidFill>
          <a:schemeClr val="accent1">
            <a:tint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11DE55B-E2BB-4988-8181-EFB437C9AB26}">
      <dsp:nvSpPr>
        <dsp:cNvPr id="0" name=""/>
        <dsp:cNvSpPr/>
      </dsp:nvSpPr>
      <dsp:spPr>
        <a:xfrm rot="10800000">
          <a:off x="1616839" y="2050083"/>
          <a:ext cx="5620480" cy="1049100"/>
        </a:xfrm>
        <a:prstGeom prst="homePlat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4814" tIns="60960" rIns="113792" bIns="60960" numCol="1" spcCol="1270" anchor="ctr" anchorCtr="0">
          <a:noAutofit/>
        </a:bodyPr>
        <a:lstStyle/>
        <a:p>
          <a:pPr marL="0" lvl="0" indent="0" algn="ctr" defTabSz="711200" rtl="0">
            <a:lnSpc>
              <a:spcPct val="90000"/>
            </a:lnSpc>
            <a:spcBef>
              <a:spcPct val="0"/>
            </a:spcBef>
            <a:spcAft>
              <a:spcPct val="35000"/>
            </a:spcAft>
            <a:buNone/>
          </a:pPr>
          <a:r>
            <a:rPr lang="fr-FR" sz="1600" b="1" kern="1200" dirty="0"/>
            <a:t>Les 4 critères doivent être utilisés de façon cumulative pour arrêter le classement du salarié. Et ces critères ont chacun le même poids pour arrêter ce classement</a:t>
          </a:r>
          <a:endParaRPr lang="fr-FR" sz="1400" b="1" kern="1200" dirty="0"/>
        </a:p>
      </dsp:txBody>
      <dsp:txXfrm rot="10800000">
        <a:off x="1879114" y="2050083"/>
        <a:ext cx="5358205" cy="1049100"/>
      </dsp:txXfrm>
    </dsp:sp>
    <dsp:sp modelId="{B67C86A7-098F-489D-81B9-F4F94B8EEE7A}">
      <dsp:nvSpPr>
        <dsp:cNvPr id="0" name=""/>
        <dsp:cNvSpPr/>
      </dsp:nvSpPr>
      <dsp:spPr>
        <a:xfrm>
          <a:off x="1214530" y="2172324"/>
          <a:ext cx="804617" cy="804617"/>
        </a:xfrm>
        <a:prstGeom prst="ellipse">
          <a:avLst/>
        </a:prstGeom>
        <a:solidFill>
          <a:schemeClr val="accent1">
            <a:tint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F1CB9C-3E9A-4DCF-B85E-978E92A40B9A}">
      <dsp:nvSpPr>
        <dsp:cNvPr id="0" name=""/>
        <dsp:cNvSpPr/>
      </dsp:nvSpPr>
      <dsp:spPr>
        <a:xfrm rot="10800000">
          <a:off x="1744029" y="279"/>
          <a:ext cx="5620480" cy="1426908"/>
        </a:xfrm>
        <a:prstGeom prst="homePlat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9164" tIns="60960" rIns="113792" bIns="60960" numCol="1" spcCol="1270" anchor="ctr" anchorCtr="0">
          <a:noAutofit/>
        </a:bodyPr>
        <a:lstStyle/>
        <a:p>
          <a:pPr marL="0" lvl="0" indent="0" algn="ctr" defTabSz="711200" rtl="0">
            <a:lnSpc>
              <a:spcPct val="90000"/>
            </a:lnSpc>
            <a:spcBef>
              <a:spcPct val="0"/>
            </a:spcBef>
            <a:spcAft>
              <a:spcPct val="35000"/>
            </a:spcAft>
            <a:buNone/>
          </a:pPr>
          <a:r>
            <a:rPr lang="fr-FR" sz="1600" b="1" kern="1200" baseline="0" dirty="0"/>
            <a:t>Voir la convention collective régionale pour l’indemnité  prévu pour le maître d’apprentissage (attention à l’impact possible de la suppression de la certification maître d’apprentissage). La durée de l'activité de maître d'apprentissage ouvrant droit à un CEC</a:t>
          </a:r>
          <a:endParaRPr lang="fr-FR" sz="1600" kern="1200" dirty="0"/>
        </a:p>
      </dsp:txBody>
      <dsp:txXfrm rot="10800000">
        <a:off x="2100756" y="279"/>
        <a:ext cx="5263753" cy="1426908"/>
      </dsp:txXfrm>
    </dsp:sp>
    <dsp:sp modelId="{8F1D34CE-6D71-42D9-8E5A-9D5E94070462}">
      <dsp:nvSpPr>
        <dsp:cNvPr id="0" name=""/>
        <dsp:cNvSpPr/>
      </dsp:nvSpPr>
      <dsp:spPr>
        <a:xfrm>
          <a:off x="1087339" y="57043"/>
          <a:ext cx="1313379" cy="1313379"/>
        </a:xfrm>
        <a:prstGeom prst="ellipse">
          <a:avLst/>
        </a:prstGeom>
        <a:solidFill>
          <a:schemeClr val="accent1">
            <a:tint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8D80221-6F8B-4134-BA12-F0E0B1E49717}">
      <dsp:nvSpPr>
        <dsp:cNvPr id="0" name=""/>
        <dsp:cNvSpPr/>
      </dsp:nvSpPr>
      <dsp:spPr>
        <a:xfrm rot="10800000">
          <a:off x="1765556" y="1787008"/>
          <a:ext cx="5620480" cy="1313379"/>
        </a:xfrm>
        <a:prstGeom prst="homePlat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9164" tIns="60960" rIns="113792" bIns="60960" numCol="1" spcCol="1270" anchor="ctr" anchorCtr="0">
          <a:noAutofit/>
        </a:bodyPr>
        <a:lstStyle/>
        <a:p>
          <a:pPr marL="0" lvl="0" indent="0" algn="ctr" defTabSz="711200" rtl="0">
            <a:lnSpc>
              <a:spcPct val="90000"/>
            </a:lnSpc>
            <a:spcBef>
              <a:spcPct val="0"/>
            </a:spcBef>
            <a:spcAft>
              <a:spcPct val="35000"/>
            </a:spcAft>
            <a:buNone/>
          </a:pPr>
          <a:r>
            <a:rPr lang="fr-FR" sz="1600" b="1" kern="1200" baseline="0" dirty="0"/>
            <a:t>Il faut appliquer le barème « bâtiment et travaux publics » (il est plus favorable que le dispositif réglementaire  sauf pour la dernière  tranche d’âge plus de 26 ans</a:t>
          </a:r>
          <a:r>
            <a:rPr lang="fr-FR" sz="1200" b="1" kern="1200" baseline="0" dirty="0"/>
            <a:t>)</a:t>
          </a:r>
          <a:endParaRPr lang="fr-FR" sz="1200" kern="1200" dirty="0"/>
        </a:p>
      </dsp:txBody>
      <dsp:txXfrm rot="10800000">
        <a:off x="2093901" y="1787008"/>
        <a:ext cx="5292135" cy="1313379"/>
      </dsp:txXfrm>
    </dsp:sp>
    <dsp:sp modelId="{94369455-8141-4035-88E0-4187E2C57D91}">
      <dsp:nvSpPr>
        <dsp:cNvPr id="0" name=""/>
        <dsp:cNvSpPr/>
      </dsp:nvSpPr>
      <dsp:spPr>
        <a:xfrm>
          <a:off x="1087339" y="1786729"/>
          <a:ext cx="1313379" cy="1313379"/>
        </a:xfrm>
        <a:prstGeom prst="ellipse">
          <a:avLst/>
        </a:prstGeom>
        <a:solidFill>
          <a:schemeClr val="accent1">
            <a:tint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A9E855-2F86-4EC2-9E3B-5B656EA538E5}">
      <dsp:nvSpPr>
        <dsp:cNvPr id="0" name=""/>
        <dsp:cNvSpPr/>
      </dsp:nvSpPr>
      <dsp:spPr>
        <a:xfrm rot="10800000">
          <a:off x="1756472" y="460"/>
          <a:ext cx="5620480" cy="1363149"/>
        </a:xfrm>
        <a:prstGeom prst="homePlat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1111" tIns="57150" rIns="106680" bIns="57150" numCol="1" spcCol="1270" anchor="ctr" anchorCtr="0">
          <a:noAutofit/>
        </a:bodyPr>
        <a:lstStyle/>
        <a:p>
          <a:pPr marL="0" lvl="0" indent="0" algn="ctr" defTabSz="666750">
            <a:lnSpc>
              <a:spcPct val="90000"/>
            </a:lnSpc>
            <a:spcBef>
              <a:spcPct val="0"/>
            </a:spcBef>
            <a:spcAft>
              <a:spcPct val="35000"/>
            </a:spcAft>
            <a:buNone/>
          </a:pPr>
          <a:r>
            <a:rPr lang="fr-FR" sz="1500" b="1" kern="1200" baseline="0" dirty="0"/>
            <a:t>Les seuls salariés que l'entreprise peut choisir de ne pas affilier à la caisse des congés payés sont ceux titulaires d'un contrat de travail à durée déterminée, conclu pour une durée minimum </a:t>
          </a:r>
          <a:br>
            <a:rPr lang="fr-FR" sz="1500" b="1" kern="1200" baseline="0" dirty="0"/>
          </a:br>
          <a:r>
            <a:rPr lang="fr-FR" sz="1500" b="1" kern="1200" baseline="0" dirty="0"/>
            <a:t>d’1 an et ayant date certaine par enregistrement (art. D. 3141-23 du code du travail)</a:t>
          </a:r>
          <a:endParaRPr lang="fr-FR" sz="1500" kern="1200" dirty="0"/>
        </a:p>
      </dsp:txBody>
      <dsp:txXfrm rot="10800000">
        <a:off x="2097259" y="460"/>
        <a:ext cx="5279693" cy="1363149"/>
      </dsp:txXfrm>
    </dsp:sp>
    <dsp:sp modelId="{6DD5BC88-861F-4221-A5CF-2750AEA963A5}">
      <dsp:nvSpPr>
        <dsp:cNvPr id="0" name=""/>
        <dsp:cNvSpPr/>
      </dsp:nvSpPr>
      <dsp:spPr>
        <a:xfrm>
          <a:off x="1074897" y="460"/>
          <a:ext cx="1363149" cy="1363149"/>
        </a:xfrm>
        <a:prstGeom prst="ellipse">
          <a:avLst/>
        </a:prstGeom>
        <a:solidFill>
          <a:schemeClr val="accent1">
            <a:tint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2ADEA95-0669-46C4-9E07-F53CA2213815}">
      <dsp:nvSpPr>
        <dsp:cNvPr id="0" name=""/>
        <dsp:cNvSpPr/>
      </dsp:nvSpPr>
      <dsp:spPr>
        <a:xfrm rot="10800000">
          <a:off x="1756472" y="1736777"/>
          <a:ext cx="5620480" cy="1363149"/>
        </a:xfrm>
        <a:prstGeom prst="homePlat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1111" tIns="57150" rIns="106680" bIns="57150" numCol="1" spcCol="1270" anchor="ctr" anchorCtr="0">
          <a:noAutofit/>
        </a:bodyPr>
        <a:lstStyle/>
        <a:p>
          <a:pPr marL="0" lvl="0" indent="0" algn="ctr" defTabSz="666750">
            <a:lnSpc>
              <a:spcPct val="90000"/>
            </a:lnSpc>
            <a:spcBef>
              <a:spcPct val="0"/>
            </a:spcBef>
            <a:spcAft>
              <a:spcPct val="35000"/>
            </a:spcAft>
            <a:buNone/>
          </a:pPr>
          <a:r>
            <a:rPr lang="fr-FR" sz="1500" b="1" kern="1200" dirty="0"/>
            <a:t>Les primes prévues par les conventions collectives régionales du bâtiment s'appliquent aux apprentis comme à l'ensemble des ouvriers</a:t>
          </a:r>
        </a:p>
      </dsp:txBody>
      <dsp:txXfrm rot="10800000">
        <a:off x="2097259" y="1736777"/>
        <a:ext cx="5279693" cy="1363149"/>
      </dsp:txXfrm>
    </dsp:sp>
    <dsp:sp modelId="{F45497C9-3257-4480-84EF-93C7D53237AA}">
      <dsp:nvSpPr>
        <dsp:cNvPr id="0" name=""/>
        <dsp:cNvSpPr/>
      </dsp:nvSpPr>
      <dsp:spPr>
        <a:xfrm>
          <a:off x="1074897" y="1736777"/>
          <a:ext cx="1363149" cy="1363149"/>
        </a:xfrm>
        <a:prstGeom prst="ellipse">
          <a:avLst/>
        </a:prstGeom>
        <a:solidFill>
          <a:schemeClr val="accent1">
            <a:tint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D08178-3736-4F40-9843-DB17FD691CAD}">
      <dsp:nvSpPr>
        <dsp:cNvPr id="0" name=""/>
        <dsp:cNvSpPr/>
      </dsp:nvSpPr>
      <dsp:spPr>
        <a:xfrm rot="10800000">
          <a:off x="1756472" y="118"/>
          <a:ext cx="5620480" cy="1363149"/>
        </a:xfrm>
        <a:prstGeom prst="homePlat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1111" tIns="64770" rIns="120904" bIns="64770" numCol="1" spcCol="1270" anchor="ctr" anchorCtr="0">
          <a:noAutofit/>
        </a:bodyPr>
        <a:lstStyle/>
        <a:p>
          <a:pPr marL="0" lvl="0" indent="0" algn="ctr" defTabSz="755650" rtl="0">
            <a:lnSpc>
              <a:spcPct val="90000"/>
            </a:lnSpc>
            <a:spcBef>
              <a:spcPct val="0"/>
            </a:spcBef>
            <a:spcAft>
              <a:spcPct val="35000"/>
            </a:spcAft>
            <a:buNone/>
          </a:pPr>
          <a:r>
            <a:rPr lang="fr-FR" sz="1700" b="1" kern="1200" baseline="0" dirty="0"/>
            <a:t>La prime vacances est due aux apprentis comme pour les  ouvriers (le support de cours comprend des explications pour calculer l</a:t>
          </a:r>
          <a:r>
            <a:rPr lang="fr-FR" sz="1700" b="1" i="1" kern="1200" baseline="0" dirty="0"/>
            <a:t>a prime vacances</a:t>
          </a:r>
          <a:r>
            <a:rPr lang="fr-FR" sz="1700" b="1" kern="1200" baseline="0" dirty="0"/>
            <a:t>)</a:t>
          </a:r>
          <a:endParaRPr lang="fr-FR" sz="1700" kern="1200" dirty="0"/>
        </a:p>
      </dsp:txBody>
      <dsp:txXfrm rot="10800000">
        <a:off x="2097259" y="118"/>
        <a:ext cx="5279693" cy="1363149"/>
      </dsp:txXfrm>
    </dsp:sp>
    <dsp:sp modelId="{6D6D80AE-DBAC-41B2-9CB0-FB3C6325283C}">
      <dsp:nvSpPr>
        <dsp:cNvPr id="0" name=""/>
        <dsp:cNvSpPr/>
      </dsp:nvSpPr>
      <dsp:spPr>
        <a:xfrm>
          <a:off x="1074897" y="118"/>
          <a:ext cx="1363149" cy="1363149"/>
        </a:xfrm>
        <a:prstGeom prst="ellipse">
          <a:avLst/>
        </a:prstGeom>
        <a:solidFill>
          <a:schemeClr val="accent1">
            <a:tint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7821892-0F68-4D13-9EE7-4B5481D5F506}">
      <dsp:nvSpPr>
        <dsp:cNvPr id="0" name=""/>
        <dsp:cNvSpPr/>
      </dsp:nvSpPr>
      <dsp:spPr>
        <a:xfrm rot="10800000">
          <a:off x="1756472" y="1736341"/>
          <a:ext cx="5620480" cy="1363149"/>
        </a:xfrm>
        <a:prstGeom prst="homePlat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1111" tIns="64770" rIns="120904" bIns="64770" numCol="1" spcCol="1270" anchor="ctr" anchorCtr="0">
          <a:noAutofit/>
        </a:bodyPr>
        <a:lstStyle/>
        <a:p>
          <a:pPr marL="0" lvl="0" indent="0" algn="ctr" defTabSz="755650" rtl="0">
            <a:lnSpc>
              <a:spcPct val="90000"/>
            </a:lnSpc>
            <a:spcBef>
              <a:spcPct val="0"/>
            </a:spcBef>
            <a:spcAft>
              <a:spcPct val="35000"/>
            </a:spcAft>
            <a:buNone/>
          </a:pPr>
          <a:r>
            <a:rPr lang="fr-FR" sz="1700" b="1" kern="1200" baseline="0" dirty="0"/>
            <a:t>D’où si l’entreprise n’a pas affilié l’apprenti à la caisse des congés payés, c’est à l’entreprise de verser la prime vacances. Le cabinet comptable doit donc calculer cette prime et la porter sur le bulletin de paye</a:t>
          </a:r>
          <a:endParaRPr lang="fr-FR" sz="1700" kern="1200" dirty="0"/>
        </a:p>
      </dsp:txBody>
      <dsp:txXfrm rot="10800000">
        <a:off x="2097259" y="1736341"/>
        <a:ext cx="5279693" cy="1363149"/>
      </dsp:txXfrm>
    </dsp:sp>
    <dsp:sp modelId="{8611B785-AB10-4779-8208-786251A3DF00}">
      <dsp:nvSpPr>
        <dsp:cNvPr id="0" name=""/>
        <dsp:cNvSpPr/>
      </dsp:nvSpPr>
      <dsp:spPr>
        <a:xfrm>
          <a:off x="1074897" y="1736341"/>
          <a:ext cx="1363149" cy="1363149"/>
        </a:xfrm>
        <a:prstGeom prst="ellipse">
          <a:avLst/>
        </a:prstGeom>
        <a:solidFill>
          <a:schemeClr val="accent1">
            <a:tint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31C8603-9058-4093-9729-BF33D231C6F3}">
      <dsp:nvSpPr>
        <dsp:cNvPr id="0" name=""/>
        <dsp:cNvSpPr/>
      </dsp:nvSpPr>
      <dsp:spPr>
        <a:xfrm rot="5400000">
          <a:off x="4508625" y="-1154787"/>
          <a:ext cx="2477265" cy="5409184"/>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80000" lvl="1" indent="-180000" algn="l" defTabSz="844550" rtl="0">
            <a:lnSpc>
              <a:spcPct val="90000"/>
            </a:lnSpc>
            <a:spcBef>
              <a:spcPct val="0"/>
            </a:spcBef>
            <a:spcAft>
              <a:spcPct val="15000"/>
            </a:spcAft>
            <a:buFont typeface="Wingdings" panose="05000000000000000000" pitchFamily="2" charset="2"/>
            <a:buChar char="§"/>
          </a:pPr>
          <a:r>
            <a:rPr lang="fr-FR" sz="1900" b="1" kern="1200" dirty="0"/>
            <a:t>Le temps du trajet (temps de travail </a:t>
          </a:r>
          <a:br>
            <a:rPr lang="fr-FR" sz="1900" b="1" kern="1200" dirty="0"/>
          </a:br>
          <a:r>
            <a:rPr lang="fr-FR" sz="1900" b="1" kern="1200" dirty="0"/>
            <a:t>ou non selon la définition du code </a:t>
          </a:r>
          <a:br>
            <a:rPr lang="fr-FR" sz="1900" b="1" kern="1200" dirty="0"/>
          </a:br>
          <a:r>
            <a:rPr lang="fr-FR" sz="1900" b="1" kern="1200" dirty="0"/>
            <a:t>du travail)</a:t>
          </a:r>
          <a:endParaRPr lang="fr-FR" sz="1900" kern="1200" dirty="0"/>
        </a:p>
        <a:p>
          <a:pPr marL="180000" lvl="1" indent="-180000" algn="l" defTabSz="844550" rtl="0">
            <a:lnSpc>
              <a:spcPct val="90000"/>
            </a:lnSpc>
            <a:spcBef>
              <a:spcPct val="0"/>
            </a:spcBef>
            <a:spcAft>
              <a:spcPct val="15000"/>
            </a:spcAft>
            <a:buFont typeface="Wingdings" panose="05000000000000000000" pitchFamily="2" charset="2"/>
            <a:buChar char="§"/>
          </a:pPr>
          <a:r>
            <a:rPr lang="fr-FR" sz="1900" b="1" kern="1200" dirty="0"/>
            <a:t>La sujétion du trajet (selon définition </a:t>
          </a:r>
          <a:br>
            <a:rPr lang="fr-FR" sz="1900" b="1" kern="1200" dirty="0"/>
          </a:br>
          <a:r>
            <a:rPr lang="fr-FR" sz="1900" b="1" kern="1200" dirty="0"/>
            <a:t>de la convention collective)</a:t>
          </a:r>
          <a:endParaRPr lang="fr-FR" sz="1900" kern="1200" dirty="0"/>
        </a:p>
        <a:p>
          <a:pPr marL="180000" lvl="1" indent="-180000" algn="l" defTabSz="844550" rtl="0">
            <a:lnSpc>
              <a:spcPct val="90000"/>
            </a:lnSpc>
            <a:spcBef>
              <a:spcPct val="0"/>
            </a:spcBef>
            <a:spcAft>
              <a:spcPct val="15000"/>
            </a:spcAft>
            <a:buFont typeface="Wingdings" panose="05000000000000000000" pitchFamily="2" charset="2"/>
            <a:buChar char="§"/>
          </a:pPr>
          <a:r>
            <a:rPr lang="fr-FR" sz="1900" b="1" kern="1200" dirty="0"/>
            <a:t>Le coût du trajet (l’indemnité de frais de transport)</a:t>
          </a:r>
          <a:endParaRPr lang="fr-FR" sz="1900" kern="1200" dirty="0"/>
        </a:p>
        <a:p>
          <a:pPr marL="171450" lvl="1" indent="0" algn="l" defTabSz="711200" rtl="0">
            <a:lnSpc>
              <a:spcPct val="90000"/>
            </a:lnSpc>
            <a:spcBef>
              <a:spcPct val="0"/>
            </a:spcBef>
            <a:spcAft>
              <a:spcPct val="15000"/>
            </a:spcAft>
            <a:buFontTx/>
            <a:buNone/>
          </a:pPr>
          <a:r>
            <a:rPr lang="fr-FR" sz="1600" b="0" i="1" u="none" kern="1200" dirty="0"/>
            <a:t>Seul ce dernier a le caractère de remboursement de frais professionnels</a:t>
          </a:r>
          <a:endParaRPr lang="fr-FR" sz="1900" kern="1200" dirty="0"/>
        </a:p>
      </dsp:txBody>
      <dsp:txXfrm rot="-5400000">
        <a:off x="3042666" y="432102"/>
        <a:ext cx="5288254" cy="2235405"/>
      </dsp:txXfrm>
    </dsp:sp>
    <dsp:sp modelId="{EF01B56B-7104-4053-B626-03E2BF622306}">
      <dsp:nvSpPr>
        <dsp:cNvPr id="0" name=""/>
        <dsp:cNvSpPr/>
      </dsp:nvSpPr>
      <dsp:spPr>
        <a:xfrm>
          <a:off x="0" y="1513"/>
          <a:ext cx="3042666" cy="3096582"/>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60960" rIns="121920" bIns="60960" numCol="1" spcCol="1270" anchor="ctr" anchorCtr="0">
          <a:noAutofit/>
        </a:bodyPr>
        <a:lstStyle/>
        <a:p>
          <a:pPr marL="0" lvl="0" indent="0" algn="ctr" defTabSz="1422400" rtl="0">
            <a:lnSpc>
              <a:spcPct val="90000"/>
            </a:lnSpc>
            <a:spcBef>
              <a:spcPct val="0"/>
            </a:spcBef>
            <a:spcAft>
              <a:spcPct val="35000"/>
            </a:spcAft>
            <a:buNone/>
          </a:pPr>
          <a:r>
            <a:rPr lang="fr-FR" sz="3200" b="1" kern="1200" baseline="0" dirty="0"/>
            <a:t>3 définitions du trajet </a:t>
          </a:r>
          <a:endParaRPr lang="fr-FR" sz="3200" kern="1200" dirty="0"/>
        </a:p>
      </dsp:txBody>
      <dsp:txXfrm>
        <a:off x="148531" y="150044"/>
        <a:ext cx="2745604" cy="2799520"/>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7C7870-AAC3-45BF-9B9E-78598C4AC2AF}">
      <dsp:nvSpPr>
        <dsp:cNvPr id="0" name=""/>
        <dsp:cNvSpPr/>
      </dsp:nvSpPr>
      <dsp:spPr>
        <a:xfrm>
          <a:off x="4126" y="0"/>
          <a:ext cx="8443596" cy="2920368"/>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t" anchorCtr="0">
          <a:noAutofit/>
        </a:bodyPr>
        <a:lstStyle/>
        <a:p>
          <a:pPr marL="0" lvl="0" indent="0" algn="l" defTabSz="1200150" rtl="0">
            <a:lnSpc>
              <a:spcPct val="90000"/>
            </a:lnSpc>
            <a:spcBef>
              <a:spcPct val="0"/>
            </a:spcBef>
            <a:spcAft>
              <a:spcPct val="35000"/>
            </a:spcAft>
            <a:buNone/>
          </a:pPr>
          <a:r>
            <a:rPr lang="fr-FR" sz="2700" b="1" kern="1200" baseline="0" dirty="0"/>
            <a:t>Le principe du temps de trajet est</a:t>
          </a:r>
          <a:endParaRPr lang="fr-FR" sz="2700" kern="1200" dirty="0"/>
        </a:p>
        <a:p>
          <a:pPr marL="228600" lvl="1" indent="-228600" algn="l" defTabSz="889000" rtl="0">
            <a:lnSpc>
              <a:spcPct val="90000"/>
            </a:lnSpc>
            <a:spcBef>
              <a:spcPct val="0"/>
            </a:spcBef>
            <a:spcAft>
              <a:spcPct val="15000"/>
            </a:spcAft>
            <a:buFont typeface="Wingdings" panose="05000000000000000000" pitchFamily="2" charset="2"/>
            <a:buChar char="§"/>
          </a:pPr>
          <a:r>
            <a:rPr lang="fr-FR" sz="2000" b="1" kern="1200" baseline="0" dirty="0"/>
            <a:t>Les temps de trajet ne sont pas, en principe, décomptés comme temps de travail effectif dès lors que le salarié a la possibilité de se rendre directement sur le chantier sans avoir à passer obligatoirement par l’entreprise. Il en est de même quand il a la simple faculté, et non l’obligation, de se rendre à l’entreprise pour bénéficier des moyens de transport assurés par l’employeur pour se rendre sur les chantiers</a:t>
          </a:r>
          <a:endParaRPr lang="fr-FR" sz="2000" kern="1200" dirty="0"/>
        </a:p>
      </dsp:txBody>
      <dsp:txXfrm>
        <a:off x="89661" y="85535"/>
        <a:ext cx="8272526" cy="2749298"/>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6389C9-9AF4-46D8-B98A-EF56764D617E}">
      <dsp:nvSpPr>
        <dsp:cNvPr id="0" name=""/>
        <dsp:cNvSpPr/>
      </dsp:nvSpPr>
      <dsp:spPr>
        <a:xfrm rot="5400000">
          <a:off x="4457634" y="-1320339"/>
          <a:ext cx="2479687" cy="5740288"/>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80000" lvl="1" indent="-180000" algn="just" defTabSz="622300" rtl="0">
            <a:lnSpc>
              <a:spcPct val="90000"/>
            </a:lnSpc>
            <a:spcBef>
              <a:spcPct val="0"/>
            </a:spcBef>
            <a:spcAft>
              <a:spcPct val="15000"/>
            </a:spcAft>
            <a:buFont typeface="Wingdings" panose="05000000000000000000" pitchFamily="2" charset="2"/>
            <a:buChar char="§"/>
          </a:pPr>
          <a:r>
            <a:rPr lang="fr-FR" sz="1400" b="1" kern="1200" baseline="0" dirty="0"/>
            <a:t>Quand les salariés sont tenus de se rendre au siège de l’entreprise à la demande expresse de l’employeur avant d’être transportés sur le chantier, le temps de trajet entre l’entreprise et le chantier doit être considéré comme étant du temps de travail effectif. Il en est de même lorsque le salarié conduit à la demande de son employeur un véhicule pour transporter du personnel ou du matériel de l’entreprise à un chantier ou entre les différents chantiers</a:t>
          </a:r>
          <a:endParaRPr lang="fr-FR" sz="1400" kern="1200" dirty="0"/>
        </a:p>
      </dsp:txBody>
      <dsp:txXfrm rot="-5400000">
        <a:off x="2827334" y="431009"/>
        <a:ext cx="5619240" cy="2237591"/>
      </dsp:txXfrm>
    </dsp:sp>
    <dsp:sp modelId="{9DF57C4A-E6E1-40E6-9614-D07096BC90D9}">
      <dsp:nvSpPr>
        <dsp:cNvPr id="0" name=""/>
        <dsp:cNvSpPr/>
      </dsp:nvSpPr>
      <dsp:spPr>
        <a:xfrm>
          <a:off x="1007" y="0"/>
          <a:ext cx="2826326" cy="309960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47625" rIns="95250" bIns="47625" numCol="1" spcCol="1270" anchor="ctr" anchorCtr="0">
          <a:noAutofit/>
        </a:bodyPr>
        <a:lstStyle/>
        <a:p>
          <a:pPr marL="0" lvl="0" indent="0" algn="ctr" defTabSz="1111250" rtl="0">
            <a:lnSpc>
              <a:spcPct val="90000"/>
            </a:lnSpc>
            <a:spcBef>
              <a:spcPct val="0"/>
            </a:spcBef>
            <a:spcAft>
              <a:spcPct val="35000"/>
            </a:spcAft>
            <a:buNone/>
          </a:pPr>
          <a:r>
            <a:rPr lang="fr-FR" sz="2500" b="1" kern="1200" baseline="0" dirty="0"/>
            <a:t>Dans certains cas, le temps de trajet est</a:t>
          </a:r>
          <a:br>
            <a:rPr lang="fr-FR" sz="2500" b="1" kern="1200" baseline="0" dirty="0"/>
          </a:br>
          <a:r>
            <a:rPr lang="fr-FR" sz="2500" b="1" kern="1200" baseline="0" dirty="0"/>
            <a:t>du temps de travail effectif et doit être rémunéré comme tel </a:t>
          </a:r>
          <a:endParaRPr lang="fr-FR" sz="2500" kern="1200" dirty="0"/>
        </a:p>
      </dsp:txBody>
      <dsp:txXfrm>
        <a:off x="138977" y="137970"/>
        <a:ext cx="2550386" cy="2823669"/>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9440ED3-A5C9-4C67-8E8E-BE319BE9E173}">
      <dsp:nvSpPr>
        <dsp:cNvPr id="0" name=""/>
        <dsp:cNvSpPr/>
      </dsp:nvSpPr>
      <dsp:spPr>
        <a:xfrm rot="5400000">
          <a:off x="4507414" y="-1154787"/>
          <a:ext cx="2479687" cy="5409184"/>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32385" rIns="64770" bIns="32385" numCol="1" spcCol="1270" anchor="ctr" anchorCtr="0">
          <a:noAutofit/>
        </a:bodyPr>
        <a:lstStyle/>
        <a:p>
          <a:pPr marL="171450" lvl="1" indent="-171450" algn="just" defTabSz="755650" rtl="0">
            <a:lnSpc>
              <a:spcPct val="90000"/>
            </a:lnSpc>
            <a:spcBef>
              <a:spcPct val="0"/>
            </a:spcBef>
            <a:spcAft>
              <a:spcPct val="15000"/>
            </a:spcAft>
            <a:buFont typeface="Wingdings" panose="05000000000000000000" pitchFamily="2" charset="2"/>
            <a:buChar char="§"/>
          </a:pPr>
          <a:r>
            <a:rPr lang="fr-FR" sz="1700" b="1" kern="1200" baseline="0" dirty="0"/>
            <a:t>Selon la convention collective, elle indemnise « la sujétion » que représente la nécessité de se rendre sur un chantier et d’en revenir </a:t>
          </a:r>
          <a:endParaRPr lang="fr-FR" sz="1700" kern="1200" dirty="0"/>
        </a:p>
        <a:p>
          <a:pPr marL="171450" lvl="1" indent="-171450" algn="just" defTabSz="755650" rtl="0">
            <a:lnSpc>
              <a:spcPct val="90000"/>
            </a:lnSpc>
            <a:spcBef>
              <a:spcPct val="0"/>
            </a:spcBef>
            <a:spcAft>
              <a:spcPct val="15000"/>
            </a:spcAft>
            <a:buFont typeface="Wingdings" panose="05000000000000000000" pitchFamily="2" charset="2"/>
            <a:buChar char="§"/>
          </a:pPr>
          <a:r>
            <a:rPr lang="fr-FR" sz="1700" b="1" kern="1200" baseline="0" dirty="0"/>
            <a:t>Les partenaires sociaux ne sont pas venus clarifier les conditions du versement de cette indemnité forfaitaire</a:t>
          </a:r>
          <a:endParaRPr lang="fr-FR" sz="1700" kern="1200" dirty="0"/>
        </a:p>
        <a:p>
          <a:pPr marL="171450" lvl="1" indent="-171450" algn="just" defTabSz="755650" rtl="0">
            <a:lnSpc>
              <a:spcPct val="90000"/>
            </a:lnSpc>
            <a:spcBef>
              <a:spcPct val="0"/>
            </a:spcBef>
            <a:spcAft>
              <a:spcPct val="15000"/>
            </a:spcAft>
            <a:buFont typeface="Wingdings" panose="05000000000000000000" pitchFamily="2" charset="2"/>
            <a:buChar char="§"/>
          </a:pPr>
          <a:r>
            <a:rPr lang="fr-FR" sz="1700" b="1" kern="1200" baseline="0" dirty="0"/>
            <a:t>Le glossaire du service public donne comme définition pour le mot sujétion : contrainte, astreinte, nécessité, obligation, soumission </a:t>
          </a:r>
          <a:endParaRPr lang="fr-FR" sz="1700" kern="1200" dirty="0"/>
        </a:p>
      </dsp:txBody>
      <dsp:txXfrm rot="-5400000">
        <a:off x="3042666" y="431009"/>
        <a:ext cx="5288136" cy="2237591"/>
      </dsp:txXfrm>
    </dsp:sp>
    <dsp:sp modelId="{C9AE70BB-91C9-42E1-97A2-55210F93B02C}">
      <dsp:nvSpPr>
        <dsp:cNvPr id="0" name=""/>
        <dsp:cNvSpPr/>
      </dsp:nvSpPr>
      <dsp:spPr>
        <a:xfrm>
          <a:off x="0" y="0"/>
          <a:ext cx="3042666" cy="309960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60960" rIns="121920" bIns="60960" numCol="1" spcCol="1270" anchor="ctr" anchorCtr="0">
          <a:noAutofit/>
        </a:bodyPr>
        <a:lstStyle/>
        <a:p>
          <a:pPr marL="0" lvl="0" indent="0" algn="ctr" defTabSz="1422400" rtl="0">
            <a:lnSpc>
              <a:spcPct val="90000"/>
            </a:lnSpc>
            <a:spcBef>
              <a:spcPct val="0"/>
            </a:spcBef>
            <a:spcAft>
              <a:spcPct val="35000"/>
            </a:spcAft>
            <a:buNone/>
          </a:pPr>
          <a:r>
            <a:rPr lang="fr-FR" sz="3200" b="1" kern="1200" baseline="0" dirty="0"/>
            <a:t>L’indemnité de trajet   </a:t>
          </a:r>
          <a:r>
            <a:rPr lang="fr-FR" sz="2400" b="1" kern="1200" baseline="0" dirty="0"/>
            <a:t>(CC ouvriers 08/10/1990 + CC ouvriers TP)</a:t>
          </a:r>
          <a:endParaRPr lang="fr-FR" sz="2400" kern="1200" dirty="0"/>
        </a:p>
      </dsp:txBody>
      <dsp:txXfrm>
        <a:off x="148531" y="148531"/>
        <a:ext cx="2745604" cy="2802547"/>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9FD691D-1C09-4332-A4A7-C50A24F910DA}">
      <dsp:nvSpPr>
        <dsp:cNvPr id="0" name=""/>
        <dsp:cNvSpPr/>
      </dsp:nvSpPr>
      <dsp:spPr>
        <a:xfrm>
          <a:off x="0" y="1997"/>
          <a:ext cx="8451850" cy="2298311"/>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just" defTabSz="889000" rtl="0">
            <a:lnSpc>
              <a:spcPct val="90000"/>
            </a:lnSpc>
            <a:spcBef>
              <a:spcPct val="0"/>
            </a:spcBef>
            <a:spcAft>
              <a:spcPct val="35000"/>
            </a:spcAft>
            <a:buNone/>
          </a:pPr>
          <a:r>
            <a:rPr lang="fr-FR" sz="2000" b="1" kern="1200" baseline="0" dirty="0"/>
            <a:t>La Cour de cassation a indiqué que l’indemnité forfaitaire de trajet a pour objet de compenser la sujétion que constitue pour le salarié l’obligation de se rendre chaque jour sur les chantiers et d’en revenir et doit, de ce fait, être versée indépendamment de la rémunération du temps de trajet inclus dans l’horaire de travail et du moyen de transport utilisé </a:t>
          </a:r>
        </a:p>
        <a:p>
          <a:pPr marL="0" lvl="0" indent="0" algn="l" defTabSz="889000" rtl="0">
            <a:lnSpc>
              <a:spcPct val="90000"/>
            </a:lnSpc>
            <a:spcBef>
              <a:spcPct val="0"/>
            </a:spcBef>
            <a:spcAft>
              <a:spcPct val="35000"/>
            </a:spcAft>
            <a:buNone/>
          </a:pPr>
          <a:r>
            <a:rPr lang="fr-FR" sz="2000" b="1" kern="1200" baseline="0" dirty="0"/>
            <a:t>(Cass. Soc. 6 mai 1998, Abadie C./Martins)</a:t>
          </a:r>
          <a:endParaRPr lang="fr-FR" sz="2000" kern="1200" dirty="0"/>
        </a:p>
      </dsp:txBody>
      <dsp:txXfrm>
        <a:off x="112194" y="114191"/>
        <a:ext cx="8227462" cy="2073923"/>
      </dsp:txXfrm>
    </dsp:sp>
    <dsp:sp modelId="{A7100244-EAEB-43CD-B91E-A3E6423712AC}">
      <dsp:nvSpPr>
        <dsp:cNvPr id="0" name=""/>
        <dsp:cNvSpPr/>
      </dsp:nvSpPr>
      <dsp:spPr>
        <a:xfrm>
          <a:off x="0" y="2300308"/>
          <a:ext cx="8451850" cy="7973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8346" tIns="22860" rIns="128016" bIns="22860" numCol="1" spcCol="1270" anchor="t" anchorCtr="0">
          <a:noAutofit/>
        </a:bodyPr>
        <a:lstStyle/>
        <a:p>
          <a:pPr marL="171450" lvl="1" indent="-171450" algn="l" defTabSz="800100" rtl="0">
            <a:lnSpc>
              <a:spcPct val="90000"/>
            </a:lnSpc>
            <a:spcBef>
              <a:spcPct val="0"/>
            </a:spcBef>
            <a:spcAft>
              <a:spcPct val="20000"/>
            </a:spcAft>
            <a:buClr>
              <a:schemeClr val="accent1"/>
            </a:buClr>
            <a:buFont typeface="Wingdings" panose="05000000000000000000" pitchFamily="2" charset="2"/>
            <a:buChar char="§"/>
          </a:pPr>
          <a:endParaRPr lang="fr-FR" sz="1800" kern="1200" dirty="0"/>
        </a:p>
        <a:p>
          <a:pPr marL="171450" lvl="1" indent="-171450" algn="l" defTabSz="800100" rtl="0">
            <a:lnSpc>
              <a:spcPct val="90000"/>
            </a:lnSpc>
            <a:spcBef>
              <a:spcPct val="0"/>
            </a:spcBef>
            <a:spcAft>
              <a:spcPct val="20000"/>
            </a:spcAft>
            <a:buClr>
              <a:schemeClr val="accent1"/>
            </a:buClr>
            <a:buFont typeface="Wingdings" panose="05000000000000000000" pitchFamily="2" charset="2"/>
            <a:buChar char="§"/>
          </a:pPr>
          <a:r>
            <a:rPr lang="fr-FR" sz="1800" b="1" kern="1200" dirty="0"/>
            <a:t>Conclusion : la notion « temps de trajet » et la notion « sujétion » (obligation) sont 2 notions différentes</a:t>
          </a:r>
          <a:endParaRPr lang="fr-FR" sz="1800" kern="1200" dirty="0"/>
        </a:p>
      </dsp:txBody>
      <dsp:txXfrm>
        <a:off x="0" y="2300308"/>
        <a:ext cx="8451850" cy="797302"/>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F2E320-0A56-49BD-A6E1-DA28A64F9B61}">
      <dsp:nvSpPr>
        <dsp:cNvPr id="0" name=""/>
        <dsp:cNvSpPr/>
      </dsp:nvSpPr>
      <dsp:spPr>
        <a:xfrm>
          <a:off x="0" y="0"/>
          <a:ext cx="3099609" cy="3099609"/>
        </a:xfrm>
        <a:prstGeom prst="pie">
          <a:avLst>
            <a:gd name="adj1" fmla="val 5400000"/>
            <a:gd name="adj2" fmla="val 1620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3CDCB1E-684D-4B43-B508-BA2702718C3B}">
      <dsp:nvSpPr>
        <dsp:cNvPr id="0" name=""/>
        <dsp:cNvSpPr/>
      </dsp:nvSpPr>
      <dsp:spPr>
        <a:xfrm>
          <a:off x="1549804" y="0"/>
          <a:ext cx="6902045" cy="3099609"/>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fr-FR" sz="1800" b="1" kern="1200" baseline="0" dirty="0"/>
            <a:t>Étude de cas : </a:t>
          </a:r>
        </a:p>
        <a:p>
          <a:pPr marL="0" lvl="0" indent="0" algn="ctr" defTabSz="800100" rtl="0">
            <a:lnSpc>
              <a:spcPct val="90000"/>
            </a:lnSpc>
            <a:spcBef>
              <a:spcPct val="0"/>
            </a:spcBef>
            <a:spcAft>
              <a:spcPct val="35000"/>
            </a:spcAft>
            <a:buNone/>
          </a:pPr>
          <a:r>
            <a:rPr lang="fr-FR" sz="1800" b="1" kern="1200" baseline="0" dirty="0"/>
            <a:t>indemnités de grands déplacements et bulletin de paye</a:t>
          </a:r>
          <a:endParaRPr lang="fr-FR" sz="1800" kern="1200" dirty="0"/>
        </a:p>
      </dsp:txBody>
      <dsp:txXfrm>
        <a:off x="1549804" y="0"/>
        <a:ext cx="3451022" cy="1472314"/>
      </dsp:txXfrm>
    </dsp:sp>
    <dsp:sp modelId="{98F5456F-F93E-4C39-8A59-C1C5CFABEE2D}">
      <dsp:nvSpPr>
        <dsp:cNvPr id="0" name=""/>
        <dsp:cNvSpPr/>
      </dsp:nvSpPr>
      <dsp:spPr>
        <a:xfrm>
          <a:off x="813647" y="1472314"/>
          <a:ext cx="1472314" cy="1472314"/>
        </a:xfrm>
        <a:prstGeom prst="pie">
          <a:avLst>
            <a:gd name="adj1" fmla="val 5400000"/>
            <a:gd name="adj2" fmla="val 1620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E5F341F-9BCB-4CA7-812E-DAB8476C3030}">
      <dsp:nvSpPr>
        <dsp:cNvPr id="0" name=""/>
        <dsp:cNvSpPr/>
      </dsp:nvSpPr>
      <dsp:spPr>
        <a:xfrm>
          <a:off x="1549804" y="1472314"/>
          <a:ext cx="6902045" cy="1472314"/>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fr-FR" sz="1800" b="1" kern="1200" baseline="0" dirty="0"/>
            <a:t>Étude de cas séquence :</a:t>
          </a:r>
        </a:p>
        <a:p>
          <a:pPr marL="0" lvl="0" indent="0" algn="ctr" defTabSz="800100" rtl="0">
            <a:lnSpc>
              <a:spcPct val="90000"/>
            </a:lnSpc>
            <a:spcBef>
              <a:spcPct val="0"/>
            </a:spcBef>
            <a:spcAft>
              <a:spcPct val="35000"/>
            </a:spcAft>
            <a:buNone/>
          </a:pPr>
          <a:r>
            <a:rPr lang="fr-FR" sz="1800" b="1" kern="1200" baseline="0" dirty="0"/>
            <a:t> indemnisation du temps de voyage en grands déplacements</a:t>
          </a:r>
          <a:endParaRPr lang="fr-FR" sz="1800" kern="1200" dirty="0"/>
        </a:p>
      </dsp:txBody>
      <dsp:txXfrm>
        <a:off x="1549804" y="1472314"/>
        <a:ext cx="3451022" cy="1472314"/>
      </dsp:txXfrm>
    </dsp:sp>
    <dsp:sp modelId="{1F8D5DFD-36AE-4615-8AA0-8663158F19CC}">
      <dsp:nvSpPr>
        <dsp:cNvPr id="0" name=""/>
        <dsp:cNvSpPr/>
      </dsp:nvSpPr>
      <dsp:spPr>
        <a:xfrm>
          <a:off x="5000827" y="0"/>
          <a:ext cx="3451022" cy="1472314"/>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247650" tIns="247650" rIns="247650" bIns="247650" numCol="1" spcCol="1270" anchor="ctr" anchorCtr="0">
          <a:noAutofit/>
        </a:bodyPr>
        <a:lstStyle/>
        <a:p>
          <a:pPr marL="171450" lvl="1" indent="-171450" algn="l" defTabSz="711200" rtl="0">
            <a:lnSpc>
              <a:spcPct val="90000"/>
            </a:lnSpc>
            <a:spcBef>
              <a:spcPct val="0"/>
            </a:spcBef>
            <a:spcAft>
              <a:spcPct val="15000"/>
            </a:spcAft>
            <a:buFont typeface="Wingdings" panose="05000000000000000000" pitchFamily="2" charset="2"/>
            <a:buChar char="§"/>
          </a:pPr>
          <a:r>
            <a:rPr lang="fr-FR" sz="1600" b="0" i="1" kern="1200" baseline="0" dirty="0"/>
            <a:t>Ce cas permet de prendre connaissance du barème 2019 (grands déplacements) et de voir l’impact sur une fiche de paye</a:t>
          </a:r>
          <a:endParaRPr lang="fr-FR" sz="1600" kern="1200" dirty="0"/>
        </a:p>
      </dsp:txBody>
      <dsp:txXfrm>
        <a:off x="5000827" y="0"/>
        <a:ext cx="3451022" cy="1472314"/>
      </dsp:txXfrm>
    </dsp:sp>
    <dsp:sp modelId="{E65FABBA-6DE4-4F01-A67D-C2E9BBE9AD5C}">
      <dsp:nvSpPr>
        <dsp:cNvPr id="0" name=""/>
        <dsp:cNvSpPr/>
      </dsp:nvSpPr>
      <dsp:spPr>
        <a:xfrm>
          <a:off x="5000827" y="1472314"/>
          <a:ext cx="3451022" cy="1472314"/>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247650" tIns="247650" rIns="247650" bIns="247650" numCol="1" spcCol="1270" anchor="ctr" anchorCtr="0">
          <a:noAutofit/>
        </a:bodyPr>
        <a:lstStyle/>
        <a:p>
          <a:pPr marL="171450" lvl="1" indent="-171450" algn="l" defTabSz="711200" rtl="0">
            <a:lnSpc>
              <a:spcPct val="90000"/>
            </a:lnSpc>
            <a:spcBef>
              <a:spcPct val="0"/>
            </a:spcBef>
            <a:spcAft>
              <a:spcPct val="15000"/>
            </a:spcAft>
            <a:buFont typeface="Wingdings" panose="05000000000000000000" pitchFamily="2" charset="2"/>
            <a:buChar char="§"/>
          </a:pPr>
          <a:r>
            <a:rPr lang="fr-FR" sz="1600" b="0" i="1" kern="1200" baseline="0" dirty="0"/>
            <a:t>Ce cas permet de prendre connaissance de la convention collective et de l’appliquer</a:t>
          </a:r>
          <a:endParaRPr lang="fr-FR" sz="1600" kern="1200" dirty="0"/>
        </a:p>
      </dsp:txBody>
      <dsp:txXfrm>
        <a:off x="5000827" y="1472314"/>
        <a:ext cx="3451022" cy="1472314"/>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64FB7F5-A1C9-43D6-9F59-B3A29ED4E11A}">
      <dsp:nvSpPr>
        <dsp:cNvPr id="0" name=""/>
        <dsp:cNvSpPr/>
      </dsp:nvSpPr>
      <dsp:spPr>
        <a:xfrm>
          <a:off x="0" y="0"/>
          <a:ext cx="3099609" cy="3099609"/>
        </a:xfrm>
        <a:prstGeom prst="pie">
          <a:avLst>
            <a:gd name="adj1" fmla="val 5400000"/>
            <a:gd name="adj2" fmla="val 1620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FE67C33-985B-46F8-BD96-F3AF62C7F0DE}">
      <dsp:nvSpPr>
        <dsp:cNvPr id="0" name=""/>
        <dsp:cNvSpPr/>
      </dsp:nvSpPr>
      <dsp:spPr>
        <a:xfrm>
          <a:off x="1549804" y="0"/>
          <a:ext cx="6902045" cy="3099609"/>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ts val="0"/>
            </a:spcAft>
            <a:buNone/>
          </a:pPr>
          <a:r>
            <a:rPr lang="fr-FR" sz="1600" b="1" kern="1200" baseline="0" dirty="0"/>
            <a:t>Les indemnités de petits déplacements sont à inclure </a:t>
          </a:r>
        </a:p>
        <a:p>
          <a:pPr marL="0" lvl="0" indent="0" algn="ctr" defTabSz="711200" rtl="0">
            <a:lnSpc>
              <a:spcPct val="90000"/>
            </a:lnSpc>
            <a:spcBef>
              <a:spcPct val="0"/>
            </a:spcBef>
            <a:spcAft>
              <a:spcPts val="0"/>
            </a:spcAft>
            <a:buNone/>
          </a:pPr>
          <a:r>
            <a:rPr lang="fr-FR" sz="1600" b="1" kern="1200" baseline="0" dirty="0"/>
            <a:t>dans le brut en cas de pratique </a:t>
          </a:r>
        </a:p>
        <a:p>
          <a:pPr marL="0" lvl="0" indent="0" algn="ctr" defTabSz="711200" rtl="0">
            <a:lnSpc>
              <a:spcPct val="90000"/>
            </a:lnSpc>
            <a:spcBef>
              <a:spcPct val="0"/>
            </a:spcBef>
            <a:spcAft>
              <a:spcPts val="0"/>
            </a:spcAft>
            <a:buNone/>
          </a:pPr>
          <a:r>
            <a:rPr lang="fr-FR" sz="1600" b="1" kern="1200" baseline="0" dirty="0"/>
            <a:t>de l’abattement de 10 % </a:t>
          </a:r>
          <a:endParaRPr lang="fr-FR" sz="1600" kern="1200" dirty="0"/>
        </a:p>
      </dsp:txBody>
      <dsp:txXfrm>
        <a:off x="1549804" y="0"/>
        <a:ext cx="3451022" cy="1472314"/>
      </dsp:txXfrm>
    </dsp:sp>
    <dsp:sp modelId="{A4D7D5E2-B6E0-481D-A75D-5644F3BBD068}">
      <dsp:nvSpPr>
        <dsp:cNvPr id="0" name=""/>
        <dsp:cNvSpPr/>
      </dsp:nvSpPr>
      <dsp:spPr>
        <a:xfrm>
          <a:off x="813647" y="1472314"/>
          <a:ext cx="1472314" cy="1472314"/>
        </a:xfrm>
        <a:prstGeom prst="pie">
          <a:avLst>
            <a:gd name="adj1" fmla="val 5400000"/>
            <a:gd name="adj2" fmla="val 1620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B76AF78-CE51-40C2-9DA8-6A56FFB5AFC0}">
      <dsp:nvSpPr>
        <dsp:cNvPr id="0" name=""/>
        <dsp:cNvSpPr/>
      </dsp:nvSpPr>
      <dsp:spPr>
        <a:xfrm>
          <a:off x="1549804" y="1472314"/>
          <a:ext cx="6902045" cy="1472314"/>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ts val="0"/>
            </a:spcAft>
            <a:buNone/>
          </a:pPr>
          <a:r>
            <a:rPr lang="fr-FR" sz="1600" b="1" kern="1200" baseline="0" dirty="0"/>
            <a:t>Faire le cas : </a:t>
          </a:r>
        </a:p>
        <a:p>
          <a:pPr marL="0" lvl="0" indent="0" algn="ctr" defTabSz="711200" rtl="0">
            <a:lnSpc>
              <a:spcPct val="90000"/>
            </a:lnSpc>
            <a:spcBef>
              <a:spcPct val="0"/>
            </a:spcBef>
            <a:spcAft>
              <a:spcPts val="0"/>
            </a:spcAft>
            <a:buNone/>
          </a:pPr>
          <a:r>
            <a:rPr lang="fr-FR" sz="1600" b="1" kern="1200" baseline="0" dirty="0"/>
            <a:t>petits déplacements </a:t>
          </a:r>
        </a:p>
        <a:p>
          <a:pPr marL="0" lvl="0" indent="0" algn="ctr" defTabSz="711200" rtl="0">
            <a:lnSpc>
              <a:spcPct val="90000"/>
            </a:lnSpc>
            <a:spcBef>
              <a:spcPct val="0"/>
            </a:spcBef>
            <a:spcAft>
              <a:spcPts val="0"/>
            </a:spcAft>
            <a:buNone/>
          </a:pPr>
          <a:r>
            <a:rPr lang="fr-FR" sz="1600" b="1" kern="1200" baseline="0" dirty="0"/>
            <a:t>et brut abattu</a:t>
          </a:r>
          <a:endParaRPr lang="fr-FR" sz="1600" kern="1200" dirty="0"/>
        </a:p>
      </dsp:txBody>
      <dsp:txXfrm>
        <a:off x="1549804" y="1472314"/>
        <a:ext cx="3451022" cy="1472314"/>
      </dsp:txXfrm>
    </dsp:sp>
    <dsp:sp modelId="{0C4970FC-007C-479E-A845-75137ECD3C01}">
      <dsp:nvSpPr>
        <dsp:cNvPr id="0" name=""/>
        <dsp:cNvSpPr/>
      </dsp:nvSpPr>
      <dsp:spPr>
        <a:xfrm>
          <a:off x="5000827" y="1472314"/>
          <a:ext cx="3451022" cy="1472314"/>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180000" lvl="1" indent="-180000" algn="just" defTabSz="577850" rtl="0">
            <a:lnSpc>
              <a:spcPct val="90000"/>
            </a:lnSpc>
            <a:spcBef>
              <a:spcPct val="0"/>
            </a:spcBef>
            <a:spcAft>
              <a:spcPct val="15000"/>
            </a:spcAft>
            <a:buFont typeface="Wingdings" panose="05000000000000000000" pitchFamily="2" charset="2"/>
            <a:buChar char="§"/>
          </a:pPr>
          <a:r>
            <a:rPr lang="fr-FR" sz="1300" b="1" kern="1200" dirty="0"/>
            <a:t>Ce cas comprend un tableau qui permet de comparer le traitement des frais professionnels selon que l’abattement est pratiqué ou non</a:t>
          </a:r>
          <a:endParaRPr lang="fr-FR" sz="1300" kern="1200" dirty="0"/>
        </a:p>
        <a:p>
          <a:pPr marL="180000" lvl="1" indent="-180000" algn="just" defTabSz="577850" rtl="0">
            <a:lnSpc>
              <a:spcPct val="90000"/>
            </a:lnSpc>
            <a:spcBef>
              <a:spcPct val="0"/>
            </a:spcBef>
            <a:spcAft>
              <a:spcPct val="15000"/>
            </a:spcAft>
            <a:buFont typeface="Wingdings" panose="05000000000000000000" pitchFamily="2" charset="2"/>
            <a:buChar char="§"/>
          </a:pPr>
          <a:r>
            <a:rPr lang="fr-FR" sz="1300" b="1" kern="1200" dirty="0"/>
            <a:t>Ce cas donne les contrôles à faire pour valider les  bases de cotisation et propose un résumé du dossier de travail</a:t>
          </a:r>
          <a:endParaRPr lang="fr-FR" sz="1300" kern="1200" dirty="0"/>
        </a:p>
      </dsp:txBody>
      <dsp:txXfrm>
        <a:off x="5000827" y="1472314"/>
        <a:ext cx="3451022" cy="1472314"/>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9EE7717-858A-41A8-B57C-54D56118D361}">
      <dsp:nvSpPr>
        <dsp:cNvPr id="0" name=""/>
        <dsp:cNvSpPr/>
      </dsp:nvSpPr>
      <dsp:spPr>
        <a:xfrm>
          <a:off x="0" y="0"/>
          <a:ext cx="3099609" cy="3099609"/>
        </a:xfrm>
        <a:prstGeom prst="pie">
          <a:avLst>
            <a:gd name="adj1" fmla="val 5400000"/>
            <a:gd name="adj2" fmla="val 1620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F59F3EB-4DB8-4229-8C48-C2E637B67847}">
      <dsp:nvSpPr>
        <dsp:cNvPr id="0" name=""/>
        <dsp:cNvSpPr/>
      </dsp:nvSpPr>
      <dsp:spPr>
        <a:xfrm>
          <a:off x="1549804" y="0"/>
          <a:ext cx="6902045" cy="3099609"/>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ts val="0"/>
            </a:spcAft>
            <a:buNone/>
          </a:pPr>
          <a:r>
            <a:rPr lang="fr-FR" sz="1600" b="1" kern="1200" baseline="0" dirty="0"/>
            <a:t>Les indemnités de petit déplacements sont à inclure </a:t>
          </a:r>
        </a:p>
        <a:p>
          <a:pPr marL="0" lvl="0" indent="0" algn="ctr" defTabSz="711200" rtl="0">
            <a:lnSpc>
              <a:spcPct val="90000"/>
            </a:lnSpc>
            <a:spcBef>
              <a:spcPct val="0"/>
            </a:spcBef>
            <a:spcAft>
              <a:spcPts val="0"/>
            </a:spcAft>
            <a:buNone/>
          </a:pPr>
          <a:r>
            <a:rPr lang="fr-FR" sz="1600" b="1" kern="1200" baseline="0" dirty="0"/>
            <a:t>dans le brut en cas de pratique</a:t>
          </a:r>
        </a:p>
        <a:p>
          <a:pPr marL="0" lvl="0" indent="0" algn="ctr" defTabSz="711200" rtl="0">
            <a:lnSpc>
              <a:spcPct val="90000"/>
            </a:lnSpc>
            <a:spcBef>
              <a:spcPct val="0"/>
            </a:spcBef>
            <a:spcAft>
              <a:spcPts val="0"/>
            </a:spcAft>
            <a:buNone/>
          </a:pPr>
          <a:r>
            <a:rPr lang="fr-FR" sz="1600" b="1" kern="1200" baseline="0" dirty="0"/>
            <a:t> de l’abattement de 10 % </a:t>
          </a:r>
          <a:endParaRPr lang="fr-FR" sz="1600" kern="1200" dirty="0"/>
        </a:p>
      </dsp:txBody>
      <dsp:txXfrm>
        <a:off x="1549804" y="0"/>
        <a:ext cx="3451022" cy="929884"/>
      </dsp:txXfrm>
    </dsp:sp>
    <dsp:sp modelId="{CD976BA8-8343-420C-937C-79179E9287DC}">
      <dsp:nvSpPr>
        <dsp:cNvPr id="0" name=""/>
        <dsp:cNvSpPr/>
      </dsp:nvSpPr>
      <dsp:spPr>
        <a:xfrm>
          <a:off x="542432" y="929884"/>
          <a:ext cx="2014743" cy="2014743"/>
        </a:xfrm>
        <a:prstGeom prst="pie">
          <a:avLst>
            <a:gd name="adj1" fmla="val 5400000"/>
            <a:gd name="adj2" fmla="val 1620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9DF3AF9-D3A4-4A44-8087-376F252790CB}">
      <dsp:nvSpPr>
        <dsp:cNvPr id="0" name=""/>
        <dsp:cNvSpPr/>
      </dsp:nvSpPr>
      <dsp:spPr>
        <a:xfrm>
          <a:off x="1549804" y="929884"/>
          <a:ext cx="6902045" cy="2014743"/>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ts val="0"/>
            </a:spcAft>
            <a:buNone/>
          </a:pPr>
          <a:r>
            <a:rPr lang="fr-FR" sz="1600" b="1" kern="1200" baseline="0" dirty="0"/>
            <a:t>Faire le cas : petits </a:t>
          </a:r>
        </a:p>
        <a:p>
          <a:pPr marL="0" lvl="0" indent="0" algn="ctr" defTabSz="711200" rtl="0">
            <a:lnSpc>
              <a:spcPct val="90000"/>
            </a:lnSpc>
            <a:spcBef>
              <a:spcPct val="0"/>
            </a:spcBef>
            <a:spcAft>
              <a:spcPts val="0"/>
            </a:spcAft>
            <a:buNone/>
          </a:pPr>
          <a:r>
            <a:rPr lang="fr-FR" sz="1600" b="1" kern="1200" baseline="0" dirty="0"/>
            <a:t>déplacements et bulletin de </a:t>
          </a:r>
        </a:p>
        <a:p>
          <a:pPr marL="0" lvl="0" indent="0" algn="ctr" defTabSz="711200" rtl="0">
            <a:lnSpc>
              <a:spcPct val="90000"/>
            </a:lnSpc>
            <a:spcBef>
              <a:spcPct val="0"/>
            </a:spcBef>
            <a:spcAft>
              <a:spcPts val="0"/>
            </a:spcAft>
            <a:buNone/>
          </a:pPr>
          <a:r>
            <a:rPr lang="fr-FR" sz="1600" b="1" kern="1200" baseline="0" dirty="0"/>
            <a:t>paye simplifiée avec abattement</a:t>
          </a:r>
          <a:endParaRPr lang="fr-FR" sz="1600" kern="1200" dirty="0"/>
        </a:p>
      </dsp:txBody>
      <dsp:txXfrm>
        <a:off x="1549804" y="929884"/>
        <a:ext cx="3451022" cy="929881"/>
      </dsp:txXfrm>
    </dsp:sp>
    <dsp:sp modelId="{2E7C67FB-0A0F-4A97-8211-5FB17604BE51}">
      <dsp:nvSpPr>
        <dsp:cNvPr id="0" name=""/>
        <dsp:cNvSpPr/>
      </dsp:nvSpPr>
      <dsp:spPr>
        <a:xfrm>
          <a:off x="1084863" y="1859766"/>
          <a:ext cx="929881" cy="929881"/>
        </a:xfrm>
        <a:prstGeom prst="pie">
          <a:avLst>
            <a:gd name="adj1" fmla="val 5400000"/>
            <a:gd name="adj2" fmla="val 1620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88CA43F-88EC-48DD-A682-8444E202E6C0}">
      <dsp:nvSpPr>
        <dsp:cNvPr id="0" name=""/>
        <dsp:cNvSpPr/>
      </dsp:nvSpPr>
      <dsp:spPr>
        <a:xfrm>
          <a:off x="1549804" y="1859766"/>
          <a:ext cx="6902045" cy="929881"/>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fr-FR" sz="1600" b="1" kern="1200" baseline="0" dirty="0"/>
            <a:t>Ce cas permet de comprendre comment le logiciel recalcule le net imposable en cas d’option pour la déduction forfaitaire</a:t>
          </a:r>
          <a:endParaRPr lang="fr-FR" sz="1600" kern="1200" dirty="0"/>
        </a:p>
      </dsp:txBody>
      <dsp:txXfrm>
        <a:off x="1549804" y="1859766"/>
        <a:ext cx="3451022" cy="929881"/>
      </dsp:txXfrm>
    </dsp:sp>
    <dsp:sp modelId="{BA152E71-27B7-4D07-B012-0AB807858CBE}">
      <dsp:nvSpPr>
        <dsp:cNvPr id="0" name=""/>
        <dsp:cNvSpPr/>
      </dsp:nvSpPr>
      <dsp:spPr>
        <a:xfrm>
          <a:off x="5000827" y="1859766"/>
          <a:ext cx="3451022" cy="929881"/>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180000" lvl="1" indent="-180000" algn="l" defTabSz="666750" rtl="0">
            <a:lnSpc>
              <a:spcPct val="90000"/>
            </a:lnSpc>
            <a:spcBef>
              <a:spcPct val="0"/>
            </a:spcBef>
            <a:spcAft>
              <a:spcPts val="0"/>
            </a:spcAft>
            <a:buFont typeface="Wingdings" panose="05000000000000000000" pitchFamily="2" charset="2"/>
            <a:buChar char="§"/>
          </a:pPr>
          <a:r>
            <a:rPr lang="fr-FR" sz="1500" b="1" i="1" kern="1200" dirty="0"/>
            <a:t>Observation : après la séquence 5, il y a 1 étude de cas traitant des frais professionnels, des cotisations et du bulletin de paye </a:t>
          </a:r>
          <a:endParaRPr lang="fr-FR" sz="1500" kern="1200" dirty="0"/>
        </a:p>
      </dsp:txBody>
      <dsp:txXfrm>
        <a:off x="5000827" y="1859766"/>
        <a:ext cx="3451022" cy="929881"/>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6F3AB7-F321-4EB1-B2A6-AF0BE6951F47}">
      <dsp:nvSpPr>
        <dsp:cNvPr id="0" name=""/>
        <dsp:cNvSpPr/>
      </dsp:nvSpPr>
      <dsp:spPr>
        <a:xfrm>
          <a:off x="0" y="0"/>
          <a:ext cx="8462157" cy="810092"/>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97536" rIns="170688" bIns="97536" numCol="1" spcCol="1270" anchor="ctr" anchorCtr="0">
          <a:noAutofit/>
        </a:bodyPr>
        <a:lstStyle/>
        <a:p>
          <a:pPr marL="0" lvl="0" indent="0" algn="ctr" defTabSz="1066800" rtl="0">
            <a:lnSpc>
              <a:spcPct val="90000"/>
            </a:lnSpc>
            <a:spcBef>
              <a:spcPct val="0"/>
            </a:spcBef>
            <a:spcAft>
              <a:spcPct val="35000"/>
            </a:spcAft>
            <a:buNone/>
          </a:pPr>
          <a:r>
            <a:rPr lang="fr-FR" sz="2400" b="1" kern="1200" baseline="0" dirty="0"/>
            <a:t>Règles générales : taux accident du travail dont le taux fonction support </a:t>
          </a:r>
          <a:endParaRPr lang="fr-FR" sz="2400" kern="1200" dirty="0"/>
        </a:p>
      </dsp:txBody>
      <dsp:txXfrm>
        <a:off x="0" y="0"/>
        <a:ext cx="8462157" cy="810092"/>
      </dsp:txXfrm>
    </dsp:sp>
    <dsp:sp modelId="{FACAECD6-B70A-4FEA-A40F-FC8389522B49}">
      <dsp:nvSpPr>
        <dsp:cNvPr id="0" name=""/>
        <dsp:cNvSpPr/>
      </dsp:nvSpPr>
      <dsp:spPr>
        <a:xfrm>
          <a:off x="8275" y="810092"/>
          <a:ext cx="8462157" cy="0"/>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l" defTabSz="977900">
            <a:lnSpc>
              <a:spcPct val="90000"/>
            </a:lnSpc>
            <a:spcBef>
              <a:spcPct val="0"/>
            </a:spcBef>
            <a:spcAft>
              <a:spcPct val="15000"/>
            </a:spcAft>
            <a:buChar char="•"/>
          </a:pPr>
          <a:endParaRPr lang="fr-FR" sz="2200" b="1" kern="1200" baseline="0" dirty="0"/>
        </a:p>
        <a:p>
          <a:pPr marL="228600" lvl="1" indent="-228600" algn="l" defTabSz="977900">
            <a:lnSpc>
              <a:spcPct val="90000"/>
            </a:lnSpc>
            <a:spcBef>
              <a:spcPct val="0"/>
            </a:spcBef>
            <a:spcAft>
              <a:spcPct val="15000"/>
            </a:spcAft>
            <a:buClr>
              <a:schemeClr val="accent1"/>
            </a:buClr>
            <a:buFont typeface="Wingdings" panose="05000000000000000000" pitchFamily="2" charset="2"/>
            <a:buChar char="§"/>
          </a:pPr>
          <a:r>
            <a:rPr lang="fr-FR" sz="2200" b="1" kern="1200" baseline="0" dirty="0"/>
            <a:t>Est uniquement réservé aux  employeurs en tarification collective (moins de 20 salariés) ou mixte (de 20 à 149 salariés)</a:t>
          </a:r>
        </a:p>
        <a:p>
          <a:pPr marL="228600" lvl="1" indent="-228600" algn="l" defTabSz="977900">
            <a:lnSpc>
              <a:spcPct val="90000"/>
            </a:lnSpc>
            <a:spcBef>
              <a:spcPct val="0"/>
            </a:spcBef>
            <a:spcAft>
              <a:spcPct val="15000"/>
            </a:spcAft>
            <a:buClr>
              <a:schemeClr val="accent1"/>
            </a:buClr>
            <a:buFont typeface="Wingdings" panose="05000000000000000000" pitchFamily="2" charset="2"/>
            <a:buChar char="§"/>
          </a:pPr>
          <a:r>
            <a:rPr lang="fr-FR" sz="2200" b="1" kern="1200" baseline="0" dirty="0"/>
            <a:t>Le taux bureau peut continuer à exister sous condition d’en avoir fait la demande avant le 31 décembre 2019 auprès de la caisse régionale (Carsat, </a:t>
          </a:r>
          <a:r>
            <a:rPr lang="fr-FR" sz="2200" b="1" kern="1200" baseline="0" dirty="0" err="1"/>
            <a:t>Cramif</a:t>
          </a:r>
          <a:r>
            <a:rPr lang="fr-FR" sz="2200" b="1" kern="1200" baseline="0" dirty="0"/>
            <a:t>, CGSS)</a:t>
          </a:r>
        </a:p>
      </dsp:txBody>
      <dsp:txXfrm>
        <a:off x="8275" y="810092"/>
        <a:ext cx="8462157" cy="1"/>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6F3AB7-F321-4EB1-B2A6-AF0BE6951F47}">
      <dsp:nvSpPr>
        <dsp:cNvPr id="0" name=""/>
        <dsp:cNvSpPr/>
      </dsp:nvSpPr>
      <dsp:spPr>
        <a:xfrm>
          <a:off x="0" y="23900"/>
          <a:ext cx="8451850" cy="979200"/>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97536" rIns="170688" bIns="97536" numCol="1" spcCol="1270" anchor="ctr" anchorCtr="0">
          <a:noAutofit/>
        </a:bodyPr>
        <a:lstStyle/>
        <a:p>
          <a:pPr marL="0" lvl="0" indent="0" algn="ctr" defTabSz="1066800" rtl="0">
            <a:lnSpc>
              <a:spcPct val="90000"/>
            </a:lnSpc>
            <a:spcBef>
              <a:spcPct val="0"/>
            </a:spcBef>
            <a:spcAft>
              <a:spcPct val="35000"/>
            </a:spcAft>
            <a:buNone/>
          </a:pPr>
          <a:r>
            <a:rPr lang="fr-FR" sz="2400" b="1" kern="1200" baseline="0" dirty="0"/>
            <a:t>Règles générales demandant une attention spécifique</a:t>
          </a:r>
          <a:endParaRPr lang="fr-FR" sz="2400" kern="1200" dirty="0"/>
        </a:p>
      </dsp:txBody>
      <dsp:txXfrm>
        <a:off x="0" y="23900"/>
        <a:ext cx="8451850" cy="979200"/>
      </dsp:txXfrm>
    </dsp:sp>
    <dsp:sp modelId="{FACAECD6-B70A-4FEA-A40F-FC8389522B49}">
      <dsp:nvSpPr>
        <dsp:cNvPr id="0" name=""/>
        <dsp:cNvSpPr/>
      </dsp:nvSpPr>
      <dsp:spPr>
        <a:xfrm>
          <a:off x="0" y="1027000"/>
          <a:ext cx="8451850" cy="1493279"/>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just" defTabSz="889000" rtl="0">
            <a:lnSpc>
              <a:spcPct val="90000"/>
            </a:lnSpc>
            <a:spcBef>
              <a:spcPct val="0"/>
            </a:spcBef>
            <a:spcAft>
              <a:spcPct val="15000"/>
            </a:spcAft>
            <a:buFont typeface="Wingdings" panose="05000000000000000000" pitchFamily="2" charset="2"/>
            <a:buChar char="§"/>
          </a:pPr>
          <a:r>
            <a:rPr lang="fr-FR" sz="2000" b="1" kern="1200" dirty="0"/>
            <a:t>Exclusion, si les conditions existent, de la part patronale prévoyance incapacité de travail de la base CSG/CRDS</a:t>
          </a:r>
          <a:endParaRPr lang="fr-FR" sz="2000" kern="1200" dirty="0"/>
        </a:p>
      </dsp:txBody>
      <dsp:txXfrm>
        <a:off x="0" y="1027000"/>
        <a:ext cx="8451850" cy="1493279"/>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6CF9A97-B1EE-4395-A145-4033F0530E95}">
      <dsp:nvSpPr>
        <dsp:cNvPr id="0" name=""/>
        <dsp:cNvSpPr/>
      </dsp:nvSpPr>
      <dsp:spPr>
        <a:xfrm>
          <a:off x="0" y="68381"/>
          <a:ext cx="8451850" cy="489600"/>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69088" rIns="120904" bIns="69088" numCol="1" spcCol="1270" anchor="ctr" anchorCtr="0">
          <a:noAutofit/>
        </a:bodyPr>
        <a:lstStyle/>
        <a:p>
          <a:pPr marL="0" lvl="0" indent="0" algn="ctr" defTabSz="755650" rtl="0">
            <a:lnSpc>
              <a:spcPct val="90000"/>
            </a:lnSpc>
            <a:spcBef>
              <a:spcPct val="0"/>
            </a:spcBef>
            <a:spcAft>
              <a:spcPct val="35000"/>
            </a:spcAft>
            <a:buNone/>
          </a:pPr>
          <a:r>
            <a:rPr lang="fr-FR" sz="1700" b="1" kern="1200" baseline="0" dirty="0"/>
            <a:t>Règles liées aux frais professionnels du BTP </a:t>
          </a:r>
          <a:endParaRPr lang="fr-FR" sz="1700" kern="1200" dirty="0"/>
        </a:p>
      </dsp:txBody>
      <dsp:txXfrm>
        <a:off x="0" y="68381"/>
        <a:ext cx="8451850" cy="489600"/>
      </dsp:txXfrm>
    </dsp:sp>
    <dsp:sp modelId="{4DD40BBF-7C29-4C38-90E2-A0B8CA4D62E2}">
      <dsp:nvSpPr>
        <dsp:cNvPr id="0" name=""/>
        <dsp:cNvSpPr/>
      </dsp:nvSpPr>
      <dsp:spPr>
        <a:xfrm>
          <a:off x="0" y="557981"/>
          <a:ext cx="8451850" cy="2473245"/>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0678" tIns="90678" rIns="120904" bIns="136017" numCol="1" spcCol="1270" anchor="t" anchorCtr="0">
          <a:noAutofit/>
        </a:bodyPr>
        <a:lstStyle/>
        <a:p>
          <a:pPr marL="171450" lvl="1" indent="-171450" algn="l" defTabSz="755650" rtl="0">
            <a:lnSpc>
              <a:spcPct val="90000"/>
            </a:lnSpc>
            <a:spcBef>
              <a:spcPct val="0"/>
            </a:spcBef>
            <a:spcAft>
              <a:spcPct val="15000"/>
            </a:spcAft>
            <a:buFont typeface="Wingdings" panose="05000000000000000000" pitchFamily="2" charset="2"/>
            <a:buChar char="§"/>
          </a:pPr>
          <a:r>
            <a:rPr lang="fr-FR" sz="1700" b="1" kern="1200" dirty="0"/>
            <a:t>Il existe un barème spécifique d’exonération des frais professionnels</a:t>
          </a:r>
          <a:endParaRPr lang="fr-FR" sz="1700" kern="1200" dirty="0"/>
        </a:p>
        <a:p>
          <a:pPr marL="171450" lvl="1" indent="-171450" algn="l" defTabSz="755650" rtl="0">
            <a:lnSpc>
              <a:spcPct val="90000"/>
            </a:lnSpc>
            <a:spcBef>
              <a:spcPct val="0"/>
            </a:spcBef>
            <a:spcAft>
              <a:spcPct val="15000"/>
            </a:spcAft>
            <a:buFont typeface="Wingdings" panose="05000000000000000000" pitchFamily="2" charset="2"/>
            <a:buChar char="§"/>
          </a:pPr>
          <a:r>
            <a:rPr lang="fr-FR" sz="1700" b="1" kern="1200" dirty="0"/>
            <a:t>L’abattement de 10 % n’est pas applicable à la base CSG-RDS</a:t>
          </a:r>
          <a:endParaRPr lang="fr-FR" sz="1700" kern="1200" dirty="0"/>
        </a:p>
        <a:p>
          <a:pPr marL="171450" lvl="1" indent="-171450" algn="l" defTabSz="755650" rtl="0">
            <a:lnSpc>
              <a:spcPct val="90000"/>
            </a:lnSpc>
            <a:spcBef>
              <a:spcPct val="0"/>
            </a:spcBef>
            <a:spcAft>
              <a:spcPct val="15000"/>
            </a:spcAft>
            <a:buFont typeface="Wingdings" panose="05000000000000000000" pitchFamily="2" charset="2"/>
            <a:buChar char="§"/>
          </a:pPr>
          <a:r>
            <a:rPr lang="fr-FR" sz="1700" b="1" kern="1200" dirty="0"/>
            <a:t>Le montant maximum de l’abattement est de 7 600 € par année civile et par salarié</a:t>
          </a:r>
          <a:endParaRPr lang="fr-FR" sz="1700" kern="1200" dirty="0"/>
        </a:p>
        <a:p>
          <a:pPr marL="171450" lvl="1" indent="-171450" algn="l" defTabSz="755650" rtl="0">
            <a:lnSpc>
              <a:spcPct val="90000"/>
            </a:lnSpc>
            <a:spcBef>
              <a:spcPct val="0"/>
            </a:spcBef>
            <a:spcAft>
              <a:spcPct val="15000"/>
            </a:spcAft>
            <a:buFont typeface="Wingdings" panose="05000000000000000000" pitchFamily="2" charset="2"/>
            <a:buChar char="§"/>
          </a:pPr>
          <a:r>
            <a:rPr lang="fr-FR" sz="1700" b="1" kern="1200" dirty="0"/>
            <a:t>Il existe une base minimale à respecter (voir développement dans le cas « petits déplacements et brut abattu »</a:t>
          </a:r>
          <a:r>
            <a:rPr lang="fr-FR" sz="1700" kern="1200" dirty="0"/>
            <a:t>)</a:t>
          </a:r>
        </a:p>
        <a:p>
          <a:pPr marL="171450" lvl="1" indent="-171450" algn="l" defTabSz="755650" rtl="0">
            <a:lnSpc>
              <a:spcPct val="90000"/>
            </a:lnSpc>
            <a:spcBef>
              <a:spcPct val="0"/>
            </a:spcBef>
            <a:spcAft>
              <a:spcPct val="15000"/>
            </a:spcAft>
            <a:buFont typeface="Wingdings" panose="05000000000000000000" pitchFamily="2" charset="2"/>
            <a:buChar char="§"/>
          </a:pPr>
          <a:r>
            <a:rPr lang="fr-FR" sz="1700" b="1" kern="1200" dirty="0"/>
            <a:t>Selon l’option abattement ou non, l’assiette des cotisations est différente</a:t>
          </a:r>
          <a:endParaRPr lang="fr-FR" sz="1700" kern="1200" dirty="0"/>
        </a:p>
        <a:p>
          <a:pPr marL="342900" lvl="2" indent="-171450" algn="l" defTabSz="755650" rtl="0">
            <a:lnSpc>
              <a:spcPct val="90000"/>
            </a:lnSpc>
            <a:spcBef>
              <a:spcPct val="0"/>
            </a:spcBef>
            <a:spcAft>
              <a:spcPct val="15000"/>
            </a:spcAft>
            <a:buFont typeface="Webdings" panose="05030102010509060703" pitchFamily="18" charset="2"/>
            <a:buChar char="4"/>
          </a:pPr>
          <a:r>
            <a:rPr lang="fr-FR" sz="1700" b="1" kern="1200" dirty="0"/>
            <a:t>1 exercice est prévu, en fin de séquence, avec bulletin de paye d’un salarié avec abattement ou sans abattement </a:t>
          </a:r>
          <a:endParaRPr lang="fr-FR" sz="1700" kern="1200" dirty="0"/>
        </a:p>
      </dsp:txBody>
      <dsp:txXfrm>
        <a:off x="0" y="557981"/>
        <a:ext cx="8451850" cy="2473245"/>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BD2A85-5BDC-4972-B044-6EA60703CE5B}">
      <dsp:nvSpPr>
        <dsp:cNvPr id="0" name=""/>
        <dsp:cNvSpPr/>
      </dsp:nvSpPr>
      <dsp:spPr>
        <a:xfrm>
          <a:off x="13311" y="56448"/>
          <a:ext cx="8425226" cy="703198"/>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rtl="0">
            <a:lnSpc>
              <a:spcPct val="90000"/>
            </a:lnSpc>
            <a:spcBef>
              <a:spcPct val="0"/>
            </a:spcBef>
            <a:spcAft>
              <a:spcPts val="0"/>
            </a:spcAft>
            <a:buNone/>
          </a:pPr>
          <a:r>
            <a:rPr lang="fr-FR" sz="1800" b="1" kern="1200" baseline="0" dirty="0"/>
            <a:t>Les règles spécifiques du BTP – origine indemnités de congés payés </a:t>
          </a:r>
          <a:endParaRPr lang="fr-FR" sz="2800" kern="1200" dirty="0"/>
        </a:p>
      </dsp:txBody>
      <dsp:txXfrm>
        <a:off x="13311" y="56448"/>
        <a:ext cx="8425226" cy="703198"/>
      </dsp:txXfrm>
    </dsp:sp>
    <dsp:sp modelId="{12BA1498-23EA-4EF1-98EF-B72274A4C0BE}">
      <dsp:nvSpPr>
        <dsp:cNvPr id="0" name=""/>
        <dsp:cNvSpPr/>
      </dsp:nvSpPr>
      <dsp:spPr>
        <a:xfrm>
          <a:off x="0" y="793294"/>
          <a:ext cx="8451850" cy="1141920"/>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rtl="0">
            <a:lnSpc>
              <a:spcPct val="90000"/>
            </a:lnSpc>
            <a:spcBef>
              <a:spcPct val="0"/>
            </a:spcBef>
            <a:spcAft>
              <a:spcPct val="15000"/>
            </a:spcAft>
            <a:buFont typeface="Wingdings" panose="05000000000000000000" pitchFamily="2" charset="2"/>
            <a:buChar char="§"/>
          </a:pPr>
          <a:r>
            <a:rPr lang="fr-FR" sz="1600" b="1" kern="1200" dirty="0"/>
            <a:t>Le FNAL et le versement mobilité (ex versement transport) dû sur les indemnités </a:t>
          </a:r>
          <a:br>
            <a:rPr lang="fr-FR" sz="1600" b="1" kern="1200" dirty="0"/>
          </a:br>
          <a:r>
            <a:rPr lang="fr-FR" sz="1600" b="1" kern="1200" dirty="0"/>
            <a:t>de congés payés sont à verser par les employeurs et non par la caisse des CP </a:t>
          </a:r>
          <a:br>
            <a:rPr lang="fr-FR" sz="1600" b="1" kern="1200" dirty="0"/>
          </a:br>
          <a:r>
            <a:rPr lang="fr-FR" sz="1600" b="1" kern="1200" dirty="0"/>
            <a:t>(d’où majoration de 11.50 % des bases)</a:t>
          </a:r>
          <a:endParaRPr lang="fr-FR" sz="1600" kern="1200" dirty="0"/>
        </a:p>
      </dsp:txBody>
      <dsp:txXfrm>
        <a:off x="0" y="793294"/>
        <a:ext cx="8451850" cy="1141920"/>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70AB001-7595-4D48-B094-7163D62DDA98}">
      <dsp:nvSpPr>
        <dsp:cNvPr id="0" name=""/>
        <dsp:cNvSpPr/>
      </dsp:nvSpPr>
      <dsp:spPr>
        <a:xfrm>
          <a:off x="0" y="0"/>
          <a:ext cx="8438617" cy="465856"/>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kern="1200" dirty="0"/>
            <a:t>Versement mobilité (ex VT) et chantiers</a:t>
          </a:r>
        </a:p>
      </dsp:txBody>
      <dsp:txXfrm>
        <a:off x="22741" y="22741"/>
        <a:ext cx="8393135" cy="420374"/>
      </dsp:txXfrm>
    </dsp:sp>
    <dsp:sp modelId="{5B1EAEF9-90B1-4C10-B65B-D469AF1A44D9}">
      <dsp:nvSpPr>
        <dsp:cNvPr id="0" name=""/>
        <dsp:cNvSpPr/>
      </dsp:nvSpPr>
      <dsp:spPr>
        <a:xfrm>
          <a:off x="0" y="466151"/>
          <a:ext cx="8438617" cy="26334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7926" tIns="20320" rIns="113792" bIns="20320" numCol="1" spcCol="1270" anchor="t" anchorCtr="0">
          <a:noAutofit/>
        </a:bodyPr>
        <a:lstStyle/>
        <a:p>
          <a:pPr marL="171450" lvl="1" indent="-171450" algn="just" defTabSz="711200">
            <a:lnSpc>
              <a:spcPct val="90000"/>
            </a:lnSpc>
            <a:spcBef>
              <a:spcPct val="0"/>
            </a:spcBef>
            <a:spcAft>
              <a:spcPct val="20000"/>
            </a:spcAft>
            <a:buFont typeface="Wingdings" panose="05000000000000000000" pitchFamily="2" charset="2"/>
            <a:buChar char="§"/>
          </a:pPr>
          <a:r>
            <a:rPr lang="fr-FR" sz="1600" kern="1200" dirty="0"/>
            <a:t>Les salariés sont pris en compte au titre de l’établissement tenant le registre unique du personnel (RUP) sur lequel ils sont inscrits</a:t>
          </a:r>
        </a:p>
        <a:p>
          <a:pPr marL="171450" lvl="1" indent="-171450" algn="just" defTabSz="711200">
            <a:lnSpc>
              <a:spcPct val="90000"/>
            </a:lnSpc>
            <a:spcBef>
              <a:spcPct val="0"/>
            </a:spcBef>
            <a:spcAft>
              <a:spcPct val="20000"/>
            </a:spcAft>
            <a:buFont typeface="Wingdings" panose="05000000000000000000" pitchFamily="2" charset="2"/>
            <a:buChar char="§"/>
          </a:pPr>
          <a:r>
            <a:rPr lang="fr-FR" sz="1600" kern="1200" dirty="0"/>
            <a:t>Pour les salariés qui exercent en dehors d'un établissement de l’employeur, il est tenu compte du lieu où est exercée cette activité plus de 3 mois consécutifs dans une zone (dans la même zone) où a été institué le VT, cette règle vaut pour le calcul de l’effectif et pour la détermination de l’assiette du versement de transport </a:t>
          </a:r>
        </a:p>
        <a:p>
          <a:pPr marL="171450" lvl="1" indent="-171450" algn="just" defTabSz="711200">
            <a:lnSpc>
              <a:spcPct val="90000"/>
            </a:lnSpc>
            <a:spcBef>
              <a:spcPct val="0"/>
            </a:spcBef>
            <a:spcAft>
              <a:spcPct val="20000"/>
            </a:spcAft>
            <a:buFont typeface="Wingdings" panose="05000000000000000000" pitchFamily="2" charset="2"/>
            <a:buChar char="§"/>
          </a:pPr>
          <a:r>
            <a:rPr lang="fr-FR" sz="1600" kern="1200" dirty="0"/>
            <a:t>Concrètement, le salarié est retenu sur la zone à compter du premier jour du 4</a:t>
          </a:r>
          <a:r>
            <a:rPr lang="fr-FR" sz="1600" kern="1200" baseline="30000" dirty="0"/>
            <a:t>e</a:t>
          </a:r>
          <a:r>
            <a:rPr lang="fr-FR" sz="1600" kern="1200" dirty="0"/>
            <a:t> mois d’exercice de son activité en dehors d’un établissement de l’employeur</a:t>
          </a:r>
        </a:p>
      </dsp:txBody>
      <dsp:txXfrm>
        <a:off x="0" y="466151"/>
        <a:ext cx="8438617" cy="2633456"/>
      </dsp:txXfrm>
    </dsp:sp>
  </dsp:spTree>
</dsp:drawing>
</file>

<file path=ppt/diagrams/drawing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1CBB275-20DB-4695-8176-BCD86852D610}">
      <dsp:nvSpPr>
        <dsp:cNvPr id="0" name=""/>
        <dsp:cNvSpPr/>
      </dsp:nvSpPr>
      <dsp:spPr>
        <a:xfrm rot="10800000">
          <a:off x="2123527" y="180030"/>
          <a:ext cx="5620480" cy="2571025"/>
        </a:xfrm>
        <a:prstGeom prst="homePlat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48555" tIns="68580" rIns="128016" bIns="68580" numCol="1" spcCol="1270" anchor="t" anchorCtr="0">
          <a:noAutofit/>
        </a:bodyPr>
        <a:lstStyle/>
        <a:p>
          <a:pPr marL="0" lvl="0" indent="0" algn="l" defTabSz="800100" rtl="0">
            <a:lnSpc>
              <a:spcPct val="90000"/>
            </a:lnSpc>
            <a:spcBef>
              <a:spcPct val="0"/>
            </a:spcBef>
            <a:spcAft>
              <a:spcPct val="35000"/>
            </a:spcAft>
            <a:buNone/>
          </a:pPr>
          <a:r>
            <a:rPr lang="x-none" sz="1800" b="0" kern="1200" baseline="0" dirty="0"/>
            <a:t>Les entreprises du BTP sont autorisées à neutraliser certaines  périodes relatives</a:t>
          </a:r>
          <a:endParaRPr lang="fr-FR" sz="1800" b="0" kern="1200" dirty="0"/>
        </a:p>
        <a:p>
          <a:pPr marL="171450" lvl="1" indent="-171450" algn="l" defTabSz="711200" rtl="0">
            <a:lnSpc>
              <a:spcPct val="90000"/>
            </a:lnSpc>
            <a:spcBef>
              <a:spcPct val="0"/>
            </a:spcBef>
            <a:spcAft>
              <a:spcPct val="15000"/>
            </a:spcAft>
            <a:buFont typeface="Wingdings" panose="05000000000000000000" pitchFamily="2" charset="2"/>
            <a:buChar char="§"/>
          </a:pPr>
          <a:r>
            <a:rPr lang="fr-FR" sz="1600" b="0" kern="1200" dirty="0"/>
            <a:t>A</a:t>
          </a:r>
          <a:r>
            <a:rPr lang="x-none" sz="1600" b="0" kern="1200" dirty="0"/>
            <a:t>ux périodes d’indemnisation</a:t>
          </a:r>
          <a:br>
            <a:rPr lang="fr-FR" sz="1600" b="0" kern="1200" dirty="0"/>
          </a:br>
          <a:r>
            <a:rPr lang="x-none" sz="1600" b="0" kern="1200" dirty="0"/>
            <a:t>de congés payés</a:t>
          </a:r>
          <a:endParaRPr lang="fr-FR" sz="1600" b="0" kern="1200" dirty="0"/>
        </a:p>
        <a:p>
          <a:pPr marL="171450" lvl="1" indent="-171450" algn="l" defTabSz="711200" rtl="0">
            <a:lnSpc>
              <a:spcPct val="90000"/>
            </a:lnSpc>
            <a:spcBef>
              <a:spcPct val="0"/>
            </a:spcBef>
            <a:spcAft>
              <a:spcPct val="15000"/>
            </a:spcAft>
            <a:buFont typeface="Wingdings" panose="05000000000000000000" pitchFamily="2" charset="2"/>
            <a:buChar char="§"/>
          </a:pPr>
          <a:r>
            <a:rPr lang="fr-FR" sz="1600" b="0" kern="1200" dirty="0"/>
            <a:t>A</a:t>
          </a:r>
          <a:r>
            <a:rPr lang="x-none" sz="1600" b="0" kern="1200" dirty="0"/>
            <a:t>ux périodes d’indemnisation</a:t>
          </a:r>
          <a:br>
            <a:rPr lang="fr-FR" sz="1600" b="0" kern="1200" dirty="0"/>
          </a:br>
          <a:r>
            <a:rPr lang="fr-FR" sz="1600" b="0" kern="1200" dirty="0"/>
            <a:t>du chômage-intempéries</a:t>
          </a:r>
        </a:p>
        <a:p>
          <a:pPr marL="171450" lvl="1" indent="-171450" algn="l" defTabSz="711200" rtl="0">
            <a:lnSpc>
              <a:spcPct val="90000"/>
            </a:lnSpc>
            <a:spcBef>
              <a:spcPct val="0"/>
            </a:spcBef>
            <a:spcAft>
              <a:spcPct val="15000"/>
            </a:spcAft>
            <a:buFont typeface="Wingdings" panose="05000000000000000000" pitchFamily="2" charset="2"/>
            <a:buChar char="§"/>
          </a:pPr>
          <a:r>
            <a:rPr lang="fr-FR" sz="1600" b="0" kern="1200" dirty="0"/>
            <a:t>A</a:t>
          </a:r>
          <a:r>
            <a:rPr lang="x-none" sz="1600" b="0" kern="1200" dirty="0"/>
            <a:t>ux périodes d’indemnisation d'arrêts de travail par les organismes professionnels</a:t>
          </a:r>
          <a:endParaRPr lang="fr-FR" sz="1600" b="0" kern="1200" dirty="0"/>
        </a:p>
      </dsp:txBody>
      <dsp:txXfrm rot="10800000">
        <a:off x="2766283" y="180030"/>
        <a:ext cx="4977724" cy="2571025"/>
      </dsp:txXfrm>
    </dsp:sp>
    <dsp:sp modelId="{0CE6E942-90F2-411E-9ABC-A665694CDFBF}">
      <dsp:nvSpPr>
        <dsp:cNvPr id="0" name=""/>
        <dsp:cNvSpPr/>
      </dsp:nvSpPr>
      <dsp:spPr>
        <a:xfrm>
          <a:off x="661945" y="40401"/>
          <a:ext cx="2831369" cy="2831369"/>
        </a:xfrm>
        <a:prstGeom prst="ellipse">
          <a:avLst/>
        </a:prstGeom>
        <a:solidFill>
          <a:schemeClr val="accent1">
            <a:tint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3E41C5-0B56-4440-A805-5DD2A8D209C6}">
      <dsp:nvSpPr>
        <dsp:cNvPr id="0" name=""/>
        <dsp:cNvSpPr/>
      </dsp:nvSpPr>
      <dsp:spPr>
        <a:xfrm>
          <a:off x="0" y="0"/>
          <a:ext cx="3105346" cy="3105346"/>
        </a:xfrm>
        <a:prstGeom prst="pie">
          <a:avLst>
            <a:gd name="adj1" fmla="val 5400000"/>
            <a:gd name="adj2" fmla="val 1620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9652A0D-EF04-42BE-B828-CC8759D803D2}">
      <dsp:nvSpPr>
        <dsp:cNvPr id="0" name=""/>
        <dsp:cNvSpPr/>
      </dsp:nvSpPr>
      <dsp:spPr>
        <a:xfrm>
          <a:off x="1552673" y="0"/>
          <a:ext cx="6885944" cy="3105346"/>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rtl="0">
            <a:lnSpc>
              <a:spcPct val="90000"/>
            </a:lnSpc>
            <a:spcBef>
              <a:spcPct val="0"/>
            </a:spcBef>
            <a:spcAft>
              <a:spcPct val="35000"/>
            </a:spcAft>
            <a:buNone/>
          </a:pPr>
          <a:r>
            <a:rPr lang="fr-FR" sz="1400" b="1" kern="1200" baseline="0" dirty="0"/>
            <a:t>Il existe un cas : bulletin de paye et comparaison avec ou sans abattement</a:t>
          </a:r>
          <a:endParaRPr lang="fr-FR" sz="1400" kern="1200" dirty="0"/>
        </a:p>
      </dsp:txBody>
      <dsp:txXfrm>
        <a:off x="1552673" y="0"/>
        <a:ext cx="6885944" cy="659886"/>
      </dsp:txXfrm>
    </dsp:sp>
    <dsp:sp modelId="{3D7528A4-29E7-4385-B9C8-3B38B63F01D3}">
      <dsp:nvSpPr>
        <dsp:cNvPr id="0" name=""/>
        <dsp:cNvSpPr/>
      </dsp:nvSpPr>
      <dsp:spPr>
        <a:xfrm>
          <a:off x="407576" y="659886"/>
          <a:ext cx="2290192" cy="2290192"/>
        </a:xfrm>
        <a:prstGeom prst="pie">
          <a:avLst>
            <a:gd name="adj1" fmla="val 5400000"/>
            <a:gd name="adj2" fmla="val 1620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9203F4E-B532-49E1-BE3D-3B0D30259214}">
      <dsp:nvSpPr>
        <dsp:cNvPr id="0" name=""/>
        <dsp:cNvSpPr/>
      </dsp:nvSpPr>
      <dsp:spPr>
        <a:xfrm>
          <a:off x="1552673" y="659886"/>
          <a:ext cx="6885944" cy="2290192"/>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rtl="0">
            <a:lnSpc>
              <a:spcPct val="90000"/>
            </a:lnSpc>
            <a:spcBef>
              <a:spcPct val="0"/>
            </a:spcBef>
            <a:spcAft>
              <a:spcPct val="35000"/>
            </a:spcAft>
            <a:buNone/>
          </a:pPr>
          <a:r>
            <a:rPr lang="fr-FR" sz="1400" b="1" kern="1200" baseline="0" dirty="0"/>
            <a:t>Le corrigé propose une paye avec abattement et une paye sans abattement</a:t>
          </a:r>
          <a:endParaRPr lang="fr-FR" sz="1400" kern="1200" dirty="0"/>
        </a:p>
      </dsp:txBody>
      <dsp:txXfrm>
        <a:off x="1552673" y="659886"/>
        <a:ext cx="6885944" cy="659886"/>
      </dsp:txXfrm>
    </dsp:sp>
    <dsp:sp modelId="{8997A38D-8571-4047-A708-AF40FE8E097E}">
      <dsp:nvSpPr>
        <dsp:cNvPr id="0" name=""/>
        <dsp:cNvSpPr/>
      </dsp:nvSpPr>
      <dsp:spPr>
        <a:xfrm>
          <a:off x="815153" y="1319772"/>
          <a:ext cx="1475039" cy="1475039"/>
        </a:xfrm>
        <a:prstGeom prst="pie">
          <a:avLst>
            <a:gd name="adj1" fmla="val 5400000"/>
            <a:gd name="adj2" fmla="val 1620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B9E050C-4639-4AEF-948B-6CC56DF753E9}">
      <dsp:nvSpPr>
        <dsp:cNvPr id="0" name=""/>
        <dsp:cNvSpPr/>
      </dsp:nvSpPr>
      <dsp:spPr>
        <a:xfrm>
          <a:off x="1552673" y="1319772"/>
          <a:ext cx="6885944" cy="1475039"/>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rtl="0">
            <a:lnSpc>
              <a:spcPct val="90000"/>
            </a:lnSpc>
            <a:spcBef>
              <a:spcPct val="0"/>
            </a:spcBef>
            <a:spcAft>
              <a:spcPct val="35000"/>
            </a:spcAft>
            <a:buNone/>
          </a:pPr>
          <a:r>
            <a:rPr lang="fr-FR" sz="1400" b="1" kern="1200" baseline="0" dirty="0"/>
            <a:t>Le corrigé permet d’affirmer que dans certains cas, </a:t>
          </a:r>
        </a:p>
        <a:p>
          <a:pPr marL="0" lvl="0" indent="0" algn="ctr" defTabSz="622300" rtl="0">
            <a:lnSpc>
              <a:spcPct val="90000"/>
            </a:lnSpc>
            <a:spcBef>
              <a:spcPct val="0"/>
            </a:spcBef>
            <a:spcAft>
              <a:spcPct val="35000"/>
            </a:spcAft>
            <a:buNone/>
          </a:pPr>
          <a:r>
            <a:rPr lang="fr-FR" sz="1400" b="1" kern="1200" baseline="0" dirty="0"/>
            <a:t>l’écart entre une paye avec abattement et sans abattement est peu élevé</a:t>
          </a:r>
          <a:endParaRPr lang="fr-FR" sz="1400" kern="1200" dirty="0"/>
        </a:p>
      </dsp:txBody>
      <dsp:txXfrm>
        <a:off x="1552673" y="1319772"/>
        <a:ext cx="6885944" cy="659886"/>
      </dsp:txXfrm>
    </dsp:sp>
    <dsp:sp modelId="{FE84E411-5A9D-4499-B8C6-F5A4793296AD}">
      <dsp:nvSpPr>
        <dsp:cNvPr id="0" name=""/>
        <dsp:cNvSpPr/>
      </dsp:nvSpPr>
      <dsp:spPr>
        <a:xfrm>
          <a:off x="1222729" y="1979658"/>
          <a:ext cx="659886" cy="659886"/>
        </a:xfrm>
        <a:prstGeom prst="pie">
          <a:avLst>
            <a:gd name="adj1" fmla="val 5400000"/>
            <a:gd name="adj2" fmla="val 1620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0D64F03-3E3D-48C6-9374-7130FA3605CA}">
      <dsp:nvSpPr>
        <dsp:cNvPr id="0" name=""/>
        <dsp:cNvSpPr/>
      </dsp:nvSpPr>
      <dsp:spPr>
        <a:xfrm>
          <a:off x="1552673" y="1979658"/>
          <a:ext cx="6885944" cy="659886"/>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rtl="0">
            <a:lnSpc>
              <a:spcPct val="90000"/>
            </a:lnSpc>
            <a:spcBef>
              <a:spcPct val="0"/>
            </a:spcBef>
            <a:spcAft>
              <a:spcPct val="35000"/>
            </a:spcAft>
            <a:buNone/>
          </a:pPr>
          <a:r>
            <a:rPr lang="fr-FR" sz="1400" b="1" kern="1200" baseline="0" dirty="0"/>
            <a:t>Le cas a pour but de vous permettre en récupérant les corrigés </a:t>
          </a:r>
        </a:p>
        <a:p>
          <a:pPr marL="0" lvl="0" indent="0" algn="ctr" defTabSz="622300" rtl="0">
            <a:lnSpc>
              <a:spcPct val="90000"/>
            </a:lnSpc>
            <a:spcBef>
              <a:spcPct val="0"/>
            </a:spcBef>
            <a:spcAft>
              <a:spcPct val="35000"/>
            </a:spcAft>
            <a:buNone/>
          </a:pPr>
          <a:r>
            <a:rPr lang="fr-FR" sz="1400" b="1" kern="1200" baseline="0" dirty="0"/>
            <a:t>de comprendre les bases de calcul</a:t>
          </a:r>
          <a:endParaRPr lang="fr-FR" sz="1400" kern="1200" dirty="0"/>
        </a:p>
      </dsp:txBody>
      <dsp:txXfrm>
        <a:off x="1552673" y="1979658"/>
        <a:ext cx="6885944" cy="659886"/>
      </dsp:txXfrm>
    </dsp:sp>
  </dsp:spTree>
</dsp:drawing>
</file>

<file path=ppt/diagrams/drawing3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62EE75-DCBD-45BF-A6EB-B20186545B3D}">
      <dsp:nvSpPr>
        <dsp:cNvPr id="0" name=""/>
        <dsp:cNvSpPr/>
      </dsp:nvSpPr>
      <dsp:spPr>
        <a:xfrm>
          <a:off x="2378568" y="0"/>
          <a:ext cx="3099609" cy="3099609"/>
        </a:xfrm>
        <a:prstGeom prst="triangl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E54F86C-361A-4DAE-94AA-14DB3C6AA162}">
      <dsp:nvSpPr>
        <dsp:cNvPr id="0" name=""/>
        <dsp:cNvSpPr/>
      </dsp:nvSpPr>
      <dsp:spPr>
        <a:xfrm>
          <a:off x="3813099" y="310263"/>
          <a:ext cx="2245293" cy="1101814"/>
        </a:xfrm>
        <a:prstGeom prst="round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rtl="0">
            <a:lnSpc>
              <a:spcPct val="90000"/>
            </a:lnSpc>
            <a:spcBef>
              <a:spcPct val="0"/>
            </a:spcBef>
            <a:spcAft>
              <a:spcPct val="35000"/>
            </a:spcAft>
            <a:buNone/>
          </a:pPr>
          <a:r>
            <a:rPr lang="fr-FR" sz="1100" b="1" kern="1200" baseline="0" dirty="0"/>
            <a:t>Les conventions collectives</a:t>
          </a:r>
          <a:br>
            <a:rPr lang="fr-FR" sz="1100" b="1" kern="1200" baseline="0" dirty="0"/>
          </a:br>
          <a:r>
            <a:rPr lang="fr-FR" sz="1100" b="1" kern="1200" baseline="0" dirty="0"/>
            <a:t>du BTP imposent, sous certaines conditions, </a:t>
          </a:r>
          <a:br>
            <a:rPr lang="fr-FR" sz="1100" b="1" kern="1200" baseline="0" dirty="0"/>
          </a:br>
          <a:r>
            <a:rPr lang="fr-FR" sz="1100" b="1" kern="1200" baseline="0" dirty="0"/>
            <a:t>la pratique d’un maintien</a:t>
          </a:r>
          <a:br>
            <a:rPr lang="fr-FR" sz="1100" b="1" kern="1200" baseline="0" dirty="0"/>
          </a:br>
          <a:r>
            <a:rPr lang="fr-FR" sz="1100" b="1" kern="1200" baseline="0" dirty="0"/>
            <a:t>de salaire (total ou partiel) sous déduction des IJSS</a:t>
          </a:r>
          <a:endParaRPr lang="fr-FR" sz="1100" kern="1200" dirty="0"/>
        </a:p>
      </dsp:txBody>
      <dsp:txXfrm>
        <a:off x="3866885" y="364049"/>
        <a:ext cx="2137721" cy="994242"/>
      </dsp:txXfrm>
    </dsp:sp>
    <dsp:sp modelId="{C6245332-C400-41BA-950C-3F3B84D08238}">
      <dsp:nvSpPr>
        <dsp:cNvPr id="0" name=""/>
        <dsp:cNvSpPr/>
      </dsp:nvSpPr>
      <dsp:spPr>
        <a:xfrm>
          <a:off x="3798210" y="1549804"/>
          <a:ext cx="2275071" cy="1101814"/>
        </a:xfrm>
        <a:prstGeom prst="round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rtl="0">
            <a:lnSpc>
              <a:spcPct val="90000"/>
            </a:lnSpc>
            <a:spcBef>
              <a:spcPct val="0"/>
            </a:spcBef>
            <a:spcAft>
              <a:spcPct val="35000"/>
            </a:spcAft>
            <a:buNone/>
          </a:pPr>
          <a:r>
            <a:rPr lang="fr-FR" sz="1100" b="1" kern="1200" baseline="0" dirty="0"/>
            <a:t>Pour les cadres bâtiment, ceux-ci se voient appliquer l’indemnité complémentaire légale prévue par la loi sur</a:t>
          </a:r>
          <a:br>
            <a:rPr lang="fr-FR" sz="1100" b="1" kern="1200" baseline="0" dirty="0"/>
          </a:br>
          <a:r>
            <a:rPr lang="fr-FR" sz="1100" b="1" kern="1200" baseline="0" dirty="0"/>
            <a:t>la mensualisation (convention collective des cadres </a:t>
          </a:r>
          <a:br>
            <a:rPr lang="fr-FR" sz="1100" b="1" kern="1200" baseline="0" dirty="0"/>
          </a:br>
          <a:r>
            <a:rPr lang="fr-FR" sz="1100" b="1" kern="1200" baseline="0" dirty="0"/>
            <a:t>non étendu)</a:t>
          </a:r>
          <a:endParaRPr lang="fr-FR" sz="1100" kern="1200" dirty="0"/>
        </a:p>
      </dsp:txBody>
      <dsp:txXfrm>
        <a:off x="3851996" y="1603590"/>
        <a:ext cx="2167499" cy="994242"/>
      </dsp:txXfrm>
    </dsp:sp>
  </dsp:spTree>
</dsp:drawing>
</file>

<file path=ppt/diagrams/drawing3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BEDFF7-5B7B-48E3-A36A-302D6A1CAAFD}">
      <dsp:nvSpPr>
        <dsp:cNvPr id="0" name=""/>
        <dsp:cNvSpPr/>
      </dsp:nvSpPr>
      <dsp:spPr>
        <a:xfrm rot="5400000">
          <a:off x="5142471" y="-1948570"/>
          <a:ext cx="1209573" cy="5409184"/>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30480" rIns="60960" bIns="30480" numCol="1" spcCol="1270" anchor="ctr" anchorCtr="0">
          <a:noAutofit/>
        </a:bodyPr>
        <a:lstStyle/>
        <a:p>
          <a:pPr marL="180000" lvl="1" indent="-180000" algn="l" defTabSz="711200" rtl="0">
            <a:lnSpc>
              <a:spcPct val="90000"/>
            </a:lnSpc>
            <a:spcBef>
              <a:spcPct val="0"/>
            </a:spcBef>
            <a:spcAft>
              <a:spcPct val="15000"/>
            </a:spcAft>
            <a:buFont typeface="Wingdings" panose="05000000000000000000" pitchFamily="2" charset="2"/>
            <a:buChar char="§"/>
          </a:pPr>
          <a:r>
            <a:rPr lang="fr-FR" sz="1600" b="1" kern="1200" dirty="0"/>
            <a:t>L’entreprise n’a pas l’obligation de souscrire un contrat « garantie arrêt de travail » pour les arrêts inférieurs à 91 jours (GAT – 91 jours)</a:t>
          </a:r>
          <a:endParaRPr lang="fr-FR" sz="1600" kern="1200" dirty="0"/>
        </a:p>
      </dsp:txBody>
      <dsp:txXfrm rot="-5400000">
        <a:off x="3042666" y="210281"/>
        <a:ext cx="5350138" cy="1091481"/>
      </dsp:txXfrm>
    </dsp:sp>
    <dsp:sp modelId="{032F7309-9045-4407-A7B9-707AB3396141}">
      <dsp:nvSpPr>
        <dsp:cNvPr id="0" name=""/>
        <dsp:cNvSpPr/>
      </dsp:nvSpPr>
      <dsp:spPr>
        <a:xfrm>
          <a:off x="0" y="37"/>
          <a:ext cx="3042666" cy="1511967"/>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rtl="0">
            <a:lnSpc>
              <a:spcPct val="90000"/>
            </a:lnSpc>
            <a:spcBef>
              <a:spcPct val="0"/>
            </a:spcBef>
            <a:spcAft>
              <a:spcPct val="35000"/>
            </a:spcAft>
            <a:buNone/>
          </a:pPr>
          <a:r>
            <a:rPr lang="fr-FR" sz="2800" b="1" kern="1200" baseline="0" dirty="0"/>
            <a:t>Arrêt inférieur à 90 jours  </a:t>
          </a:r>
          <a:endParaRPr lang="fr-FR" sz="2800" kern="1200" dirty="0"/>
        </a:p>
      </dsp:txBody>
      <dsp:txXfrm>
        <a:off x="73808" y="73845"/>
        <a:ext cx="2895050" cy="1364351"/>
      </dsp:txXfrm>
    </dsp:sp>
    <dsp:sp modelId="{ACA1F4CD-B927-441E-BA0C-E7676FDD112A}">
      <dsp:nvSpPr>
        <dsp:cNvPr id="0" name=""/>
        <dsp:cNvSpPr/>
      </dsp:nvSpPr>
      <dsp:spPr>
        <a:xfrm rot="5400000">
          <a:off x="5142471" y="-361004"/>
          <a:ext cx="1209573" cy="5409184"/>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30480" rIns="60960" bIns="30480" numCol="1" spcCol="1270" anchor="ctr" anchorCtr="0">
          <a:noAutofit/>
        </a:bodyPr>
        <a:lstStyle/>
        <a:p>
          <a:pPr marL="180000" lvl="1" indent="-180000" algn="l" defTabSz="711200" rtl="0">
            <a:lnSpc>
              <a:spcPct val="90000"/>
            </a:lnSpc>
            <a:spcBef>
              <a:spcPct val="0"/>
            </a:spcBef>
            <a:spcAft>
              <a:spcPct val="15000"/>
            </a:spcAft>
            <a:buFont typeface="Wingdings" panose="05000000000000000000" pitchFamily="2" charset="2"/>
            <a:buChar char="§"/>
          </a:pPr>
          <a:r>
            <a:rPr lang="fr-FR" sz="1600" b="1" kern="1200" dirty="0"/>
            <a:t>L’entreprise a l’obligation de souscrire un contrat pour les indemnités journalières à partir de 91 jours</a:t>
          </a:r>
          <a:endParaRPr lang="fr-FR" sz="1600" kern="1200" dirty="0"/>
        </a:p>
        <a:p>
          <a:pPr marL="180000" lvl="1" indent="-180000" algn="l" defTabSz="711200" rtl="0">
            <a:lnSpc>
              <a:spcPct val="90000"/>
            </a:lnSpc>
            <a:spcBef>
              <a:spcPct val="0"/>
            </a:spcBef>
            <a:spcAft>
              <a:spcPct val="15000"/>
            </a:spcAft>
            <a:buFont typeface="Wingdings" panose="05000000000000000000" pitchFamily="2" charset="2"/>
            <a:buChar char="§"/>
          </a:pPr>
          <a:r>
            <a:rPr lang="fr-FR" sz="1600" b="1" kern="1200" dirty="0"/>
            <a:t>Adhésion à BTP-PRÉVOYANCE si l’entreprise choisit PRO-BTP pour la prévoyance</a:t>
          </a:r>
          <a:endParaRPr lang="fr-FR" sz="1600" kern="1200" dirty="0"/>
        </a:p>
      </dsp:txBody>
      <dsp:txXfrm rot="-5400000">
        <a:off x="3042666" y="1797847"/>
        <a:ext cx="5350138" cy="1091481"/>
      </dsp:txXfrm>
    </dsp:sp>
    <dsp:sp modelId="{CE3513C2-BDE6-44F8-918E-E9F8805A0B41}">
      <dsp:nvSpPr>
        <dsp:cNvPr id="0" name=""/>
        <dsp:cNvSpPr/>
      </dsp:nvSpPr>
      <dsp:spPr>
        <a:xfrm>
          <a:off x="0" y="1587603"/>
          <a:ext cx="3042666" cy="1511967"/>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rtl="0">
            <a:lnSpc>
              <a:spcPct val="90000"/>
            </a:lnSpc>
            <a:spcBef>
              <a:spcPct val="0"/>
            </a:spcBef>
            <a:spcAft>
              <a:spcPct val="35000"/>
            </a:spcAft>
            <a:buNone/>
          </a:pPr>
          <a:r>
            <a:rPr lang="fr-FR" sz="2800" b="1" kern="1200" baseline="0" dirty="0"/>
            <a:t>Arrêt supérieur à 90 jours  </a:t>
          </a:r>
          <a:endParaRPr lang="fr-FR" sz="2800" kern="1200" dirty="0"/>
        </a:p>
      </dsp:txBody>
      <dsp:txXfrm>
        <a:off x="73808" y="1661411"/>
        <a:ext cx="2895050" cy="1364351"/>
      </dsp:txXfrm>
    </dsp:sp>
  </dsp:spTree>
</dsp:drawing>
</file>

<file path=ppt/diagrams/drawing3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4AFF4B-1778-418A-8663-1FD4346D7495}">
      <dsp:nvSpPr>
        <dsp:cNvPr id="0" name=""/>
        <dsp:cNvSpPr/>
      </dsp:nvSpPr>
      <dsp:spPr>
        <a:xfrm>
          <a:off x="0" y="271773"/>
          <a:ext cx="8451850" cy="57954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rtl="0">
            <a:lnSpc>
              <a:spcPct val="90000"/>
            </a:lnSpc>
            <a:spcBef>
              <a:spcPct val="0"/>
            </a:spcBef>
            <a:spcAft>
              <a:spcPct val="35000"/>
            </a:spcAft>
            <a:buNone/>
          </a:pPr>
          <a:r>
            <a:rPr lang="fr-FR" sz="2000" b="1" kern="1200" baseline="0" dirty="0"/>
            <a:t>Moins de 90 jours</a:t>
          </a:r>
          <a:endParaRPr lang="fr-FR" sz="2000" kern="1200" dirty="0"/>
        </a:p>
      </dsp:txBody>
      <dsp:txXfrm>
        <a:off x="28291" y="300064"/>
        <a:ext cx="8395268" cy="522967"/>
      </dsp:txXfrm>
    </dsp:sp>
    <dsp:sp modelId="{2A4A2374-807E-44E5-AEFC-D4A905795FFE}">
      <dsp:nvSpPr>
        <dsp:cNvPr id="0" name=""/>
        <dsp:cNvSpPr/>
      </dsp:nvSpPr>
      <dsp:spPr>
        <a:xfrm>
          <a:off x="0" y="815076"/>
          <a:ext cx="8451850" cy="1345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8346" tIns="25400" rIns="142240" bIns="25400" numCol="1" spcCol="1270" anchor="t" anchorCtr="0">
          <a:noAutofit/>
        </a:bodyPr>
        <a:lstStyle/>
        <a:p>
          <a:pPr marL="180000" lvl="1" indent="-180000" algn="just" defTabSz="889000" rtl="0">
            <a:lnSpc>
              <a:spcPct val="90000"/>
            </a:lnSpc>
            <a:spcBef>
              <a:spcPct val="0"/>
            </a:spcBef>
            <a:spcAft>
              <a:spcPct val="20000"/>
            </a:spcAft>
            <a:buChar char="•"/>
          </a:pPr>
          <a:endParaRPr lang="fr-FR" sz="2000" kern="1200" dirty="0"/>
        </a:p>
        <a:p>
          <a:pPr marL="180000" lvl="1" indent="-180000" algn="just" defTabSz="800100" rtl="0">
            <a:lnSpc>
              <a:spcPct val="90000"/>
            </a:lnSpc>
            <a:spcBef>
              <a:spcPct val="0"/>
            </a:spcBef>
            <a:spcAft>
              <a:spcPct val="20000"/>
            </a:spcAft>
            <a:buFont typeface="Wingdings" panose="05000000000000000000" pitchFamily="2" charset="2"/>
            <a:buChar char="§"/>
          </a:pPr>
          <a:r>
            <a:rPr lang="fr-FR" sz="1800" b="1" kern="1200" baseline="0" dirty="0"/>
            <a:t>Les paiements sont effectués directement sur le compte de l’ouvrier ou sur celui de l’entreprise selon le mode de paiement choisi par l’entreprise</a:t>
          </a:r>
          <a:r>
            <a:rPr lang="fr-FR" sz="2000" b="1" kern="1200" baseline="0" dirty="0"/>
            <a:t> </a:t>
          </a:r>
          <a:r>
            <a:rPr lang="fr-FR" sz="2000" b="0" kern="1200" baseline="0" dirty="0"/>
            <a:t>(</a:t>
          </a:r>
          <a:r>
            <a:rPr lang="fr-FR" sz="1600" b="1" i="1" kern="1200" baseline="0" dirty="0"/>
            <a:t>le versement est net. BTP-Prévoyance a précompté les retenues et versé les charges sociales patronales)</a:t>
          </a:r>
          <a:endParaRPr lang="fr-FR" sz="2000" kern="1200" dirty="0"/>
        </a:p>
      </dsp:txBody>
      <dsp:txXfrm>
        <a:off x="0" y="815076"/>
        <a:ext cx="8451850" cy="1345500"/>
      </dsp:txXfrm>
    </dsp:sp>
  </dsp:spTree>
</dsp:drawing>
</file>

<file path=ppt/diagrams/drawing3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D1BACA-CC73-451B-8B86-C837DCCFA0E4}">
      <dsp:nvSpPr>
        <dsp:cNvPr id="0" name=""/>
        <dsp:cNvSpPr/>
      </dsp:nvSpPr>
      <dsp:spPr>
        <a:xfrm>
          <a:off x="0" y="23866"/>
          <a:ext cx="8451850" cy="582893"/>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rtl="0">
            <a:lnSpc>
              <a:spcPct val="90000"/>
            </a:lnSpc>
            <a:spcBef>
              <a:spcPct val="0"/>
            </a:spcBef>
            <a:spcAft>
              <a:spcPct val="35000"/>
            </a:spcAft>
            <a:buNone/>
          </a:pPr>
          <a:r>
            <a:rPr lang="fr-FR" sz="2100" b="1" kern="1200" baseline="0" dirty="0"/>
            <a:t>Plus de 90 jours</a:t>
          </a:r>
          <a:endParaRPr lang="fr-FR" sz="2100" kern="1200" dirty="0"/>
        </a:p>
      </dsp:txBody>
      <dsp:txXfrm>
        <a:off x="28454" y="52320"/>
        <a:ext cx="8394942" cy="525985"/>
      </dsp:txXfrm>
    </dsp:sp>
    <dsp:sp modelId="{A64E9C18-4694-49C4-87FB-8B3A2D654C0D}">
      <dsp:nvSpPr>
        <dsp:cNvPr id="0" name=""/>
        <dsp:cNvSpPr/>
      </dsp:nvSpPr>
      <dsp:spPr>
        <a:xfrm>
          <a:off x="0" y="606759"/>
          <a:ext cx="8451850" cy="25647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8346" tIns="25400" rIns="142240" bIns="25400" numCol="1" spcCol="1270" anchor="t" anchorCtr="0">
          <a:noAutofit/>
        </a:bodyPr>
        <a:lstStyle/>
        <a:p>
          <a:pPr marL="228600" lvl="1" indent="-228600" algn="just" defTabSz="889000" rtl="0">
            <a:lnSpc>
              <a:spcPct val="90000"/>
            </a:lnSpc>
            <a:spcBef>
              <a:spcPct val="0"/>
            </a:spcBef>
            <a:spcAft>
              <a:spcPct val="20000"/>
            </a:spcAft>
            <a:buClr>
              <a:schemeClr val="accent1"/>
            </a:buClr>
            <a:buFont typeface="Wingdings" panose="05000000000000000000" pitchFamily="2" charset="2"/>
            <a:buChar char="§"/>
          </a:pPr>
          <a:r>
            <a:rPr lang="fr-FR" sz="2000" b="1" kern="1200" baseline="0" dirty="0"/>
            <a:t>Au-delà de 90 jours d’absence, le salarié est pris en charge par le régime obligatoire PRO-BTP + 90 jours</a:t>
          </a:r>
          <a:endParaRPr lang="fr-FR" sz="2000" kern="1200" dirty="0"/>
        </a:p>
        <a:p>
          <a:pPr marL="228600" lvl="1" indent="-228600" algn="just" defTabSz="889000" rtl="0">
            <a:lnSpc>
              <a:spcPct val="90000"/>
            </a:lnSpc>
            <a:spcBef>
              <a:spcPct val="0"/>
            </a:spcBef>
            <a:spcAft>
              <a:spcPct val="20000"/>
            </a:spcAft>
            <a:buClr>
              <a:schemeClr val="accent1"/>
            </a:buClr>
            <a:buFont typeface="Wingdings" panose="05000000000000000000" pitchFamily="2" charset="2"/>
            <a:buChar char="§"/>
          </a:pPr>
          <a:r>
            <a:rPr lang="fr-FR" sz="2000" b="1" kern="1200" baseline="0" dirty="0"/>
            <a:t>Le principe est depuis 2014</a:t>
          </a:r>
          <a:endParaRPr lang="fr-FR" sz="2000" kern="1200" dirty="0"/>
        </a:p>
        <a:p>
          <a:pPr marL="457200" lvl="2" indent="-228600" algn="just" defTabSz="889000" rtl="0">
            <a:lnSpc>
              <a:spcPct val="90000"/>
            </a:lnSpc>
            <a:spcBef>
              <a:spcPct val="0"/>
            </a:spcBef>
            <a:spcAft>
              <a:spcPct val="20000"/>
            </a:spcAft>
            <a:buClr>
              <a:schemeClr val="accent1"/>
            </a:buClr>
            <a:buFont typeface="Webdings" panose="05030102010509060703" pitchFamily="18" charset="2"/>
            <a:buChar char="4"/>
          </a:pPr>
          <a:r>
            <a:rPr lang="fr-FR" sz="2000" b="1" kern="1200" dirty="0"/>
            <a:t>PRO-BTP effectue désormais un versement direct sur le compte de l’entreprise des indemnités complémentaires brutes, sans précompter la CSG/CRDS. L’entreprise après avoir appliqué les cotisations sociales, verse alors les indemnités à l’ouvrier malade. Ce système était déjà applicable aux ETAM et aux cadres</a:t>
          </a:r>
          <a:endParaRPr lang="fr-FR" sz="2000" kern="1200" dirty="0"/>
        </a:p>
      </dsp:txBody>
      <dsp:txXfrm>
        <a:off x="0" y="606759"/>
        <a:ext cx="8451850" cy="2564729"/>
      </dsp:txXfrm>
    </dsp:sp>
  </dsp:spTree>
</dsp:drawing>
</file>

<file path=ppt/diagrams/drawing3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996801-DA6F-44D3-A6E9-0E18E0446572}">
      <dsp:nvSpPr>
        <dsp:cNvPr id="0" name=""/>
        <dsp:cNvSpPr/>
      </dsp:nvSpPr>
      <dsp:spPr>
        <a:xfrm>
          <a:off x="0" y="17284"/>
          <a:ext cx="8451850" cy="5148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rtl="0">
            <a:lnSpc>
              <a:spcPct val="90000"/>
            </a:lnSpc>
            <a:spcBef>
              <a:spcPct val="0"/>
            </a:spcBef>
            <a:spcAft>
              <a:spcPct val="35000"/>
            </a:spcAft>
            <a:buNone/>
          </a:pPr>
          <a:r>
            <a:rPr lang="fr-FR" sz="2200" b="1" kern="1200" baseline="0" dirty="0"/>
            <a:t>Autre particularité importante du BTP les congés payés</a:t>
          </a:r>
          <a:endParaRPr lang="fr-FR" sz="2200" kern="1200" dirty="0"/>
        </a:p>
      </dsp:txBody>
      <dsp:txXfrm>
        <a:off x="25130" y="42414"/>
        <a:ext cx="8401590" cy="464540"/>
      </dsp:txXfrm>
    </dsp:sp>
    <dsp:sp modelId="{465E8CAB-B84C-4E3E-BA93-0F72DEF2077A}">
      <dsp:nvSpPr>
        <dsp:cNvPr id="0" name=""/>
        <dsp:cNvSpPr/>
      </dsp:nvSpPr>
      <dsp:spPr>
        <a:xfrm>
          <a:off x="0" y="532084"/>
          <a:ext cx="8451850" cy="25502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8346" tIns="27940" rIns="156464" bIns="27940" numCol="1" spcCol="1270" anchor="t" anchorCtr="0">
          <a:noAutofit/>
        </a:bodyPr>
        <a:lstStyle/>
        <a:p>
          <a:pPr marL="180000" lvl="1" indent="-180000" algn="just" defTabSz="755650" rtl="0">
            <a:lnSpc>
              <a:spcPct val="90000"/>
            </a:lnSpc>
            <a:spcBef>
              <a:spcPct val="0"/>
            </a:spcBef>
            <a:spcAft>
              <a:spcPts val="600"/>
            </a:spcAft>
            <a:buClr>
              <a:schemeClr val="accent1"/>
            </a:buClr>
            <a:buFont typeface="Wingdings" panose="05000000000000000000" pitchFamily="2" charset="2"/>
            <a:buChar char="§"/>
          </a:pPr>
          <a:r>
            <a:rPr lang="fr-FR" sz="1700" b="1" kern="1200" dirty="0"/>
            <a:t>Caisse de CP régionale pour les entreprises du bâtiment et nationale pour les entreprises des travaux publics</a:t>
          </a:r>
          <a:endParaRPr lang="fr-FR" sz="1700" kern="1200" dirty="0"/>
        </a:p>
        <a:p>
          <a:pPr marL="180000" lvl="1" indent="-180000" algn="just" defTabSz="755650" rtl="0">
            <a:lnSpc>
              <a:spcPct val="90000"/>
            </a:lnSpc>
            <a:spcBef>
              <a:spcPct val="0"/>
            </a:spcBef>
            <a:spcAft>
              <a:spcPts val="600"/>
            </a:spcAft>
            <a:buClr>
              <a:schemeClr val="accent1"/>
            </a:buClr>
            <a:buFont typeface="Wingdings" panose="05000000000000000000" pitchFamily="2" charset="2"/>
            <a:buChar char="§"/>
          </a:pPr>
          <a:r>
            <a:rPr lang="fr-FR" sz="1700" b="1" kern="1200" dirty="0"/>
            <a:t>La période de référence pour l'acquisition des congés va du 1</a:t>
          </a:r>
          <a:r>
            <a:rPr lang="fr-FR" sz="1700" b="1" kern="1200" baseline="30000" dirty="0"/>
            <a:t>er</a:t>
          </a:r>
          <a:r>
            <a:rPr lang="fr-FR" sz="1700" b="1" kern="1200" dirty="0"/>
            <a:t> avril au </a:t>
          </a:r>
          <a:br>
            <a:rPr lang="fr-FR" sz="1700" b="1" kern="1200" dirty="0"/>
          </a:br>
          <a:r>
            <a:rPr lang="fr-FR" sz="1700" b="1" kern="1200" dirty="0"/>
            <a:t>31 mars</a:t>
          </a:r>
          <a:endParaRPr lang="fr-FR" sz="1700" kern="1200" dirty="0"/>
        </a:p>
        <a:p>
          <a:pPr marL="180000" lvl="1" indent="-180000" algn="just" defTabSz="755650" rtl="0">
            <a:lnSpc>
              <a:spcPct val="90000"/>
            </a:lnSpc>
            <a:spcBef>
              <a:spcPct val="0"/>
            </a:spcBef>
            <a:spcAft>
              <a:spcPts val="600"/>
            </a:spcAft>
            <a:buClr>
              <a:schemeClr val="accent1"/>
            </a:buClr>
            <a:buFont typeface="Wingdings" panose="05000000000000000000" pitchFamily="2" charset="2"/>
            <a:buChar char="§"/>
          </a:pPr>
          <a:r>
            <a:rPr lang="fr-FR" sz="1700" b="1" kern="1200" dirty="0"/>
            <a:t>Les congés payés ne sont pas payés directement par l’entreprise au salarié mais par une caisse de congés payés indépendante. Les périodes de congés payés doivent être complètement neutralisées sur le bulletin de paie</a:t>
          </a:r>
          <a:endParaRPr lang="fr-FR" sz="1700" kern="1200" dirty="0"/>
        </a:p>
        <a:p>
          <a:pPr marL="180000" lvl="1" indent="-180000" algn="just" defTabSz="755650" rtl="0">
            <a:lnSpc>
              <a:spcPct val="90000"/>
            </a:lnSpc>
            <a:spcBef>
              <a:spcPct val="0"/>
            </a:spcBef>
            <a:spcAft>
              <a:spcPts val="600"/>
            </a:spcAft>
            <a:buClr>
              <a:schemeClr val="accent1"/>
            </a:buClr>
            <a:buFont typeface="Wingdings" panose="05000000000000000000" pitchFamily="2" charset="2"/>
            <a:buChar char="§"/>
          </a:pPr>
          <a:r>
            <a:rPr lang="fr-FR" sz="1700" b="1" kern="1200" dirty="0"/>
            <a:t>L'article L.3141-19 du Code de travail sur le fractionnement s'applique. La règle du fractionnement  est différente pour les cadres, ingénieurs et ETAM du BTP</a:t>
          </a:r>
          <a:endParaRPr lang="fr-FR" sz="1700" kern="1200" dirty="0"/>
        </a:p>
      </dsp:txBody>
      <dsp:txXfrm>
        <a:off x="0" y="532084"/>
        <a:ext cx="8451850" cy="2550240"/>
      </dsp:txXfrm>
    </dsp:sp>
  </dsp:spTree>
</dsp:drawing>
</file>

<file path=ppt/diagrams/drawing3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A59F18-391C-40A0-B2FA-94D8AF92CEB3}">
      <dsp:nvSpPr>
        <dsp:cNvPr id="0" name=""/>
        <dsp:cNvSpPr/>
      </dsp:nvSpPr>
      <dsp:spPr>
        <a:xfrm>
          <a:off x="0" y="16819"/>
          <a:ext cx="8451850" cy="582692"/>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rtl="0">
            <a:lnSpc>
              <a:spcPct val="90000"/>
            </a:lnSpc>
            <a:spcBef>
              <a:spcPct val="0"/>
            </a:spcBef>
            <a:spcAft>
              <a:spcPct val="35000"/>
            </a:spcAft>
            <a:buNone/>
          </a:pPr>
          <a:r>
            <a:rPr lang="fr-FR" sz="2400" b="1" kern="1200" baseline="0" dirty="0"/>
            <a:t>Les intempéries</a:t>
          </a:r>
          <a:endParaRPr lang="fr-FR" sz="2400" kern="1200" dirty="0"/>
        </a:p>
      </dsp:txBody>
      <dsp:txXfrm>
        <a:off x="28445" y="45264"/>
        <a:ext cx="8394960" cy="525802"/>
      </dsp:txXfrm>
    </dsp:sp>
    <dsp:sp modelId="{C746CDF2-2A8A-4EC3-B78D-3ED3A635832C}">
      <dsp:nvSpPr>
        <dsp:cNvPr id="0" name=""/>
        <dsp:cNvSpPr/>
      </dsp:nvSpPr>
      <dsp:spPr>
        <a:xfrm>
          <a:off x="0" y="599511"/>
          <a:ext cx="8451850" cy="13020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8346" tIns="19050" rIns="106680" bIns="19050" numCol="1" spcCol="1270" anchor="t" anchorCtr="0">
          <a:noAutofit/>
        </a:bodyPr>
        <a:lstStyle/>
        <a:p>
          <a:pPr marL="180000" lvl="1" indent="-180000" algn="just" defTabSz="666750" rtl="0">
            <a:lnSpc>
              <a:spcPct val="90000"/>
            </a:lnSpc>
            <a:spcBef>
              <a:spcPct val="0"/>
            </a:spcBef>
            <a:spcAft>
              <a:spcPct val="20000"/>
            </a:spcAft>
            <a:buClr>
              <a:schemeClr val="accent1"/>
            </a:buClr>
            <a:buFont typeface="Wingdings" panose="05000000000000000000" pitchFamily="2" charset="2"/>
            <a:buChar char="§"/>
          </a:pPr>
          <a:r>
            <a:rPr lang="fr-FR" sz="1500" b="1" kern="1200" dirty="0"/>
            <a:t>Conformément à l’article L. 5424-8 du Code du travail, </a:t>
          </a:r>
          <a:r>
            <a:rPr lang="fr-FR" sz="1500" b="1" i="1" kern="1200" dirty="0"/>
            <a:t>« sont considérées comme intempéries les conditions atmosphériques et les inondations lorsqu’elles rendent effectivement l’accomplissement du travail dangereux ou impossible eu égard, soit à la santé ou à la sécurité des salariés, soit à la nature ou à la technique du travail à accomplir »</a:t>
          </a:r>
          <a:endParaRPr lang="fr-FR" sz="1500" i="1" kern="1200" dirty="0"/>
        </a:p>
        <a:p>
          <a:pPr marL="180000" lvl="1" indent="-180000" algn="l" defTabSz="666750" rtl="0">
            <a:lnSpc>
              <a:spcPct val="90000"/>
            </a:lnSpc>
            <a:spcBef>
              <a:spcPct val="0"/>
            </a:spcBef>
            <a:spcAft>
              <a:spcPct val="20000"/>
            </a:spcAft>
            <a:buClr>
              <a:schemeClr val="accent1"/>
            </a:buClr>
            <a:buFont typeface="Wingdings" panose="05000000000000000000" pitchFamily="2" charset="2"/>
            <a:buChar char="§"/>
          </a:pPr>
          <a:r>
            <a:rPr lang="fr-FR" sz="1500" b="1" kern="1200" dirty="0"/>
            <a:t>Possibilité d’arrêter le chantier dans les conditions prévues ci-dessus</a:t>
          </a:r>
          <a:endParaRPr lang="fr-FR" sz="1500" kern="1200" dirty="0"/>
        </a:p>
      </dsp:txBody>
      <dsp:txXfrm>
        <a:off x="0" y="599511"/>
        <a:ext cx="8451850" cy="1302030"/>
      </dsp:txXfrm>
    </dsp:sp>
    <dsp:sp modelId="{27F5D855-339C-433D-99EE-C3FB6460BF7D}">
      <dsp:nvSpPr>
        <dsp:cNvPr id="0" name=""/>
        <dsp:cNvSpPr/>
      </dsp:nvSpPr>
      <dsp:spPr>
        <a:xfrm>
          <a:off x="0" y="1901541"/>
          <a:ext cx="8451850" cy="568527"/>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rtl="0">
            <a:lnSpc>
              <a:spcPct val="90000"/>
            </a:lnSpc>
            <a:spcBef>
              <a:spcPct val="0"/>
            </a:spcBef>
            <a:spcAft>
              <a:spcPct val="35000"/>
            </a:spcAft>
            <a:buNone/>
          </a:pPr>
          <a:r>
            <a:rPr lang="fr-FR" sz="2400" b="1" kern="1200" baseline="0" dirty="0"/>
            <a:t>Procédures</a:t>
          </a:r>
          <a:endParaRPr lang="fr-FR" sz="2400" kern="1200" dirty="0"/>
        </a:p>
      </dsp:txBody>
      <dsp:txXfrm>
        <a:off x="27753" y="1929294"/>
        <a:ext cx="8396344" cy="513021"/>
      </dsp:txXfrm>
    </dsp:sp>
    <dsp:sp modelId="{6ED9E2FB-1EF4-4BAF-BBC2-DEA7AD25F946}">
      <dsp:nvSpPr>
        <dsp:cNvPr id="0" name=""/>
        <dsp:cNvSpPr/>
      </dsp:nvSpPr>
      <dsp:spPr>
        <a:xfrm>
          <a:off x="0" y="2470069"/>
          <a:ext cx="8451850" cy="6127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8346" tIns="19050" rIns="106680" bIns="19050" numCol="1" spcCol="1270" anchor="t" anchorCtr="0">
          <a:noAutofit/>
        </a:bodyPr>
        <a:lstStyle/>
        <a:p>
          <a:pPr marL="180000" lvl="1" indent="-180000" algn="l" defTabSz="666750" rtl="0">
            <a:lnSpc>
              <a:spcPct val="90000"/>
            </a:lnSpc>
            <a:spcBef>
              <a:spcPct val="0"/>
            </a:spcBef>
            <a:spcAft>
              <a:spcPct val="20000"/>
            </a:spcAft>
            <a:buClr>
              <a:schemeClr val="accent1"/>
            </a:buClr>
            <a:buFont typeface="Wingdings" panose="05000000000000000000" pitchFamily="2" charset="2"/>
            <a:buChar char="§"/>
          </a:pPr>
          <a:r>
            <a:rPr lang="fr-FR" sz="1500" b="1" kern="1200" dirty="0"/>
            <a:t>L'arrêt du travail en cas d’intempéries est décidé par l’entrepreneur ou par son représentant sur le chantier après consultation CSE (Comité Social et Économique)</a:t>
          </a:r>
          <a:endParaRPr lang="fr-FR" sz="1500" kern="1200" dirty="0"/>
        </a:p>
      </dsp:txBody>
      <dsp:txXfrm>
        <a:off x="0" y="2470069"/>
        <a:ext cx="8451850" cy="612720"/>
      </dsp:txXfrm>
    </dsp:sp>
  </dsp:spTree>
</dsp:drawing>
</file>

<file path=ppt/diagrams/drawing3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B5557D-0576-4347-9B8F-872783D17121}">
      <dsp:nvSpPr>
        <dsp:cNvPr id="0" name=""/>
        <dsp:cNvSpPr/>
      </dsp:nvSpPr>
      <dsp:spPr>
        <a:xfrm>
          <a:off x="0" y="-4889"/>
          <a:ext cx="3099609" cy="3099609"/>
        </a:xfrm>
        <a:prstGeom prst="pie">
          <a:avLst>
            <a:gd name="adj1" fmla="val 5400000"/>
            <a:gd name="adj2" fmla="val 1620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10728F3-0280-4626-BBC3-FD33A7EDE6C7}">
      <dsp:nvSpPr>
        <dsp:cNvPr id="0" name=""/>
        <dsp:cNvSpPr/>
      </dsp:nvSpPr>
      <dsp:spPr>
        <a:xfrm>
          <a:off x="1549804" y="-4889"/>
          <a:ext cx="6902045" cy="3099609"/>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rtl="0">
            <a:lnSpc>
              <a:spcPct val="90000"/>
            </a:lnSpc>
            <a:spcBef>
              <a:spcPct val="0"/>
            </a:spcBef>
            <a:spcAft>
              <a:spcPct val="35000"/>
            </a:spcAft>
            <a:buNone/>
          </a:pPr>
          <a:r>
            <a:rPr lang="fr-FR" sz="1900" b="1" kern="1200" baseline="0" dirty="0"/>
            <a:t>Il existe un exercice</a:t>
          </a:r>
          <a:endParaRPr lang="fr-FR" sz="1900" kern="1200" dirty="0"/>
        </a:p>
      </dsp:txBody>
      <dsp:txXfrm>
        <a:off x="1549804" y="-4889"/>
        <a:ext cx="6902045" cy="1472314"/>
      </dsp:txXfrm>
    </dsp:sp>
    <dsp:sp modelId="{2AFCDAE8-0E65-4514-91F8-A6CF65C3A473}">
      <dsp:nvSpPr>
        <dsp:cNvPr id="0" name=""/>
        <dsp:cNvSpPr/>
      </dsp:nvSpPr>
      <dsp:spPr>
        <a:xfrm>
          <a:off x="813647" y="1307310"/>
          <a:ext cx="1472314" cy="1792542"/>
        </a:xfrm>
        <a:prstGeom prst="pie">
          <a:avLst>
            <a:gd name="adj1" fmla="val 5400000"/>
            <a:gd name="adj2" fmla="val 1620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A3D9209-F7E6-4D8D-A70B-ECFC51227997}">
      <dsp:nvSpPr>
        <dsp:cNvPr id="0" name=""/>
        <dsp:cNvSpPr/>
      </dsp:nvSpPr>
      <dsp:spPr>
        <a:xfrm>
          <a:off x="1549804" y="1302665"/>
          <a:ext cx="6902045" cy="1801832"/>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just" defTabSz="844550" rtl="0">
            <a:lnSpc>
              <a:spcPct val="90000"/>
            </a:lnSpc>
            <a:spcBef>
              <a:spcPct val="0"/>
            </a:spcBef>
            <a:spcAft>
              <a:spcPct val="35000"/>
            </a:spcAft>
            <a:buNone/>
          </a:pPr>
          <a:r>
            <a:rPr lang="fr-FR" sz="1900" b="1" kern="1200" baseline="0" dirty="0"/>
            <a:t>En cas d’indemnités de chômage intempérie, l’employeur doit vérifier si la rémunération du salarié telle que calculée en tenant compte de l’indemnisation du chômage intempéries est au moins égale à un plancher (SMIC net). Ce point est traité à la fin du corrigé. Les logiciels doivent être capables de faire cette vérification</a:t>
          </a:r>
          <a:endParaRPr lang="fr-FR" sz="1900" kern="1200" dirty="0"/>
        </a:p>
      </dsp:txBody>
      <dsp:txXfrm>
        <a:off x="1549804" y="1302665"/>
        <a:ext cx="6902045" cy="1801832"/>
      </dsp:txXfrm>
    </dsp:sp>
  </dsp:spTree>
</dsp:drawing>
</file>

<file path=ppt/diagrams/drawing3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9F5488-000E-47A2-A42A-7C1A7D3F12D0}">
      <dsp:nvSpPr>
        <dsp:cNvPr id="0" name=""/>
        <dsp:cNvSpPr/>
      </dsp:nvSpPr>
      <dsp:spPr>
        <a:xfrm>
          <a:off x="0" y="210656"/>
          <a:ext cx="8451850" cy="142155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180000" lvl="0" indent="-180000" algn="l" defTabSz="1200150" rtl="0">
            <a:lnSpc>
              <a:spcPct val="90000"/>
            </a:lnSpc>
            <a:spcBef>
              <a:spcPct val="0"/>
            </a:spcBef>
            <a:spcAft>
              <a:spcPct val="35000"/>
            </a:spcAft>
            <a:buNone/>
          </a:pPr>
          <a:r>
            <a:rPr lang="fr-FR" sz="2700" kern="1200" dirty="0"/>
            <a:t>	En cas de renouvellement de CDD sans interruption ou de transformation de CDD en CDI, il faut faire une actualisation de la carte BTP</a:t>
          </a:r>
        </a:p>
      </dsp:txBody>
      <dsp:txXfrm>
        <a:off x="69394" y="280050"/>
        <a:ext cx="8313062" cy="1282762"/>
      </dsp:txXfrm>
    </dsp:sp>
    <dsp:sp modelId="{6E351C26-1EB6-45BF-98DE-7FC3F10293D6}">
      <dsp:nvSpPr>
        <dsp:cNvPr id="0" name=""/>
        <dsp:cNvSpPr/>
      </dsp:nvSpPr>
      <dsp:spPr>
        <a:xfrm>
          <a:off x="0" y="1632206"/>
          <a:ext cx="8451850" cy="12575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8346" tIns="34290" rIns="192024" bIns="34290" numCol="1" spcCol="1270" anchor="t" anchorCtr="0">
          <a:noAutofit/>
        </a:bodyPr>
        <a:lstStyle/>
        <a:p>
          <a:pPr marL="180000" lvl="1" indent="-180000" algn="l" defTabSz="933450" rtl="0">
            <a:lnSpc>
              <a:spcPct val="90000"/>
            </a:lnSpc>
            <a:spcBef>
              <a:spcPct val="0"/>
            </a:spcBef>
            <a:spcAft>
              <a:spcPct val="20000"/>
            </a:spcAft>
            <a:buClr>
              <a:schemeClr val="accent1"/>
            </a:buClr>
            <a:buFont typeface="Wingdings" panose="05000000000000000000" pitchFamily="2" charset="2"/>
            <a:buChar char="§"/>
          </a:pPr>
          <a:r>
            <a:rPr lang="fr-FR" sz="2100" kern="1200" dirty="0"/>
            <a:t>En cas de prolongation de CDD sans interruption de contrat : il faut mettre à jour la date de fin de contrat </a:t>
          </a:r>
        </a:p>
        <a:p>
          <a:pPr marL="228600" lvl="1" indent="-228600" algn="l" defTabSz="933450">
            <a:lnSpc>
              <a:spcPct val="90000"/>
            </a:lnSpc>
            <a:spcBef>
              <a:spcPct val="0"/>
            </a:spcBef>
            <a:spcAft>
              <a:spcPct val="20000"/>
            </a:spcAft>
            <a:buClr>
              <a:schemeClr val="accent1"/>
            </a:buClr>
            <a:buFont typeface="Wingdings" panose="05000000000000000000" pitchFamily="2" charset="2"/>
            <a:buChar char="§"/>
          </a:pPr>
          <a:r>
            <a:rPr lang="fr-FR" sz="2100" kern="1200" dirty="0"/>
            <a:t>En cas de transformation de CDD en CDI : il faut supprimer la date de fin de contrat</a:t>
          </a:r>
        </a:p>
      </dsp:txBody>
      <dsp:txXfrm>
        <a:off x="0" y="1632206"/>
        <a:ext cx="8451850" cy="1257525"/>
      </dsp:txXfrm>
    </dsp:sp>
  </dsp:spTree>
</dsp:drawing>
</file>

<file path=ppt/diagrams/drawing3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1147BB-F31F-4216-BD76-5ECBB07F8E70}">
      <dsp:nvSpPr>
        <dsp:cNvPr id="0" name=""/>
        <dsp:cNvSpPr/>
      </dsp:nvSpPr>
      <dsp:spPr>
        <a:xfrm>
          <a:off x="0" y="291966"/>
          <a:ext cx="11269133" cy="72539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rtl="0">
            <a:lnSpc>
              <a:spcPct val="90000"/>
            </a:lnSpc>
            <a:spcBef>
              <a:spcPct val="0"/>
            </a:spcBef>
            <a:spcAft>
              <a:spcPct val="35000"/>
            </a:spcAft>
            <a:buNone/>
          </a:pPr>
          <a:r>
            <a:rPr lang="fr-FR" sz="3100" b="1" kern="1200" baseline="0" dirty="0"/>
            <a:t>Dans le BTP, lors du départ d’un salarié, les points spécifiques sont</a:t>
          </a:r>
          <a:endParaRPr lang="fr-FR" sz="3100" kern="1200" dirty="0"/>
        </a:p>
      </dsp:txBody>
      <dsp:txXfrm>
        <a:off x="35411" y="327377"/>
        <a:ext cx="11198311" cy="654577"/>
      </dsp:txXfrm>
    </dsp:sp>
    <dsp:sp modelId="{E17BDB7D-96BC-462F-8E07-CA5E2654F237}">
      <dsp:nvSpPr>
        <dsp:cNvPr id="0" name=""/>
        <dsp:cNvSpPr/>
      </dsp:nvSpPr>
      <dsp:spPr>
        <a:xfrm>
          <a:off x="0" y="1017366"/>
          <a:ext cx="11269133" cy="28234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7795" tIns="39370" rIns="220472" bIns="39370" numCol="1" spcCol="1270" anchor="t" anchorCtr="0">
          <a:noAutofit/>
        </a:bodyPr>
        <a:lstStyle/>
        <a:p>
          <a:pPr marL="180000" lvl="1" indent="-180000" algn="l" defTabSz="1066800" rtl="0">
            <a:lnSpc>
              <a:spcPct val="90000"/>
            </a:lnSpc>
            <a:spcBef>
              <a:spcPct val="0"/>
            </a:spcBef>
            <a:spcAft>
              <a:spcPct val="20000"/>
            </a:spcAft>
            <a:buClr>
              <a:schemeClr val="accent1"/>
            </a:buClr>
            <a:buFont typeface="Wingdings" panose="05000000000000000000" pitchFamily="2" charset="2"/>
            <a:buChar char="§"/>
          </a:pPr>
          <a:r>
            <a:rPr lang="fr-FR" sz="2400" b="1" kern="1200" dirty="0"/>
            <a:t>L</a:t>
          </a:r>
          <a:r>
            <a:rPr lang="x-none" sz="2400" b="1" kern="1200" dirty="0"/>
            <a:t>e certificat doit mentionner le nombre de journées indemnisées depuis le 1</a:t>
          </a:r>
          <a:r>
            <a:rPr lang="x-none" sz="2400" b="1" kern="1200" baseline="30000" dirty="0"/>
            <a:t>er</a:t>
          </a:r>
          <a:r>
            <a:rPr lang="x-none" sz="2400" b="1" kern="1200" dirty="0"/>
            <a:t> janvier de l’année en cours au titre du </a:t>
          </a:r>
          <a:r>
            <a:rPr lang="x-none" sz="2400" b="1" kern="1200" dirty="0">
              <a:hlinkClick xmlns:r="http://schemas.openxmlformats.org/officeDocument/2006/relationships" r:id="rId1"/>
            </a:rPr>
            <a:t>chômage intempéries</a:t>
          </a:r>
          <a:endParaRPr lang="fr-FR" sz="2400" kern="1200" dirty="0"/>
        </a:p>
        <a:p>
          <a:pPr marL="180000" lvl="1" indent="-180000" algn="l" defTabSz="1066800" rtl="0">
            <a:lnSpc>
              <a:spcPct val="90000"/>
            </a:lnSpc>
            <a:spcBef>
              <a:spcPct val="0"/>
            </a:spcBef>
            <a:spcAft>
              <a:spcPct val="20000"/>
            </a:spcAft>
            <a:buClr>
              <a:schemeClr val="accent1"/>
            </a:buClr>
            <a:buFont typeface="Wingdings" panose="05000000000000000000" pitchFamily="2" charset="2"/>
            <a:buChar char="§"/>
          </a:pPr>
          <a:r>
            <a:rPr lang="fr-FR" sz="2400" b="1" kern="1200" dirty="0"/>
            <a:t>U</a:t>
          </a:r>
          <a:r>
            <a:rPr lang="x-none" sz="2400" b="1" kern="1200" dirty="0"/>
            <a:t>ne déclaration doit être faite</a:t>
          </a:r>
          <a:r>
            <a:rPr lang="fr-FR" sz="2400" b="1" kern="1200" dirty="0"/>
            <a:t> </a:t>
          </a:r>
          <a:r>
            <a:rPr lang="x-none" sz="2400" b="1" kern="1200" dirty="0"/>
            <a:t>à la caisse des congés payés afin de transmettre</a:t>
          </a:r>
          <a:r>
            <a:rPr lang="fr-FR" sz="2400" b="1" kern="1200" dirty="0"/>
            <a:t> </a:t>
          </a:r>
          <a:r>
            <a:rPr lang="x-none" sz="2400" b="1" kern="1200" dirty="0"/>
            <a:t>les données de la période</a:t>
          </a:r>
          <a:r>
            <a:rPr lang="fr-FR" sz="2400" b="1" kern="1200" dirty="0"/>
            <a:t> </a:t>
          </a:r>
          <a:r>
            <a:rPr lang="x-none" sz="2400" b="1" kern="1200" dirty="0"/>
            <a:t>d'emploi entre</a:t>
          </a:r>
          <a:r>
            <a:rPr lang="fr-FR" sz="2400" b="1" kern="1200" dirty="0"/>
            <a:t> </a:t>
          </a:r>
          <a:r>
            <a:rPr lang="x-none" sz="2400" b="1" kern="1200" dirty="0"/>
            <a:t>le</a:t>
          </a:r>
          <a:r>
            <a:rPr lang="fr-FR" sz="2400" b="1" kern="1200" dirty="0"/>
            <a:t> </a:t>
          </a:r>
          <a:r>
            <a:rPr lang="x-none" sz="2400" b="1" kern="1200" dirty="0"/>
            <a:t>1</a:t>
          </a:r>
          <a:r>
            <a:rPr lang="x-none" sz="2400" b="1" kern="1200" baseline="30000" dirty="0"/>
            <a:t>er</a:t>
          </a:r>
          <a:r>
            <a:rPr lang="fr-FR" sz="2400" b="1" kern="1200" baseline="30000" dirty="0"/>
            <a:t> </a:t>
          </a:r>
          <a:r>
            <a:rPr lang="x-none" sz="2400" b="1" kern="1200" dirty="0"/>
            <a:t>avril précédent et la date du départ. La caisse,</a:t>
          </a:r>
          <a:r>
            <a:rPr lang="fr-FR" sz="2400" b="1" kern="1200" dirty="0"/>
            <a:t> </a:t>
          </a:r>
          <a:r>
            <a:rPr lang="x-none" sz="2400" b="1" kern="1200" dirty="0"/>
            <a:t>après</a:t>
          </a:r>
          <a:r>
            <a:rPr lang="fr-FR" sz="2400" b="1" kern="1200" dirty="0"/>
            <a:t> </a:t>
          </a:r>
          <a:r>
            <a:rPr lang="x-none" sz="2400" b="1" kern="1200" dirty="0"/>
            <a:t>contrôle des données saisies, adresse le certificat à remettre </a:t>
          </a:r>
          <a:r>
            <a:rPr lang="fr-FR" sz="2400" b="1" kern="1200" dirty="0"/>
            <a:t>au </a:t>
          </a:r>
          <a:r>
            <a:rPr lang="x-none" sz="2400" b="1" kern="1200" dirty="0"/>
            <a:t>salarié</a:t>
          </a:r>
          <a:endParaRPr lang="fr-FR" sz="2400" kern="1200" dirty="0"/>
        </a:p>
        <a:p>
          <a:pPr marL="180000" lvl="1" indent="-180000" algn="l" defTabSz="1066800" rtl="0">
            <a:lnSpc>
              <a:spcPct val="90000"/>
            </a:lnSpc>
            <a:spcBef>
              <a:spcPct val="0"/>
            </a:spcBef>
            <a:spcAft>
              <a:spcPct val="20000"/>
            </a:spcAft>
            <a:buClr>
              <a:schemeClr val="accent1"/>
            </a:buClr>
            <a:buFont typeface="Wingdings" panose="05000000000000000000" pitchFamily="2" charset="2"/>
            <a:buChar char="§"/>
          </a:pPr>
          <a:r>
            <a:rPr lang="fr-FR" sz="2400" b="1" kern="1200" dirty="0"/>
            <a:t>Afin que la Carte BTP soit invalidée, l’employeur est tenu de la retourner au service Carte BTP en vue de sa destruction</a:t>
          </a:r>
        </a:p>
      </dsp:txBody>
      <dsp:txXfrm>
        <a:off x="0" y="1017366"/>
        <a:ext cx="11269133" cy="2823479"/>
      </dsp:txXfrm>
    </dsp:sp>
  </dsp:spTree>
</dsp:drawing>
</file>

<file path=ppt/diagrams/drawing4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AB7A41-2C53-4523-B2A8-1F301C1641CA}">
      <dsp:nvSpPr>
        <dsp:cNvPr id="0" name=""/>
        <dsp:cNvSpPr/>
      </dsp:nvSpPr>
      <dsp:spPr>
        <a:xfrm>
          <a:off x="0" y="34063"/>
          <a:ext cx="8451850" cy="609581"/>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rtl="0">
            <a:lnSpc>
              <a:spcPct val="90000"/>
            </a:lnSpc>
            <a:spcBef>
              <a:spcPct val="0"/>
            </a:spcBef>
            <a:spcAft>
              <a:spcPct val="35000"/>
            </a:spcAft>
            <a:buNone/>
          </a:pPr>
          <a:r>
            <a:rPr lang="fr-FR" sz="2600" b="1" kern="1200" baseline="0" dirty="0"/>
            <a:t>Le préavis</a:t>
          </a:r>
          <a:endParaRPr lang="fr-FR" sz="2600" kern="1200" dirty="0"/>
        </a:p>
      </dsp:txBody>
      <dsp:txXfrm>
        <a:off x="29757" y="63820"/>
        <a:ext cx="8392336" cy="550067"/>
      </dsp:txXfrm>
    </dsp:sp>
    <dsp:sp modelId="{1C023777-9667-4FFA-A6CA-5B1E4F1E0DDB}">
      <dsp:nvSpPr>
        <dsp:cNvPr id="0" name=""/>
        <dsp:cNvSpPr/>
      </dsp:nvSpPr>
      <dsp:spPr>
        <a:xfrm>
          <a:off x="0" y="643645"/>
          <a:ext cx="8451850" cy="24219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8346" tIns="33020" rIns="184912" bIns="33020" numCol="1" spcCol="1270" anchor="t" anchorCtr="0">
          <a:noAutofit/>
        </a:bodyPr>
        <a:lstStyle/>
        <a:p>
          <a:pPr marL="228600" lvl="1" indent="-228600" algn="l" defTabSz="889000" rtl="0">
            <a:lnSpc>
              <a:spcPct val="90000"/>
            </a:lnSpc>
            <a:spcBef>
              <a:spcPct val="0"/>
            </a:spcBef>
            <a:spcAft>
              <a:spcPct val="20000"/>
            </a:spcAft>
            <a:buClr>
              <a:schemeClr val="accent1"/>
            </a:buClr>
            <a:buFont typeface="Wingdings" panose="05000000000000000000" pitchFamily="2" charset="2"/>
            <a:buChar char="§"/>
          </a:pPr>
          <a:r>
            <a:rPr lang="fr-FR" sz="2000" b="1" kern="1200" baseline="0" dirty="0"/>
            <a:t>Durée du préavis variable selon la catégorie</a:t>
          </a:r>
          <a:endParaRPr lang="fr-FR" sz="2000" kern="1200" dirty="0"/>
        </a:p>
        <a:p>
          <a:pPr marL="228600" lvl="1" indent="-228600" algn="l" defTabSz="889000" rtl="0">
            <a:lnSpc>
              <a:spcPct val="90000"/>
            </a:lnSpc>
            <a:spcBef>
              <a:spcPct val="0"/>
            </a:spcBef>
            <a:spcAft>
              <a:spcPct val="20000"/>
            </a:spcAft>
            <a:buClr>
              <a:schemeClr val="accent1"/>
            </a:buClr>
            <a:buFont typeface="Wingdings" panose="05000000000000000000" pitchFamily="2" charset="2"/>
            <a:buChar char="§"/>
          </a:pPr>
          <a:r>
            <a:rPr lang="fr-FR" sz="2000" b="1" kern="1200" baseline="0" dirty="0"/>
            <a:t>Volonté d’harmoniser la durée du préavis par catégorie quel que soit le motif (démission ou licenciement)</a:t>
          </a:r>
          <a:endParaRPr lang="fr-FR" sz="2000" kern="1200" dirty="0"/>
        </a:p>
        <a:p>
          <a:pPr marL="228600" lvl="1" indent="-228600" algn="l" defTabSz="889000" rtl="0">
            <a:lnSpc>
              <a:spcPct val="90000"/>
            </a:lnSpc>
            <a:spcBef>
              <a:spcPct val="0"/>
            </a:spcBef>
            <a:spcAft>
              <a:spcPct val="20000"/>
            </a:spcAft>
            <a:buClr>
              <a:schemeClr val="accent1"/>
            </a:buClr>
            <a:buFont typeface="Wingdings" panose="05000000000000000000" pitchFamily="2" charset="2"/>
            <a:buChar char="§"/>
          </a:pPr>
          <a:r>
            <a:rPr lang="fr-FR" sz="2000" b="1" kern="1200" baseline="0" dirty="0"/>
            <a:t>Dans les conventions collectives, il existe un article sur les heures d’absence pour recherche d’emploi</a:t>
          </a:r>
          <a:endParaRPr lang="fr-FR" sz="2000" kern="1200" dirty="0"/>
        </a:p>
        <a:p>
          <a:pPr marL="228600" lvl="1" indent="-228600" algn="l" defTabSz="889000" rtl="0">
            <a:lnSpc>
              <a:spcPct val="90000"/>
            </a:lnSpc>
            <a:spcBef>
              <a:spcPct val="0"/>
            </a:spcBef>
            <a:spcAft>
              <a:spcPct val="20000"/>
            </a:spcAft>
            <a:buClr>
              <a:schemeClr val="accent1"/>
            </a:buClr>
            <a:buFont typeface="Wingdings" panose="05000000000000000000" pitchFamily="2" charset="2"/>
            <a:buChar char="§"/>
          </a:pPr>
          <a:r>
            <a:rPr lang="fr-FR" sz="2000" b="1" kern="1200" baseline="0" dirty="0"/>
            <a:t>Portabilité de la prévoyance avec PRO-BTP : il y a mutualisation (durée portée à 36 mois) </a:t>
          </a:r>
          <a:endParaRPr lang="fr-FR" sz="2000" kern="1200" dirty="0"/>
        </a:p>
      </dsp:txBody>
      <dsp:txXfrm>
        <a:off x="0" y="643645"/>
        <a:ext cx="8451850" cy="2421900"/>
      </dsp:txXfrm>
    </dsp:sp>
  </dsp:spTree>
</dsp:drawing>
</file>

<file path=ppt/diagrams/drawing4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E73333-1E81-413E-9661-0FCB826758E1}">
      <dsp:nvSpPr>
        <dsp:cNvPr id="0" name=""/>
        <dsp:cNvSpPr/>
      </dsp:nvSpPr>
      <dsp:spPr>
        <a:xfrm>
          <a:off x="0" y="166200"/>
          <a:ext cx="8451850" cy="64990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rtl="0">
            <a:lnSpc>
              <a:spcPct val="90000"/>
            </a:lnSpc>
            <a:spcBef>
              <a:spcPct val="0"/>
            </a:spcBef>
            <a:spcAft>
              <a:spcPct val="35000"/>
            </a:spcAft>
            <a:buNone/>
          </a:pPr>
          <a:r>
            <a:rPr lang="fr-FR" sz="2600" b="1" kern="1200" baseline="0" dirty="0"/>
            <a:t>Le licenciement</a:t>
          </a:r>
          <a:endParaRPr lang="fr-FR" sz="2600" kern="1200" dirty="0"/>
        </a:p>
      </dsp:txBody>
      <dsp:txXfrm>
        <a:off x="31726" y="197926"/>
        <a:ext cx="8388398" cy="586453"/>
      </dsp:txXfrm>
    </dsp:sp>
    <dsp:sp modelId="{E55C6B9D-95A9-4BBF-AF66-F7CC448F1917}">
      <dsp:nvSpPr>
        <dsp:cNvPr id="0" name=""/>
        <dsp:cNvSpPr/>
      </dsp:nvSpPr>
      <dsp:spPr>
        <a:xfrm>
          <a:off x="0" y="849202"/>
          <a:ext cx="8451850" cy="20518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8346" tIns="25400" rIns="142240" bIns="25400" numCol="1" spcCol="1270" anchor="t" anchorCtr="0">
          <a:noAutofit/>
        </a:bodyPr>
        <a:lstStyle/>
        <a:p>
          <a:pPr marL="228600" lvl="1" indent="-228600" algn="l" defTabSz="889000" rtl="0">
            <a:lnSpc>
              <a:spcPct val="90000"/>
            </a:lnSpc>
            <a:spcBef>
              <a:spcPct val="0"/>
            </a:spcBef>
            <a:spcAft>
              <a:spcPct val="20000"/>
            </a:spcAft>
            <a:buClr>
              <a:schemeClr val="accent1"/>
            </a:buClr>
            <a:buFont typeface="Wingdings" panose="05000000000000000000" pitchFamily="2" charset="2"/>
            <a:buChar char="§"/>
          </a:pPr>
          <a:r>
            <a:rPr lang="fr-FR" sz="2000" b="1" kern="1200" baseline="0" dirty="0"/>
            <a:t>Prendre la solution la plus avantageuse pour le salarié entre l’indemnité légale et conventionnelle (les règles sont différentes aussi bien pour l’assiette, l’ancienneté, le coefficient multiplicateur)</a:t>
          </a:r>
          <a:endParaRPr lang="fr-FR" sz="2000" kern="1200" dirty="0"/>
        </a:p>
        <a:p>
          <a:pPr marL="228600" lvl="1" indent="-228600" algn="l" defTabSz="889000" rtl="0">
            <a:lnSpc>
              <a:spcPct val="90000"/>
            </a:lnSpc>
            <a:spcBef>
              <a:spcPct val="0"/>
            </a:spcBef>
            <a:spcAft>
              <a:spcPct val="20000"/>
            </a:spcAft>
            <a:buClr>
              <a:schemeClr val="accent1"/>
            </a:buClr>
            <a:buFont typeface="Wingdings" panose="05000000000000000000" pitchFamily="2" charset="2"/>
            <a:buChar char="§"/>
          </a:pPr>
          <a:r>
            <a:rPr lang="fr-FR" sz="2000" b="1" kern="1200" baseline="0" dirty="0"/>
            <a:t>Indemnité de licenciement majorée de 10 % pour les salariés âgés de plus de 55 ans (ouvriers, ETAM, cadres)</a:t>
          </a:r>
          <a:endParaRPr lang="fr-FR" sz="2000" kern="1200" dirty="0"/>
        </a:p>
        <a:p>
          <a:pPr marL="228600" lvl="1" indent="-228600" algn="l" defTabSz="889000" rtl="0">
            <a:lnSpc>
              <a:spcPct val="90000"/>
            </a:lnSpc>
            <a:spcBef>
              <a:spcPct val="0"/>
            </a:spcBef>
            <a:spcAft>
              <a:spcPct val="20000"/>
            </a:spcAft>
            <a:buClr>
              <a:schemeClr val="accent1"/>
            </a:buClr>
            <a:buFont typeface="Wingdings" panose="05000000000000000000" pitchFamily="2" charset="2"/>
            <a:buChar char="§"/>
          </a:pPr>
          <a:r>
            <a:rPr lang="fr-FR" sz="2000" b="1" kern="1200" baseline="0" dirty="0"/>
            <a:t>Les ETAM et les cadres voient leurs indemnités plafonnées </a:t>
          </a:r>
          <a:endParaRPr lang="fr-FR" sz="2000" kern="1200" dirty="0"/>
        </a:p>
      </dsp:txBody>
      <dsp:txXfrm>
        <a:off x="0" y="849202"/>
        <a:ext cx="8451850" cy="2051887"/>
      </dsp:txXfrm>
    </dsp:sp>
  </dsp:spTree>
</dsp:drawing>
</file>

<file path=ppt/diagrams/drawing4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4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D25E11-AFA9-4FD9-8AAB-B639CEF6A002}">
      <dsp:nvSpPr>
        <dsp:cNvPr id="0" name=""/>
        <dsp:cNvSpPr/>
      </dsp:nvSpPr>
      <dsp:spPr>
        <a:xfrm>
          <a:off x="0" y="160406"/>
          <a:ext cx="8451850" cy="605064"/>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rtl="0">
            <a:lnSpc>
              <a:spcPct val="90000"/>
            </a:lnSpc>
            <a:spcBef>
              <a:spcPct val="0"/>
            </a:spcBef>
            <a:spcAft>
              <a:spcPct val="35000"/>
            </a:spcAft>
            <a:buNone/>
          </a:pPr>
          <a:r>
            <a:rPr lang="fr-FR" sz="2600" b="1" kern="1200" baseline="0" dirty="0"/>
            <a:t>Le départ volontaire à la retraite de l’ouvrier</a:t>
          </a:r>
          <a:endParaRPr lang="fr-FR" sz="2600" kern="1200" dirty="0"/>
        </a:p>
      </dsp:txBody>
      <dsp:txXfrm>
        <a:off x="29537" y="189943"/>
        <a:ext cx="8392776" cy="545990"/>
      </dsp:txXfrm>
    </dsp:sp>
    <dsp:sp modelId="{9A6E4683-E9EC-43A0-B66D-CB3E199D08AB}">
      <dsp:nvSpPr>
        <dsp:cNvPr id="0" name=""/>
        <dsp:cNvSpPr/>
      </dsp:nvSpPr>
      <dsp:spPr>
        <a:xfrm>
          <a:off x="0" y="859559"/>
          <a:ext cx="8451850" cy="11660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8346" tIns="25400" rIns="142240" bIns="25400" numCol="1" spcCol="1270" anchor="t" anchorCtr="0">
          <a:noAutofit/>
        </a:bodyPr>
        <a:lstStyle/>
        <a:p>
          <a:pPr marL="228600" lvl="1" indent="-228600" algn="l" defTabSz="889000" rtl="0">
            <a:lnSpc>
              <a:spcPct val="90000"/>
            </a:lnSpc>
            <a:spcBef>
              <a:spcPct val="0"/>
            </a:spcBef>
            <a:spcAft>
              <a:spcPct val="20000"/>
            </a:spcAft>
            <a:buClr>
              <a:schemeClr val="accent1"/>
            </a:buClr>
            <a:buFont typeface="Wingdings" panose="05000000000000000000" pitchFamily="2" charset="2"/>
            <a:buChar char="§"/>
          </a:pPr>
          <a:r>
            <a:rPr lang="fr-FR" sz="2000" b="1" kern="1200" baseline="0" dirty="0"/>
            <a:t>BTP-Prévoyance (PRO-BTP) prend en charge le versement </a:t>
          </a:r>
          <a:br>
            <a:rPr lang="fr-FR" sz="2000" b="1" kern="1200" baseline="0" dirty="0"/>
          </a:br>
          <a:r>
            <a:rPr lang="fr-FR" sz="2000" b="1" kern="1200" baseline="0" dirty="0"/>
            <a:t>des indemnités de départ en retraite des ouvriers</a:t>
          </a:r>
          <a:endParaRPr lang="fr-FR" sz="2000" kern="1200" dirty="0"/>
        </a:p>
        <a:p>
          <a:pPr marL="228600" lvl="1" indent="-228600" algn="l" defTabSz="889000" rtl="0">
            <a:lnSpc>
              <a:spcPct val="90000"/>
            </a:lnSpc>
            <a:spcBef>
              <a:spcPct val="0"/>
            </a:spcBef>
            <a:spcAft>
              <a:spcPct val="20000"/>
            </a:spcAft>
            <a:buClr>
              <a:schemeClr val="accent1"/>
            </a:buClr>
            <a:buFont typeface="Wingdings" panose="05000000000000000000" pitchFamily="2" charset="2"/>
            <a:buChar char="§"/>
          </a:pPr>
          <a:r>
            <a:rPr lang="fr-FR" sz="2000" b="1" kern="1200" baseline="0" dirty="0"/>
            <a:t>L’indemnité est versée directement au salarié </a:t>
          </a:r>
          <a:endParaRPr lang="fr-FR" sz="2000" kern="1200" dirty="0"/>
        </a:p>
      </dsp:txBody>
      <dsp:txXfrm>
        <a:off x="0" y="859559"/>
        <a:ext cx="8451850" cy="1166053"/>
      </dsp:txXfrm>
    </dsp:sp>
  </dsp:spTree>
</dsp:drawing>
</file>

<file path=ppt/diagrams/drawing4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4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0BB428-4549-4154-AC7A-734C32CD6A2C}">
      <dsp:nvSpPr>
        <dsp:cNvPr id="0" name=""/>
        <dsp:cNvSpPr/>
      </dsp:nvSpPr>
      <dsp:spPr>
        <a:xfrm>
          <a:off x="0" y="124613"/>
          <a:ext cx="8451850" cy="609644"/>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rtl="0">
            <a:lnSpc>
              <a:spcPct val="90000"/>
            </a:lnSpc>
            <a:spcBef>
              <a:spcPct val="0"/>
            </a:spcBef>
            <a:spcAft>
              <a:spcPct val="35000"/>
            </a:spcAft>
            <a:buNone/>
          </a:pPr>
          <a:r>
            <a:rPr lang="fr-FR" sz="2600" b="1" kern="1200" baseline="0" dirty="0"/>
            <a:t>Mise à la retraite de l’ouvrier par l’employeur</a:t>
          </a:r>
          <a:endParaRPr lang="fr-FR" sz="2600" kern="1200" dirty="0"/>
        </a:p>
      </dsp:txBody>
      <dsp:txXfrm>
        <a:off x="29760" y="154373"/>
        <a:ext cx="8392330" cy="550124"/>
      </dsp:txXfrm>
    </dsp:sp>
    <dsp:sp modelId="{1028D588-9945-45B0-AFBC-829FD9E1E013}">
      <dsp:nvSpPr>
        <dsp:cNvPr id="0" name=""/>
        <dsp:cNvSpPr/>
      </dsp:nvSpPr>
      <dsp:spPr>
        <a:xfrm>
          <a:off x="0" y="765471"/>
          <a:ext cx="8451850" cy="1076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8346" tIns="25400" rIns="142240" bIns="25400" numCol="1" spcCol="1270" anchor="t" anchorCtr="0">
          <a:noAutofit/>
        </a:bodyPr>
        <a:lstStyle/>
        <a:p>
          <a:pPr marL="228600" lvl="1" indent="-228600" algn="l" defTabSz="889000" rtl="0">
            <a:lnSpc>
              <a:spcPct val="90000"/>
            </a:lnSpc>
            <a:spcBef>
              <a:spcPct val="0"/>
            </a:spcBef>
            <a:spcAft>
              <a:spcPct val="20000"/>
            </a:spcAft>
            <a:buClr>
              <a:schemeClr val="accent1"/>
            </a:buClr>
            <a:buFont typeface="Wingdings" panose="05000000000000000000" pitchFamily="2" charset="2"/>
            <a:buChar char="§"/>
          </a:pPr>
          <a:r>
            <a:rPr lang="fr-FR" sz="2000" b="1" kern="1200" baseline="0" dirty="0"/>
            <a:t>BTP-Prévoyance (PRO-BTP) se substitue pour les ouvriers au dernier employeur affilié à cette caisse et verse l’indemnité de mise à la retraite</a:t>
          </a:r>
          <a:endParaRPr lang="fr-FR" sz="2000" kern="1200" dirty="0"/>
        </a:p>
      </dsp:txBody>
      <dsp:txXfrm>
        <a:off x="0" y="765471"/>
        <a:ext cx="8451850" cy="1076400"/>
      </dsp:txXfrm>
    </dsp:sp>
  </dsp:spTree>
</dsp:drawing>
</file>

<file path=ppt/diagrams/drawing4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0BB428-4549-4154-AC7A-734C32CD6A2C}">
      <dsp:nvSpPr>
        <dsp:cNvPr id="0" name=""/>
        <dsp:cNvSpPr/>
      </dsp:nvSpPr>
      <dsp:spPr>
        <a:xfrm>
          <a:off x="0" y="124613"/>
          <a:ext cx="8451850" cy="609644"/>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rtl="0">
            <a:lnSpc>
              <a:spcPct val="90000"/>
            </a:lnSpc>
            <a:spcBef>
              <a:spcPct val="0"/>
            </a:spcBef>
            <a:spcAft>
              <a:spcPct val="35000"/>
            </a:spcAft>
            <a:buNone/>
          </a:pPr>
          <a:r>
            <a:rPr lang="fr-FR" sz="2600" b="1" kern="1200" baseline="0" dirty="0"/>
            <a:t>Mise à la retraite de l’ouvrier par l’employeur</a:t>
          </a:r>
          <a:endParaRPr lang="fr-FR" sz="2600" kern="1200" dirty="0"/>
        </a:p>
      </dsp:txBody>
      <dsp:txXfrm>
        <a:off x="29760" y="154373"/>
        <a:ext cx="8392330" cy="550124"/>
      </dsp:txXfrm>
    </dsp:sp>
    <dsp:sp modelId="{1028D588-9945-45B0-AFBC-829FD9E1E013}">
      <dsp:nvSpPr>
        <dsp:cNvPr id="0" name=""/>
        <dsp:cNvSpPr/>
      </dsp:nvSpPr>
      <dsp:spPr>
        <a:xfrm>
          <a:off x="0" y="765471"/>
          <a:ext cx="8451850" cy="1076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8346" tIns="25400" rIns="142240" bIns="25400" numCol="1" spcCol="1270" anchor="t" anchorCtr="0">
          <a:noAutofit/>
        </a:bodyPr>
        <a:lstStyle/>
        <a:p>
          <a:pPr marL="228600" lvl="1" indent="-228600" algn="l" defTabSz="889000" rtl="0">
            <a:lnSpc>
              <a:spcPct val="90000"/>
            </a:lnSpc>
            <a:spcBef>
              <a:spcPct val="0"/>
            </a:spcBef>
            <a:spcAft>
              <a:spcPct val="20000"/>
            </a:spcAft>
            <a:buClr>
              <a:schemeClr val="accent1"/>
            </a:buClr>
            <a:buFont typeface="Wingdings" panose="05000000000000000000" pitchFamily="2" charset="2"/>
            <a:buChar char="§"/>
          </a:pPr>
          <a:r>
            <a:rPr lang="fr-FR" sz="2000" b="1" kern="1200" baseline="0" dirty="0"/>
            <a:t>BTP-Prévoyance (PRO-BTP) se substitue pour les ouvriers au dernier employeur affilié à cette caisse et verse l’indemnité </a:t>
          </a:r>
          <a:br>
            <a:rPr lang="fr-FR" sz="2000" b="1" kern="1200" baseline="0" dirty="0"/>
          </a:br>
          <a:r>
            <a:rPr lang="fr-FR" sz="2000" b="1" kern="1200" baseline="0" dirty="0"/>
            <a:t>de mise à la retraite</a:t>
          </a:r>
          <a:endParaRPr lang="fr-FR" sz="2000" kern="1200" dirty="0"/>
        </a:p>
      </dsp:txBody>
      <dsp:txXfrm>
        <a:off x="0" y="765471"/>
        <a:ext cx="8451850" cy="1076400"/>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8.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21.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22.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2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5.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6.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9.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30.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31.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3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7.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3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24">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125">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126">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127">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128">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129">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130">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13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13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13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134">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135">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136">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137">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138">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139">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140">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14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14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14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144">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145">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146">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147">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148">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1#149">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1#150">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1#15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xml><?xml version="1.0" encoding="utf-8"?>
<dgm:styleDef xmlns:dgm="http://schemas.openxmlformats.org/drawingml/2006/diagram" xmlns:a="http://schemas.openxmlformats.org/drawingml/2006/main" uniqueId="urn:microsoft.com/office/officeart/2005/8/quickstyle/simple1#15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0.xml><?xml version="1.0" encoding="utf-8"?>
<dgm:styleDef xmlns:dgm="http://schemas.openxmlformats.org/drawingml/2006/diagram" xmlns:a="http://schemas.openxmlformats.org/drawingml/2006/main" uniqueId="urn:microsoft.com/office/officeart/2005/8/quickstyle/simple1#15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1.xml><?xml version="1.0" encoding="utf-8"?>
<dgm:styleDef xmlns:dgm="http://schemas.openxmlformats.org/drawingml/2006/diagram" xmlns:a="http://schemas.openxmlformats.org/drawingml/2006/main" uniqueId="urn:microsoft.com/office/officeart/2005/8/quickstyle/simple1#154">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2.xml><?xml version="1.0" encoding="utf-8"?>
<dgm:styleDef xmlns:dgm="http://schemas.openxmlformats.org/drawingml/2006/diagram" xmlns:a="http://schemas.openxmlformats.org/drawingml/2006/main" uniqueId="urn:microsoft.com/office/officeart/2005/8/quickstyle/simple1#155">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3.xml><?xml version="1.0" encoding="utf-8"?>
<dgm:styleDef xmlns:dgm="http://schemas.openxmlformats.org/drawingml/2006/diagram" xmlns:a="http://schemas.openxmlformats.org/drawingml/2006/main" uniqueId="urn:microsoft.com/office/officeart/2005/8/quickstyle/simple1#156">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4.xml><?xml version="1.0" encoding="utf-8"?>
<dgm:styleDef xmlns:dgm="http://schemas.openxmlformats.org/drawingml/2006/diagram" xmlns:a="http://schemas.openxmlformats.org/drawingml/2006/main" uniqueId="urn:microsoft.com/office/officeart/2005/8/quickstyle/simple1#157">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5.xml><?xml version="1.0" encoding="utf-8"?>
<dgm:styleDef xmlns:dgm="http://schemas.openxmlformats.org/drawingml/2006/diagram" xmlns:a="http://schemas.openxmlformats.org/drawingml/2006/main" uniqueId="urn:microsoft.com/office/officeart/2005/8/quickstyle/simple1#158">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6.xml><?xml version="1.0" encoding="utf-8"?>
<dgm:styleDef xmlns:dgm="http://schemas.openxmlformats.org/drawingml/2006/diagram" xmlns:a="http://schemas.openxmlformats.org/drawingml/2006/main" uniqueId="urn:microsoft.com/office/officeart/2005/8/quickstyle/simple1#159">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7.xml><?xml version="1.0" encoding="utf-8"?>
<dgm:styleDef xmlns:dgm="http://schemas.openxmlformats.org/drawingml/2006/diagram" xmlns:a="http://schemas.openxmlformats.org/drawingml/2006/main" uniqueId="urn:microsoft.com/office/officeart/2005/8/quickstyle/simple1#160">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8.xml><?xml version="1.0" encoding="utf-8"?>
<dgm:styleDef xmlns:dgm="http://schemas.openxmlformats.org/drawingml/2006/diagram" xmlns:a="http://schemas.openxmlformats.org/drawingml/2006/main" uniqueId="urn:microsoft.com/office/officeart/2005/8/quickstyle/simple1#16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9.xml><?xml version="1.0" encoding="utf-8"?>
<dgm:styleDef xmlns:dgm="http://schemas.openxmlformats.org/drawingml/2006/diagram" xmlns:a="http://schemas.openxmlformats.org/drawingml/2006/main" uniqueId="urn:microsoft.com/office/officeart/2005/8/quickstyle/simple1#16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0.xml><?xml version="1.0" encoding="utf-8"?>
<dgm:styleDef xmlns:dgm="http://schemas.openxmlformats.org/drawingml/2006/diagram" xmlns:a="http://schemas.openxmlformats.org/drawingml/2006/main" uniqueId="urn:microsoft.com/office/officeart/2005/8/quickstyle/simple1#16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1.xml><?xml version="1.0" encoding="utf-8"?>
<dgm:styleDef xmlns:dgm="http://schemas.openxmlformats.org/drawingml/2006/diagram" xmlns:a="http://schemas.openxmlformats.org/drawingml/2006/main" uniqueId="urn:microsoft.com/office/officeart/2005/8/quickstyle/simple1#164">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2.xml><?xml version="1.0" encoding="utf-8"?>
<dgm:styleDef xmlns:dgm="http://schemas.openxmlformats.org/drawingml/2006/diagram" xmlns:a="http://schemas.openxmlformats.org/drawingml/2006/main" uniqueId="urn:microsoft.com/office/officeart/2005/8/quickstyle/simple1#165">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3.xml><?xml version="1.0" encoding="utf-8"?>
<dgm:styleDef xmlns:dgm="http://schemas.openxmlformats.org/drawingml/2006/diagram" xmlns:a="http://schemas.openxmlformats.org/drawingml/2006/main" uniqueId="urn:microsoft.com/office/officeart/2005/8/quickstyle/simple1#166">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4.xml><?xml version="1.0" encoding="utf-8"?>
<dgm:styleDef xmlns:dgm="http://schemas.openxmlformats.org/drawingml/2006/diagram" xmlns:a="http://schemas.openxmlformats.org/drawingml/2006/main" uniqueId="urn:microsoft.com/office/officeart/2005/8/quickstyle/simple1#167">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5.xml><?xml version="1.0" encoding="utf-8"?>
<dgm:styleDef xmlns:dgm="http://schemas.openxmlformats.org/drawingml/2006/diagram" xmlns:a="http://schemas.openxmlformats.org/drawingml/2006/main" uniqueId="urn:microsoft.com/office/officeart/2005/8/quickstyle/simple1#168">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6.xml><?xml version="1.0" encoding="utf-8"?>
<dgm:styleDef xmlns:dgm="http://schemas.openxmlformats.org/drawingml/2006/diagram" xmlns:a="http://schemas.openxmlformats.org/drawingml/2006/main" uniqueId="urn:microsoft.com/office/officeart/2005/8/quickstyle/simple1#169">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3976AB79-C677-3DB7-78CF-9305D586148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fr-FR" sz="1200"/>
            </a:lvl1pPr>
          </a:lstStyle>
          <a:p>
            <a:pPr rtl="0"/>
            <a:endParaRPr lang="fr-FR" dirty="0"/>
          </a:p>
        </p:txBody>
      </p:sp>
      <p:sp>
        <p:nvSpPr>
          <p:cNvPr id="3" name="Espace réservé de la date 2">
            <a:extLst>
              <a:ext uri="{FF2B5EF4-FFF2-40B4-BE49-F238E27FC236}">
                <a16:creationId xmlns:a16="http://schemas.microsoft.com/office/drawing/2014/main" id="{113AB137-CEA6-0244-F12B-1ECC21172D0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lang="fr-FR" sz="1200"/>
            </a:lvl1pPr>
          </a:lstStyle>
          <a:p>
            <a:pPr rtl="0"/>
            <a:fld id="{F6446FD3-06B8-4551-9841-526F5F46DE71}" type="datetime1">
              <a:rPr lang="fr-FR" smtClean="0"/>
              <a:t>06/09/2026</a:t>
            </a:fld>
            <a:endParaRPr lang="fr-FR" dirty="0"/>
          </a:p>
        </p:txBody>
      </p:sp>
      <p:sp>
        <p:nvSpPr>
          <p:cNvPr id="4" name="Espace réservé du pied de page 3">
            <a:extLst>
              <a:ext uri="{FF2B5EF4-FFF2-40B4-BE49-F238E27FC236}">
                <a16:creationId xmlns:a16="http://schemas.microsoft.com/office/drawing/2014/main" id="{0868EC96-C6CC-F2AF-D90F-143F4D20A07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lang="fr-FR" sz="1200"/>
            </a:lvl1pPr>
          </a:lstStyle>
          <a:p>
            <a:pPr rtl="0"/>
            <a:endParaRPr lang="fr-FR" dirty="0"/>
          </a:p>
        </p:txBody>
      </p:sp>
      <p:sp>
        <p:nvSpPr>
          <p:cNvPr id="5" name="Espace réservé du numéro de diapositive 4">
            <a:extLst>
              <a:ext uri="{FF2B5EF4-FFF2-40B4-BE49-F238E27FC236}">
                <a16:creationId xmlns:a16="http://schemas.microsoft.com/office/drawing/2014/main" id="{94F8EC8D-EF88-0275-F75C-A789924433B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lang="fr-FR" sz="1200"/>
            </a:lvl1pPr>
          </a:lstStyle>
          <a:p>
            <a:pPr rtl="0"/>
            <a:fld id="{EF757874-EF65-4B61-B062-40C932C81294}" type="slidenum">
              <a:rPr lang="fr-FR" smtClean="0"/>
              <a:t>‹N°›</a:t>
            </a:fld>
            <a:endParaRPr lang="fr-FR" dirty="0"/>
          </a:p>
        </p:txBody>
      </p:sp>
    </p:spTree>
    <p:extLst>
      <p:ext uri="{BB962C8B-B14F-4D97-AF65-F5344CB8AC3E}">
        <p14:creationId xmlns:p14="http://schemas.microsoft.com/office/powerpoint/2010/main" val="347202786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fr-FR" sz="1200"/>
            </a:lvl1pPr>
          </a:lstStyle>
          <a:p>
            <a:pPr rtl="0"/>
            <a:endParaRPr lang="fr-FR" noProof="0" dirty="0"/>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lang="fr-FR" sz="1200"/>
            </a:lvl1pPr>
          </a:lstStyle>
          <a:p>
            <a:pPr rtl="0"/>
            <a:fld id="{E8491C47-A92C-4257-8558-68970A214844}" type="datetime1">
              <a:rPr lang="fr-FR" smtClean="0"/>
              <a:t>06/09/2026</a:t>
            </a:fld>
            <a:endParaRPr lang="fr-FR" dirty="0"/>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defPPr>
              <a:defRPr lang="fr-FR"/>
            </a:defPPr>
          </a:lstStyle>
          <a:p>
            <a:pPr rtl="0"/>
            <a:endParaRPr lang="fr-FR" noProof="0" dirty="0"/>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defPPr>
              <a:defRPr lang="fr-FR"/>
            </a:defPPr>
          </a:lstStyle>
          <a:p>
            <a:pPr lvl="0" rtl="0"/>
            <a:r>
              <a:rPr lang="fr-FR" noProof="0"/>
              <a:t>Modifiez les styles du texte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lang="fr-FR" sz="1200"/>
            </a:lvl1pPr>
          </a:lstStyle>
          <a:p>
            <a:pPr rtl="0"/>
            <a:endParaRPr lang="fr-FR" noProof="0" dirty="0"/>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lang="fr-FR" sz="1200"/>
            </a:lvl1pPr>
          </a:lstStyle>
          <a:p>
            <a:pPr rtl="0"/>
            <a:fld id="{6937E2AA-278D-0B48-A5DE-00B1FC5BDAF9}" type="slidenum">
              <a:rPr lang="fr-FR" noProof="0" smtClean="0"/>
              <a:t>‹N°›</a:t>
            </a:fld>
            <a:endParaRPr lang="fr-FR" noProof="0" dirty="0"/>
          </a:p>
        </p:txBody>
      </p:sp>
    </p:spTree>
    <p:extLst>
      <p:ext uri="{BB962C8B-B14F-4D97-AF65-F5344CB8AC3E}">
        <p14:creationId xmlns:p14="http://schemas.microsoft.com/office/powerpoint/2010/main" val="4266559315"/>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lang="fr-FR" sz="1200" kern="1200">
        <a:solidFill>
          <a:schemeClr val="tx1"/>
        </a:solidFill>
        <a:latin typeface="+mn-lt"/>
        <a:ea typeface="+mn-ea"/>
        <a:cs typeface="+mn-cs"/>
      </a:defRPr>
    </a:lvl1pPr>
    <a:lvl2pPr marL="457200" algn="l" defTabSz="914400" rtl="0" eaLnBrk="1" latinLnBrk="0" hangingPunct="1">
      <a:defRPr lang="fr-FR" sz="1200" kern="1200">
        <a:solidFill>
          <a:schemeClr val="tx1"/>
        </a:solidFill>
        <a:latin typeface="+mn-lt"/>
        <a:ea typeface="+mn-ea"/>
        <a:cs typeface="+mn-cs"/>
      </a:defRPr>
    </a:lvl2pPr>
    <a:lvl3pPr marL="914400" algn="l" defTabSz="914400" rtl="0" eaLnBrk="1" latinLnBrk="0" hangingPunct="1">
      <a:defRPr lang="fr-FR" sz="1200" kern="1200">
        <a:solidFill>
          <a:schemeClr val="tx1"/>
        </a:solidFill>
        <a:latin typeface="+mn-lt"/>
        <a:ea typeface="+mn-ea"/>
        <a:cs typeface="+mn-cs"/>
      </a:defRPr>
    </a:lvl3pPr>
    <a:lvl4pPr marL="1371600" algn="l" defTabSz="914400" rtl="0" eaLnBrk="1" latinLnBrk="0" hangingPunct="1">
      <a:defRPr lang="fr-FR" sz="1200" kern="1200">
        <a:solidFill>
          <a:schemeClr val="tx1"/>
        </a:solidFill>
        <a:latin typeface="+mn-lt"/>
        <a:ea typeface="+mn-ea"/>
        <a:cs typeface="+mn-cs"/>
      </a:defRPr>
    </a:lvl4pPr>
    <a:lvl5pPr marL="1828800" algn="l" defTabSz="914400" rtl="0" eaLnBrk="1" latinLnBrk="0" hangingPunct="1">
      <a:defRPr lang="fr-FR" sz="1200" kern="1200">
        <a:solidFill>
          <a:schemeClr val="tx1"/>
        </a:solidFill>
        <a:latin typeface="+mn-lt"/>
        <a:ea typeface="+mn-ea"/>
        <a:cs typeface="+mn-cs"/>
      </a:defRPr>
    </a:lvl5pPr>
    <a:lvl6pPr marL="2286000" algn="l" defTabSz="914400" rtl="0" eaLnBrk="1" latinLnBrk="0" hangingPunct="1">
      <a:defRPr lang="fr-FR" sz="1200" kern="1200">
        <a:solidFill>
          <a:schemeClr val="tx1"/>
        </a:solidFill>
        <a:latin typeface="+mn-lt"/>
        <a:ea typeface="+mn-ea"/>
        <a:cs typeface="+mn-cs"/>
      </a:defRPr>
    </a:lvl6pPr>
    <a:lvl7pPr marL="2743200" algn="l" defTabSz="914400" rtl="0" eaLnBrk="1" latinLnBrk="0" hangingPunct="1">
      <a:defRPr lang="fr-FR" sz="1200" kern="1200">
        <a:solidFill>
          <a:schemeClr val="tx1"/>
        </a:solidFill>
        <a:latin typeface="+mn-lt"/>
        <a:ea typeface="+mn-ea"/>
        <a:cs typeface="+mn-cs"/>
      </a:defRPr>
    </a:lvl7pPr>
    <a:lvl8pPr marL="3200400" algn="l" defTabSz="914400" rtl="0" eaLnBrk="1" latinLnBrk="0" hangingPunct="1">
      <a:defRPr lang="fr-FR" sz="1200" kern="1200">
        <a:solidFill>
          <a:schemeClr val="tx1"/>
        </a:solidFill>
        <a:latin typeface="+mn-lt"/>
        <a:ea typeface="+mn-ea"/>
        <a:cs typeface="+mn-cs"/>
      </a:defRPr>
    </a:lvl8pPr>
    <a:lvl9pPr marL="3657600" algn="l" defTabSz="914400" rtl="0" eaLnBrk="1" latinLnBrk="0" hangingPunct="1">
      <a:defRPr lang="fr-F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www.juritravail.com/codes/code-travail/article/L4161-1.html" TargetMode="External"/><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p:cNvSpPr>
            <a:spLocks noGrp="1"/>
          </p:cNvSpPr>
          <p:nvPr>
            <p:ph type="sldNum" sz="quarter" idx="5"/>
          </p:nvPr>
        </p:nvSpPr>
        <p:spPr/>
        <p:txBody>
          <a:bodyPr rtlCol="0"/>
          <a:lstStyle>
            <a:defPPr>
              <a:defRPr lang="fr-FR"/>
            </a:defPPr>
          </a:lstStyle>
          <a:p>
            <a:pPr rtl="0"/>
            <a:fld id="{6937E2AA-278D-0B48-A5DE-00B1FC5BDAF9}" type="slidenum">
              <a:rPr lang="fr-FR" smtClean="0"/>
              <a:t>1</a:t>
            </a:fld>
            <a:endParaRPr lang="fr-FR" dirty="0"/>
          </a:p>
        </p:txBody>
      </p:sp>
    </p:spTree>
    <p:extLst>
      <p:ext uri="{BB962C8B-B14F-4D97-AF65-F5344CB8AC3E}">
        <p14:creationId xmlns:p14="http://schemas.microsoft.com/office/powerpoint/2010/main" val="33381860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2</a:t>
            </a:fld>
            <a:endParaRPr lang="fr-FR" dirty="0"/>
          </a:p>
        </p:txBody>
      </p:sp>
    </p:spTree>
    <p:extLst>
      <p:ext uri="{BB962C8B-B14F-4D97-AF65-F5344CB8AC3E}">
        <p14:creationId xmlns:p14="http://schemas.microsoft.com/office/powerpoint/2010/main" val="23992520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3</a:t>
            </a:fld>
            <a:endParaRPr lang="fr-FR" dirty="0"/>
          </a:p>
        </p:txBody>
      </p:sp>
    </p:spTree>
    <p:extLst>
      <p:ext uri="{BB962C8B-B14F-4D97-AF65-F5344CB8AC3E}">
        <p14:creationId xmlns:p14="http://schemas.microsoft.com/office/powerpoint/2010/main" val="13477984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a:xfrm>
            <a:off x="428506" y="4918324"/>
            <a:ext cx="5940661" cy="3573683"/>
          </a:xfrm>
        </p:spPr>
        <p:txBody>
          <a:bodyPr/>
          <a:lstStyle/>
          <a:p>
            <a:pPr algn="just"/>
            <a:r>
              <a:rPr lang="fr-FR" sz="1100" dirty="0"/>
              <a:t>Pour information, dans le catalogue de CFPC, il va y avoir une formation d’une journée sur la négociation (SOC 183 : l’élaboration et la négociation d’un accord d’entreprise dans les TPE-PME) avec une partie au regard des conventions collectives.</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4</a:t>
            </a:fld>
            <a:endParaRPr lang="fr-FR" dirty="0"/>
          </a:p>
        </p:txBody>
      </p:sp>
    </p:spTree>
    <p:extLst>
      <p:ext uri="{BB962C8B-B14F-4D97-AF65-F5344CB8AC3E}">
        <p14:creationId xmlns:p14="http://schemas.microsoft.com/office/powerpoint/2010/main" val="2616270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5</a:t>
            </a:fld>
            <a:endParaRPr lang="fr-FR" dirty="0"/>
          </a:p>
        </p:txBody>
      </p:sp>
    </p:spTree>
    <p:extLst>
      <p:ext uri="{BB962C8B-B14F-4D97-AF65-F5344CB8AC3E}">
        <p14:creationId xmlns:p14="http://schemas.microsoft.com/office/powerpoint/2010/main" val="38647584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a:xfrm>
            <a:off x="428506" y="5144281"/>
            <a:ext cx="5895655" cy="3573683"/>
          </a:xfrm>
        </p:spPr>
        <p:txBody>
          <a:bodyPr/>
          <a:lstStyle/>
          <a:p>
            <a:pPr algn="just" defTabSz="899568">
              <a:defRPr/>
            </a:pPr>
            <a:r>
              <a:rPr lang="fr-FR" sz="1100" dirty="0"/>
              <a:t>Il est bon de demander comment avoir l’information d’adhésion à un syndicat et de demander comment est paramétré les écritures caisse congés payés sachant que sur la liasse fiscale, il y a une case spécifique pour cette cotisation.</a:t>
            </a:r>
          </a:p>
          <a:p>
            <a:endParaRPr lang="fr-FR"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6</a:t>
            </a:fld>
            <a:endParaRPr lang="fr-FR" dirty="0"/>
          </a:p>
        </p:txBody>
      </p:sp>
    </p:spTree>
    <p:extLst>
      <p:ext uri="{BB962C8B-B14F-4D97-AF65-F5344CB8AC3E}">
        <p14:creationId xmlns:p14="http://schemas.microsoft.com/office/powerpoint/2010/main" val="29082455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a:xfrm>
            <a:off x="457376" y="5053329"/>
            <a:ext cx="5882922" cy="3573683"/>
          </a:xfrm>
        </p:spPr>
        <p:txBody>
          <a:bodyPr/>
          <a:lstStyle/>
          <a:p>
            <a:pPr marL="171450" indent="-171450" defTabSz="903990">
              <a:buFont typeface="Wingdings" panose="05000000000000000000" pitchFamily="2" charset="2"/>
              <a:buChar char="§"/>
            </a:pPr>
            <a:r>
              <a:rPr lang="fr-FR" sz="1100" dirty="0"/>
              <a:t>L’ensemble des anciennes conventions collectives départementales et régionales restent annulées. Les grilles de salaires restent obligatoires pour les entreprises. </a:t>
            </a:r>
          </a:p>
          <a:p>
            <a:pPr marL="171450" indent="-171450" defTabSz="903990">
              <a:buFont typeface="Wingdings" panose="05000000000000000000" pitchFamily="2" charset="2"/>
              <a:buChar char="§"/>
            </a:pPr>
            <a:r>
              <a:rPr lang="fr-FR" sz="1100" dirty="0"/>
              <a:t>Pour les primes particulières et autres dispositions spécifiques ne sont plus obligatoires pour l’employeur. </a:t>
            </a:r>
          </a:p>
          <a:p>
            <a:pPr marL="171450" indent="-171450" defTabSz="903990">
              <a:buFont typeface="Wingdings" panose="05000000000000000000" pitchFamily="2" charset="2"/>
              <a:buChar char="§"/>
            </a:pPr>
            <a:r>
              <a:rPr lang="fr-FR" sz="1100" dirty="0"/>
              <a:t>Aucune des primes (outillage, pénibilité) n’est due sauf obligations légales de garantie de rémunération, article L 226-13 du code du travail.</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7</a:t>
            </a:fld>
            <a:endParaRPr lang="fr-FR" dirty="0"/>
          </a:p>
        </p:txBody>
      </p:sp>
    </p:spTree>
    <p:extLst>
      <p:ext uri="{BB962C8B-B14F-4D97-AF65-F5344CB8AC3E}">
        <p14:creationId xmlns:p14="http://schemas.microsoft.com/office/powerpoint/2010/main" val="5925299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B51BB447-EFEE-48E8-B629-A973210D776F}" type="slidenum">
              <a:rPr lang="fr-FR" smtClean="0"/>
              <a:pPr/>
              <a:t>8</a:t>
            </a:fld>
            <a:endParaRPr lang="fr-FR" dirty="0"/>
          </a:p>
        </p:txBody>
      </p:sp>
    </p:spTree>
    <p:extLst>
      <p:ext uri="{BB962C8B-B14F-4D97-AF65-F5344CB8AC3E}">
        <p14:creationId xmlns:p14="http://schemas.microsoft.com/office/powerpoint/2010/main" val="35505108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a:xfrm>
            <a:off x="653532" y="5144281"/>
            <a:ext cx="5580620" cy="3573683"/>
          </a:xfrm>
        </p:spPr>
        <p:txBody>
          <a:bodyPr/>
          <a:lstStyle/>
          <a:p>
            <a:r>
              <a:rPr lang="fr-FR" sz="1100" dirty="0"/>
              <a:t>La Savoie</a:t>
            </a:r>
            <a:r>
              <a:rPr lang="fr-FR" sz="1100" baseline="0" dirty="0"/>
              <a:t> n’a pas de convention régionale. </a:t>
            </a:r>
          </a:p>
          <a:p>
            <a:endParaRPr lang="fr-FR" sz="1100" baseline="0" dirty="0"/>
          </a:p>
          <a:p>
            <a:r>
              <a:rPr lang="fr-FR" sz="1100" baseline="0" dirty="0"/>
              <a:t>À l’animateur de compléter cette diapositive grâce à sa culture BTP en précisant ce qui est au national et ce qui est dans CC régionale/départementale.</a:t>
            </a:r>
          </a:p>
          <a:p>
            <a:endParaRPr lang="fr-FR" sz="1100"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9</a:t>
            </a:fld>
            <a:endParaRPr lang="fr-FR" dirty="0"/>
          </a:p>
        </p:txBody>
      </p:sp>
    </p:spTree>
    <p:extLst>
      <p:ext uri="{BB962C8B-B14F-4D97-AF65-F5344CB8AC3E}">
        <p14:creationId xmlns:p14="http://schemas.microsoft.com/office/powerpoint/2010/main" val="1706729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a:xfrm>
            <a:off x="563522" y="5144281"/>
            <a:ext cx="5670630" cy="3573683"/>
          </a:xfrm>
        </p:spPr>
        <p:txBody>
          <a:bodyPr/>
          <a:lstStyle/>
          <a:p>
            <a:pPr algn="just" defTabSz="899568">
              <a:defRPr/>
            </a:pPr>
            <a:r>
              <a:rPr lang="fr-FR" sz="1100" dirty="0"/>
              <a:t>À l’animateur de compléter cette diapositive grâce à sa culture BTP ou sinon signaler que selon les besoins, les diaporamas qui suivent feront état des différences.</a:t>
            </a:r>
          </a:p>
          <a:p>
            <a:endParaRPr lang="fr-FR"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10</a:t>
            </a:fld>
            <a:endParaRPr lang="fr-FR" dirty="0"/>
          </a:p>
        </p:txBody>
      </p:sp>
    </p:spTree>
    <p:extLst>
      <p:ext uri="{BB962C8B-B14F-4D97-AF65-F5344CB8AC3E}">
        <p14:creationId xmlns:p14="http://schemas.microsoft.com/office/powerpoint/2010/main" val="40568213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a:xfrm>
            <a:off x="608527" y="5144281"/>
            <a:ext cx="5625626" cy="3573683"/>
          </a:xfrm>
        </p:spPr>
        <p:txBody>
          <a:bodyPr/>
          <a:lstStyle/>
          <a:p>
            <a:pPr algn="just" defTabSz="899568">
              <a:defRPr/>
            </a:pPr>
            <a:r>
              <a:rPr lang="fr-FR" sz="1100" dirty="0"/>
              <a:t>Possibilité : évocation loi travail et surtout signaler l’importance de demander au client si ce dernier a négocié un accord d’entreprise (exemple sur durée travail, jours fériés, congés payés).</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11</a:t>
            </a:fld>
            <a:endParaRPr lang="fr-FR" dirty="0"/>
          </a:p>
        </p:txBody>
      </p:sp>
    </p:spTree>
    <p:extLst>
      <p:ext uri="{BB962C8B-B14F-4D97-AF65-F5344CB8AC3E}">
        <p14:creationId xmlns:p14="http://schemas.microsoft.com/office/powerpoint/2010/main" val="15707538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12</a:t>
            </a:fld>
            <a:endParaRPr lang="fr-FR" dirty="0"/>
          </a:p>
        </p:txBody>
      </p:sp>
    </p:spTree>
    <p:extLst>
      <p:ext uri="{BB962C8B-B14F-4D97-AF65-F5344CB8AC3E}">
        <p14:creationId xmlns:p14="http://schemas.microsoft.com/office/powerpoint/2010/main" val="4383546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a:xfrm>
            <a:off x="311109" y="5144281"/>
            <a:ext cx="6206139" cy="3573683"/>
          </a:xfrm>
        </p:spPr>
        <p:txBody>
          <a:bodyPr/>
          <a:lstStyle/>
          <a:p>
            <a:pPr algn="just"/>
            <a:r>
              <a:rPr lang="fr-FR" sz="1100" dirty="0"/>
              <a:t>Attention à l’embauche de mineur, d’apprentis. </a:t>
            </a:r>
          </a:p>
          <a:p>
            <a:pPr algn="just"/>
            <a:endParaRPr lang="fr-FR" sz="1100" dirty="0"/>
          </a:p>
          <a:p>
            <a:pPr algn="just"/>
            <a:r>
              <a:rPr lang="fr-FR" sz="1100" dirty="0"/>
              <a:t>Attention : en cas d’embauche de salariés détachés des obligations spécifiques (exemple contrôle existence déclaration préalable au détachement et de désignation de représentant).</a:t>
            </a:r>
          </a:p>
          <a:p>
            <a:endParaRPr lang="fr-FR" sz="1100" dirty="0"/>
          </a:p>
          <a:p>
            <a:r>
              <a:rPr lang="fr-FR" sz="1100" dirty="0"/>
              <a:t>Travailleurs non européens : publicité d’une offre d’emploi + vérification de l’autorisation</a:t>
            </a:r>
            <a:r>
              <a:rPr lang="fr-FR" sz="1100" baseline="0" dirty="0"/>
              <a:t> de travail.</a:t>
            </a:r>
            <a:endParaRPr lang="fr-FR" sz="1100"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13</a:t>
            </a:fld>
            <a:endParaRPr lang="fr-FR" dirty="0"/>
          </a:p>
        </p:txBody>
      </p:sp>
    </p:spTree>
    <p:extLst>
      <p:ext uri="{BB962C8B-B14F-4D97-AF65-F5344CB8AC3E}">
        <p14:creationId xmlns:p14="http://schemas.microsoft.com/office/powerpoint/2010/main" val="24803888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defTabSz="899568">
              <a:defRPr/>
            </a:pPr>
            <a:r>
              <a:rPr lang="fr-FR" sz="1100" dirty="0"/>
              <a:t>Les principes généraux doivent être connu des collaborateurs paye. Cette diapositive existe du fait des nombreux accidents du travail dans le BTP.</a:t>
            </a:r>
          </a:p>
          <a:p>
            <a:endParaRPr lang="fr-FR"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14</a:t>
            </a:fld>
            <a:endParaRPr lang="fr-FR" dirty="0"/>
          </a:p>
        </p:txBody>
      </p:sp>
    </p:spTree>
    <p:extLst>
      <p:ext uri="{BB962C8B-B14F-4D97-AF65-F5344CB8AC3E}">
        <p14:creationId xmlns:p14="http://schemas.microsoft.com/office/powerpoint/2010/main" val="36209159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a:xfrm>
            <a:off x="296352" y="4812616"/>
            <a:ext cx="6220890" cy="3573683"/>
          </a:xfrm>
        </p:spPr>
        <p:txBody>
          <a:bodyPr/>
          <a:lstStyle/>
          <a:p>
            <a:pPr algn="just"/>
            <a:r>
              <a:rPr lang="fr-FR" sz="1100" b="1" dirty="0"/>
              <a:t>Identifier tous les risques : article L2312-9 </a:t>
            </a:r>
            <a:r>
              <a:rPr lang="fr-FR" sz="1100" dirty="0"/>
              <a:t>(entrée en vigueur le 01/01/2018). </a:t>
            </a:r>
          </a:p>
          <a:p>
            <a:pPr algn="just"/>
            <a:r>
              <a:rPr lang="fr-FR" sz="1100" dirty="0"/>
              <a:t>Dans le champ de la santé, de la sécurité et des conditions de travail, le comité social et économique :</a:t>
            </a:r>
          </a:p>
          <a:p>
            <a:pPr marL="171450" indent="-171450" algn="just">
              <a:buFont typeface="Wingdings" panose="05000000000000000000" pitchFamily="2" charset="2"/>
              <a:buChar char="§"/>
            </a:pPr>
            <a:r>
              <a:rPr lang="fr-FR" sz="1100" dirty="0"/>
              <a:t>1° Procède à l'analyse des risques professionnels auxquels peuvent être exposés les travailleurs, notamment les femmes enceintes, ainsi que des effets de l'exposition aux facteurs de risques professionnels mentionnés à l'article </a:t>
            </a:r>
            <a:r>
              <a:rPr lang="fr-FR" sz="1100" dirty="0">
                <a:hlinkClick r:id="rId3"/>
              </a:rPr>
              <a:t>L. 4161-1</a:t>
            </a:r>
            <a:r>
              <a:rPr lang="fr-FR" sz="1100" dirty="0"/>
              <a:t>.</a:t>
            </a:r>
          </a:p>
          <a:p>
            <a:endParaRPr lang="fr-FR"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15</a:t>
            </a:fld>
            <a:endParaRPr lang="fr-FR" dirty="0"/>
          </a:p>
        </p:txBody>
      </p:sp>
    </p:spTree>
    <p:extLst>
      <p:ext uri="{BB962C8B-B14F-4D97-AF65-F5344CB8AC3E}">
        <p14:creationId xmlns:p14="http://schemas.microsoft.com/office/powerpoint/2010/main" val="4036100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algn="just" defTabSz="899568">
              <a:defRPr/>
            </a:pPr>
            <a:r>
              <a:rPr lang="fr-FR" sz="1100" dirty="0"/>
              <a:t>Le dispositif « Compte Prévention Pénibilité » est directement intégré à la DSN, via l'alimentation des données relatives à l'exposition de  salariés dans le logiciel de paie.</a:t>
            </a:r>
          </a:p>
          <a:p>
            <a:pPr algn="just" defTabSz="899568">
              <a:defRPr/>
            </a:pPr>
            <a:endParaRPr lang="fr-FR" sz="1100" dirty="0"/>
          </a:p>
          <a:p>
            <a:pPr algn="just" defTabSz="899568">
              <a:defRPr/>
            </a:pPr>
            <a:r>
              <a:rPr lang="fr-FR" sz="1100" dirty="0"/>
              <a:t>Le cabinet doit mettre en place une procédure permettant de démontrer que le cabinet a « fait son devoir de conseil ». Il faut réclamer tous les ans les informations nécessaires et garder la preuve d’une réponse négative.</a:t>
            </a:r>
          </a:p>
          <a:p>
            <a:endParaRPr lang="fr-FR"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16</a:t>
            </a:fld>
            <a:endParaRPr lang="fr-FR" dirty="0"/>
          </a:p>
        </p:txBody>
      </p:sp>
    </p:spTree>
    <p:extLst>
      <p:ext uri="{BB962C8B-B14F-4D97-AF65-F5344CB8AC3E}">
        <p14:creationId xmlns:p14="http://schemas.microsoft.com/office/powerpoint/2010/main" val="18179405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a:xfrm>
            <a:off x="473512" y="5144281"/>
            <a:ext cx="5805645" cy="3573683"/>
          </a:xfrm>
        </p:spPr>
        <p:txBody>
          <a:bodyPr/>
          <a:lstStyle/>
          <a:p>
            <a:pPr algn="just" defTabSz="899568">
              <a:defRPr/>
            </a:pPr>
            <a:r>
              <a:rPr lang="fr-FR" sz="1100" dirty="0"/>
              <a:t>La loi n’impose pas un écrit pour le CDI. Toutefois, les conventions collectives du BTP prévoient elles la remise d'un document écrit qui porte sur les éléments fondamentaux du contrat de travail (durée du travail, classification, rémunération).</a:t>
            </a:r>
          </a:p>
          <a:p>
            <a:endParaRPr lang="fr-FR"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17</a:t>
            </a:fld>
            <a:endParaRPr lang="fr-FR" dirty="0"/>
          </a:p>
        </p:txBody>
      </p:sp>
    </p:spTree>
    <p:extLst>
      <p:ext uri="{BB962C8B-B14F-4D97-AF65-F5344CB8AC3E}">
        <p14:creationId xmlns:p14="http://schemas.microsoft.com/office/powerpoint/2010/main" val="19438204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algn="just"/>
            <a:endParaRPr lang="fr-FR"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18</a:t>
            </a:fld>
            <a:endParaRPr lang="fr-FR" dirty="0"/>
          </a:p>
        </p:txBody>
      </p:sp>
    </p:spTree>
    <p:extLst>
      <p:ext uri="{BB962C8B-B14F-4D97-AF65-F5344CB8AC3E}">
        <p14:creationId xmlns:p14="http://schemas.microsoft.com/office/powerpoint/2010/main" val="7858470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a:xfrm>
            <a:off x="473512" y="5144281"/>
            <a:ext cx="5850650" cy="3573683"/>
          </a:xfrm>
        </p:spPr>
        <p:txBody>
          <a:bodyPr/>
          <a:lstStyle/>
          <a:p>
            <a:r>
              <a:rPr lang="fr-FR" sz="1100" dirty="0">
                <a:sym typeface="Wingdings 3" pitchFamily="18" charset="2"/>
              </a:rPr>
              <a:t>Dans le CGI, l’employeur est autorisé à pratiquer donc choix de l’employeur de proposer ou non l’abattement.</a:t>
            </a:r>
            <a:endParaRPr lang="fr-FR" sz="1100"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19</a:t>
            </a:fld>
            <a:endParaRPr lang="fr-FR" dirty="0"/>
          </a:p>
        </p:txBody>
      </p:sp>
    </p:spTree>
    <p:extLst>
      <p:ext uri="{BB962C8B-B14F-4D97-AF65-F5344CB8AC3E}">
        <p14:creationId xmlns:p14="http://schemas.microsoft.com/office/powerpoint/2010/main" val="17588481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a:xfrm>
            <a:off x="518516" y="5143339"/>
            <a:ext cx="5675512" cy="3573683"/>
          </a:xfrm>
        </p:spPr>
        <p:txBody>
          <a:bodyPr/>
          <a:lstStyle/>
          <a:p>
            <a:pPr algn="just"/>
            <a:r>
              <a:rPr lang="fr-FR" sz="1100" b="1" u="sng" dirty="0"/>
              <a:t>Loi travail :</a:t>
            </a:r>
            <a:endParaRPr lang="fr-FR" sz="1100" b="1" dirty="0"/>
          </a:p>
          <a:p>
            <a:pPr algn="just"/>
            <a:r>
              <a:rPr lang="fr-FR" sz="1100" dirty="0"/>
              <a:t>Une des clauses spécifiques n' a pas été prévue dans les accords du 11 décembre 2012, à savoir modalités du droit à la déconnexion et de les communiquer par tout moyen aux salariés sous forfait jours.</a:t>
            </a:r>
          </a:p>
          <a:p>
            <a:pPr algn="just"/>
            <a:endParaRPr lang="fr-FR" sz="1100" dirty="0"/>
          </a:p>
          <a:p>
            <a:pPr algn="just"/>
            <a:r>
              <a:rPr lang="fr-FR" sz="1100" dirty="0"/>
              <a:t>Pour limiter les potentiels risques de contentieux (la convention collective ne prévoyant aucune obligation précise pour l’employeur sur le suivi des surcharges de travail et d'une durée de travail raisonnable) il serait bon que l’entreprise mette en place des procédures de contrôle supplémentaires à celles figurant dans les conventions collectives nationales + prévoir un suivi effectif en précisant les modalités.</a:t>
            </a:r>
          </a:p>
          <a:p>
            <a:endParaRPr lang="fr-FR"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20</a:t>
            </a:fld>
            <a:endParaRPr lang="fr-FR" dirty="0"/>
          </a:p>
        </p:txBody>
      </p:sp>
    </p:spTree>
    <p:extLst>
      <p:ext uri="{BB962C8B-B14F-4D97-AF65-F5344CB8AC3E}">
        <p14:creationId xmlns:p14="http://schemas.microsoft.com/office/powerpoint/2010/main" val="72890504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21</a:t>
            </a:fld>
            <a:endParaRPr lang="fr-FR" dirty="0"/>
          </a:p>
        </p:txBody>
      </p:sp>
    </p:spTree>
    <p:extLst>
      <p:ext uri="{BB962C8B-B14F-4D97-AF65-F5344CB8AC3E}">
        <p14:creationId xmlns:p14="http://schemas.microsoft.com/office/powerpoint/2010/main" val="26762064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22</a:t>
            </a:fld>
            <a:endParaRPr lang="fr-FR" dirty="0"/>
          </a:p>
        </p:txBody>
      </p:sp>
    </p:spTree>
    <p:extLst>
      <p:ext uri="{BB962C8B-B14F-4D97-AF65-F5344CB8AC3E}">
        <p14:creationId xmlns:p14="http://schemas.microsoft.com/office/powerpoint/2010/main" val="423295611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23</a:t>
            </a:fld>
            <a:endParaRPr lang="fr-FR" dirty="0"/>
          </a:p>
        </p:txBody>
      </p:sp>
    </p:spTree>
    <p:extLst>
      <p:ext uri="{BB962C8B-B14F-4D97-AF65-F5344CB8AC3E}">
        <p14:creationId xmlns:p14="http://schemas.microsoft.com/office/powerpoint/2010/main" val="360626701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sz="1100" dirty="0"/>
              <a:t>Critères similaires dans les différentes catégories de CCN.</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24</a:t>
            </a:fld>
            <a:endParaRPr lang="fr-FR" dirty="0"/>
          </a:p>
        </p:txBody>
      </p:sp>
    </p:spTree>
    <p:extLst>
      <p:ext uri="{BB962C8B-B14F-4D97-AF65-F5344CB8AC3E}">
        <p14:creationId xmlns:p14="http://schemas.microsoft.com/office/powerpoint/2010/main" val="15268516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25</a:t>
            </a:fld>
            <a:endParaRPr lang="fr-FR" dirty="0"/>
          </a:p>
        </p:txBody>
      </p:sp>
      <p:sp>
        <p:nvSpPr>
          <p:cNvPr id="6" name="Espace réservé des notes 5">
            <a:extLst>
              <a:ext uri="{FF2B5EF4-FFF2-40B4-BE49-F238E27FC236}">
                <a16:creationId xmlns:a16="http://schemas.microsoft.com/office/drawing/2014/main" id="{CDE78103-6993-4411-A240-E31514279183}"/>
              </a:ext>
            </a:extLst>
          </p:cNvPr>
          <p:cNvSpPr>
            <a:spLocks noGrp="1"/>
          </p:cNvSpPr>
          <p:nvPr>
            <p:ph type="body" sz="quarter" idx="3"/>
          </p:nvPr>
        </p:nvSpPr>
        <p:spPr/>
        <p:txBody>
          <a:bodyPr/>
          <a:lstStyle/>
          <a:p>
            <a:endParaRPr lang="fr-FR"/>
          </a:p>
        </p:txBody>
      </p:sp>
    </p:spTree>
    <p:extLst>
      <p:ext uri="{BB962C8B-B14F-4D97-AF65-F5344CB8AC3E}">
        <p14:creationId xmlns:p14="http://schemas.microsoft.com/office/powerpoint/2010/main" val="358314441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26</a:t>
            </a:fld>
            <a:endParaRPr lang="fr-FR" dirty="0"/>
          </a:p>
        </p:txBody>
      </p:sp>
    </p:spTree>
    <p:extLst>
      <p:ext uri="{BB962C8B-B14F-4D97-AF65-F5344CB8AC3E}">
        <p14:creationId xmlns:p14="http://schemas.microsoft.com/office/powerpoint/2010/main" val="273002729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algn="just"/>
            <a:r>
              <a:rPr lang="fr-FR" sz="1100" dirty="0" err="1"/>
              <a:t>EtTAM</a:t>
            </a:r>
            <a:r>
              <a:rPr lang="fr-FR" sz="1100" dirty="0"/>
              <a:t> et cadres : conventions collectives = silence sur la méthode de calcul d’heures non travaillées.</a:t>
            </a:r>
          </a:p>
          <a:p>
            <a:pPr algn="just"/>
            <a:r>
              <a:rPr lang="fr-FR" sz="1100" dirty="0"/>
              <a:t>Possible d’évoquer les règles temps de pause, temps de douche, jours fériés.</a:t>
            </a:r>
          </a:p>
          <a:p>
            <a:endParaRPr lang="fr-FR" sz="1100"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27</a:t>
            </a:fld>
            <a:endParaRPr lang="fr-FR" dirty="0"/>
          </a:p>
        </p:txBody>
      </p:sp>
    </p:spTree>
    <p:extLst>
      <p:ext uri="{BB962C8B-B14F-4D97-AF65-F5344CB8AC3E}">
        <p14:creationId xmlns:p14="http://schemas.microsoft.com/office/powerpoint/2010/main" val="29987705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algn="just" eaLnBrk="0" fontAlgn="base" hangingPunct="0"/>
            <a:r>
              <a:rPr lang="fr-FR" sz="1100" dirty="0"/>
              <a:t>Dérogation s’il ne s’agit pas de leur activité principale, et maxi 1h par jour, et seulement pour la durée maximale par jour, sachant que ces heures sont potentiellement des heures supplémentaires, mais elles n’entrent pas dans le contingent.</a:t>
            </a:r>
          </a:p>
          <a:p>
            <a:pPr algn="just" eaLnBrk="0" fontAlgn="base" hangingPunct="0"/>
            <a:r>
              <a:rPr lang="fr-FR" sz="1100" dirty="0"/>
              <a:t> </a:t>
            </a:r>
          </a:p>
          <a:p>
            <a:pPr algn="just" eaLnBrk="0" fontAlgn="base" hangingPunct="0"/>
            <a:r>
              <a:rPr lang="fr-FR" sz="1100" dirty="0"/>
              <a:t>Loi travail : un accord d'entreprise peut fixer le taux de majoration des heures supplémentaires, mais ce taux de majoration des heures supplémentaires ne peut pas être inférieur à 10 %.</a:t>
            </a:r>
          </a:p>
          <a:p>
            <a:endParaRPr lang="fr-FR"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28</a:t>
            </a:fld>
            <a:endParaRPr lang="fr-FR" dirty="0"/>
          </a:p>
        </p:txBody>
      </p:sp>
    </p:spTree>
    <p:extLst>
      <p:ext uri="{BB962C8B-B14F-4D97-AF65-F5344CB8AC3E}">
        <p14:creationId xmlns:p14="http://schemas.microsoft.com/office/powerpoint/2010/main" val="409872922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29</a:t>
            </a:fld>
            <a:endParaRPr lang="fr-FR" dirty="0"/>
          </a:p>
        </p:txBody>
      </p:sp>
    </p:spTree>
    <p:extLst>
      <p:ext uri="{BB962C8B-B14F-4D97-AF65-F5344CB8AC3E}">
        <p14:creationId xmlns:p14="http://schemas.microsoft.com/office/powerpoint/2010/main" val="126175884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a:xfrm>
            <a:off x="518517" y="4423259"/>
            <a:ext cx="5675512" cy="4294705"/>
          </a:xfrm>
        </p:spPr>
        <p:txBody>
          <a:bodyPr>
            <a:normAutofit fontScale="92500"/>
          </a:bodyPr>
          <a:lstStyle/>
          <a:p>
            <a:r>
              <a:rPr lang="fr-FR" sz="1100" dirty="0"/>
              <a:t>Point non développé du fait qu’il y a peu de clients concernés. </a:t>
            </a:r>
          </a:p>
          <a:p>
            <a:r>
              <a:rPr lang="fr-FR" sz="1100" dirty="0"/>
              <a:t>Sous réserve des dérogations prévues, tout travail effectué au cours d’une période d’au moins 9h consécutives comprenant l’intervalle entre minuit et 5h est considéré comme du travail de nuit. Sauf cas particuliers, la période de travail de nuit commence au plus tôt à 21h et s’achève au plus tard à 7h. </a:t>
            </a:r>
          </a:p>
          <a:p>
            <a:r>
              <a:rPr lang="fr-FR" sz="1100" dirty="0"/>
              <a:t>Pour être considéré comme travailleur de nuit, le salarié doit travailler avec une certaine régularité pendant ces périodes. Il bénéficie alors de différents droits et garanties : limitation de la durée du travail, repos obligatoire, compensations, accès prioritaire au travail de jour, suivi médical adapté, prise en compte des obligations familiales.</a:t>
            </a:r>
          </a:p>
          <a:p>
            <a:endParaRPr lang="fr-FR" sz="1100" dirty="0"/>
          </a:p>
          <a:p>
            <a:r>
              <a:rPr lang="fr-FR" sz="1100" dirty="0"/>
              <a:t>Conformément à l'article L. 213-1-1 du code du travail, un accord d'entreprise ou d'établissement (ou, à défaut, une autorisation de l'inspection du travail) peut substituer à cette période une autre période de 9h consécutives, comprise entre 21h et 7h et comprenant la période comprise entre 24h et 5h.</a:t>
            </a:r>
          </a:p>
          <a:p>
            <a:endParaRPr lang="fr-FR" sz="1100" dirty="0"/>
          </a:p>
          <a:p>
            <a:r>
              <a:rPr lang="fr-FR" sz="1100" dirty="0"/>
              <a:t>La mise en place du travail de nuit peut être prévue par un accord d’entreprise ou, à défaut, une convention ou un accord collectif de branche. Cette convention ou cet accord collectif prévoit :</a:t>
            </a:r>
          </a:p>
          <a:p>
            <a:pPr marL="171450" indent="-171450">
              <a:buFont typeface="Wingdings" panose="05000000000000000000" pitchFamily="2" charset="2"/>
              <a:buChar char="§"/>
            </a:pPr>
            <a:r>
              <a:rPr lang="fr-FR" sz="1100" dirty="0"/>
              <a:t>Les justifications du recours au travail de nuit.</a:t>
            </a:r>
          </a:p>
          <a:p>
            <a:pPr marL="171450" indent="-171450">
              <a:buFont typeface="Wingdings" panose="05000000000000000000" pitchFamily="2" charset="2"/>
              <a:buChar char="§"/>
            </a:pPr>
            <a:r>
              <a:rPr lang="fr-FR" sz="1100" dirty="0"/>
              <a:t>La définition de la période de travail de nuit, dans les limites mentionnées aux articles L. 3122-2 et L. 3122-3 du code du travail.</a:t>
            </a:r>
          </a:p>
          <a:p>
            <a:pPr marL="171450" indent="-171450">
              <a:buFont typeface="Wingdings" panose="05000000000000000000" pitchFamily="2" charset="2"/>
              <a:buChar char="§"/>
            </a:pPr>
            <a:r>
              <a:rPr lang="fr-FR" sz="1100" dirty="0"/>
              <a:t>Une contrepartie sous forme de repos compensateur et, le cas échéant, sous forme de compensation salariale.</a:t>
            </a:r>
          </a:p>
          <a:p>
            <a:pPr marL="171450" indent="-171450">
              <a:buFont typeface="Wingdings" panose="05000000000000000000" pitchFamily="2" charset="2"/>
              <a:buChar char="§"/>
            </a:pPr>
            <a:r>
              <a:rPr lang="fr-FR" sz="1100" dirty="0"/>
              <a:t>Des mesures destinées à améliorer les conditions de travail des salariés.</a:t>
            </a:r>
          </a:p>
          <a:p>
            <a:pPr marL="171450" indent="-171450">
              <a:buFont typeface="Wingdings" panose="05000000000000000000" pitchFamily="2" charset="2"/>
              <a:buChar char="§"/>
            </a:pPr>
            <a:r>
              <a:rPr lang="fr-FR" sz="1100" dirty="0"/>
              <a:t>Des mesures destinées à faciliter, pour ces mêmes salariés, l’articulation de leur activité professionnelle nocturne avec leur vie personnelle et avec l’exercice de responsabilités familiales et sociales, concernant notamment les moyens de transport.</a:t>
            </a:r>
          </a:p>
          <a:p>
            <a:pPr marL="171450" indent="-171450">
              <a:buFont typeface="Wingdings" panose="05000000000000000000" pitchFamily="2" charset="2"/>
              <a:buChar char="§"/>
            </a:pPr>
            <a:r>
              <a:rPr lang="fr-FR" sz="1100" dirty="0"/>
              <a:t>Des mesures destinées à assurer l’égalité professionnelle entre les femmes et les hommes, notamment par l’accès à la formation.</a:t>
            </a:r>
          </a:p>
          <a:p>
            <a:pPr marL="171450" indent="-171450">
              <a:buFont typeface="Wingdings" panose="05000000000000000000" pitchFamily="2" charset="2"/>
              <a:buChar char="§"/>
            </a:pPr>
            <a:r>
              <a:rPr lang="fr-FR" sz="1100" dirty="0"/>
              <a:t>L’organisation des temps de pause.</a:t>
            </a:r>
          </a:p>
          <a:p>
            <a:endParaRPr lang="fr-FR" sz="1100" dirty="0"/>
          </a:p>
          <a:p>
            <a:endParaRPr lang="fr-FR" sz="1100"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30</a:t>
            </a:fld>
            <a:endParaRPr lang="fr-FR" dirty="0"/>
          </a:p>
        </p:txBody>
      </p:sp>
    </p:spTree>
    <p:extLst>
      <p:ext uri="{BB962C8B-B14F-4D97-AF65-F5344CB8AC3E}">
        <p14:creationId xmlns:p14="http://schemas.microsoft.com/office/powerpoint/2010/main" val="194204606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sz="1100" dirty="0"/>
              <a:t>Point non développé du fait qu’il y a peu de clients concernés.</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31</a:t>
            </a:fld>
            <a:endParaRPr lang="fr-FR" dirty="0"/>
          </a:p>
        </p:txBody>
      </p:sp>
    </p:spTree>
    <p:extLst>
      <p:ext uri="{BB962C8B-B14F-4D97-AF65-F5344CB8AC3E}">
        <p14:creationId xmlns:p14="http://schemas.microsoft.com/office/powerpoint/2010/main" val="245849967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sz="1100" dirty="0"/>
              <a:t>Il faut prendre en compte la réforme de l'apprentissage :</a:t>
            </a:r>
          </a:p>
          <a:p>
            <a:pPr marL="259952" indent="-259952">
              <a:buFont typeface="Wingdings" panose="05000000000000000000" pitchFamily="2" charset="2"/>
              <a:buChar char="§"/>
            </a:pPr>
            <a:r>
              <a:rPr lang="fr-FR" sz="1100" dirty="0"/>
              <a:t>Enregistrement des contrats OPCO.</a:t>
            </a:r>
          </a:p>
          <a:p>
            <a:pPr marL="259952" indent="-259952">
              <a:buFont typeface="Wingdings" panose="05000000000000000000" pitchFamily="2" charset="2"/>
              <a:buChar char="§"/>
            </a:pPr>
            <a:r>
              <a:rPr lang="fr-FR" sz="1100" dirty="0"/>
              <a:t>La suppression du passage devant les prud'hommes en cas de rupture du contrat.</a:t>
            </a:r>
          </a:p>
          <a:p>
            <a:pPr marL="259952" indent="-259952">
              <a:buFont typeface="Wingdings" panose="05000000000000000000" pitchFamily="2" charset="2"/>
              <a:buChar char="§"/>
            </a:pPr>
            <a:r>
              <a:rPr lang="fr-FR" sz="1100" dirty="0"/>
              <a:t>Suppression du  crédit d’apprentissage  ainsi que les aides sociales financières actuellement applicables (prime à l’apprentissage, aide à l’embauche d’un apprenti mineur, aide à l’apprentissage). Ces crédits d’impôt et aides sont remplacés par une aide sociale unique.</a:t>
            </a:r>
          </a:p>
          <a:p>
            <a:pPr marL="259952" indent="-259952">
              <a:buFont typeface="Wingdings" panose="05000000000000000000" pitchFamily="2" charset="2"/>
              <a:buChar char="§"/>
            </a:pPr>
            <a:r>
              <a:rPr lang="fr-FR" sz="1100" dirty="0"/>
              <a:t>CONSTUCTYS : mise en place d’une aide à la fonction maître d’apprentissage.</a:t>
            </a:r>
          </a:p>
          <a:p>
            <a:endParaRPr lang="fr-FR"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32</a:t>
            </a:fld>
            <a:endParaRPr lang="fr-FR" dirty="0"/>
          </a:p>
        </p:txBody>
      </p:sp>
    </p:spTree>
    <p:extLst>
      <p:ext uri="{BB962C8B-B14F-4D97-AF65-F5344CB8AC3E}">
        <p14:creationId xmlns:p14="http://schemas.microsoft.com/office/powerpoint/2010/main" val="159465528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algn="just"/>
            <a:r>
              <a:rPr lang="fr-FR" sz="1100" dirty="0"/>
              <a:t>En cas de non-affiliation des apprentis à la caisse des congés payés, il faut adresser à la caisse un exemplaire original du contrat dans les 8 jours suivant l'enregistrement ou le visa de l'administration.</a:t>
            </a:r>
          </a:p>
          <a:p>
            <a:pPr algn="just"/>
            <a:r>
              <a:rPr lang="fr-FR" sz="1100" i="1" dirty="0"/>
              <a:t>Si la résiliation du contrat de travail a pour conséquence de réduire le contrat à moins d’1 an, l'entreprise devra rétroactivement verser à la caisse des congés payés les cotisations dues. </a:t>
            </a:r>
            <a:endParaRPr lang="fr-FR" sz="1100" dirty="0"/>
          </a:p>
          <a:p>
            <a:endParaRPr lang="fr-FR"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33</a:t>
            </a:fld>
            <a:endParaRPr lang="fr-FR" dirty="0"/>
          </a:p>
        </p:txBody>
      </p:sp>
    </p:spTree>
    <p:extLst>
      <p:ext uri="{BB962C8B-B14F-4D97-AF65-F5344CB8AC3E}">
        <p14:creationId xmlns:p14="http://schemas.microsoft.com/office/powerpoint/2010/main" val="262834370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a:xfrm>
            <a:off x="608527" y="5144281"/>
            <a:ext cx="5585502" cy="3573683"/>
          </a:xfrm>
        </p:spPr>
        <p:txBody>
          <a:bodyPr/>
          <a:lstStyle/>
          <a:p>
            <a:pPr algn="just" defTabSz="899568">
              <a:defRPr/>
            </a:pPr>
            <a:r>
              <a:rPr lang="fr-FR" sz="1100" dirty="0"/>
              <a:t>Le calcul de la prime de vacances par les cabinets est exceptionnel. Il n’existe donc pas d’exercice. L’animateur est un spécialiste de la paye BTP et donc doit pouvoir expliquer la logique de calcul. En cas de besoin, il faut ouvrir en PDF le support de cours au § 4.3 de la section brut.</a:t>
            </a:r>
          </a:p>
          <a:p>
            <a:endParaRPr lang="fr-FR"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34</a:t>
            </a:fld>
            <a:endParaRPr lang="fr-FR" dirty="0"/>
          </a:p>
        </p:txBody>
      </p:sp>
    </p:spTree>
    <p:extLst>
      <p:ext uri="{BB962C8B-B14F-4D97-AF65-F5344CB8AC3E}">
        <p14:creationId xmlns:p14="http://schemas.microsoft.com/office/powerpoint/2010/main" val="426107459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35</a:t>
            </a:fld>
            <a:endParaRPr lang="fr-FR" dirty="0"/>
          </a:p>
        </p:txBody>
      </p:sp>
    </p:spTree>
    <p:extLst>
      <p:ext uri="{BB962C8B-B14F-4D97-AF65-F5344CB8AC3E}">
        <p14:creationId xmlns:p14="http://schemas.microsoft.com/office/powerpoint/2010/main" val="271724224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algn="just"/>
            <a:r>
              <a:rPr lang="fr-FR" sz="1100" dirty="0"/>
              <a:t>Diapositive : le brut et les temps de trajet (1/2) = rappel droit du travail.</a:t>
            </a:r>
          </a:p>
          <a:p>
            <a:pPr algn="just"/>
            <a:r>
              <a:rPr lang="fr-FR" sz="1100" dirty="0"/>
              <a:t>Le brut et l’indemnité de trajet (1/2) = convention collective et position de la Cour de cassation.</a:t>
            </a:r>
          </a:p>
          <a:p>
            <a:endParaRPr lang="fr-FR"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36</a:t>
            </a:fld>
            <a:endParaRPr lang="fr-FR" dirty="0"/>
          </a:p>
        </p:txBody>
      </p:sp>
    </p:spTree>
    <p:extLst>
      <p:ext uri="{BB962C8B-B14F-4D97-AF65-F5344CB8AC3E}">
        <p14:creationId xmlns:p14="http://schemas.microsoft.com/office/powerpoint/2010/main" val="104934487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37</a:t>
            </a:fld>
            <a:endParaRPr lang="fr-FR" dirty="0"/>
          </a:p>
        </p:txBody>
      </p:sp>
    </p:spTree>
    <p:extLst>
      <p:ext uri="{BB962C8B-B14F-4D97-AF65-F5344CB8AC3E}">
        <p14:creationId xmlns:p14="http://schemas.microsoft.com/office/powerpoint/2010/main" val="261498230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38</a:t>
            </a:fld>
            <a:endParaRPr lang="fr-FR" dirty="0"/>
          </a:p>
        </p:txBody>
      </p:sp>
    </p:spTree>
    <p:extLst>
      <p:ext uri="{BB962C8B-B14F-4D97-AF65-F5344CB8AC3E}">
        <p14:creationId xmlns:p14="http://schemas.microsoft.com/office/powerpoint/2010/main" val="41924555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39</a:t>
            </a:fld>
            <a:endParaRPr lang="fr-FR" dirty="0"/>
          </a:p>
        </p:txBody>
      </p:sp>
    </p:spTree>
    <p:extLst>
      <p:ext uri="{BB962C8B-B14F-4D97-AF65-F5344CB8AC3E}">
        <p14:creationId xmlns:p14="http://schemas.microsoft.com/office/powerpoint/2010/main" val="251678861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40</a:t>
            </a:fld>
            <a:endParaRPr lang="fr-FR" dirty="0"/>
          </a:p>
        </p:txBody>
      </p:sp>
    </p:spTree>
    <p:extLst>
      <p:ext uri="{BB962C8B-B14F-4D97-AF65-F5344CB8AC3E}">
        <p14:creationId xmlns:p14="http://schemas.microsoft.com/office/powerpoint/2010/main" val="25496881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41</a:t>
            </a:fld>
            <a:endParaRPr lang="fr-FR" dirty="0"/>
          </a:p>
        </p:txBody>
      </p:sp>
    </p:spTree>
    <p:extLst>
      <p:ext uri="{BB962C8B-B14F-4D97-AF65-F5344CB8AC3E}">
        <p14:creationId xmlns:p14="http://schemas.microsoft.com/office/powerpoint/2010/main" val="350397142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42</a:t>
            </a:fld>
            <a:endParaRPr lang="fr-FR" dirty="0"/>
          </a:p>
        </p:txBody>
      </p:sp>
    </p:spTree>
    <p:extLst>
      <p:ext uri="{BB962C8B-B14F-4D97-AF65-F5344CB8AC3E}">
        <p14:creationId xmlns:p14="http://schemas.microsoft.com/office/powerpoint/2010/main" val="413511907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43</a:t>
            </a:fld>
            <a:endParaRPr lang="fr-FR" dirty="0"/>
          </a:p>
        </p:txBody>
      </p:sp>
    </p:spTree>
    <p:extLst>
      <p:ext uri="{BB962C8B-B14F-4D97-AF65-F5344CB8AC3E}">
        <p14:creationId xmlns:p14="http://schemas.microsoft.com/office/powerpoint/2010/main" val="219725245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44</a:t>
            </a:fld>
            <a:endParaRPr lang="fr-FR" dirty="0"/>
          </a:p>
        </p:txBody>
      </p:sp>
    </p:spTree>
    <p:extLst>
      <p:ext uri="{BB962C8B-B14F-4D97-AF65-F5344CB8AC3E}">
        <p14:creationId xmlns:p14="http://schemas.microsoft.com/office/powerpoint/2010/main" val="377623735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a:xfrm>
            <a:off x="698537" y="5144281"/>
            <a:ext cx="5495492" cy="3573683"/>
          </a:xfrm>
        </p:spPr>
        <p:txBody>
          <a:bodyPr/>
          <a:lstStyle/>
          <a:p>
            <a:r>
              <a:rPr lang="fr-FR" sz="1100" dirty="0"/>
              <a:t>Rappel : les chiffres sont dans les cas.</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45</a:t>
            </a:fld>
            <a:endParaRPr lang="fr-FR" dirty="0"/>
          </a:p>
        </p:txBody>
      </p:sp>
    </p:spTree>
    <p:extLst>
      <p:ext uri="{BB962C8B-B14F-4D97-AF65-F5344CB8AC3E}">
        <p14:creationId xmlns:p14="http://schemas.microsoft.com/office/powerpoint/2010/main" val="2771451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sz="1100" dirty="0"/>
              <a:t>Le Bulletin Officiel de sécurité sociale (BOSS).  </a:t>
            </a:r>
          </a:p>
          <a:p>
            <a:r>
              <a:rPr lang="fr-FR" sz="1100" dirty="0"/>
              <a:t>Dans le § 2250 les frais de grand déplacement, le remboursement des 50 % de transport en commun.</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46</a:t>
            </a:fld>
            <a:endParaRPr lang="fr-FR" dirty="0"/>
          </a:p>
        </p:txBody>
      </p:sp>
    </p:spTree>
    <p:extLst>
      <p:ext uri="{BB962C8B-B14F-4D97-AF65-F5344CB8AC3E}">
        <p14:creationId xmlns:p14="http://schemas.microsoft.com/office/powerpoint/2010/main" val="26263032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a:xfrm>
            <a:off x="518517" y="4648293"/>
            <a:ext cx="5805646" cy="3573683"/>
          </a:xfrm>
        </p:spPr>
        <p:txBody>
          <a:bodyPr/>
          <a:lstStyle/>
          <a:p>
            <a:pPr defTabSz="899568">
              <a:defRPr/>
            </a:pPr>
            <a:r>
              <a:rPr lang="fr-FR" sz="1100" dirty="0"/>
              <a:t>Dans le cas « indemnités de grands déplacements et bulletin de paye », figure le barème de ces indemnités.</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47</a:t>
            </a:fld>
            <a:endParaRPr lang="fr-FR" dirty="0"/>
          </a:p>
        </p:txBody>
      </p:sp>
    </p:spTree>
    <p:extLst>
      <p:ext uri="{BB962C8B-B14F-4D97-AF65-F5344CB8AC3E}">
        <p14:creationId xmlns:p14="http://schemas.microsoft.com/office/powerpoint/2010/main" val="246758708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a:xfrm>
            <a:off x="563522" y="4783302"/>
            <a:ext cx="5760640" cy="3573683"/>
          </a:xfrm>
        </p:spPr>
        <p:txBody>
          <a:bodyPr/>
          <a:lstStyle/>
          <a:p>
            <a:pPr defTabSz="899568">
              <a:defRPr/>
            </a:pPr>
            <a:r>
              <a:rPr lang="fr-FR" sz="1100" dirty="0"/>
              <a:t>Dans le cas « indemnités de grands déplacements et bulletin de paye », figure le barème de ces indemnités.</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48</a:t>
            </a:fld>
            <a:endParaRPr lang="fr-FR" dirty="0"/>
          </a:p>
        </p:txBody>
      </p:sp>
    </p:spTree>
    <p:extLst>
      <p:ext uri="{BB962C8B-B14F-4D97-AF65-F5344CB8AC3E}">
        <p14:creationId xmlns:p14="http://schemas.microsoft.com/office/powerpoint/2010/main" val="77632791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a:xfrm>
            <a:off x="518517" y="4601140"/>
            <a:ext cx="5675512" cy="3573683"/>
          </a:xfrm>
        </p:spPr>
        <p:txBody>
          <a:bodyPr/>
          <a:lstStyle/>
          <a:p>
            <a:pPr defTabSz="899568">
              <a:defRPr/>
            </a:pPr>
            <a:r>
              <a:rPr lang="fr-FR" sz="1100" dirty="0"/>
              <a:t>L'indemnité forfaitaire dépend de la durée des grands déplacements. Cette dernière s'entend d'une durée de 3 mois continus ou discontinus.</a:t>
            </a:r>
          </a:p>
          <a:p>
            <a:endParaRPr lang="fr-FR" sz="1100"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49</a:t>
            </a:fld>
            <a:endParaRPr lang="fr-FR" dirty="0"/>
          </a:p>
        </p:txBody>
      </p:sp>
    </p:spTree>
    <p:extLst>
      <p:ext uri="{BB962C8B-B14F-4D97-AF65-F5344CB8AC3E}">
        <p14:creationId xmlns:p14="http://schemas.microsoft.com/office/powerpoint/2010/main" val="159712360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a:xfrm>
            <a:off x="518517" y="4555871"/>
            <a:ext cx="5675512" cy="3573683"/>
          </a:xfrm>
        </p:spPr>
        <p:txBody>
          <a:bodyPr/>
          <a:lstStyle/>
          <a:p>
            <a:pPr defTabSz="899568">
              <a:defRPr/>
            </a:pPr>
            <a:r>
              <a:rPr lang="fr-FR" sz="1100" dirty="0"/>
              <a:t>Dans le cas « indemnisation du temps de voyage en grands déplacements », figure l’extrait de la Convention Collective Nationale des ouvriers qui traite de cet aspect.</a:t>
            </a:r>
          </a:p>
          <a:p>
            <a:endParaRPr lang="fr-FR" sz="1100"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50</a:t>
            </a:fld>
            <a:endParaRPr lang="fr-FR" dirty="0"/>
          </a:p>
        </p:txBody>
      </p:sp>
    </p:spTree>
    <p:extLst>
      <p:ext uri="{BB962C8B-B14F-4D97-AF65-F5344CB8AC3E}">
        <p14:creationId xmlns:p14="http://schemas.microsoft.com/office/powerpoint/2010/main" val="422083034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a:xfrm>
            <a:off x="563522" y="4510593"/>
            <a:ext cx="5670630" cy="3573683"/>
          </a:xfrm>
        </p:spPr>
        <p:txBody>
          <a:bodyPr/>
          <a:lstStyle/>
          <a:p>
            <a:pPr defTabSz="899568">
              <a:defRPr/>
            </a:pPr>
            <a:r>
              <a:rPr lang="fr-FR" sz="1100" dirty="0"/>
              <a:t>Une proposition : lire le cas ensemble et donc faire le corrigé au fur et à mesure de la lecture.</a:t>
            </a:r>
          </a:p>
          <a:p>
            <a:endParaRPr lang="fr-FR" sz="1100"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51</a:t>
            </a:fld>
            <a:endParaRPr lang="fr-FR" dirty="0"/>
          </a:p>
        </p:txBody>
      </p:sp>
    </p:spTree>
    <p:extLst>
      <p:ext uri="{BB962C8B-B14F-4D97-AF65-F5344CB8AC3E}">
        <p14:creationId xmlns:p14="http://schemas.microsoft.com/office/powerpoint/2010/main" val="206189803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52</a:t>
            </a:fld>
            <a:endParaRPr lang="fr-FR" dirty="0"/>
          </a:p>
        </p:txBody>
      </p:sp>
    </p:spTree>
    <p:extLst>
      <p:ext uri="{BB962C8B-B14F-4D97-AF65-F5344CB8AC3E}">
        <p14:creationId xmlns:p14="http://schemas.microsoft.com/office/powerpoint/2010/main" val="325567152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algn="just" defTabSz="899568">
              <a:defRPr/>
            </a:pPr>
            <a:r>
              <a:rPr lang="fr-FR" sz="1100" dirty="0"/>
              <a:t>L’animateur est un spécialiste du BTP. </a:t>
            </a:r>
          </a:p>
          <a:p>
            <a:pPr algn="just" defTabSz="899568">
              <a:defRPr/>
            </a:pPr>
            <a:r>
              <a:rPr lang="fr-FR" sz="1100" dirty="0"/>
              <a:t>Il doit pouvoir parler du système des zones des conditions d’octroi. </a:t>
            </a:r>
          </a:p>
          <a:p>
            <a:pPr algn="just" defTabSz="899568">
              <a:defRPr/>
            </a:pPr>
            <a:r>
              <a:rPr lang="fr-FR" sz="1100" dirty="0"/>
              <a:t>De même, il semble opportun d’évoquer la possibilité de ticket restaurant pour les ouvriers et le traitement de ceux-ci tout en respectant la prime de panier conventionnelle. Si besoin ouvrir le support de cours. </a:t>
            </a:r>
          </a:p>
          <a:p>
            <a:endParaRPr lang="fr-FR" sz="1100"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53</a:t>
            </a:fld>
            <a:endParaRPr lang="fr-FR" dirty="0"/>
          </a:p>
        </p:txBody>
      </p:sp>
    </p:spTree>
    <p:extLst>
      <p:ext uri="{BB962C8B-B14F-4D97-AF65-F5344CB8AC3E}">
        <p14:creationId xmlns:p14="http://schemas.microsoft.com/office/powerpoint/2010/main" val="421604686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54</a:t>
            </a:fld>
            <a:endParaRPr lang="fr-FR" dirty="0"/>
          </a:p>
        </p:txBody>
      </p:sp>
    </p:spTree>
    <p:extLst>
      <p:ext uri="{BB962C8B-B14F-4D97-AF65-F5344CB8AC3E}">
        <p14:creationId xmlns:p14="http://schemas.microsoft.com/office/powerpoint/2010/main" val="396717276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algn="just" defTabSz="899568">
              <a:defRPr/>
            </a:pPr>
            <a:r>
              <a:rPr lang="fr-FR" sz="1100" dirty="0"/>
              <a:t>En cas de demande sur le formalisme à respecter, il existe un développement spécifique dans le support de cours.</a:t>
            </a:r>
          </a:p>
          <a:p>
            <a:pPr algn="just" defTabSz="899568">
              <a:defRPr/>
            </a:pPr>
            <a:r>
              <a:rPr lang="fr-FR" sz="1100" dirty="0"/>
              <a:t>Pour appliquer la déduction forfaitaire spécifique, l’employeur doit disposer des justificatifs démontrant que le salarié bénéficiaire supporte effectivement des frais professionnels (BOSS §2140).</a:t>
            </a:r>
          </a:p>
          <a:p>
            <a:pPr algn="just"/>
            <a:r>
              <a:rPr lang="fr-FR" sz="1100" dirty="0"/>
              <a:t>Pour les points : le salarié supporte effectivement des frais professionnels + recueillir chaque année le consentement des salariés =</a:t>
            </a:r>
          </a:p>
          <a:p>
            <a:pPr marL="171450" indent="-171450" algn="just">
              <a:buFont typeface="Wingdings" panose="05000000000000000000" pitchFamily="2" charset="2"/>
              <a:buChar char="§"/>
            </a:pPr>
            <a:r>
              <a:rPr lang="fr-FR" sz="1100" dirty="0"/>
              <a:t>Entrée en vigueur le 1</a:t>
            </a:r>
            <a:r>
              <a:rPr lang="fr-FR" sz="1100" baseline="30000" dirty="0"/>
              <a:t>er</a:t>
            </a:r>
            <a:r>
              <a:rPr lang="fr-FR" sz="1100" dirty="0"/>
              <a:t> janvier 2022.</a:t>
            </a:r>
          </a:p>
          <a:p>
            <a:pPr marL="171450" indent="-171450" algn="just">
              <a:buFont typeface="Wingdings" panose="05000000000000000000" pitchFamily="2" charset="2"/>
              <a:buChar char="§"/>
            </a:pPr>
            <a:r>
              <a:rPr lang="fr-FR" sz="1100" dirty="0"/>
              <a:t>En cas de contrôle relatif à des périodes courant jusqu’au 31 décembre 2021, l’organisme procédera uniquement à une demande de mise en conformité pour l’avenir.</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55</a:t>
            </a:fld>
            <a:endParaRPr lang="fr-FR" dirty="0"/>
          </a:p>
        </p:txBody>
      </p:sp>
    </p:spTree>
    <p:extLst>
      <p:ext uri="{BB962C8B-B14F-4D97-AF65-F5344CB8AC3E}">
        <p14:creationId xmlns:p14="http://schemas.microsoft.com/office/powerpoint/2010/main" val="150672746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a:xfrm>
            <a:off x="653531" y="5144281"/>
            <a:ext cx="5540497" cy="3573683"/>
          </a:xfrm>
        </p:spPr>
        <p:txBody>
          <a:bodyPr/>
          <a:lstStyle/>
          <a:p>
            <a:pPr algn="just"/>
            <a:r>
              <a:rPr lang="fr-FR" sz="1100" dirty="0"/>
              <a:t>Observation : il y a 2 cas, donc 2 diaporamas successifs demandant de faire un cas.</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56</a:t>
            </a:fld>
            <a:endParaRPr lang="fr-FR" dirty="0"/>
          </a:p>
        </p:txBody>
      </p:sp>
    </p:spTree>
    <p:extLst>
      <p:ext uri="{BB962C8B-B14F-4D97-AF65-F5344CB8AC3E}">
        <p14:creationId xmlns:p14="http://schemas.microsoft.com/office/powerpoint/2010/main" val="154039608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57</a:t>
            </a:fld>
            <a:endParaRPr lang="fr-FR" dirty="0"/>
          </a:p>
        </p:txBody>
      </p:sp>
    </p:spTree>
    <p:extLst>
      <p:ext uri="{BB962C8B-B14F-4D97-AF65-F5344CB8AC3E}">
        <p14:creationId xmlns:p14="http://schemas.microsoft.com/office/powerpoint/2010/main" val="154039608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58</a:t>
            </a:fld>
            <a:endParaRPr lang="fr-FR" dirty="0"/>
          </a:p>
        </p:txBody>
      </p:sp>
    </p:spTree>
    <p:extLst>
      <p:ext uri="{BB962C8B-B14F-4D97-AF65-F5344CB8AC3E}">
        <p14:creationId xmlns:p14="http://schemas.microsoft.com/office/powerpoint/2010/main" val="361237582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59</a:t>
            </a:fld>
            <a:endParaRPr lang="fr-FR" dirty="0"/>
          </a:p>
        </p:txBody>
      </p:sp>
    </p:spTree>
    <p:extLst>
      <p:ext uri="{BB962C8B-B14F-4D97-AF65-F5344CB8AC3E}">
        <p14:creationId xmlns:p14="http://schemas.microsoft.com/office/powerpoint/2010/main" val="301800627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marL="265234" indent="-265234" algn="just">
              <a:tabLst>
                <a:tab pos="265234" algn="l"/>
              </a:tabLst>
            </a:pPr>
            <a:r>
              <a:rPr lang="fr-FR" sz="1100" dirty="0">
                <a:ea typeface="ＭＳ Ｐゴシック" pitchFamily="26" charset="-128"/>
                <a:cs typeface="ＭＳ Ｐゴシック" pitchFamily="26" charset="-128"/>
              </a:rPr>
              <a:t>1.	Le Taux « bureau » est  définitivement supprimé à compter du 31/12/2019 (arrêté du 15 février 2017).</a:t>
            </a:r>
          </a:p>
          <a:p>
            <a:pPr marL="265234" indent="-265234" algn="just">
              <a:tabLst>
                <a:tab pos="265234" algn="l"/>
              </a:tabLst>
            </a:pPr>
            <a:r>
              <a:rPr lang="fr-FR" sz="1100" dirty="0">
                <a:ea typeface="ＭＳ Ｐゴシック" pitchFamily="26" charset="-128"/>
                <a:cs typeface="ＭＳ Ｐゴシック" pitchFamily="26" charset="-128"/>
              </a:rPr>
              <a:t>2.	À défaut, un seul taux sera applicable à tous les salariés de l’entreprise au 01/01/2020. Il sera calculé en fusionnant le taux de l’activité principale et le taux bureau.</a:t>
            </a:r>
          </a:p>
          <a:p>
            <a:pPr marL="265234" indent="-265234" algn="just">
              <a:tabLst>
                <a:tab pos="265234" algn="l"/>
              </a:tabLst>
            </a:pPr>
            <a:r>
              <a:rPr lang="fr-FR" sz="1100" dirty="0">
                <a:ea typeface="ＭＳ Ｐゴシック" pitchFamily="26" charset="-128"/>
                <a:cs typeface="ＭＳ Ｐゴシック" pitchFamily="26" charset="-128"/>
              </a:rPr>
              <a:t>3.	Prévoyance de base appelée par PRO BTP : une partie n’entre pas dans la base de calcul de la CSG/RDS à savoir pour les ouvriers la part patronale 0.72 %. </a:t>
            </a:r>
          </a:p>
          <a:p>
            <a:pPr algn="just"/>
            <a:endParaRPr lang="fr-FR" sz="1100"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60</a:t>
            </a:fld>
            <a:endParaRPr lang="fr-FR" dirty="0"/>
          </a:p>
        </p:txBody>
      </p:sp>
    </p:spTree>
    <p:extLst>
      <p:ext uri="{BB962C8B-B14F-4D97-AF65-F5344CB8AC3E}">
        <p14:creationId xmlns:p14="http://schemas.microsoft.com/office/powerpoint/2010/main" val="68448567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a:xfrm>
            <a:off x="788547" y="5144281"/>
            <a:ext cx="5405482" cy="3573683"/>
          </a:xfrm>
        </p:spPr>
        <p:txBody>
          <a:bodyPr/>
          <a:lstStyle/>
          <a:p>
            <a:pPr algn="just"/>
            <a:r>
              <a:rPr lang="fr-FR" sz="1100" dirty="0">
                <a:ea typeface="ＭＳ Ｐゴシック" pitchFamily="26" charset="-128"/>
                <a:cs typeface="ＭＳ Ｐゴシック" pitchFamily="26" charset="-128"/>
              </a:rPr>
              <a:t>Prévoyance de base appelée par PRO BTP : une partie n’entre pas dans la base de calcul de la CSG/RDS à savoir pour les ouvriers la part patronale 0.72 %. </a:t>
            </a:r>
          </a:p>
          <a:p>
            <a:pPr algn="just"/>
            <a:endParaRPr lang="fr-FR" sz="1100"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61</a:t>
            </a:fld>
            <a:endParaRPr lang="fr-FR" dirty="0"/>
          </a:p>
        </p:txBody>
      </p:sp>
    </p:spTree>
    <p:extLst>
      <p:ext uri="{BB962C8B-B14F-4D97-AF65-F5344CB8AC3E}">
        <p14:creationId xmlns:p14="http://schemas.microsoft.com/office/powerpoint/2010/main" val="363493911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62</a:t>
            </a:fld>
            <a:endParaRPr lang="fr-FR" dirty="0"/>
          </a:p>
        </p:txBody>
      </p:sp>
    </p:spTree>
    <p:extLst>
      <p:ext uri="{BB962C8B-B14F-4D97-AF65-F5344CB8AC3E}">
        <p14:creationId xmlns:p14="http://schemas.microsoft.com/office/powerpoint/2010/main" val="286031385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63</a:t>
            </a:fld>
            <a:endParaRPr lang="fr-FR" dirty="0"/>
          </a:p>
        </p:txBody>
      </p:sp>
    </p:spTree>
    <p:extLst>
      <p:ext uri="{BB962C8B-B14F-4D97-AF65-F5344CB8AC3E}">
        <p14:creationId xmlns:p14="http://schemas.microsoft.com/office/powerpoint/2010/main" val="19926561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sz="1100" dirty="0"/>
              <a:t>Si besoin, voir le site de l’Urssaf.</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64</a:t>
            </a:fld>
            <a:endParaRPr lang="fr-FR" dirty="0"/>
          </a:p>
        </p:txBody>
      </p:sp>
    </p:spTree>
    <p:extLst>
      <p:ext uri="{BB962C8B-B14F-4D97-AF65-F5344CB8AC3E}">
        <p14:creationId xmlns:p14="http://schemas.microsoft.com/office/powerpoint/2010/main" val="11624783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65</a:t>
            </a:fld>
            <a:endParaRPr lang="fr-FR" dirty="0"/>
          </a:p>
        </p:txBody>
      </p:sp>
    </p:spTree>
    <p:extLst>
      <p:ext uri="{BB962C8B-B14F-4D97-AF65-F5344CB8AC3E}">
        <p14:creationId xmlns:p14="http://schemas.microsoft.com/office/powerpoint/2010/main" val="2958058234"/>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sz="1100" dirty="0"/>
              <a:t>À COMPTER DU 01/01/2020 : le montant de la réduction générale des cotisations sociales calculé pour les rémunérations après application de l'abattement forfaitaire lié à la DFS ne peut excéder, pour ces rémunérations, 130 % du montant la réduction calculé sans application du même abattement.</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66</a:t>
            </a:fld>
            <a:endParaRPr lang="fr-FR" dirty="0"/>
          </a:p>
        </p:txBody>
      </p:sp>
    </p:spTree>
    <p:extLst>
      <p:ext uri="{BB962C8B-B14F-4D97-AF65-F5344CB8AC3E}">
        <p14:creationId xmlns:p14="http://schemas.microsoft.com/office/powerpoint/2010/main" val="288120986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a:xfrm>
            <a:off x="279499" y="5098325"/>
            <a:ext cx="6220890" cy="3573683"/>
          </a:xfrm>
        </p:spPr>
        <p:txBody>
          <a:bodyPr/>
          <a:lstStyle/>
          <a:p>
            <a:pPr defTabSz="899568">
              <a:defRPr/>
            </a:pPr>
            <a:endParaRPr lang="fr-FR" dirty="0"/>
          </a:p>
          <a:p>
            <a:endParaRPr lang="fr-FR"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67</a:t>
            </a:fld>
            <a:endParaRPr lang="fr-FR" dirty="0"/>
          </a:p>
        </p:txBody>
      </p:sp>
    </p:spTree>
    <p:extLst>
      <p:ext uri="{BB962C8B-B14F-4D97-AF65-F5344CB8AC3E}">
        <p14:creationId xmlns:p14="http://schemas.microsoft.com/office/powerpoint/2010/main" val="14589969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68</a:t>
            </a:fld>
            <a:endParaRPr lang="fr-FR" dirty="0"/>
          </a:p>
        </p:txBody>
      </p:sp>
    </p:spTree>
    <p:extLst>
      <p:ext uri="{BB962C8B-B14F-4D97-AF65-F5344CB8AC3E}">
        <p14:creationId xmlns:p14="http://schemas.microsoft.com/office/powerpoint/2010/main" val="130678942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a:xfrm>
            <a:off x="608527" y="4963324"/>
            <a:ext cx="5535616" cy="3573683"/>
          </a:xfrm>
        </p:spPr>
        <p:txBody>
          <a:bodyPr/>
          <a:lstStyle/>
          <a:p>
            <a:pPr defTabSz="899568">
              <a:defRPr/>
            </a:pPr>
            <a:r>
              <a:rPr lang="fr-FR" sz="1100" dirty="0">
                <a:ea typeface="ＭＳ Ｐゴシック" pitchFamily="26" charset="-128"/>
                <a:cs typeface="ＭＳ Ｐゴシック" pitchFamily="26" charset="-128"/>
              </a:rPr>
              <a:t>Nous sommes ici dans le chapitre cotisations. </a:t>
            </a:r>
          </a:p>
          <a:p>
            <a:pPr defTabSz="899568">
              <a:defRPr/>
            </a:pPr>
            <a:r>
              <a:rPr lang="fr-FR" sz="1100" dirty="0">
                <a:ea typeface="ＭＳ Ｐゴシック" pitchFamily="26" charset="-128"/>
                <a:cs typeface="ＭＳ Ｐゴシック" pitchFamily="26" charset="-128"/>
              </a:rPr>
              <a:t>Pour les absences congés payés, il faut attendre la séquence 6, « Les évènements courants ».</a:t>
            </a:r>
            <a:endParaRPr lang="fr-FR" sz="1100" dirty="0"/>
          </a:p>
          <a:p>
            <a:endParaRPr lang="fr-FR" sz="1100"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69</a:t>
            </a:fld>
            <a:endParaRPr lang="fr-FR" dirty="0"/>
          </a:p>
        </p:txBody>
      </p:sp>
    </p:spTree>
    <p:extLst>
      <p:ext uri="{BB962C8B-B14F-4D97-AF65-F5344CB8AC3E}">
        <p14:creationId xmlns:p14="http://schemas.microsoft.com/office/powerpoint/2010/main" val="425408295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70</a:t>
            </a:fld>
            <a:endParaRPr lang="fr-FR" dirty="0"/>
          </a:p>
        </p:txBody>
      </p:sp>
    </p:spTree>
    <p:extLst>
      <p:ext uri="{BB962C8B-B14F-4D97-AF65-F5344CB8AC3E}">
        <p14:creationId xmlns:p14="http://schemas.microsoft.com/office/powerpoint/2010/main" val="174571700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sz="1100" dirty="0"/>
              <a:t>Base taux légal = majoration 11,50 % //</a:t>
            </a:r>
            <a:r>
              <a:rPr lang="fr-FR" sz="1100" baseline="0" dirty="0"/>
              <a:t> base taux conventionnel = pas de majoration de base.</a:t>
            </a:r>
            <a:endParaRPr lang="fr-FR" sz="1100"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71</a:t>
            </a:fld>
            <a:endParaRPr lang="fr-FR" dirty="0"/>
          </a:p>
        </p:txBody>
      </p:sp>
    </p:spTree>
    <p:extLst>
      <p:ext uri="{BB962C8B-B14F-4D97-AF65-F5344CB8AC3E}">
        <p14:creationId xmlns:p14="http://schemas.microsoft.com/office/powerpoint/2010/main" val="308508205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72</a:t>
            </a:fld>
            <a:endParaRPr lang="fr-FR" dirty="0"/>
          </a:p>
        </p:txBody>
      </p:sp>
    </p:spTree>
    <p:extLst>
      <p:ext uri="{BB962C8B-B14F-4D97-AF65-F5344CB8AC3E}">
        <p14:creationId xmlns:p14="http://schemas.microsoft.com/office/powerpoint/2010/main" val="201708835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73</a:t>
            </a:fld>
            <a:endParaRPr lang="fr-FR" dirty="0"/>
          </a:p>
        </p:txBody>
      </p:sp>
    </p:spTree>
    <p:extLst>
      <p:ext uri="{BB962C8B-B14F-4D97-AF65-F5344CB8AC3E}">
        <p14:creationId xmlns:p14="http://schemas.microsoft.com/office/powerpoint/2010/main" val="2705160598"/>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74</a:t>
            </a:fld>
            <a:endParaRPr lang="fr-FR" dirty="0"/>
          </a:p>
        </p:txBody>
      </p:sp>
    </p:spTree>
    <p:extLst>
      <p:ext uri="{BB962C8B-B14F-4D97-AF65-F5344CB8AC3E}">
        <p14:creationId xmlns:p14="http://schemas.microsoft.com/office/powerpoint/2010/main" val="3880724738"/>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75</a:t>
            </a:fld>
            <a:endParaRPr lang="fr-FR" dirty="0"/>
          </a:p>
        </p:txBody>
      </p:sp>
    </p:spTree>
    <p:extLst>
      <p:ext uri="{BB962C8B-B14F-4D97-AF65-F5344CB8AC3E}">
        <p14:creationId xmlns:p14="http://schemas.microsoft.com/office/powerpoint/2010/main" val="51351462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algn="just" defTabSz="899568">
              <a:defRPr/>
            </a:pPr>
            <a:r>
              <a:rPr lang="fr-FR" sz="1100" dirty="0">
                <a:ea typeface="ＭＳ Ｐゴシック" pitchFamily="26" charset="-128"/>
                <a:cs typeface="ＭＳ Ｐゴシック" pitchFamily="26" charset="-128"/>
              </a:rPr>
              <a:t>Le diaporama explique clairement le but de la présence de ce cas. Il appartient à l’animateur de permettre sur l’écran les deux payes. </a:t>
            </a:r>
          </a:p>
          <a:p>
            <a:pPr algn="just" defTabSz="899568">
              <a:defRPr/>
            </a:pPr>
            <a:endParaRPr lang="fr-FR" sz="1100" dirty="0">
              <a:ea typeface="ＭＳ Ｐゴシック" pitchFamily="26" charset="-128"/>
              <a:cs typeface="ＭＳ Ｐゴシック" pitchFamily="26" charset="-128"/>
            </a:endParaRPr>
          </a:p>
          <a:p>
            <a:pPr algn="just" defTabSz="899568">
              <a:defRPr/>
            </a:pPr>
            <a:r>
              <a:rPr lang="fr-FR" sz="1100" dirty="0">
                <a:ea typeface="ＭＳ Ｐゴシック" pitchFamily="26" charset="-128"/>
                <a:cs typeface="ＭＳ Ｐゴシック" pitchFamily="26" charset="-128"/>
              </a:rPr>
              <a:t>À l’animateur de mettre en évidence le NET imposable selon l’option ou non de l’abattement ainsi que le coût de charges patronales selon chaque option</a:t>
            </a:r>
            <a:r>
              <a:rPr lang="fr-FR" sz="1100" b="1" dirty="0">
                <a:ea typeface="ＭＳ Ｐゴシック" pitchFamily="26" charset="-128"/>
                <a:cs typeface="ＭＳ Ｐゴシック" pitchFamily="26" charset="-128"/>
              </a:rPr>
              <a:t>.</a:t>
            </a:r>
            <a:endParaRPr lang="fr-FR" sz="1100" dirty="0"/>
          </a:p>
          <a:p>
            <a:pPr algn="just"/>
            <a:endParaRPr lang="fr-FR" sz="1100"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76</a:t>
            </a:fld>
            <a:endParaRPr lang="fr-FR" dirty="0"/>
          </a:p>
        </p:txBody>
      </p:sp>
    </p:spTree>
    <p:extLst>
      <p:ext uri="{BB962C8B-B14F-4D97-AF65-F5344CB8AC3E}">
        <p14:creationId xmlns:p14="http://schemas.microsoft.com/office/powerpoint/2010/main" val="387976355"/>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77</a:t>
            </a:fld>
            <a:endParaRPr lang="fr-FR" dirty="0"/>
          </a:p>
        </p:txBody>
      </p:sp>
    </p:spTree>
    <p:extLst>
      <p:ext uri="{BB962C8B-B14F-4D97-AF65-F5344CB8AC3E}">
        <p14:creationId xmlns:p14="http://schemas.microsoft.com/office/powerpoint/2010/main" val="655946974"/>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78</a:t>
            </a:fld>
            <a:endParaRPr lang="fr-FR" dirty="0"/>
          </a:p>
        </p:txBody>
      </p:sp>
    </p:spTree>
    <p:extLst>
      <p:ext uri="{BB962C8B-B14F-4D97-AF65-F5344CB8AC3E}">
        <p14:creationId xmlns:p14="http://schemas.microsoft.com/office/powerpoint/2010/main" val="1131708884"/>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sz="1100" dirty="0"/>
              <a:t>Dans le cadre de la couverture prévoyance gérée par PRO-BTP, les salariés (ouvriers, ETAM ou cadres) bénéficient de primes.</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79</a:t>
            </a:fld>
            <a:endParaRPr lang="fr-FR" dirty="0"/>
          </a:p>
        </p:txBody>
      </p:sp>
    </p:spTree>
    <p:extLst>
      <p:ext uri="{BB962C8B-B14F-4D97-AF65-F5344CB8AC3E}">
        <p14:creationId xmlns:p14="http://schemas.microsoft.com/office/powerpoint/2010/main" val="4107253977"/>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a:xfrm>
            <a:off x="518516" y="5143339"/>
            <a:ext cx="5675512" cy="3573683"/>
          </a:xfrm>
        </p:spPr>
        <p:txBody>
          <a:bodyPr/>
          <a:lstStyle/>
          <a:p>
            <a:pPr algn="just" defTabSz="899568">
              <a:defRPr/>
            </a:pPr>
            <a:r>
              <a:rPr lang="fr-FR" sz="1100" dirty="0">
                <a:ea typeface="ＭＳ Ｐゴシック" pitchFamily="26" charset="-128"/>
                <a:cs typeface="ＭＳ Ｐゴシック" pitchFamily="26" charset="-128"/>
              </a:rPr>
              <a:t>La formation s’adresse à un public collaborateur cabinet comptable qui ont une expérience en multi-conventions donc ce diaporama et le suivant ne sont pas à développer.</a:t>
            </a:r>
            <a:endParaRPr lang="fr-FR" sz="1100"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80</a:t>
            </a:fld>
            <a:endParaRPr lang="fr-FR" dirty="0"/>
          </a:p>
        </p:txBody>
      </p:sp>
    </p:spTree>
    <p:extLst>
      <p:ext uri="{BB962C8B-B14F-4D97-AF65-F5344CB8AC3E}">
        <p14:creationId xmlns:p14="http://schemas.microsoft.com/office/powerpoint/2010/main" val="4107253977"/>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algn="just" defTabSz="899568">
              <a:defRPr/>
            </a:pPr>
            <a:r>
              <a:rPr lang="fr-FR" sz="1100" dirty="0">
                <a:ea typeface="ＭＳ Ｐゴシック" pitchFamily="26" charset="-128"/>
                <a:cs typeface="ＭＳ Ｐゴシック" pitchFamily="26" charset="-128"/>
              </a:rPr>
              <a:t>Depuis 1</a:t>
            </a:r>
            <a:r>
              <a:rPr lang="fr-FR" sz="1100" baseline="30000" dirty="0">
                <a:ea typeface="ＭＳ Ｐゴシック" pitchFamily="26" charset="-128"/>
                <a:cs typeface="ＭＳ Ｐゴシック" pitchFamily="26" charset="-128"/>
              </a:rPr>
              <a:t>er</a:t>
            </a:r>
            <a:r>
              <a:rPr lang="fr-FR" sz="1100" dirty="0">
                <a:ea typeface="ＭＳ Ｐゴシック" pitchFamily="26" charset="-128"/>
                <a:cs typeface="ＭＳ Ｐゴシック" pitchFamily="26" charset="-128"/>
              </a:rPr>
              <a:t> janvier 2016, les décomptes de paiement IJSS sont adressés directement par la Sécurité sociale auprès de PRO-BTP grâce au service PREST’IJ.</a:t>
            </a:r>
            <a:endParaRPr lang="fr-FR" sz="1100" dirty="0"/>
          </a:p>
          <a:p>
            <a:pPr algn="just"/>
            <a:endParaRPr lang="fr-FR" sz="1100"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81</a:t>
            </a:fld>
            <a:endParaRPr lang="fr-FR" dirty="0"/>
          </a:p>
        </p:txBody>
      </p:sp>
    </p:spTree>
    <p:extLst>
      <p:ext uri="{BB962C8B-B14F-4D97-AF65-F5344CB8AC3E}">
        <p14:creationId xmlns:p14="http://schemas.microsoft.com/office/powerpoint/2010/main" val="3972821162"/>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sz="1100" dirty="0"/>
              <a:t>Pour les diapositives suivantes, attention aux titres des diapositives.</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82</a:t>
            </a:fld>
            <a:endParaRPr lang="fr-FR" dirty="0"/>
          </a:p>
        </p:txBody>
      </p:sp>
    </p:spTree>
    <p:extLst>
      <p:ext uri="{BB962C8B-B14F-4D97-AF65-F5344CB8AC3E}">
        <p14:creationId xmlns:p14="http://schemas.microsoft.com/office/powerpoint/2010/main" val="1396239145"/>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algn="just" defTabSz="899568">
              <a:defRPr/>
            </a:pPr>
            <a:r>
              <a:rPr lang="fr-FR" sz="1100" dirty="0"/>
              <a:t>Selon le titre ouvriers du bâtiment. </a:t>
            </a:r>
          </a:p>
          <a:p>
            <a:endParaRPr lang="fr-FR"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83</a:t>
            </a:fld>
            <a:endParaRPr lang="fr-FR" dirty="0"/>
          </a:p>
        </p:txBody>
      </p:sp>
    </p:spTree>
    <p:extLst>
      <p:ext uri="{BB962C8B-B14F-4D97-AF65-F5344CB8AC3E}">
        <p14:creationId xmlns:p14="http://schemas.microsoft.com/office/powerpoint/2010/main" val="4047871926"/>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defTabSz="899568">
              <a:defRPr/>
            </a:pPr>
            <a:r>
              <a:rPr lang="fr-FR" sz="1100" dirty="0"/>
              <a:t>Selon le titre ouvriers des travaux publics. </a:t>
            </a:r>
          </a:p>
          <a:p>
            <a:endParaRPr lang="fr-FR"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84</a:t>
            </a:fld>
            <a:endParaRPr lang="fr-FR" dirty="0"/>
          </a:p>
        </p:txBody>
      </p:sp>
    </p:spTree>
    <p:extLst>
      <p:ext uri="{BB962C8B-B14F-4D97-AF65-F5344CB8AC3E}">
        <p14:creationId xmlns:p14="http://schemas.microsoft.com/office/powerpoint/2010/main" val="1071228530"/>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85</a:t>
            </a:fld>
            <a:endParaRPr lang="fr-FR" dirty="0"/>
          </a:p>
        </p:txBody>
      </p:sp>
    </p:spTree>
    <p:extLst>
      <p:ext uri="{BB962C8B-B14F-4D97-AF65-F5344CB8AC3E}">
        <p14:creationId xmlns:p14="http://schemas.microsoft.com/office/powerpoint/2010/main" val="1671287517"/>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algn="just" defTabSz="899568">
              <a:defRPr/>
            </a:pPr>
            <a:r>
              <a:rPr lang="fr-FR" sz="1100" b="1" u="sng" dirty="0">
                <a:ea typeface="ＭＳ Ｐゴシック" pitchFamily="26" charset="-128"/>
                <a:cs typeface="ＭＳ Ｐゴシック" pitchFamily="26" charset="-128"/>
              </a:rPr>
              <a:t>ETAM : </a:t>
            </a:r>
          </a:p>
          <a:p>
            <a:pPr marL="171450" indent="-171450" algn="just" defTabSz="899568">
              <a:buFont typeface="Wingdings" panose="05000000000000000000" pitchFamily="2" charset="2"/>
              <a:buChar char="§"/>
              <a:defRPr/>
            </a:pPr>
            <a:r>
              <a:rPr lang="fr-FR" sz="1100" dirty="0">
                <a:ea typeface="ＭＳ Ｐゴシック" pitchFamily="26" charset="-128"/>
                <a:cs typeface="ＭＳ Ｐゴシック" pitchFamily="26" charset="-128"/>
              </a:rPr>
              <a:t>Moins de 90 jours : maintien à 100 %, sous déduction IJSS. </a:t>
            </a:r>
          </a:p>
          <a:p>
            <a:pPr marL="171450" indent="-171450" algn="just" defTabSz="899568">
              <a:buFont typeface="Wingdings" panose="05000000000000000000" pitchFamily="2" charset="2"/>
              <a:buChar char="§"/>
              <a:defRPr/>
            </a:pPr>
            <a:r>
              <a:rPr lang="fr-FR" sz="1100" dirty="0">
                <a:ea typeface="ＭＳ Ｐゴシック" pitchFamily="26" charset="-128"/>
                <a:cs typeface="ＭＳ Ｐゴシック" pitchFamily="26" charset="-128"/>
              </a:rPr>
              <a:t>Plus de 90 jours : les ETAM sont pris en charge par les régimes de prévoyance, ils n’ont pas de jours de carence.</a:t>
            </a:r>
          </a:p>
          <a:p>
            <a:pPr algn="just"/>
            <a:endParaRPr lang="fr-FR" sz="1100"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86</a:t>
            </a:fld>
            <a:endParaRPr lang="fr-FR" dirty="0"/>
          </a:p>
        </p:txBody>
      </p:sp>
    </p:spTree>
    <p:extLst>
      <p:ext uri="{BB962C8B-B14F-4D97-AF65-F5344CB8AC3E}">
        <p14:creationId xmlns:p14="http://schemas.microsoft.com/office/powerpoint/2010/main" val="892965470"/>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algn="just" defTabSz="899568">
              <a:defRPr/>
            </a:pPr>
            <a:r>
              <a:rPr lang="fr-FR" sz="1100" dirty="0">
                <a:ea typeface="ＭＳ Ｐゴシック" pitchFamily="26" charset="-128"/>
                <a:cs typeface="ＭＳ Ｐゴシック" pitchFamily="26" charset="-128"/>
              </a:rPr>
              <a:t>La loi travail du 8 août 2016 donne la possibilité de modifier par accord d’entreprise le droit légal à fractionnement ou les droits issus des conventions collectives, dans un sens plus ou moins favorable pour les salariés.</a:t>
            </a:r>
            <a:endParaRPr lang="fr-FR" sz="1100" dirty="0"/>
          </a:p>
          <a:p>
            <a:endParaRPr lang="fr-FR" sz="1100"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87</a:t>
            </a:fld>
            <a:endParaRPr lang="fr-FR" dirty="0"/>
          </a:p>
        </p:txBody>
      </p:sp>
    </p:spTree>
    <p:extLst>
      <p:ext uri="{BB962C8B-B14F-4D97-AF65-F5344CB8AC3E}">
        <p14:creationId xmlns:p14="http://schemas.microsoft.com/office/powerpoint/2010/main" val="3013154767"/>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88</a:t>
            </a:fld>
            <a:endParaRPr lang="fr-FR" dirty="0"/>
          </a:p>
        </p:txBody>
      </p:sp>
    </p:spTree>
    <p:extLst>
      <p:ext uri="{BB962C8B-B14F-4D97-AF65-F5344CB8AC3E}">
        <p14:creationId xmlns:p14="http://schemas.microsoft.com/office/powerpoint/2010/main" val="3252044210"/>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89</a:t>
            </a:fld>
            <a:endParaRPr lang="fr-FR" dirty="0"/>
          </a:p>
        </p:txBody>
      </p:sp>
    </p:spTree>
    <p:extLst>
      <p:ext uri="{BB962C8B-B14F-4D97-AF65-F5344CB8AC3E}">
        <p14:creationId xmlns:p14="http://schemas.microsoft.com/office/powerpoint/2010/main" val="1421054613"/>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90</a:t>
            </a:fld>
            <a:endParaRPr lang="fr-FR" dirty="0"/>
          </a:p>
        </p:txBody>
      </p:sp>
    </p:spTree>
    <p:extLst>
      <p:ext uri="{BB962C8B-B14F-4D97-AF65-F5344CB8AC3E}">
        <p14:creationId xmlns:p14="http://schemas.microsoft.com/office/powerpoint/2010/main" val="1899133252"/>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91</a:t>
            </a:fld>
            <a:endParaRPr lang="fr-FR" dirty="0"/>
          </a:p>
        </p:txBody>
      </p:sp>
    </p:spTree>
    <p:extLst>
      <p:ext uri="{BB962C8B-B14F-4D97-AF65-F5344CB8AC3E}">
        <p14:creationId xmlns:p14="http://schemas.microsoft.com/office/powerpoint/2010/main" val="1110618942"/>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algn="just" defTabSz="899568">
              <a:defRPr/>
            </a:pPr>
            <a:r>
              <a:rPr lang="fr-FR" sz="1100" dirty="0">
                <a:ea typeface="ＭＳ Ｐゴシック" pitchFamily="26" charset="-128"/>
                <a:cs typeface="ＭＳ Ｐゴシック" pitchFamily="26" charset="-128"/>
              </a:rPr>
              <a:t>La</a:t>
            </a:r>
            <a:r>
              <a:rPr lang="fr-FR" sz="1100" dirty="0">
                <a:solidFill>
                  <a:srgbClr val="1F497D"/>
                </a:solidFill>
                <a:ea typeface="ＭＳ Ｐゴシック" pitchFamily="26" charset="-128"/>
                <a:cs typeface="ＭＳ Ｐゴシック" pitchFamily="26" charset="-128"/>
              </a:rPr>
              <a:t> </a:t>
            </a:r>
            <a:r>
              <a:rPr lang="fr-FR" sz="1100" dirty="0">
                <a:ea typeface="ＭＳ Ｐゴシック" pitchFamily="26" charset="-128"/>
                <a:cs typeface="ＭＳ Ｐゴシック" pitchFamily="26" charset="-128"/>
              </a:rPr>
              <a:t>législation a prévu des périodes d'arrêts saisonniers pour tenir compte du fait que dans certaines régions le climat est rigoureux.</a:t>
            </a:r>
            <a:endParaRPr lang="fr-FR" sz="1100" dirty="0"/>
          </a:p>
          <a:p>
            <a:pPr algn="just"/>
            <a:endParaRPr lang="fr-FR" sz="1100"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92</a:t>
            </a:fld>
            <a:endParaRPr lang="fr-FR" dirty="0"/>
          </a:p>
        </p:txBody>
      </p:sp>
    </p:spTree>
    <p:extLst>
      <p:ext uri="{BB962C8B-B14F-4D97-AF65-F5344CB8AC3E}">
        <p14:creationId xmlns:p14="http://schemas.microsoft.com/office/powerpoint/2010/main" val="1305383906"/>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93</a:t>
            </a:fld>
            <a:endParaRPr lang="fr-FR" dirty="0"/>
          </a:p>
        </p:txBody>
      </p:sp>
    </p:spTree>
    <p:extLst>
      <p:ext uri="{BB962C8B-B14F-4D97-AF65-F5344CB8AC3E}">
        <p14:creationId xmlns:p14="http://schemas.microsoft.com/office/powerpoint/2010/main" val="3738716879"/>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94</a:t>
            </a:fld>
            <a:endParaRPr lang="fr-FR" dirty="0"/>
          </a:p>
        </p:txBody>
      </p:sp>
    </p:spTree>
    <p:extLst>
      <p:ext uri="{BB962C8B-B14F-4D97-AF65-F5344CB8AC3E}">
        <p14:creationId xmlns:p14="http://schemas.microsoft.com/office/powerpoint/2010/main" val="25282956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95</a:t>
            </a:fld>
            <a:endParaRPr lang="fr-FR" dirty="0"/>
          </a:p>
        </p:txBody>
      </p:sp>
    </p:spTree>
    <p:extLst>
      <p:ext uri="{BB962C8B-B14F-4D97-AF65-F5344CB8AC3E}">
        <p14:creationId xmlns:p14="http://schemas.microsoft.com/office/powerpoint/2010/main" val="643169738"/>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96</a:t>
            </a:fld>
            <a:endParaRPr lang="fr-FR" dirty="0"/>
          </a:p>
        </p:txBody>
      </p:sp>
    </p:spTree>
    <p:extLst>
      <p:ext uri="{BB962C8B-B14F-4D97-AF65-F5344CB8AC3E}">
        <p14:creationId xmlns:p14="http://schemas.microsoft.com/office/powerpoint/2010/main" val="3635921412"/>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97</a:t>
            </a:fld>
            <a:endParaRPr lang="fr-FR" dirty="0"/>
          </a:p>
        </p:txBody>
      </p:sp>
    </p:spTree>
    <p:extLst>
      <p:ext uri="{BB962C8B-B14F-4D97-AF65-F5344CB8AC3E}">
        <p14:creationId xmlns:p14="http://schemas.microsoft.com/office/powerpoint/2010/main" val="1438759500"/>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98</a:t>
            </a:fld>
            <a:endParaRPr lang="fr-FR" dirty="0"/>
          </a:p>
        </p:txBody>
      </p:sp>
    </p:spTree>
    <p:extLst>
      <p:ext uri="{BB962C8B-B14F-4D97-AF65-F5344CB8AC3E}">
        <p14:creationId xmlns:p14="http://schemas.microsoft.com/office/powerpoint/2010/main" val="228947771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algn="just"/>
            <a:r>
              <a:rPr lang="fr-FR" sz="1100" dirty="0">
                <a:ea typeface="ＭＳ Ｐゴシック" pitchFamily="26" charset="-128"/>
                <a:cs typeface="ＭＳ Ｐゴシック" pitchFamily="26" charset="-128"/>
              </a:rPr>
              <a:t>Les durées prévues pour recherche d’emploi pour les ouvriers varient selon la durée du préavis :</a:t>
            </a:r>
            <a:endParaRPr lang="fr-FR" sz="1100" dirty="0"/>
          </a:p>
          <a:p>
            <a:pPr marL="171450" indent="-171450" algn="just">
              <a:buFont typeface="Wingdings" panose="05000000000000000000" pitchFamily="2" charset="2"/>
              <a:buChar char="§"/>
            </a:pPr>
            <a:r>
              <a:rPr lang="fr-FR" sz="1100" dirty="0">
                <a:ea typeface="ＭＳ Ｐゴシック" pitchFamily="26" charset="-128"/>
                <a:cs typeface="ＭＳ Ｐゴシック" pitchFamily="26" charset="-128"/>
              </a:rPr>
              <a:t>Exemple : 25h lorsque le préavis est supérieur à 1 mois.</a:t>
            </a:r>
            <a:endParaRPr lang="fr-FR" sz="1100" dirty="0"/>
          </a:p>
          <a:p>
            <a:pPr algn="just"/>
            <a:endParaRPr lang="fr-FR" sz="1100" dirty="0">
              <a:ea typeface="ＭＳ Ｐゴシック" pitchFamily="26" charset="-128"/>
              <a:cs typeface="ＭＳ Ｐゴシック" pitchFamily="26" charset="-128"/>
            </a:endParaRPr>
          </a:p>
          <a:p>
            <a:pPr algn="just"/>
            <a:r>
              <a:rPr lang="fr-FR" sz="1100" dirty="0">
                <a:ea typeface="ＭＳ Ｐゴシック" pitchFamily="26" charset="-128"/>
                <a:cs typeface="ＭＳ Ｐゴシック" pitchFamily="26" charset="-128"/>
              </a:rPr>
              <a:t>Ces absences sont payées uniquement en cas de licenciement.</a:t>
            </a:r>
            <a:r>
              <a:rPr lang="fr-FR" sz="1100" dirty="0">
                <a:solidFill>
                  <a:srgbClr val="1F497D"/>
                </a:solidFill>
                <a:ea typeface="ＭＳ Ｐゴシック" pitchFamily="26" charset="-128"/>
                <a:cs typeface="ＭＳ Ｐゴシック" pitchFamily="26" charset="-128"/>
              </a:rPr>
              <a:t> </a:t>
            </a:r>
            <a:endParaRPr lang="fr-FR" sz="1100" dirty="0"/>
          </a:p>
          <a:p>
            <a:pPr algn="just"/>
            <a:endParaRPr lang="fr-FR" sz="1100"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99</a:t>
            </a:fld>
            <a:endParaRPr lang="fr-FR" dirty="0"/>
          </a:p>
        </p:txBody>
      </p:sp>
    </p:spTree>
    <p:extLst>
      <p:ext uri="{BB962C8B-B14F-4D97-AF65-F5344CB8AC3E}">
        <p14:creationId xmlns:p14="http://schemas.microsoft.com/office/powerpoint/2010/main" val="1438759500"/>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a:xfrm>
            <a:off x="608527" y="5144281"/>
            <a:ext cx="5625625" cy="3573683"/>
          </a:xfrm>
        </p:spPr>
        <p:txBody>
          <a:bodyPr/>
          <a:lstStyle/>
          <a:p>
            <a:pPr algn="just"/>
            <a:r>
              <a:rPr lang="fr-FR" sz="1100" b="1" u="sng" dirty="0"/>
              <a:t>Retour à la CC 1990 avec calcul ancienneté spécifique et donc maintien</a:t>
            </a:r>
            <a:r>
              <a:rPr lang="fr-FR" sz="1100" b="1" dirty="0"/>
              <a:t> de la majoration de 10 % &gt; 55 ans.</a:t>
            </a:r>
            <a:endParaRPr lang="fr-FR" sz="1100" dirty="0"/>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100</a:t>
            </a:fld>
            <a:endParaRPr lang="fr-FR" dirty="0"/>
          </a:p>
        </p:txBody>
      </p:sp>
    </p:spTree>
    <p:extLst>
      <p:ext uri="{BB962C8B-B14F-4D97-AF65-F5344CB8AC3E}">
        <p14:creationId xmlns:p14="http://schemas.microsoft.com/office/powerpoint/2010/main" val="1860265624"/>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a:xfrm>
            <a:off x="608527" y="5144281"/>
            <a:ext cx="5490610" cy="3573683"/>
          </a:xfrm>
        </p:spPr>
        <p:txBody>
          <a:bodyPr/>
          <a:lstStyle/>
          <a:p>
            <a:pPr algn="just"/>
            <a:r>
              <a:rPr lang="fr-FR" sz="1100" dirty="0"/>
              <a:t>Comme pour tous les secteurs, prise en compte de primes annuelles : selon jurisprudence, prise en compte de la prime de vacances.</a:t>
            </a: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101</a:t>
            </a:fld>
            <a:endParaRPr lang="fr-FR" dirty="0"/>
          </a:p>
        </p:txBody>
      </p:sp>
    </p:spTree>
    <p:extLst>
      <p:ext uri="{BB962C8B-B14F-4D97-AF65-F5344CB8AC3E}">
        <p14:creationId xmlns:p14="http://schemas.microsoft.com/office/powerpoint/2010/main" val="3985256643"/>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102</a:t>
            </a:fld>
            <a:endParaRPr lang="fr-FR" dirty="0"/>
          </a:p>
        </p:txBody>
      </p:sp>
    </p:spTree>
    <p:extLst>
      <p:ext uri="{BB962C8B-B14F-4D97-AF65-F5344CB8AC3E}">
        <p14:creationId xmlns:p14="http://schemas.microsoft.com/office/powerpoint/2010/main" val="330420678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103</a:t>
            </a:fld>
            <a:endParaRPr lang="fr-FR" dirty="0"/>
          </a:p>
        </p:txBody>
      </p:sp>
    </p:spTree>
    <p:extLst>
      <p:ext uri="{BB962C8B-B14F-4D97-AF65-F5344CB8AC3E}">
        <p14:creationId xmlns:p14="http://schemas.microsoft.com/office/powerpoint/2010/main" val="452443833"/>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104</a:t>
            </a:fld>
            <a:endParaRPr lang="fr-FR" dirty="0"/>
          </a:p>
        </p:txBody>
      </p:sp>
    </p:spTree>
    <p:extLst>
      <p:ext uri="{BB962C8B-B14F-4D97-AF65-F5344CB8AC3E}">
        <p14:creationId xmlns:p14="http://schemas.microsoft.com/office/powerpoint/2010/main" val="2154776946"/>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105</a:t>
            </a:fld>
            <a:endParaRPr lang="fr-FR" dirty="0"/>
          </a:p>
        </p:txBody>
      </p:sp>
    </p:spTree>
    <p:extLst>
      <p:ext uri="{BB962C8B-B14F-4D97-AF65-F5344CB8AC3E}">
        <p14:creationId xmlns:p14="http://schemas.microsoft.com/office/powerpoint/2010/main" val="539495626"/>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106</a:t>
            </a:fld>
            <a:endParaRPr lang="fr-FR" dirty="0"/>
          </a:p>
        </p:txBody>
      </p:sp>
    </p:spTree>
    <p:extLst>
      <p:ext uri="{BB962C8B-B14F-4D97-AF65-F5344CB8AC3E}">
        <p14:creationId xmlns:p14="http://schemas.microsoft.com/office/powerpoint/2010/main" val="38887435"/>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107</a:t>
            </a:fld>
            <a:endParaRPr lang="fr-FR" dirty="0"/>
          </a:p>
        </p:txBody>
      </p:sp>
    </p:spTree>
    <p:extLst>
      <p:ext uri="{BB962C8B-B14F-4D97-AF65-F5344CB8AC3E}">
        <p14:creationId xmlns:p14="http://schemas.microsoft.com/office/powerpoint/2010/main" val="1763415273"/>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108</a:t>
            </a:fld>
            <a:endParaRPr lang="fr-FR" dirty="0"/>
          </a:p>
        </p:txBody>
      </p:sp>
    </p:spTree>
    <p:extLst>
      <p:ext uri="{BB962C8B-B14F-4D97-AF65-F5344CB8AC3E}">
        <p14:creationId xmlns:p14="http://schemas.microsoft.com/office/powerpoint/2010/main" val="1323873754"/>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109</a:t>
            </a:fld>
            <a:endParaRPr lang="fr-FR" dirty="0"/>
          </a:p>
        </p:txBody>
      </p:sp>
    </p:spTree>
    <p:extLst>
      <p:ext uri="{BB962C8B-B14F-4D97-AF65-F5344CB8AC3E}">
        <p14:creationId xmlns:p14="http://schemas.microsoft.com/office/powerpoint/2010/main" val="975092450"/>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110</a:t>
            </a:fld>
            <a:endParaRPr lang="fr-FR" dirty="0"/>
          </a:p>
        </p:txBody>
      </p:sp>
    </p:spTree>
    <p:extLst>
      <p:ext uri="{BB962C8B-B14F-4D97-AF65-F5344CB8AC3E}">
        <p14:creationId xmlns:p14="http://schemas.microsoft.com/office/powerpoint/2010/main" val="1927635649"/>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111</a:t>
            </a:fld>
            <a:endParaRPr lang="fr-FR" dirty="0"/>
          </a:p>
        </p:txBody>
      </p:sp>
    </p:spTree>
    <p:extLst>
      <p:ext uri="{BB962C8B-B14F-4D97-AF65-F5344CB8AC3E}">
        <p14:creationId xmlns:p14="http://schemas.microsoft.com/office/powerpoint/2010/main" val="2765388468"/>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B51BB447-EFEE-48E8-B629-A973210D776F}" type="slidenum">
              <a:rPr lang="fr-FR" smtClean="0"/>
              <a:pPr/>
              <a:t>112</a:t>
            </a:fld>
            <a:endParaRPr lang="fr-FR" dirty="0"/>
          </a:p>
        </p:txBody>
      </p:sp>
    </p:spTree>
    <p:extLst>
      <p:ext uri="{BB962C8B-B14F-4D97-AF65-F5344CB8AC3E}">
        <p14:creationId xmlns:p14="http://schemas.microsoft.com/office/powerpoint/2010/main" val="235688689"/>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p:cNvSpPr>
            <a:spLocks noGrp="1"/>
          </p:cNvSpPr>
          <p:nvPr>
            <p:ph type="sldNum" sz="quarter" idx="5"/>
          </p:nvPr>
        </p:nvSpPr>
        <p:spPr/>
        <p:txBody>
          <a:bodyPr rtlCol="0"/>
          <a:lstStyle>
            <a:defPPr>
              <a:defRPr lang="fr-FR"/>
            </a:defPPr>
          </a:lstStyle>
          <a:p>
            <a:pPr rtl="0"/>
            <a:fld id="{6937E2AA-278D-0B48-A5DE-00B1FC5BDAF9}" type="slidenum">
              <a:rPr lang="fr-FR" noProof="0" smtClean="0"/>
              <a:t>113</a:t>
            </a:fld>
            <a:endParaRPr lang="fr-FR" noProof="0" dirty="0"/>
          </a:p>
        </p:txBody>
      </p:sp>
    </p:spTree>
    <p:extLst>
      <p:ext uri="{BB962C8B-B14F-4D97-AF65-F5344CB8AC3E}">
        <p14:creationId xmlns:p14="http://schemas.microsoft.com/office/powerpoint/2010/main" val="2523399264"/>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p:cNvSpPr>
            <a:spLocks noGrp="1"/>
          </p:cNvSpPr>
          <p:nvPr>
            <p:ph type="sldNum" sz="quarter" idx="5"/>
          </p:nvPr>
        </p:nvSpPr>
        <p:spPr/>
        <p:txBody>
          <a:bodyPr rtlCol="0"/>
          <a:lstStyle>
            <a:defPPr>
              <a:defRPr lang="fr-FR"/>
            </a:defPPr>
          </a:lstStyle>
          <a:p>
            <a:pPr rtl="0"/>
            <a:fld id="{6937E2AA-278D-0B48-A5DE-00B1FC5BDAF9}" type="slidenum">
              <a:rPr lang="fr-FR" noProof="0" smtClean="0"/>
              <a:t>114</a:t>
            </a:fld>
            <a:endParaRPr lang="fr-FR" noProof="0" dirty="0"/>
          </a:p>
        </p:txBody>
      </p:sp>
    </p:spTree>
    <p:extLst>
      <p:ext uri="{BB962C8B-B14F-4D97-AF65-F5344CB8AC3E}">
        <p14:creationId xmlns:p14="http://schemas.microsoft.com/office/powerpoint/2010/main" val="4260104602"/>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p:cNvSpPr>
            <a:spLocks noGrp="1"/>
          </p:cNvSpPr>
          <p:nvPr>
            <p:ph type="sldNum" sz="quarter" idx="5"/>
          </p:nvPr>
        </p:nvSpPr>
        <p:spPr/>
        <p:txBody>
          <a:bodyPr rtlCol="0"/>
          <a:lstStyle>
            <a:defPPr>
              <a:defRPr lang="fr-FR"/>
            </a:defPPr>
          </a:lstStyle>
          <a:p>
            <a:pPr rtl="0"/>
            <a:fld id="{6937E2AA-278D-0B48-A5DE-00B1FC5BDAF9}" type="slidenum">
              <a:rPr lang="fr-FR" smtClean="0"/>
              <a:t>115</a:t>
            </a:fld>
            <a:endParaRPr lang="fr-FR" dirty="0"/>
          </a:p>
        </p:txBody>
      </p:sp>
    </p:spTree>
    <p:extLst>
      <p:ext uri="{BB962C8B-B14F-4D97-AF65-F5344CB8AC3E}">
        <p14:creationId xmlns:p14="http://schemas.microsoft.com/office/powerpoint/2010/main" val="1572272003"/>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p:cNvSpPr>
            <a:spLocks noGrp="1"/>
          </p:cNvSpPr>
          <p:nvPr>
            <p:ph type="sldNum" sz="quarter" idx="5"/>
          </p:nvPr>
        </p:nvSpPr>
        <p:spPr/>
        <p:txBody>
          <a:bodyPr rtlCol="0"/>
          <a:lstStyle>
            <a:defPPr>
              <a:defRPr lang="fr-FR"/>
            </a:defPPr>
          </a:lstStyle>
          <a:p>
            <a:pPr rtl="0"/>
            <a:fld id="{6937E2AA-278D-0B48-A5DE-00B1FC5BDAF9}" type="slidenum">
              <a:rPr lang="fr-FR" smtClean="0"/>
              <a:t>116</a:t>
            </a:fld>
            <a:endParaRPr lang="fr-FR" dirty="0"/>
          </a:p>
        </p:txBody>
      </p:sp>
    </p:spTree>
    <p:extLst>
      <p:ext uri="{BB962C8B-B14F-4D97-AF65-F5344CB8AC3E}">
        <p14:creationId xmlns:p14="http://schemas.microsoft.com/office/powerpoint/2010/main" val="61031159"/>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p:cNvSpPr>
            <a:spLocks noGrp="1"/>
          </p:cNvSpPr>
          <p:nvPr>
            <p:ph type="sldNum" sz="quarter" idx="5"/>
          </p:nvPr>
        </p:nvSpPr>
        <p:spPr/>
        <p:txBody>
          <a:bodyPr rtlCol="0"/>
          <a:lstStyle>
            <a:defPPr>
              <a:defRPr lang="fr-FR"/>
            </a:defPPr>
          </a:lstStyle>
          <a:p>
            <a:pPr rtl="0"/>
            <a:fld id="{6937E2AA-278D-0B48-A5DE-00B1FC5BDAF9}" type="slidenum">
              <a:rPr lang="fr-FR" smtClean="0"/>
              <a:t>117</a:t>
            </a:fld>
            <a:endParaRPr lang="fr-FR" dirty="0"/>
          </a:p>
        </p:txBody>
      </p:sp>
    </p:spTree>
    <p:extLst>
      <p:ext uri="{BB962C8B-B14F-4D97-AF65-F5344CB8AC3E}">
        <p14:creationId xmlns:p14="http://schemas.microsoft.com/office/powerpoint/2010/main" val="423407768"/>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p:cNvSpPr>
            <a:spLocks noGrp="1"/>
          </p:cNvSpPr>
          <p:nvPr>
            <p:ph type="sldNum" sz="quarter" idx="5"/>
          </p:nvPr>
        </p:nvSpPr>
        <p:spPr/>
        <p:txBody>
          <a:bodyPr rtlCol="0"/>
          <a:lstStyle>
            <a:defPPr>
              <a:defRPr lang="fr-FR"/>
            </a:defPPr>
          </a:lstStyle>
          <a:p>
            <a:pPr rtl="0"/>
            <a:fld id="{6937E2AA-278D-0B48-A5DE-00B1FC5BDAF9}" type="slidenum">
              <a:rPr lang="fr-FR" smtClean="0"/>
              <a:t>118</a:t>
            </a:fld>
            <a:endParaRPr lang="fr-FR" dirty="0"/>
          </a:p>
        </p:txBody>
      </p:sp>
    </p:spTree>
    <p:extLst>
      <p:ext uri="{BB962C8B-B14F-4D97-AF65-F5344CB8AC3E}">
        <p14:creationId xmlns:p14="http://schemas.microsoft.com/office/powerpoint/2010/main" val="3289163809"/>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p:cNvSpPr>
            <a:spLocks noGrp="1"/>
          </p:cNvSpPr>
          <p:nvPr>
            <p:ph type="sldNum" sz="quarter" idx="5"/>
          </p:nvPr>
        </p:nvSpPr>
        <p:spPr/>
        <p:txBody>
          <a:bodyPr rtlCol="0"/>
          <a:lstStyle>
            <a:defPPr>
              <a:defRPr lang="fr-FR"/>
            </a:defPPr>
          </a:lstStyle>
          <a:p>
            <a:pPr rtl="0"/>
            <a:fld id="{6937E2AA-278D-0B48-A5DE-00B1FC5BDAF9}" type="slidenum">
              <a:rPr lang="fr-FR" smtClean="0"/>
              <a:t>119</a:t>
            </a:fld>
            <a:endParaRPr lang="fr-FR" dirty="0"/>
          </a:p>
        </p:txBody>
      </p:sp>
    </p:spTree>
    <p:extLst>
      <p:ext uri="{BB962C8B-B14F-4D97-AF65-F5344CB8AC3E}">
        <p14:creationId xmlns:p14="http://schemas.microsoft.com/office/powerpoint/2010/main" val="4006932395"/>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p:cNvSpPr>
            <a:spLocks noGrp="1"/>
          </p:cNvSpPr>
          <p:nvPr>
            <p:ph type="sldNum" sz="quarter" idx="5"/>
          </p:nvPr>
        </p:nvSpPr>
        <p:spPr/>
        <p:txBody>
          <a:bodyPr rtlCol="0"/>
          <a:lstStyle>
            <a:defPPr>
              <a:defRPr lang="fr-FR"/>
            </a:defPPr>
          </a:lstStyle>
          <a:p>
            <a:pPr rtl="0"/>
            <a:fld id="{6937E2AA-278D-0B48-A5DE-00B1FC5BDAF9}" type="slidenum">
              <a:rPr lang="fr-FR" smtClean="0"/>
              <a:t>120</a:t>
            </a:fld>
            <a:endParaRPr lang="fr-FR" dirty="0"/>
          </a:p>
        </p:txBody>
      </p:sp>
    </p:spTree>
    <p:extLst>
      <p:ext uri="{BB962C8B-B14F-4D97-AF65-F5344CB8AC3E}">
        <p14:creationId xmlns:p14="http://schemas.microsoft.com/office/powerpoint/2010/main" val="1987588883"/>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p:cNvSpPr>
            <a:spLocks noGrp="1"/>
          </p:cNvSpPr>
          <p:nvPr>
            <p:ph type="sldNum" sz="quarter" idx="5"/>
          </p:nvPr>
        </p:nvSpPr>
        <p:spPr/>
        <p:txBody>
          <a:bodyPr rtlCol="0"/>
          <a:lstStyle>
            <a:defPPr>
              <a:defRPr lang="fr-FR"/>
            </a:defPPr>
          </a:lstStyle>
          <a:p>
            <a:pPr rtl="0"/>
            <a:fld id="{6937E2AA-278D-0B48-A5DE-00B1FC5BDAF9}" type="slidenum">
              <a:rPr lang="fr-FR" smtClean="0"/>
              <a:t>121</a:t>
            </a:fld>
            <a:endParaRPr lang="fr-FR" dirty="0"/>
          </a:p>
        </p:txBody>
      </p:sp>
    </p:spTree>
    <p:extLst>
      <p:ext uri="{BB962C8B-B14F-4D97-AF65-F5344CB8AC3E}">
        <p14:creationId xmlns:p14="http://schemas.microsoft.com/office/powerpoint/2010/main" val="2892864347"/>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p:cNvSpPr>
            <a:spLocks noGrp="1"/>
          </p:cNvSpPr>
          <p:nvPr>
            <p:ph type="sldNum" sz="quarter" idx="5"/>
          </p:nvPr>
        </p:nvSpPr>
        <p:spPr/>
        <p:txBody>
          <a:bodyPr rtlCol="0"/>
          <a:lstStyle>
            <a:defPPr>
              <a:defRPr lang="fr-FR"/>
            </a:defPPr>
          </a:lstStyle>
          <a:p>
            <a:pPr rtl="0"/>
            <a:fld id="{6937E2AA-278D-0B48-A5DE-00B1FC5BDAF9}" type="slidenum">
              <a:rPr lang="fr-FR" smtClean="0"/>
              <a:t>122</a:t>
            </a:fld>
            <a:endParaRPr lang="fr-FR" dirty="0"/>
          </a:p>
        </p:txBody>
      </p:sp>
    </p:spTree>
    <p:extLst>
      <p:ext uri="{BB962C8B-B14F-4D97-AF65-F5344CB8AC3E}">
        <p14:creationId xmlns:p14="http://schemas.microsoft.com/office/powerpoint/2010/main" val="3347492049"/>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p:cNvSpPr>
            <a:spLocks noGrp="1"/>
          </p:cNvSpPr>
          <p:nvPr>
            <p:ph type="sldNum" sz="quarter" idx="5"/>
          </p:nvPr>
        </p:nvSpPr>
        <p:spPr/>
        <p:txBody>
          <a:bodyPr rtlCol="0"/>
          <a:lstStyle>
            <a:defPPr>
              <a:defRPr lang="fr-FR"/>
            </a:defPPr>
          </a:lstStyle>
          <a:p>
            <a:pPr rtl="0"/>
            <a:fld id="{6937E2AA-278D-0B48-A5DE-00B1FC5BDAF9}" type="slidenum">
              <a:rPr lang="fr-FR" smtClean="0"/>
              <a:t>123</a:t>
            </a:fld>
            <a:endParaRPr lang="fr-FR" dirty="0"/>
          </a:p>
        </p:txBody>
      </p:sp>
    </p:spTree>
    <p:extLst>
      <p:ext uri="{BB962C8B-B14F-4D97-AF65-F5344CB8AC3E}">
        <p14:creationId xmlns:p14="http://schemas.microsoft.com/office/powerpoint/2010/main" val="3862186836"/>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p:cNvSpPr>
            <a:spLocks noGrp="1"/>
          </p:cNvSpPr>
          <p:nvPr>
            <p:ph type="sldNum" sz="quarter" idx="5"/>
          </p:nvPr>
        </p:nvSpPr>
        <p:spPr/>
        <p:txBody>
          <a:bodyPr rtlCol="0"/>
          <a:lstStyle>
            <a:defPPr>
              <a:defRPr lang="fr-FR"/>
            </a:defPPr>
          </a:lstStyle>
          <a:p>
            <a:pPr rtl="0"/>
            <a:fld id="{6937E2AA-278D-0B48-A5DE-00B1FC5BDAF9}" type="slidenum">
              <a:rPr lang="fr-FR" smtClean="0"/>
              <a:t>124</a:t>
            </a:fld>
            <a:endParaRPr lang="fr-FR" dirty="0"/>
          </a:p>
        </p:txBody>
      </p:sp>
    </p:spTree>
    <p:extLst>
      <p:ext uri="{BB962C8B-B14F-4D97-AF65-F5344CB8AC3E}">
        <p14:creationId xmlns:p14="http://schemas.microsoft.com/office/powerpoint/2010/main" val="83783050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re uniquement">
    <p:spTree>
      <p:nvGrpSpPr>
        <p:cNvPr id="1" name=""/>
        <p:cNvGrpSpPr/>
        <p:nvPr/>
      </p:nvGrpSpPr>
      <p:grpSpPr>
        <a:xfrm>
          <a:off x="0" y="0"/>
          <a:ext cx="0" cy="0"/>
          <a:chOff x="0" y="0"/>
          <a:chExt cx="0" cy="0"/>
        </a:xfrm>
      </p:grpSpPr>
      <p:pic>
        <p:nvPicPr>
          <p:cNvPr id="2" name="Espace réservé d’image 8">
            <a:extLst>
              <a:ext uri="{FF2B5EF4-FFF2-40B4-BE49-F238E27FC236}">
                <a16:creationId xmlns:a16="http://schemas.microsoft.com/office/drawing/2014/main" id="{D56268A4-B555-72BE-6160-318763ECAA67}"/>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1524" y="0"/>
            <a:ext cx="12188952" cy="6858000"/>
          </a:xfrm>
          <a:prstGeom prst="rect">
            <a:avLst/>
          </a:prstGeom>
        </p:spPr>
      </p:pic>
      <p:sp>
        <p:nvSpPr>
          <p:cNvPr id="7" name="Rectangle 6">
            <a:extLst>
              <a:ext uri="{FF2B5EF4-FFF2-40B4-BE49-F238E27FC236}">
                <a16:creationId xmlns:a16="http://schemas.microsoft.com/office/drawing/2014/main" id="{12D44DBA-D665-923B-A38C-C68A9C039EA9}"/>
              </a:ext>
              <a:ext uri="{C183D7F6-B498-43B3-948B-1728B52AA6E4}">
                <adec:decorative xmlns:adec="http://schemas.microsoft.com/office/drawing/2017/decorative" val="1"/>
              </a:ext>
            </a:extLst>
          </p:cNvPr>
          <p:cNvSpPr/>
          <p:nvPr userDrawn="1"/>
        </p:nvSpPr>
        <p:spPr>
          <a:xfrm>
            <a:off x="915924" y="777240"/>
            <a:ext cx="10360152" cy="530352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fr-FR"/>
            </a:defPPr>
          </a:lstStyle>
          <a:p>
            <a:pPr algn="ctr" rtl="0"/>
            <a:endParaRPr lang="fr-FR" noProof="0" dirty="0"/>
          </a:p>
        </p:txBody>
      </p:sp>
      <p:sp>
        <p:nvSpPr>
          <p:cNvPr id="6" name="Titre 1">
            <a:extLst>
              <a:ext uri="{FF2B5EF4-FFF2-40B4-BE49-F238E27FC236}">
                <a16:creationId xmlns:a16="http://schemas.microsoft.com/office/drawing/2014/main" id="{2E8C189B-2E00-67DA-E342-3440F5EBB4CE}"/>
              </a:ext>
            </a:extLst>
          </p:cNvPr>
          <p:cNvSpPr>
            <a:spLocks noGrp="1"/>
          </p:cNvSpPr>
          <p:nvPr>
            <p:ph type="ctrTitle" hasCustomPrompt="1"/>
          </p:nvPr>
        </p:nvSpPr>
        <p:spPr>
          <a:xfrm>
            <a:off x="1524000" y="2286000"/>
            <a:ext cx="9144000" cy="2286000"/>
          </a:xfrm>
        </p:spPr>
        <p:txBody>
          <a:bodyPr rtlCol="0" anchor="ctr" anchorCtr="0">
            <a:noAutofit/>
          </a:bodyPr>
          <a:lstStyle>
            <a:lvl1pPr algn="ctr">
              <a:defRPr lang="fr-FR" sz="4400"/>
            </a:lvl1pPr>
          </a:lstStyle>
          <a:p>
            <a:pPr rtl="0"/>
            <a:r>
              <a:rPr lang="fr-FR" noProof="0"/>
              <a:t>Cliquez pour ajouter un titre</a:t>
            </a:r>
          </a:p>
        </p:txBody>
      </p:sp>
    </p:spTree>
    <p:extLst>
      <p:ext uri="{BB962C8B-B14F-4D97-AF65-F5344CB8AC3E}">
        <p14:creationId xmlns:p14="http://schemas.microsoft.com/office/powerpoint/2010/main" val="34246750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u 2">
    <p:spTree>
      <p:nvGrpSpPr>
        <p:cNvPr id="1" name=""/>
        <p:cNvGrpSpPr/>
        <p:nvPr/>
      </p:nvGrpSpPr>
      <p:grpSpPr>
        <a:xfrm>
          <a:off x="0" y="0"/>
          <a:ext cx="0" cy="0"/>
          <a:chOff x="0" y="0"/>
          <a:chExt cx="0" cy="0"/>
        </a:xfrm>
      </p:grpSpPr>
      <p:pic>
        <p:nvPicPr>
          <p:cNvPr id="7" name="Espace réservé d’image 38">
            <a:extLst>
              <a:ext uri="{FF2B5EF4-FFF2-40B4-BE49-F238E27FC236}">
                <a16:creationId xmlns:a16="http://schemas.microsoft.com/office/drawing/2014/main" id="{31550E6E-10D6-E75A-F6B1-8800DAC2CBFB}"/>
              </a:ext>
              <a:ext uri="{C183D7F6-B498-43B3-948B-1728B52AA6E4}">
                <adec:decorative xmlns:adec="http://schemas.microsoft.com/office/drawing/2017/decorative" val="1"/>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t="7802" b="7802"/>
          <a:stretch>
            <a:fillRect/>
          </a:stretch>
        </p:blipFill>
        <p:spPr>
          <a:xfrm>
            <a:off x="0" y="0"/>
            <a:ext cx="12188952" cy="6858000"/>
          </a:xfrm>
          <a:prstGeom prst="rect">
            <a:avLst/>
          </a:prstGeom>
        </p:spPr>
      </p:pic>
      <p:sp>
        <p:nvSpPr>
          <p:cNvPr id="2" name="Titre 1">
            <a:extLst>
              <a:ext uri="{FF2B5EF4-FFF2-40B4-BE49-F238E27FC236}">
                <a16:creationId xmlns:a16="http://schemas.microsoft.com/office/drawing/2014/main" id="{F657BD59-35CC-9BB3-8621-6FA3356F81AA}"/>
              </a:ext>
            </a:extLst>
          </p:cNvPr>
          <p:cNvSpPr>
            <a:spLocks noGrp="1"/>
          </p:cNvSpPr>
          <p:nvPr>
            <p:ph type="title" hasCustomPrompt="1"/>
          </p:nvPr>
        </p:nvSpPr>
        <p:spPr>
          <a:xfrm>
            <a:off x="1373038" y="1457865"/>
            <a:ext cx="3200400" cy="4580626"/>
          </a:xfrm>
        </p:spPr>
        <p:txBody>
          <a:bodyPr rtlCol="0" anchor="t">
            <a:noAutofit/>
          </a:bodyPr>
          <a:lstStyle>
            <a:lvl1pPr algn="ctr">
              <a:defRPr lang="fr-FR" sz="3600"/>
            </a:lvl1pPr>
          </a:lstStyle>
          <a:p>
            <a:pPr rtl="0"/>
            <a:r>
              <a:rPr lang="fr-FR" noProof="0"/>
              <a:t>Cliquez pour ajouter un titre</a:t>
            </a:r>
          </a:p>
        </p:txBody>
      </p:sp>
      <p:sp>
        <p:nvSpPr>
          <p:cNvPr id="3" name="Espace réservé du contenu 2">
            <a:extLst>
              <a:ext uri="{FF2B5EF4-FFF2-40B4-BE49-F238E27FC236}">
                <a16:creationId xmlns:a16="http://schemas.microsoft.com/office/drawing/2014/main" id="{A772710C-A212-1B12-06CD-FA2A14F89D68}"/>
              </a:ext>
            </a:extLst>
          </p:cNvPr>
          <p:cNvSpPr>
            <a:spLocks noGrp="1"/>
          </p:cNvSpPr>
          <p:nvPr>
            <p:ph idx="1" hasCustomPrompt="1"/>
          </p:nvPr>
        </p:nvSpPr>
        <p:spPr>
          <a:xfrm>
            <a:off x="4796287" y="1457864"/>
            <a:ext cx="4986068" cy="4580627"/>
          </a:xfrm>
        </p:spPr>
        <p:txBody>
          <a:bodyPr tIns="45720" rtlCol="0" anchor="t" anchorCtr="0">
            <a:normAutofit/>
          </a:bodyPr>
          <a:lstStyle>
            <a:lvl1pPr marL="0" indent="0">
              <a:lnSpc>
                <a:spcPct val="150000"/>
              </a:lnSpc>
              <a:spcBef>
                <a:spcPts val="1000"/>
              </a:spcBef>
              <a:spcAft>
                <a:spcPts val="1200"/>
              </a:spcAft>
              <a:buNone/>
              <a:defRPr lang="fr-FR" sz="2400"/>
            </a:lvl1pPr>
            <a:lvl2pPr>
              <a:lnSpc>
                <a:spcPct val="150000"/>
              </a:lnSpc>
              <a:spcBef>
                <a:spcPts val="1000"/>
              </a:spcBef>
              <a:spcAft>
                <a:spcPts val="1200"/>
              </a:spcAft>
              <a:defRPr lang="fr-FR" sz="2000"/>
            </a:lvl2pPr>
            <a:lvl3pPr>
              <a:lnSpc>
                <a:spcPct val="150000"/>
              </a:lnSpc>
              <a:spcBef>
                <a:spcPts val="1000"/>
              </a:spcBef>
              <a:spcAft>
                <a:spcPts val="1200"/>
              </a:spcAft>
              <a:defRPr lang="fr-FR" sz="1800"/>
            </a:lvl3pPr>
            <a:lvl4pPr>
              <a:lnSpc>
                <a:spcPct val="150000"/>
              </a:lnSpc>
              <a:spcBef>
                <a:spcPts val="1000"/>
              </a:spcBef>
              <a:spcAft>
                <a:spcPts val="1200"/>
              </a:spcAft>
              <a:defRPr lang="fr-FR" sz="1600"/>
            </a:lvl4pPr>
            <a:lvl5pPr>
              <a:lnSpc>
                <a:spcPct val="150000"/>
              </a:lnSpc>
              <a:spcBef>
                <a:spcPts val="1000"/>
              </a:spcBef>
              <a:spcAft>
                <a:spcPts val="1200"/>
              </a:spcAft>
              <a:defRPr lang="fr-FR" sz="1600"/>
            </a:lvl5pPr>
          </a:lstStyle>
          <a:p>
            <a:pPr lvl="0" rtl="0"/>
            <a:r>
              <a:rPr lang="fr-FR" noProof="0"/>
              <a:t>Cliquez pour ajouter du contenu</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4" name="Espace réservé de la date 3">
            <a:extLst>
              <a:ext uri="{FF2B5EF4-FFF2-40B4-BE49-F238E27FC236}">
                <a16:creationId xmlns:a16="http://schemas.microsoft.com/office/drawing/2014/main" id="{8C56EB0F-63C8-5F75-A333-3413A9DC6F76}"/>
              </a:ext>
            </a:extLst>
          </p:cNvPr>
          <p:cNvSpPr>
            <a:spLocks noGrp="1"/>
          </p:cNvSpPr>
          <p:nvPr>
            <p:ph type="dt" sz="half" idx="10"/>
          </p:nvPr>
        </p:nvSpPr>
        <p:spPr/>
        <p:txBody>
          <a:bodyPr rtlCol="0"/>
          <a:lstStyle>
            <a:defPPr>
              <a:defRPr lang="fr-FR"/>
            </a:defPPr>
          </a:lstStyle>
          <a:p>
            <a:pPr rtl="0"/>
            <a:fld id="{E1911627-7C03-4787-82AE-1BA2E184BD3B}" type="datetime1">
              <a:rPr lang="fr-FR" noProof="0" smtClean="0"/>
              <a:t>06/09/2026</a:t>
            </a:fld>
            <a:endParaRPr lang="fr-FR" noProof="0" dirty="0"/>
          </a:p>
        </p:txBody>
      </p:sp>
      <p:sp>
        <p:nvSpPr>
          <p:cNvPr id="5" name="Espace réservé du pied de page 4">
            <a:extLst>
              <a:ext uri="{FF2B5EF4-FFF2-40B4-BE49-F238E27FC236}">
                <a16:creationId xmlns:a16="http://schemas.microsoft.com/office/drawing/2014/main" id="{4D4DE333-25B4-E092-1CC4-C3D20BA25168}"/>
              </a:ext>
            </a:extLst>
          </p:cNvPr>
          <p:cNvSpPr>
            <a:spLocks noGrp="1"/>
          </p:cNvSpPr>
          <p:nvPr>
            <p:ph type="ftr" sz="quarter" idx="11"/>
          </p:nvPr>
        </p:nvSpPr>
        <p:spPr/>
        <p:txBody>
          <a:bodyPr rtlCol="0"/>
          <a:lstStyle>
            <a:defPPr>
              <a:defRPr lang="fr-FR"/>
            </a:defPPr>
          </a:lstStyle>
          <a:p>
            <a:pPr rtl="0"/>
            <a:endParaRPr lang="fr-FR" noProof="0" dirty="0"/>
          </a:p>
        </p:txBody>
      </p:sp>
      <p:sp>
        <p:nvSpPr>
          <p:cNvPr id="6" name="Espace réservé du numéro de diapositive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rtlCol="0"/>
          <a:lstStyle>
            <a:defPPr>
              <a:defRPr lang="fr-FR"/>
            </a:defPPr>
          </a:lstStyle>
          <a:p>
            <a:pPr rtl="0"/>
            <a:fld id="{CBD12358-51D2-46B3-9BDE-DF29528B9454}" type="slidenum">
              <a:rPr lang="fr-FR" noProof="0" smtClean="0"/>
              <a:t>‹N°›</a:t>
            </a:fld>
            <a:endParaRPr lang="fr-FR" noProof="0" dirty="0"/>
          </a:p>
        </p:txBody>
      </p:sp>
    </p:spTree>
    <p:extLst>
      <p:ext uri="{BB962C8B-B14F-4D97-AF65-F5344CB8AC3E}">
        <p14:creationId xmlns:p14="http://schemas.microsoft.com/office/powerpoint/2010/main" val="19143880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re + image">
    <p:spTree>
      <p:nvGrpSpPr>
        <p:cNvPr id="1" name=""/>
        <p:cNvGrpSpPr/>
        <p:nvPr/>
      </p:nvGrpSpPr>
      <p:grpSpPr>
        <a:xfrm>
          <a:off x="0" y="0"/>
          <a:ext cx="0" cy="0"/>
          <a:chOff x="0" y="0"/>
          <a:chExt cx="0" cy="0"/>
        </a:xfrm>
      </p:grpSpPr>
      <p:pic>
        <p:nvPicPr>
          <p:cNvPr id="7" name="Espace réservé d’image 8">
            <a:extLst>
              <a:ext uri="{FF2B5EF4-FFF2-40B4-BE49-F238E27FC236}">
                <a16:creationId xmlns:a16="http://schemas.microsoft.com/office/drawing/2014/main" id="{61F88592-24FD-96EC-ADB3-C0B7682DF9A5}"/>
              </a:ext>
              <a:ext uri="{C183D7F6-B498-43B3-948B-1728B52AA6E4}">
                <adec:decorative xmlns:adec="http://schemas.microsoft.com/office/drawing/2017/decorative" val="1"/>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524" y="0"/>
            <a:ext cx="12188952" cy="6858000"/>
          </a:xfrm>
          <a:prstGeom prst="rect">
            <a:avLst/>
          </a:prstGeom>
        </p:spPr>
      </p:pic>
      <p:sp>
        <p:nvSpPr>
          <p:cNvPr id="11" name="Titre 1">
            <a:extLst>
              <a:ext uri="{FF2B5EF4-FFF2-40B4-BE49-F238E27FC236}">
                <a16:creationId xmlns:a16="http://schemas.microsoft.com/office/drawing/2014/main" id="{076C4EAC-BBDE-1963-BD72-3BD2A47DC59C}"/>
              </a:ext>
            </a:extLst>
          </p:cNvPr>
          <p:cNvSpPr>
            <a:spLocks noGrp="1"/>
          </p:cNvSpPr>
          <p:nvPr>
            <p:ph type="ctrTitle" hasCustomPrompt="1"/>
          </p:nvPr>
        </p:nvSpPr>
        <p:spPr>
          <a:xfrm>
            <a:off x="918259" y="798653"/>
            <a:ext cx="5166167" cy="5289630"/>
          </a:xfrm>
          <a:solidFill>
            <a:schemeClr val="bg1">
              <a:alpha val="95000"/>
            </a:schemeClr>
          </a:solidFill>
        </p:spPr>
        <p:txBody>
          <a:bodyPr lIns="274320" rIns="274320" rtlCol="0" anchor="ctr">
            <a:noAutofit/>
          </a:bodyPr>
          <a:lstStyle>
            <a:lvl1pPr algn="ctr">
              <a:defRPr lang="fr-FR" sz="4400"/>
            </a:lvl1pPr>
          </a:lstStyle>
          <a:p>
            <a:pPr rtl="0"/>
            <a:r>
              <a:rPr lang="fr-FR" noProof="0"/>
              <a:t>Cliquez pour ajouter un titre</a:t>
            </a:r>
          </a:p>
        </p:txBody>
      </p:sp>
      <p:sp>
        <p:nvSpPr>
          <p:cNvPr id="8" name="Espace réservé d’image 7">
            <a:extLst>
              <a:ext uri="{FF2B5EF4-FFF2-40B4-BE49-F238E27FC236}">
                <a16:creationId xmlns:a16="http://schemas.microsoft.com/office/drawing/2014/main" id="{E592AF4F-2F83-7005-B3AC-6FCC7FB19140}"/>
              </a:ext>
            </a:extLst>
          </p:cNvPr>
          <p:cNvSpPr>
            <a:spLocks noGrp="1"/>
          </p:cNvSpPr>
          <p:nvPr>
            <p:ph type="pic" sz="quarter" idx="13"/>
          </p:nvPr>
        </p:nvSpPr>
        <p:spPr>
          <a:xfrm>
            <a:off x="6084424" y="787077"/>
            <a:ext cx="5166167" cy="5289631"/>
          </a:xfrm>
          <a:solidFill>
            <a:schemeClr val="bg1">
              <a:alpha val="95000"/>
            </a:schemeClr>
          </a:solidFill>
        </p:spPr>
        <p:txBody>
          <a:bodyPr rtlCol="0">
            <a:noAutofit/>
          </a:bodyPr>
          <a:lstStyle>
            <a:lvl1pPr marL="342900" indent="-342900" algn="ctr">
              <a:buFont typeface="Arial" panose="020B0604020202020204" pitchFamily="34" charset="0"/>
              <a:buChar char="•"/>
              <a:defRPr lang="fr-FR" sz="2000"/>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lang="fr-FR"/>
            </a:pPr>
            <a:r>
              <a:rPr lang="fr-FR" noProof="0"/>
              <a:t>Cliquez sur l'icône pour ajouter une image</a:t>
            </a:r>
            <a:endParaRPr lang="fr-FR" noProof="0" dirty="0"/>
          </a:p>
        </p:txBody>
      </p:sp>
      <p:sp>
        <p:nvSpPr>
          <p:cNvPr id="4" name="Espace réservé de la date 3">
            <a:extLst>
              <a:ext uri="{FF2B5EF4-FFF2-40B4-BE49-F238E27FC236}">
                <a16:creationId xmlns:a16="http://schemas.microsoft.com/office/drawing/2014/main" id="{8C56EB0F-63C8-5F75-A333-3413A9DC6F76}"/>
              </a:ext>
            </a:extLst>
          </p:cNvPr>
          <p:cNvSpPr>
            <a:spLocks noGrp="1"/>
          </p:cNvSpPr>
          <p:nvPr>
            <p:ph type="dt" sz="half" idx="10"/>
          </p:nvPr>
        </p:nvSpPr>
        <p:spPr/>
        <p:txBody>
          <a:bodyPr rtlCol="0"/>
          <a:lstStyle>
            <a:defPPr>
              <a:defRPr lang="fr-FR"/>
            </a:defPPr>
          </a:lstStyle>
          <a:p>
            <a:pPr rtl="0"/>
            <a:fld id="{2D52580B-3117-496F-9E52-EA2BED40ADC3}" type="datetime1">
              <a:rPr lang="fr-FR" noProof="0" smtClean="0"/>
              <a:t>06/09/2026</a:t>
            </a:fld>
            <a:endParaRPr lang="fr-FR" noProof="0" dirty="0"/>
          </a:p>
        </p:txBody>
      </p:sp>
      <p:sp>
        <p:nvSpPr>
          <p:cNvPr id="5" name="Espace réservé du pied de page 4">
            <a:extLst>
              <a:ext uri="{FF2B5EF4-FFF2-40B4-BE49-F238E27FC236}">
                <a16:creationId xmlns:a16="http://schemas.microsoft.com/office/drawing/2014/main" id="{4D4DE333-25B4-E092-1CC4-C3D20BA25168}"/>
              </a:ext>
            </a:extLst>
          </p:cNvPr>
          <p:cNvSpPr>
            <a:spLocks noGrp="1"/>
          </p:cNvSpPr>
          <p:nvPr>
            <p:ph type="ftr" sz="quarter" idx="11"/>
          </p:nvPr>
        </p:nvSpPr>
        <p:spPr/>
        <p:txBody>
          <a:bodyPr rtlCol="0"/>
          <a:lstStyle>
            <a:defPPr>
              <a:defRPr lang="fr-FR"/>
            </a:defPPr>
          </a:lstStyle>
          <a:p>
            <a:pPr rtl="0"/>
            <a:endParaRPr lang="fr-FR" noProof="0" dirty="0"/>
          </a:p>
        </p:txBody>
      </p:sp>
      <p:sp>
        <p:nvSpPr>
          <p:cNvPr id="6" name="Espace réservé du numéro de diapositive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rtlCol="0"/>
          <a:lstStyle>
            <a:defPPr>
              <a:defRPr lang="fr-FR"/>
            </a:defPPr>
          </a:lstStyle>
          <a:p>
            <a:pPr rtl="0"/>
            <a:fld id="{CBD12358-51D2-46B3-9BDE-DF29528B9454}" type="slidenum">
              <a:rPr lang="fr-FR" noProof="0" smtClean="0"/>
              <a:t>‹N°›</a:t>
            </a:fld>
            <a:endParaRPr lang="fr-FR" noProof="0" dirty="0"/>
          </a:p>
        </p:txBody>
      </p:sp>
    </p:spTree>
    <p:extLst>
      <p:ext uri="{BB962C8B-B14F-4D97-AF65-F5344CB8AC3E}">
        <p14:creationId xmlns:p14="http://schemas.microsoft.com/office/powerpoint/2010/main" val="32984204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re + sous-titre + image">
    <p:spTree>
      <p:nvGrpSpPr>
        <p:cNvPr id="1" name=""/>
        <p:cNvGrpSpPr/>
        <p:nvPr/>
      </p:nvGrpSpPr>
      <p:grpSpPr>
        <a:xfrm>
          <a:off x="0" y="0"/>
          <a:ext cx="0" cy="0"/>
          <a:chOff x="0" y="0"/>
          <a:chExt cx="0" cy="0"/>
        </a:xfrm>
      </p:grpSpPr>
      <p:pic>
        <p:nvPicPr>
          <p:cNvPr id="8" name="Espace réservé d’image 13">
            <a:extLst>
              <a:ext uri="{FF2B5EF4-FFF2-40B4-BE49-F238E27FC236}">
                <a16:creationId xmlns:a16="http://schemas.microsoft.com/office/drawing/2014/main" id="{BD017017-3234-8C24-B9FC-80FB1120D156}"/>
              </a:ext>
              <a:ext uri="{C183D7F6-B498-43B3-948B-1728B52AA6E4}">
                <adec:decorative xmlns:adec="http://schemas.microsoft.com/office/drawing/2017/decorative" val="1"/>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saturation sat="50000"/>
                    </a14:imgEffect>
                  </a14:imgLayer>
                </a14:imgProps>
              </a:ext>
              <a:ext uri="{28A0092B-C50C-407E-A947-70E740481C1C}">
                <a14:useLocalDpi xmlns:a14="http://schemas.microsoft.com/office/drawing/2010/main"/>
              </a:ext>
            </a:extLst>
          </a:blip>
          <a:srcRect/>
          <a:stretch/>
        </p:blipFill>
        <p:spPr>
          <a:xfrm>
            <a:off x="1524" y="0"/>
            <a:ext cx="12188952" cy="6858000"/>
          </a:xfrm>
          <a:prstGeom prst="rect">
            <a:avLst/>
          </a:prstGeom>
        </p:spPr>
      </p:pic>
      <p:sp>
        <p:nvSpPr>
          <p:cNvPr id="11" name="Rectangle 10">
            <a:extLst>
              <a:ext uri="{FF2B5EF4-FFF2-40B4-BE49-F238E27FC236}">
                <a16:creationId xmlns:a16="http://schemas.microsoft.com/office/drawing/2014/main" id="{CC226FA8-C264-7189-EEA0-5264009074FF}"/>
              </a:ext>
              <a:ext uri="{C183D7F6-B498-43B3-948B-1728B52AA6E4}">
                <adec:decorative xmlns:adec="http://schemas.microsoft.com/office/drawing/2017/decorative" val="1"/>
              </a:ext>
            </a:extLst>
          </p:cNvPr>
          <p:cNvSpPr/>
          <p:nvPr userDrawn="1"/>
        </p:nvSpPr>
        <p:spPr>
          <a:xfrm>
            <a:off x="915924" y="777240"/>
            <a:ext cx="10360152" cy="530352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fr-FR"/>
            </a:defPPr>
          </a:lstStyle>
          <a:p>
            <a:pPr algn="ctr" rtl="0"/>
            <a:endParaRPr lang="fr-FR" dirty="0"/>
          </a:p>
        </p:txBody>
      </p:sp>
      <p:sp>
        <p:nvSpPr>
          <p:cNvPr id="2" name="Titre 1">
            <a:extLst>
              <a:ext uri="{FF2B5EF4-FFF2-40B4-BE49-F238E27FC236}">
                <a16:creationId xmlns:a16="http://schemas.microsoft.com/office/drawing/2014/main" id="{32772C41-A024-2F33-1F04-21E003FA7291}"/>
              </a:ext>
            </a:extLst>
          </p:cNvPr>
          <p:cNvSpPr>
            <a:spLocks noGrp="1"/>
          </p:cNvSpPr>
          <p:nvPr>
            <p:ph type="ctrTitle" hasCustomPrompt="1"/>
          </p:nvPr>
        </p:nvSpPr>
        <p:spPr>
          <a:xfrm>
            <a:off x="6296135" y="1124887"/>
            <a:ext cx="4480560" cy="2352356"/>
          </a:xfrm>
        </p:spPr>
        <p:txBody>
          <a:bodyPr rtlCol="0" anchor="b">
            <a:noAutofit/>
          </a:bodyPr>
          <a:lstStyle>
            <a:lvl1pPr algn="l">
              <a:defRPr lang="fr-FR" sz="3600"/>
            </a:lvl1pPr>
          </a:lstStyle>
          <a:p>
            <a:pPr rtl="0"/>
            <a:r>
              <a:rPr lang="fr-FR"/>
              <a:t>Cliquez pour ajouter un titre</a:t>
            </a:r>
          </a:p>
        </p:txBody>
      </p:sp>
      <p:sp>
        <p:nvSpPr>
          <p:cNvPr id="3" name="Sous-titr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6296135" y="3571197"/>
            <a:ext cx="4476967" cy="2123547"/>
          </a:xfrm>
        </p:spPr>
        <p:txBody>
          <a:bodyPr rtlCol="0">
            <a:noAutofit/>
          </a:bodyPr>
          <a:lstStyle>
            <a:lvl1pPr marL="0" indent="0" algn="l">
              <a:buNone/>
              <a:defRPr lang="fr-FR" sz="2800"/>
            </a:lvl1pPr>
            <a:lvl2pPr marL="457200" indent="0" algn="ctr">
              <a:buNone/>
              <a:defRPr lang="fr-FR" sz="2000"/>
            </a:lvl2pPr>
            <a:lvl3pPr marL="914400" indent="0" algn="ctr">
              <a:buNone/>
              <a:defRPr lang="fr-FR" sz="1800"/>
            </a:lvl3pPr>
            <a:lvl4pPr marL="1371600" indent="0" algn="ctr">
              <a:buNone/>
              <a:defRPr lang="fr-FR" sz="1600"/>
            </a:lvl4pPr>
            <a:lvl5pPr marL="1828800" indent="0" algn="ctr">
              <a:buNone/>
              <a:defRPr lang="fr-FR" sz="1600"/>
            </a:lvl5pPr>
            <a:lvl6pPr marL="2286000" indent="0" algn="ctr">
              <a:buNone/>
              <a:defRPr lang="fr-FR" sz="1600"/>
            </a:lvl6pPr>
            <a:lvl7pPr marL="2743200" indent="0" algn="ctr">
              <a:buNone/>
              <a:defRPr lang="fr-FR" sz="1600"/>
            </a:lvl7pPr>
            <a:lvl8pPr marL="3200400" indent="0" algn="ctr">
              <a:buNone/>
              <a:defRPr lang="fr-FR" sz="1600"/>
            </a:lvl8pPr>
            <a:lvl9pPr marL="3657600" indent="0" algn="ctr">
              <a:buNone/>
              <a:defRPr lang="fr-FR" sz="1600"/>
            </a:lvl9pPr>
          </a:lstStyle>
          <a:p>
            <a:pPr lvl="0" rtl="0"/>
            <a:r>
              <a:rPr lang="fr-FR"/>
              <a:t>Cliquer pour ajouter du texte</a:t>
            </a:r>
          </a:p>
        </p:txBody>
      </p:sp>
      <p:sp>
        <p:nvSpPr>
          <p:cNvPr id="7" name="Espace réservé d’image 7">
            <a:extLst>
              <a:ext uri="{FF2B5EF4-FFF2-40B4-BE49-F238E27FC236}">
                <a16:creationId xmlns:a16="http://schemas.microsoft.com/office/drawing/2014/main" id="{AA872EE9-FDFB-95A7-3547-DCAA0B51FE21}"/>
              </a:ext>
            </a:extLst>
          </p:cNvPr>
          <p:cNvSpPr>
            <a:spLocks noGrp="1"/>
          </p:cNvSpPr>
          <p:nvPr>
            <p:ph type="pic" sz="quarter" idx="13"/>
          </p:nvPr>
        </p:nvSpPr>
        <p:spPr>
          <a:xfrm>
            <a:off x="1329545" y="1148037"/>
            <a:ext cx="4365199" cy="4546707"/>
          </a:xfrm>
        </p:spPr>
        <p:txBody>
          <a:bodyPr rtlCol="0">
            <a:normAutofit/>
          </a:bodyPr>
          <a:lstStyle>
            <a:lvl1pPr marL="0" indent="0" algn="ctr">
              <a:buNone/>
              <a:defRPr lang="fr-FR" sz="2000"/>
            </a:lvl1pPr>
          </a:lstStyle>
          <a:p>
            <a:pPr rtl="0"/>
            <a:r>
              <a:rPr lang="fr-FR"/>
              <a:t>Cliquez sur l'icône pour ajouter une image</a:t>
            </a:r>
          </a:p>
        </p:txBody>
      </p:sp>
      <p:sp>
        <p:nvSpPr>
          <p:cNvPr id="4" name="Espace réservé de la date 3">
            <a:extLst>
              <a:ext uri="{FF2B5EF4-FFF2-40B4-BE49-F238E27FC236}">
                <a16:creationId xmlns:a16="http://schemas.microsoft.com/office/drawing/2014/main" id="{C0070940-5919-2C95-2278-32E50BF14DD1}"/>
              </a:ext>
            </a:extLst>
          </p:cNvPr>
          <p:cNvSpPr>
            <a:spLocks noGrp="1"/>
          </p:cNvSpPr>
          <p:nvPr>
            <p:ph type="dt" sz="half" idx="10"/>
          </p:nvPr>
        </p:nvSpPr>
        <p:spPr/>
        <p:txBody>
          <a:bodyPr rtlCol="0"/>
          <a:lstStyle>
            <a:defPPr>
              <a:defRPr lang="fr-FR"/>
            </a:defPPr>
          </a:lstStyle>
          <a:p>
            <a:pPr rtl="0"/>
            <a:fld id="{503064C0-D26B-4F6C-A65C-4492D719F302}" type="datetime1">
              <a:rPr lang="fr-FR" smtClean="0"/>
              <a:t>06/09/2026</a:t>
            </a:fld>
            <a:endParaRPr lang="fr-FR" dirty="0"/>
          </a:p>
        </p:txBody>
      </p:sp>
      <p:sp>
        <p:nvSpPr>
          <p:cNvPr id="5" name="Espace réservé du pied de page 4">
            <a:extLst>
              <a:ext uri="{FF2B5EF4-FFF2-40B4-BE49-F238E27FC236}">
                <a16:creationId xmlns:a16="http://schemas.microsoft.com/office/drawing/2014/main" id="{1957D599-49CF-19FE-6D86-C5EDB765F413}"/>
              </a:ext>
            </a:extLst>
          </p:cNvPr>
          <p:cNvSpPr>
            <a:spLocks noGrp="1"/>
          </p:cNvSpPr>
          <p:nvPr>
            <p:ph type="ftr" sz="quarter" idx="11"/>
          </p:nvPr>
        </p:nvSpPr>
        <p:spPr/>
        <p:txBody>
          <a:bodyPr rtlCol="0"/>
          <a:lstStyle>
            <a:defPPr>
              <a:defRPr lang="fr-FR"/>
            </a:defPPr>
          </a:lstStyle>
          <a:p>
            <a:pPr rtl="0"/>
            <a:endParaRPr lang="fr-FR" dirty="0"/>
          </a:p>
        </p:txBody>
      </p:sp>
      <p:sp>
        <p:nvSpPr>
          <p:cNvPr id="6" name="Espace réservé du numéro de diapositive 5">
            <a:extLst>
              <a:ext uri="{FF2B5EF4-FFF2-40B4-BE49-F238E27FC236}">
                <a16:creationId xmlns:a16="http://schemas.microsoft.com/office/drawing/2014/main" id="{28931DF1-1C8D-86B9-BFDD-098FFC00FDC2}"/>
              </a:ext>
            </a:extLst>
          </p:cNvPr>
          <p:cNvSpPr>
            <a:spLocks noGrp="1"/>
          </p:cNvSpPr>
          <p:nvPr>
            <p:ph type="sldNum" sz="quarter" idx="12"/>
          </p:nvPr>
        </p:nvSpPr>
        <p:spPr/>
        <p:txBody>
          <a:bodyPr rtlCol="0"/>
          <a:lstStyle>
            <a:defPPr>
              <a:defRPr lang="fr-FR"/>
            </a:defPPr>
          </a:lstStyle>
          <a:p>
            <a:pPr rtl="0"/>
            <a:fld id="{CBD12358-51D2-46B3-9BDE-DF29528B9454}" type="slidenum">
              <a:rPr lang="fr-FR" smtClean="0"/>
              <a:t>‹N°›</a:t>
            </a:fld>
            <a:endParaRPr lang="fr-FR" dirty="0"/>
          </a:p>
        </p:txBody>
      </p:sp>
    </p:spTree>
    <p:extLst>
      <p:ext uri="{BB962C8B-B14F-4D97-AF65-F5344CB8AC3E}">
        <p14:creationId xmlns:p14="http://schemas.microsoft.com/office/powerpoint/2010/main" val="19241863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u 1">
    <p:spTree>
      <p:nvGrpSpPr>
        <p:cNvPr id="1" name=""/>
        <p:cNvGrpSpPr/>
        <p:nvPr/>
      </p:nvGrpSpPr>
      <p:grpSpPr>
        <a:xfrm>
          <a:off x="0" y="0"/>
          <a:ext cx="0" cy="0"/>
          <a:chOff x="0" y="0"/>
          <a:chExt cx="0" cy="0"/>
        </a:xfrm>
      </p:grpSpPr>
      <p:pic>
        <p:nvPicPr>
          <p:cNvPr id="7" name="Espace réservé d’image 17">
            <a:extLst>
              <a:ext uri="{FF2B5EF4-FFF2-40B4-BE49-F238E27FC236}">
                <a16:creationId xmlns:a16="http://schemas.microsoft.com/office/drawing/2014/main" id="{28B211FD-99D2-B373-669F-6E0F8E5B336F}"/>
              </a:ext>
              <a:ext uri="{C183D7F6-B498-43B3-948B-1728B52AA6E4}">
                <adec:decorative xmlns:adec="http://schemas.microsoft.com/office/drawing/2017/decorative" val="1"/>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saturation sat="60000"/>
                    </a14:imgEffect>
                  </a14:imgLayer>
                </a14:imgProps>
              </a:ext>
              <a:ext uri="{28A0092B-C50C-407E-A947-70E740481C1C}">
                <a14:useLocalDpi xmlns:a14="http://schemas.microsoft.com/office/drawing/2010/main"/>
              </a:ext>
            </a:extLst>
          </a:blip>
          <a:srcRect/>
          <a:stretch/>
        </p:blipFill>
        <p:spPr>
          <a:xfrm>
            <a:off x="0" y="0"/>
            <a:ext cx="12188952" cy="6858000"/>
          </a:xfrm>
          <a:prstGeom prst="rect">
            <a:avLst/>
          </a:prstGeom>
        </p:spPr>
      </p:pic>
      <p:sp>
        <p:nvSpPr>
          <p:cNvPr id="8" name="Rectangle 7">
            <a:extLst>
              <a:ext uri="{FF2B5EF4-FFF2-40B4-BE49-F238E27FC236}">
                <a16:creationId xmlns:a16="http://schemas.microsoft.com/office/drawing/2014/main" id="{C4079EDA-1B98-E3C1-23AD-7FB6F39FE268}"/>
              </a:ext>
              <a:ext uri="{C183D7F6-B498-43B3-948B-1728B52AA6E4}">
                <adec:decorative xmlns:adec="http://schemas.microsoft.com/office/drawing/2017/decorative" val="1"/>
              </a:ext>
            </a:extLst>
          </p:cNvPr>
          <p:cNvSpPr/>
          <p:nvPr userDrawn="1"/>
        </p:nvSpPr>
        <p:spPr>
          <a:xfrm>
            <a:off x="915924" y="777240"/>
            <a:ext cx="10360152" cy="530352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fr-FR"/>
            </a:defPPr>
          </a:lstStyle>
          <a:p>
            <a:pPr algn="ctr" rtl="0"/>
            <a:endParaRPr lang="fr-FR" dirty="0"/>
          </a:p>
        </p:txBody>
      </p:sp>
      <p:sp>
        <p:nvSpPr>
          <p:cNvPr id="2" name="Titre 1">
            <a:extLst>
              <a:ext uri="{FF2B5EF4-FFF2-40B4-BE49-F238E27FC236}">
                <a16:creationId xmlns:a16="http://schemas.microsoft.com/office/drawing/2014/main" id="{F657BD59-35CC-9BB3-8621-6FA3356F81AA}"/>
              </a:ext>
            </a:extLst>
          </p:cNvPr>
          <p:cNvSpPr>
            <a:spLocks noGrp="1"/>
          </p:cNvSpPr>
          <p:nvPr>
            <p:ph type="title" hasCustomPrompt="1"/>
          </p:nvPr>
        </p:nvSpPr>
        <p:spPr>
          <a:xfrm>
            <a:off x="1616598" y="995425"/>
            <a:ext cx="8958805" cy="1077230"/>
          </a:xfrm>
        </p:spPr>
        <p:txBody>
          <a:bodyPr rtlCol="0" anchor="b" anchorCtr="0">
            <a:noAutofit/>
          </a:bodyPr>
          <a:lstStyle>
            <a:lvl1pPr algn="ctr">
              <a:defRPr lang="fr-FR" sz="3600"/>
            </a:lvl1pPr>
          </a:lstStyle>
          <a:p>
            <a:pPr rtl="0"/>
            <a:r>
              <a:rPr lang="fr-FR"/>
              <a:t>Cliquez pour ajouter un titre</a:t>
            </a:r>
          </a:p>
        </p:txBody>
      </p:sp>
      <p:sp>
        <p:nvSpPr>
          <p:cNvPr id="9" name="Espace réservé du contenu 2">
            <a:extLst>
              <a:ext uri="{FF2B5EF4-FFF2-40B4-BE49-F238E27FC236}">
                <a16:creationId xmlns:a16="http://schemas.microsoft.com/office/drawing/2014/main" id="{76BDAEBE-3A0C-BBCD-A1F0-E1F1E07000E1}"/>
              </a:ext>
            </a:extLst>
          </p:cNvPr>
          <p:cNvSpPr>
            <a:spLocks noGrp="1"/>
          </p:cNvSpPr>
          <p:nvPr>
            <p:ph sz="half" idx="14" hasCustomPrompt="1"/>
          </p:nvPr>
        </p:nvSpPr>
        <p:spPr>
          <a:xfrm>
            <a:off x="1616599" y="2257061"/>
            <a:ext cx="8958804" cy="3541853"/>
          </a:xfrm>
        </p:spPr>
        <p:txBody>
          <a:bodyPr rtlCol="0">
            <a:normAutofit/>
          </a:bodyPr>
          <a:lstStyle>
            <a:lvl1pPr marL="0" indent="0">
              <a:spcBef>
                <a:spcPts val="1000"/>
              </a:spcBef>
              <a:spcAft>
                <a:spcPts val="1000"/>
              </a:spcAft>
              <a:buNone/>
              <a:defRPr lang="fr-FR" sz="1800"/>
            </a:lvl1pPr>
            <a:lvl2pPr marL="228600">
              <a:spcBef>
                <a:spcPts val="600"/>
              </a:spcBef>
              <a:spcAft>
                <a:spcPts val="600"/>
              </a:spcAft>
              <a:defRPr lang="fr-FR" sz="1800"/>
            </a:lvl2pPr>
            <a:lvl3pPr marL="685800">
              <a:spcBef>
                <a:spcPts val="600"/>
              </a:spcBef>
              <a:spcAft>
                <a:spcPts val="600"/>
              </a:spcAft>
              <a:defRPr lang="fr-FR" sz="1800"/>
            </a:lvl3pPr>
            <a:lvl4pPr marL="1143000">
              <a:spcBef>
                <a:spcPts val="600"/>
              </a:spcBef>
              <a:spcAft>
                <a:spcPts val="600"/>
              </a:spcAft>
              <a:defRPr lang="fr-FR" sz="1800"/>
            </a:lvl4pPr>
            <a:lvl5pPr marL="1600200">
              <a:spcBef>
                <a:spcPts val="600"/>
              </a:spcBef>
              <a:spcAft>
                <a:spcPts val="600"/>
              </a:spcAft>
              <a:defRPr lang="fr-FR" sz="1800"/>
            </a:lvl5pPr>
          </a:lstStyle>
          <a:p>
            <a:pPr lvl="0" rtl="0"/>
            <a:r>
              <a:rPr lang="fr-FR"/>
              <a:t>Cliquez pour ajouter du contenu</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4" name="Espace réservé de la date 3">
            <a:extLst>
              <a:ext uri="{FF2B5EF4-FFF2-40B4-BE49-F238E27FC236}">
                <a16:creationId xmlns:a16="http://schemas.microsoft.com/office/drawing/2014/main" id="{8C56EB0F-63C8-5F75-A333-3413A9DC6F76}"/>
              </a:ext>
            </a:extLst>
          </p:cNvPr>
          <p:cNvSpPr>
            <a:spLocks noGrp="1"/>
          </p:cNvSpPr>
          <p:nvPr>
            <p:ph type="dt" sz="half" idx="10"/>
          </p:nvPr>
        </p:nvSpPr>
        <p:spPr/>
        <p:txBody>
          <a:bodyPr rtlCol="0"/>
          <a:lstStyle>
            <a:defPPr>
              <a:defRPr lang="fr-FR"/>
            </a:defPPr>
          </a:lstStyle>
          <a:p>
            <a:pPr rtl="0"/>
            <a:fld id="{B7E4C082-5100-4018-81AE-E83F3AC52478}" type="datetime1">
              <a:rPr lang="fr-FR" smtClean="0"/>
              <a:t>06/09/2026</a:t>
            </a:fld>
            <a:endParaRPr lang="fr-FR" dirty="0"/>
          </a:p>
        </p:txBody>
      </p:sp>
      <p:sp>
        <p:nvSpPr>
          <p:cNvPr id="5" name="Espace réservé du pied de page 4">
            <a:extLst>
              <a:ext uri="{FF2B5EF4-FFF2-40B4-BE49-F238E27FC236}">
                <a16:creationId xmlns:a16="http://schemas.microsoft.com/office/drawing/2014/main" id="{4D4DE333-25B4-E092-1CC4-C3D20BA25168}"/>
              </a:ext>
            </a:extLst>
          </p:cNvPr>
          <p:cNvSpPr>
            <a:spLocks noGrp="1"/>
          </p:cNvSpPr>
          <p:nvPr>
            <p:ph type="ftr" sz="quarter" idx="11"/>
          </p:nvPr>
        </p:nvSpPr>
        <p:spPr/>
        <p:txBody>
          <a:bodyPr rtlCol="0"/>
          <a:lstStyle>
            <a:defPPr>
              <a:defRPr lang="fr-FR"/>
            </a:defPPr>
          </a:lstStyle>
          <a:p>
            <a:pPr rtl="0"/>
            <a:endParaRPr lang="fr-FR" dirty="0"/>
          </a:p>
        </p:txBody>
      </p:sp>
      <p:sp>
        <p:nvSpPr>
          <p:cNvPr id="6" name="Espace réservé du numéro de diapositive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rtlCol="0"/>
          <a:lstStyle>
            <a:defPPr>
              <a:defRPr lang="fr-FR"/>
            </a:defPPr>
          </a:lstStyle>
          <a:p>
            <a:pPr rtl="0"/>
            <a:fld id="{CBD12358-51D2-46B3-9BDE-DF29528B9454}" type="slidenum">
              <a:rPr lang="fr-FR" smtClean="0"/>
              <a:t>‹N°›</a:t>
            </a:fld>
            <a:endParaRPr lang="fr-FR" dirty="0"/>
          </a:p>
        </p:txBody>
      </p:sp>
    </p:spTree>
    <p:extLst>
      <p:ext uri="{BB962C8B-B14F-4D97-AF65-F5344CB8AC3E}">
        <p14:creationId xmlns:p14="http://schemas.microsoft.com/office/powerpoint/2010/main" val="25878947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u + image ">
    <p:spTree>
      <p:nvGrpSpPr>
        <p:cNvPr id="1" name=""/>
        <p:cNvGrpSpPr/>
        <p:nvPr/>
      </p:nvGrpSpPr>
      <p:grpSpPr>
        <a:xfrm>
          <a:off x="0" y="0"/>
          <a:ext cx="0" cy="0"/>
          <a:chOff x="0" y="0"/>
          <a:chExt cx="0" cy="0"/>
        </a:xfrm>
      </p:grpSpPr>
      <p:pic>
        <p:nvPicPr>
          <p:cNvPr id="4" name="Espace réservé d’image 5">
            <a:extLst>
              <a:ext uri="{FF2B5EF4-FFF2-40B4-BE49-F238E27FC236}">
                <a16:creationId xmlns:a16="http://schemas.microsoft.com/office/drawing/2014/main" id="{236F3DDC-7FF8-F6A3-16EA-A01E7F79536C}"/>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flipH="1">
            <a:off x="1524" y="0"/>
            <a:ext cx="12188952" cy="6858000"/>
          </a:xfrm>
          <a:prstGeom prst="rect">
            <a:avLst/>
          </a:prstGeom>
        </p:spPr>
      </p:pic>
      <p:sp>
        <p:nvSpPr>
          <p:cNvPr id="9" name="Titre 33">
            <a:extLst>
              <a:ext uri="{FF2B5EF4-FFF2-40B4-BE49-F238E27FC236}">
                <a16:creationId xmlns:a16="http://schemas.microsoft.com/office/drawing/2014/main" id="{E728EBB2-9164-AC06-6682-9505D88F9535}"/>
              </a:ext>
              <a:ext uri="{C183D7F6-B498-43B3-948B-1728B52AA6E4}">
                <adec:decorative xmlns:adec="http://schemas.microsoft.com/office/drawing/2017/decorative" val="1"/>
              </a:ext>
            </a:extLst>
          </p:cNvPr>
          <p:cNvSpPr txBox="1">
            <a:spLocks/>
          </p:cNvSpPr>
          <p:nvPr userDrawn="1"/>
        </p:nvSpPr>
        <p:spPr>
          <a:xfrm>
            <a:off x="915924" y="777240"/>
            <a:ext cx="6115497" cy="5303520"/>
          </a:xfrm>
          <a:prstGeom prst="rect">
            <a:avLst/>
          </a:prstGeom>
          <a:solidFill>
            <a:schemeClr val="bg1">
              <a:alpha val="95000"/>
            </a:schemeClr>
          </a:solidFill>
        </p:spPr>
        <p:txBody>
          <a:bodyPr vert="horz" lIns="91440" tIns="45720" rIns="91440" bIns="45720" rtlCol="0" anchor="b" anchorCtr="0">
            <a:noAutofit/>
          </a:bodyPr>
          <a:lstStyle>
            <a:lvl1pPr algn="l" defTabSz="914400" rtl="0" eaLnBrk="1" latinLnBrk="0" hangingPunct="1">
              <a:lnSpc>
                <a:spcPct val="90000"/>
              </a:lnSpc>
              <a:spcBef>
                <a:spcPct val="0"/>
              </a:spcBef>
              <a:buNone/>
              <a:defRPr lang="fr-FR" sz="4400" kern="1200">
                <a:solidFill>
                  <a:schemeClr val="tx1"/>
                </a:solidFill>
                <a:latin typeface="+mj-lt"/>
                <a:ea typeface="+mj-ea"/>
                <a:cs typeface="+mj-cs"/>
              </a:defRPr>
            </a:lvl1pPr>
          </a:lstStyle>
          <a:p>
            <a:pPr rtl="0"/>
            <a:endParaRPr lang="fr-FR" dirty="0"/>
          </a:p>
        </p:txBody>
      </p:sp>
      <p:sp>
        <p:nvSpPr>
          <p:cNvPr id="2" name="Titre 1">
            <a:extLst>
              <a:ext uri="{FF2B5EF4-FFF2-40B4-BE49-F238E27FC236}">
                <a16:creationId xmlns:a16="http://schemas.microsoft.com/office/drawing/2014/main" id="{0C40C44A-93E6-6C58-5E88-AFDC594EC27A}"/>
              </a:ext>
            </a:extLst>
          </p:cNvPr>
          <p:cNvSpPr>
            <a:spLocks noGrp="1"/>
          </p:cNvSpPr>
          <p:nvPr>
            <p:ph type="title" hasCustomPrompt="1"/>
          </p:nvPr>
        </p:nvSpPr>
        <p:spPr>
          <a:xfrm>
            <a:off x="1416937" y="879674"/>
            <a:ext cx="5377406" cy="2550005"/>
          </a:xfrm>
        </p:spPr>
        <p:txBody>
          <a:bodyPr rtlCol="0" anchor="b" anchorCtr="0">
            <a:noAutofit/>
          </a:bodyPr>
          <a:lstStyle>
            <a:lvl1pPr>
              <a:defRPr lang="fr-FR" sz="3600"/>
            </a:lvl1pPr>
          </a:lstStyle>
          <a:p>
            <a:pPr rtl="0"/>
            <a:r>
              <a:rPr lang="fr-FR"/>
              <a:t>Cliquez pour ajouter un titre</a:t>
            </a:r>
          </a:p>
        </p:txBody>
      </p:sp>
      <p:sp>
        <p:nvSpPr>
          <p:cNvPr id="13" name="Espace réservé du texte 12">
            <a:extLst>
              <a:ext uri="{FF2B5EF4-FFF2-40B4-BE49-F238E27FC236}">
                <a16:creationId xmlns:a16="http://schemas.microsoft.com/office/drawing/2014/main" id="{53BA3AA6-E309-C0C7-B2C6-3705384B7067}"/>
              </a:ext>
            </a:extLst>
          </p:cNvPr>
          <p:cNvSpPr>
            <a:spLocks noGrp="1"/>
          </p:cNvSpPr>
          <p:nvPr>
            <p:ph type="body" sz="quarter" idx="13" hasCustomPrompt="1"/>
          </p:nvPr>
        </p:nvSpPr>
        <p:spPr>
          <a:xfrm>
            <a:off x="1417638" y="3576900"/>
            <a:ext cx="4126635" cy="2233613"/>
          </a:xfrm>
        </p:spPr>
        <p:txBody>
          <a:bodyPr rtlCol="0"/>
          <a:lstStyle>
            <a:lvl1pPr marL="0" indent="0">
              <a:buNone/>
              <a:defRPr lang="fr-FR"/>
            </a:lvl1pPr>
            <a:lvl2pPr marL="457200" indent="0">
              <a:buNone/>
              <a:defRPr lang="fr-FR"/>
            </a:lvl2pPr>
            <a:lvl3pPr marL="914400" indent="0">
              <a:buNone/>
              <a:defRPr lang="fr-FR"/>
            </a:lvl3pPr>
            <a:lvl4pPr marL="1371600" indent="0">
              <a:buNone/>
              <a:defRPr lang="fr-FR"/>
            </a:lvl4pPr>
            <a:lvl5pPr marL="1828800" indent="0">
              <a:buNone/>
              <a:defRPr lang="fr-FR"/>
            </a:lvl5pPr>
          </a:lstStyle>
          <a:p>
            <a:pPr lvl="0" rtl="0"/>
            <a:r>
              <a:rPr lang="fr-FR"/>
              <a:t>Cliquer pour ajouter du texte</a:t>
            </a:r>
          </a:p>
        </p:txBody>
      </p:sp>
      <p:sp>
        <p:nvSpPr>
          <p:cNvPr id="5" name="Espace réservé de la date 4">
            <a:extLst>
              <a:ext uri="{FF2B5EF4-FFF2-40B4-BE49-F238E27FC236}">
                <a16:creationId xmlns:a16="http://schemas.microsoft.com/office/drawing/2014/main" id="{C6CFCEB5-4092-FD13-478E-51CD74FDB82E}"/>
              </a:ext>
            </a:extLst>
          </p:cNvPr>
          <p:cNvSpPr>
            <a:spLocks noGrp="1"/>
          </p:cNvSpPr>
          <p:nvPr>
            <p:ph type="dt" sz="half" idx="10"/>
          </p:nvPr>
        </p:nvSpPr>
        <p:spPr/>
        <p:txBody>
          <a:bodyPr rtlCol="0"/>
          <a:lstStyle>
            <a:defPPr>
              <a:defRPr lang="fr-FR"/>
            </a:defPPr>
          </a:lstStyle>
          <a:p>
            <a:pPr rtl="0"/>
            <a:fld id="{8E4D955D-EB19-45A7-87BF-B455E4573A66}" type="datetime1">
              <a:rPr lang="fr-FR" smtClean="0"/>
              <a:t>06/09/2026</a:t>
            </a:fld>
            <a:endParaRPr lang="fr-FR" dirty="0"/>
          </a:p>
        </p:txBody>
      </p:sp>
      <p:sp>
        <p:nvSpPr>
          <p:cNvPr id="6" name="Espace réservé du pied de page 5">
            <a:extLst>
              <a:ext uri="{FF2B5EF4-FFF2-40B4-BE49-F238E27FC236}">
                <a16:creationId xmlns:a16="http://schemas.microsoft.com/office/drawing/2014/main" id="{5D077A4D-E7C0-912D-293F-D93F0CB5CA49}"/>
              </a:ext>
            </a:extLst>
          </p:cNvPr>
          <p:cNvSpPr>
            <a:spLocks noGrp="1"/>
          </p:cNvSpPr>
          <p:nvPr>
            <p:ph type="ftr" sz="quarter" idx="11"/>
          </p:nvPr>
        </p:nvSpPr>
        <p:spPr/>
        <p:txBody>
          <a:bodyPr rtlCol="0"/>
          <a:lstStyle>
            <a:defPPr>
              <a:defRPr lang="fr-FR"/>
            </a:defPPr>
          </a:lstStyle>
          <a:p>
            <a:pPr rtl="0"/>
            <a:endParaRPr lang="fr-FR" dirty="0"/>
          </a:p>
        </p:txBody>
      </p:sp>
      <p:sp>
        <p:nvSpPr>
          <p:cNvPr id="7" name="Espace réservé du numéro de diapositive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rtlCol="0"/>
          <a:lstStyle>
            <a:defPPr>
              <a:defRPr lang="fr-FR"/>
            </a:defPPr>
          </a:lstStyle>
          <a:p>
            <a:pPr rtl="0"/>
            <a:fld id="{CBD12358-51D2-46B3-9BDE-DF29528B9454}" type="slidenum">
              <a:rPr lang="fr-FR" smtClean="0"/>
              <a:t>‹N°›</a:t>
            </a:fld>
            <a:endParaRPr lang="fr-FR" dirty="0"/>
          </a:p>
        </p:txBody>
      </p:sp>
    </p:spTree>
    <p:extLst>
      <p:ext uri="{BB962C8B-B14F-4D97-AF65-F5344CB8AC3E}">
        <p14:creationId xmlns:p14="http://schemas.microsoft.com/office/powerpoint/2010/main" val="28454381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eux contenus 1">
    <p:spTree>
      <p:nvGrpSpPr>
        <p:cNvPr id="1" name=""/>
        <p:cNvGrpSpPr/>
        <p:nvPr/>
      </p:nvGrpSpPr>
      <p:grpSpPr>
        <a:xfrm>
          <a:off x="0" y="0"/>
          <a:ext cx="0" cy="0"/>
          <a:chOff x="0" y="0"/>
          <a:chExt cx="0" cy="0"/>
        </a:xfrm>
      </p:grpSpPr>
      <p:pic>
        <p:nvPicPr>
          <p:cNvPr id="8" name="Espace réservé d’image 5">
            <a:extLst>
              <a:ext uri="{FF2B5EF4-FFF2-40B4-BE49-F238E27FC236}">
                <a16:creationId xmlns:a16="http://schemas.microsoft.com/office/drawing/2014/main" id="{540E5FCC-3981-FB51-F0ED-B8BAB5C45A20}"/>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1524" y="0"/>
            <a:ext cx="12188952" cy="6858000"/>
          </a:xfrm>
          <a:prstGeom prst="rect">
            <a:avLst/>
          </a:prstGeom>
        </p:spPr>
      </p:pic>
      <p:sp>
        <p:nvSpPr>
          <p:cNvPr id="9" name="Rectangle 8">
            <a:extLst>
              <a:ext uri="{FF2B5EF4-FFF2-40B4-BE49-F238E27FC236}">
                <a16:creationId xmlns:a16="http://schemas.microsoft.com/office/drawing/2014/main" id="{3BCE2C9E-7BC3-0EB6-EBE4-26EE33A1F2A3}"/>
              </a:ext>
              <a:ext uri="{C183D7F6-B498-43B3-948B-1728B52AA6E4}">
                <adec:decorative xmlns:adec="http://schemas.microsoft.com/office/drawing/2017/decorative" val="1"/>
              </a:ext>
            </a:extLst>
          </p:cNvPr>
          <p:cNvSpPr/>
          <p:nvPr userDrawn="1"/>
        </p:nvSpPr>
        <p:spPr>
          <a:xfrm>
            <a:off x="915924" y="777240"/>
            <a:ext cx="10360152" cy="5303520"/>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fr-FR"/>
            </a:defPPr>
          </a:lstStyle>
          <a:p>
            <a:pPr algn="ctr" rtl="0"/>
            <a:endParaRPr lang="fr-FR" dirty="0"/>
          </a:p>
        </p:txBody>
      </p:sp>
      <p:sp>
        <p:nvSpPr>
          <p:cNvPr id="2" name="Titre 1">
            <a:extLst>
              <a:ext uri="{FF2B5EF4-FFF2-40B4-BE49-F238E27FC236}">
                <a16:creationId xmlns:a16="http://schemas.microsoft.com/office/drawing/2014/main" id="{0C40C44A-93E6-6C58-5E88-AFDC594EC27A}"/>
              </a:ext>
            </a:extLst>
          </p:cNvPr>
          <p:cNvSpPr>
            <a:spLocks noGrp="1"/>
          </p:cNvSpPr>
          <p:nvPr>
            <p:ph type="title" hasCustomPrompt="1"/>
          </p:nvPr>
        </p:nvSpPr>
        <p:spPr>
          <a:xfrm>
            <a:off x="1269357" y="891251"/>
            <a:ext cx="9653286" cy="1158254"/>
          </a:xfrm>
        </p:spPr>
        <p:txBody>
          <a:bodyPr rtlCol="0" anchor="b" anchorCtr="0">
            <a:noAutofit/>
          </a:bodyPr>
          <a:lstStyle>
            <a:lvl1pPr algn="ctr">
              <a:defRPr lang="fr-FR" sz="3600"/>
            </a:lvl1pPr>
          </a:lstStyle>
          <a:p>
            <a:pPr rtl="0"/>
            <a:r>
              <a:rPr lang="fr-FR"/>
              <a:t>Cliquez pour ajouter un titre</a:t>
            </a:r>
          </a:p>
        </p:txBody>
      </p:sp>
      <p:sp>
        <p:nvSpPr>
          <p:cNvPr id="5" name="Espace réservé de la date 4">
            <a:extLst>
              <a:ext uri="{FF2B5EF4-FFF2-40B4-BE49-F238E27FC236}">
                <a16:creationId xmlns:a16="http://schemas.microsoft.com/office/drawing/2014/main" id="{C6CFCEB5-4092-FD13-478E-51CD74FDB82E}"/>
              </a:ext>
            </a:extLst>
          </p:cNvPr>
          <p:cNvSpPr>
            <a:spLocks noGrp="1"/>
          </p:cNvSpPr>
          <p:nvPr>
            <p:ph type="dt" sz="half" idx="10"/>
          </p:nvPr>
        </p:nvSpPr>
        <p:spPr/>
        <p:txBody>
          <a:bodyPr rtlCol="0"/>
          <a:lstStyle>
            <a:defPPr>
              <a:defRPr lang="fr-FR"/>
            </a:defPPr>
          </a:lstStyle>
          <a:p>
            <a:pPr rtl="0"/>
            <a:fld id="{47388252-C743-4B7B-AD80-BD8EE80425B9}" type="datetime1">
              <a:rPr lang="fr-FR" smtClean="0"/>
              <a:t>06/09/2026</a:t>
            </a:fld>
            <a:endParaRPr lang="fr-FR" dirty="0"/>
          </a:p>
        </p:txBody>
      </p:sp>
      <p:sp>
        <p:nvSpPr>
          <p:cNvPr id="6" name="Espace réservé du pied de page 5">
            <a:extLst>
              <a:ext uri="{FF2B5EF4-FFF2-40B4-BE49-F238E27FC236}">
                <a16:creationId xmlns:a16="http://schemas.microsoft.com/office/drawing/2014/main" id="{5D077A4D-E7C0-912D-293F-D93F0CB5CA49}"/>
              </a:ext>
            </a:extLst>
          </p:cNvPr>
          <p:cNvSpPr>
            <a:spLocks noGrp="1"/>
          </p:cNvSpPr>
          <p:nvPr>
            <p:ph type="ftr" sz="quarter" idx="11"/>
          </p:nvPr>
        </p:nvSpPr>
        <p:spPr/>
        <p:txBody>
          <a:bodyPr rtlCol="0"/>
          <a:lstStyle>
            <a:defPPr>
              <a:defRPr lang="fr-FR"/>
            </a:defPPr>
          </a:lstStyle>
          <a:p>
            <a:pPr rtl="0"/>
            <a:endParaRPr lang="fr-FR" dirty="0"/>
          </a:p>
        </p:txBody>
      </p:sp>
      <p:sp>
        <p:nvSpPr>
          <p:cNvPr id="7" name="Espace réservé du numéro de diapositive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rtlCol="0"/>
          <a:lstStyle>
            <a:defPPr>
              <a:defRPr lang="fr-FR"/>
            </a:defPPr>
          </a:lstStyle>
          <a:p>
            <a:pPr rtl="0"/>
            <a:fld id="{CBD12358-51D2-46B3-9BDE-DF29528B9454}" type="slidenum">
              <a:rPr lang="fr-FR" smtClean="0"/>
              <a:t>‹N°›</a:t>
            </a:fld>
            <a:endParaRPr lang="fr-FR" dirty="0"/>
          </a:p>
        </p:txBody>
      </p:sp>
      <p:sp>
        <p:nvSpPr>
          <p:cNvPr id="10" name="Espace réservé du contenu 2">
            <a:extLst>
              <a:ext uri="{FF2B5EF4-FFF2-40B4-BE49-F238E27FC236}">
                <a16:creationId xmlns:a16="http://schemas.microsoft.com/office/drawing/2014/main" id="{ECB36301-48E6-AF64-5055-0CCA79474EAE}"/>
              </a:ext>
            </a:extLst>
          </p:cNvPr>
          <p:cNvSpPr>
            <a:spLocks noGrp="1"/>
          </p:cNvSpPr>
          <p:nvPr>
            <p:ph sz="half" idx="13" hasCustomPrompt="1"/>
          </p:nvPr>
        </p:nvSpPr>
        <p:spPr>
          <a:xfrm>
            <a:off x="1400540" y="2257062"/>
            <a:ext cx="4062711" cy="3541853"/>
          </a:xfrm>
        </p:spPr>
        <p:txBody>
          <a:bodyPr rtlCol="0">
            <a:normAutofit/>
          </a:bodyPr>
          <a:lstStyle>
            <a:lvl1pPr marL="0" indent="0">
              <a:spcBef>
                <a:spcPts val="600"/>
              </a:spcBef>
              <a:spcAft>
                <a:spcPts val="600"/>
              </a:spcAft>
              <a:buNone/>
              <a:defRPr lang="fr-FR" sz="1800"/>
            </a:lvl1pPr>
            <a:lvl2pPr marL="228600">
              <a:spcBef>
                <a:spcPts val="600"/>
              </a:spcBef>
              <a:spcAft>
                <a:spcPts val="600"/>
              </a:spcAft>
              <a:defRPr lang="fr-FR" sz="1800"/>
            </a:lvl2pPr>
            <a:lvl3pPr marL="685800">
              <a:spcBef>
                <a:spcPts val="600"/>
              </a:spcBef>
              <a:spcAft>
                <a:spcPts val="600"/>
              </a:spcAft>
              <a:defRPr lang="fr-FR" sz="1800"/>
            </a:lvl3pPr>
            <a:lvl4pPr marL="1143000">
              <a:spcBef>
                <a:spcPts val="600"/>
              </a:spcBef>
              <a:spcAft>
                <a:spcPts val="600"/>
              </a:spcAft>
              <a:defRPr lang="fr-FR" sz="1800"/>
            </a:lvl4pPr>
            <a:lvl5pPr marL="1600200">
              <a:spcBef>
                <a:spcPts val="600"/>
              </a:spcBef>
              <a:spcAft>
                <a:spcPts val="600"/>
              </a:spcAft>
              <a:defRPr lang="fr-FR" sz="1800"/>
            </a:lvl5pPr>
          </a:lstStyle>
          <a:p>
            <a:pPr lvl="0" rtl="0"/>
            <a:r>
              <a:rPr lang="fr-FR"/>
              <a:t>Cliquez pour ajouter du contenu</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12" name="Espace réservé du contenu 2">
            <a:extLst>
              <a:ext uri="{FF2B5EF4-FFF2-40B4-BE49-F238E27FC236}">
                <a16:creationId xmlns:a16="http://schemas.microsoft.com/office/drawing/2014/main" id="{5F973906-E48D-CA3F-3E96-205D2E688DC5}"/>
              </a:ext>
            </a:extLst>
          </p:cNvPr>
          <p:cNvSpPr>
            <a:spLocks noGrp="1"/>
          </p:cNvSpPr>
          <p:nvPr>
            <p:ph sz="half" idx="14" hasCustomPrompt="1"/>
          </p:nvPr>
        </p:nvSpPr>
        <p:spPr>
          <a:xfrm>
            <a:off x="6588311" y="2257061"/>
            <a:ext cx="4203151" cy="3541853"/>
          </a:xfrm>
        </p:spPr>
        <p:txBody>
          <a:bodyPr rtlCol="0">
            <a:normAutofit/>
          </a:bodyPr>
          <a:lstStyle>
            <a:lvl1pPr marL="0" indent="0">
              <a:spcBef>
                <a:spcPts val="600"/>
              </a:spcBef>
              <a:spcAft>
                <a:spcPts val="600"/>
              </a:spcAft>
              <a:buNone/>
              <a:defRPr lang="fr-FR" sz="1800"/>
            </a:lvl1pPr>
            <a:lvl2pPr marL="228600">
              <a:spcBef>
                <a:spcPts val="600"/>
              </a:spcBef>
              <a:spcAft>
                <a:spcPts val="600"/>
              </a:spcAft>
              <a:defRPr lang="fr-FR" sz="1800"/>
            </a:lvl2pPr>
            <a:lvl3pPr marL="685800">
              <a:spcBef>
                <a:spcPts val="600"/>
              </a:spcBef>
              <a:spcAft>
                <a:spcPts val="600"/>
              </a:spcAft>
              <a:defRPr lang="fr-FR" sz="1800"/>
            </a:lvl3pPr>
            <a:lvl4pPr marL="1143000">
              <a:spcBef>
                <a:spcPts val="600"/>
              </a:spcBef>
              <a:spcAft>
                <a:spcPts val="600"/>
              </a:spcAft>
              <a:defRPr lang="fr-FR" sz="1800"/>
            </a:lvl4pPr>
            <a:lvl5pPr marL="1600200">
              <a:spcBef>
                <a:spcPts val="600"/>
              </a:spcBef>
              <a:spcAft>
                <a:spcPts val="600"/>
              </a:spcAft>
              <a:defRPr lang="fr-FR" sz="1800"/>
            </a:lvl5pPr>
          </a:lstStyle>
          <a:p>
            <a:pPr lvl="0" rtl="0"/>
            <a:r>
              <a:rPr lang="fr-FR"/>
              <a:t>Cliquez pour ajouter du contenu</a:t>
            </a:r>
          </a:p>
          <a:p>
            <a:pPr lvl="1" rtl="0"/>
            <a:r>
              <a:rPr lang="fr-FR"/>
              <a:t>Deuxième niveau</a:t>
            </a:r>
          </a:p>
          <a:p>
            <a:pPr lvl="2" rtl="0"/>
            <a:r>
              <a:rPr lang="fr-FR"/>
              <a:t>Troisième niveau</a:t>
            </a:r>
          </a:p>
          <a:p>
            <a:pPr lvl="3" rtl="0"/>
            <a:r>
              <a:rPr lang="fr-FR"/>
              <a:t>Quatrième niveau</a:t>
            </a:r>
          </a:p>
          <a:p>
            <a:pPr lvl="4" rtl="0"/>
            <a:r>
              <a:rPr lang="fr-FR"/>
              <a:t>Cinquième niveau</a:t>
            </a:r>
          </a:p>
        </p:txBody>
      </p:sp>
    </p:spTree>
    <p:extLst>
      <p:ext uri="{BB962C8B-B14F-4D97-AF65-F5344CB8AC3E}">
        <p14:creationId xmlns:p14="http://schemas.microsoft.com/office/powerpoint/2010/main" val="5052907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eux contenus 2">
    <p:spTree>
      <p:nvGrpSpPr>
        <p:cNvPr id="1" name=""/>
        <p:cNvGrpSpPr/>
        <p:nvPr/>
      </p:nvGrpSpPr>
      <p:grpSpPr>
        <a:xfrm>
          <a:off x="0" y="0"/>
          <a:ext cx="0" cy="0"/>
          <a:chOff x="0" y="0"/>
          <a:chExt cx="0" cy="0"/>
        </a:xfrm>
      </p:grpSpPr>
      <p:pic>
        <p:nvPicPr>
          <p:cNvPr id="8" name="Espace réservé d’image 44">
            <a:extLst>
              <a:ext uri="{FF2B5EF4-FFF2-40B4-BE49-F238E27FC236}">
                <a16:creationId xmlns:a16="http://schemas.microsoft.com/office/drawing/2014/main" id="{07AB38AA-85DC-3DF3-4ED4-B78FB670FFA9}"/>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1524" y="0"/>
            <a:ext cx="12188952" cy="6858000"/>
          </a:xfrm>
          <a:prstGeom prst="rect">
            <a:avLst/>
          </a:prstGeom>
        </p:spPr>
      </p:pic>
      <p:sp>
        <p:nvSpPr>
          <p:cNvPr id="9" name="Rectangle 8">
            <a:extLst>
              <a:ext uri="{FF2B5EF4-FFF2-40B4-BE49-F238E27FC236}">
                <a16:creationId xmlns:a16="http://schemas.microsoft.com/office/drawing/2014/main" id="{8F2DD44F-3200-BF06-94F9-C6A07EAD76B9}"/>
              </a:ext>
              <a:ext uri="{C183D7F6-B498-43B3-948B-1728B52AA6E4}">
                <adec:decorative xmlns:adec="http://schemas.microsoft.com/office/drawing/2017/decorative" val="1"/>
              </a:ext>
            </a:extLst>
          </p:cNvPr>
          <p:cNvSpPr/>
          <p:nvPr userDrawn="1"/>
        </p:nvSpPr>
        <p:spPr>
          <a:xfrm>
            <a:off x="914400" y="777240"/>
            <a:ext cx="10361676" cy="530352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fr-FR"/>
            </a:defPPr>
          </a:lstStyle>
          <a:p>
            <a:pPr algn="ctr" rtl="0"/>
            <a:endParaRPr lang="fr-FR" dirty="0"/>
          </a:p>
        </p:txBody>
      </p:sp>
      <p:sp>
        <p:nvSpPr>
          <p:cNvPr id="2" name="Titre 1">
            <a:extLst>
              <a:ext uri="{FF2B5EF4-FFF2-40B4-BE49-F238E27FC236}">
                <a16:creationId xmlns:a16="http://schemas.microsoft.com/office/drawing/2014/main" id="{0C40C44A-93E6-6C58-5E88-AFDC594EC27A}"/>
              </a:ext>
            </a:extLst>
          </p:cNvPr>
          <p:cNvSpPr>
            <a:spLocks noGrp="1"/>
          </p:cNvSpPr>
          <p:nvPr>
            <p:ph type="title" hasCustomPrompt="1"/>
          </p:nvPr>
        </p:nvSpPr>
        <p:spPr>
          <a:xfrm>
            <a:off x="1092361" y="777240"/>
            <a:ext cx="10007278" cy="1283843"/>
          </a:xfrm>
        </p:spPr>
        <p:txBody>
          <a:bodyPr rtlCol="0" anchor="b" anchorCtr="0">
            <a:noAutofit/>
          </a:bodyPr>
          <a:lstStyle>
            <a:lvl1pPr algn="ctr">
              <a:defRPr lang="fr-FR" sz="3600"/>
            </a:lvl1pPr>
          </a:lstStyle>
          <a:p>
            <a:pPr rtl="0"/>
            <a:r>
              <a:rPr lang="fr-FR"/>
              <a:t>Cliquez pour ajouter un titre</a:t>
            </a:r>
          </a:p>
        </p:txBody>
      </p:sp>
      <p:sp>
        <p:nvSpPr>
          <p:cNvPr id="3" name="Espace réservé du contenu 2">
            <a:extLst>
              <a:ext uri="{FF2B5EF4-FFF2-40B4-BE49-F238E27FC236}">
                <a16:creationId xmlns:a16="http://schemas.microsoft.com/office/drawing/2014/main" id="{0C813049-5F46-053E-6279-8183259649A6}"/>
              </a:ext>
            </a:extLst>
          </p:cNvPr>
          <p:cNvSpPr>
            <a:spLocks noGrp="1"/>
          </p:cNvSpPr>
          <p:nvPr>
            <p:ph sz="half" idx="1" hasCustomPrompt="1"/>
          </p:nvPr>
        </p:nvSpPr>
        <p:spPr>
          <a:xfrm>
            <a:off x="1447029" y="2261313"/>
            <a:ext cx="3275746" cy="3653350"/>
          </a:xfrm>
        </p:spPr>
        <p:txBody>
          <a:bodyPr rtlCol="0">
            <a:normAutofit/>
          </a:bodyPr>
          <a:lstStyle>
            <a:lvl1pPr marL="0" indent="0">
              <a:lnSpc>
                <a:spcPct val="100000"/>
              </a:lnSpc>
              <a:spcBef>
                <a:spcPts val="1000"/>
              </a:spcBef>
              <a:spcAft>
                <a:spcPts val="600"/>
              </a:spcAft>
              <a:buNone/>
              <a:defRPr lang="fr-FR" sz="1800"/>
            </a:lvl1pPr>
            <a:lvl2pPr marL="228600" indent="0">
              <a:lnSpc>
                <a:spcPct val="100000"/>
              </a:lnSpc>
              <a:spcBef>
                <a:spcPts val="1000"/>
              </a:spcBef>
              <a:spcAft>
                <a:spcPts val="600"/>
              </a:spcAft>
              <a:buNone/>
              <a:defRPr lang="fr-FR" sz="1800"/>
            </a:lvl2pPr>
            <a:lvl3pPr marL="914400" indent="0">
              <a:lnSpc>
                <a:spcPct val="100000"/>
              </a:lnSpc>
              <a:spcBef>
                <a:spcPts val="1000"/>
              </a:spcBef>
              <a:spcAft>
                <a:spcPts val="600"/>
              </a:spcAft>
              <a:buNone/>
              <a:defRPr lang="fr-FR" sz="1800"/>
            </a:lvl3pPr>
            <a:lvl4pPr marL="1143000" indent="0">
              <a:lnSpc>
                <a:spcPct val="100000"/>
              </a:lnSpc>
              <a:spcBef>
                <a:spcPts val="1000"/>
              </a:spcBef>
              <a:spcAft>
                <a:spcPts val="600"/>
              </a:spcAft>
              <a:buNone/>
              <a:defRPr lang="fr-FR" sz="1800"/>
            </a:lvl4pPr>
            <a:lvl5pPr marL="1600200" indent="0">
              <a:lnSpc>
                <a:spcPct val="100000"/>
              </a:lnSpc>
              <a:spcBef>
                <a:spcPts val="1000"/>
              </a:spcBef>
              <a:spcAft>
                <a:spcPts val="600"/>
              </a:spcAft>
              <a:buNone/>
              <a:defRPr lang="fr-FR" sz="1800"/>
            </a:lvl5pPr>
          </a:lstStyle>
          <a:p>
            <a:pPr lvl="0" rtl="0"/>
            <a:r>
              <a:rPr lang="fr-FR"/>
              <a:t>Cliquez pour ajouter du contenu</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5" name="Espace réservé de la date 4">
            <a:extLst>
              <a:ext uri="{FF2B5EF4-FFF2-40B4-BE49-F238E27FC236}">
                <a16:creationId xmlns:a16="http://schemas.microsoft.com/office/drawing/2014/main" id="{C6CFCEB5-4092-FD13-478E-51CD74FDB82E}"/>
              </a:ext>
            </a:extLst>
          </p:cNvPr>
          <p:cNvSpPr>
            <a:spLocks noGrp="1"/>
          </p:cNvSpPr>
          <p:nvPr>
            <p:ph type="dt" sz="half" idx="10"/>
          </p:nvPr>
        </p:nvSpPr>
        <p:spPr/>
        <p:txBody>
          <a:bodyPr rtlCol="0"/>
          <a:lstStyle>
            <a:defPPr>
              <a:defRPr lang="fr-FR"/>
            </a:defPPr>
          </a:lstStyle>
          <a:p>
            <a:pPr rtl="0"/>
            <a:fld id="{D43A5B14-E4D4-48F8-96BF-F94AC27E1E63}" type="datetime1">
              <a:rPr lang="fr-FR" smtClean="0"/>
              <a:t>06/09/2026</a:t>
            </a:fld>
            <a:endParaRPr lang="fr-FR" dirty="0"/>
          </a:p>
        </p:txBody>
      </p:sp>
      <p:sp>
        <p:nvSpPr>
          <p:cNvPr id="6" name="Espace réservé du pied de page 5">
            <a:extLst>
              <a:ext uri="{FF2B5EF4-FFF2-40B4-BE49-F238E27FC236}">
                <a16:creationId xmlns:a16="http://schemas.microsoft.com/office/drawing/2014/main" id="{5D077A4D-E7C0-912D-293F-D93F0CB5CA49}"/>
              </a:ext>
            </a:extLst>
          </p:cNvPr>
          <p:cNvSpPr>
            <a:spLocks noGrp="1"/>
          </p:cNvSpPr>
          <p:nvPr>
            <p:ph type="ftr" sz="quarter" idx="11"/>
          </p:nvPr>
        </p:nvSpPr>
        <p:spPr/>
        <p:txBody>
          <a:bodyPr rtlCol="0"/>
          <a:lstStyle>
            <a:defPPr>
              <a:defRPr lang="fr-FR"/>
            </a:defPPr>
          </a:lstStyle>
          <a:p>
            <a:pPr rtl="0"/>
            <a:endParaRPr lang="fr-FR" dirty="0"/>
          </a:p>
        </p:txBody>
      </p:sp>
      <p:sp>
        <p:nvSpPr>
          <p:cNvPr id="7" name="Espace réservé du numéro de diapositive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rtlCol="0"/>
          <a:lstStyle>
            <a:defPPr>
              <a:defRPr lang="fr-FR"/>
            </a:defPPr>
          </a:lstStyle>
          <a:p>
            <a:pPr rtl="0"/>
            <a:fld id="{CBD12358-51D2-46B3-9BDE-DF29528B9454}" type="slidenum">
              <a:rPr lang="fr-FR" smtClean="0"/>
              <a:t>‹N°›</a:t>
            </a:fld>
            <a:endParaRPr lang="fr-FR" dirty="0"/>
          </a:p>
        </p:txBody>
      </p:sp>
      <p:sp>
        <p:nvSpPr>
          <p:cNvPr id="10" name="Espace réservé du contenu 2">
            <a:extLst>
              <a:ext uri="{FF2B5EF4-FFF2-40B4-BE49-F238E27FC236}">
                <a16:creationId xmlns:a16="http://schemas.microsoft.com/office/drawing/2014/main" id="{C2AA9CA0-D45C-FE27-D4E4-DD219364E4FB}"/>
              </a:ext>
            </a:extLst>
          </p:cNvPr>
          <p:cNvSpPr>
            <a:spLocks noGrp="1"/>
          </p:cNvSpPr>
          <p:nvPr>
            <p:ph sz="half" idx="13" hasCustomPrompt="1"/>
          </p:nvPr>
        </p:nvSpPr>
        <p:spPr>
          <a:xfrm>
            <a:off x="5150734" y="2261313"/>
            <a:ext cx="5594236" cy="3653350"/>
          </a:xfrm>
        </p:spPr>
        <p:txBody>
          <a:bodyPr rtlCol="0">
            <a:normAutofit/>
          </a:bodyPr>
          <a:lstStyle>
            <a:lvl1pPr marL="0" indent="0">
              <a:spcBef>
                <a:spcPts val="600"/>
              </a:spcBef>
              <a:spcAft>
                <a:spcPts val="600"/>
              </a:spcAft>
              <a:buNone/>
              <a:defRPr lang="fr-FR" sz="1800"/>
            </a:lvl1pPr>
            <a:lvl2pPr marL="228600">
              <a:spcBef>
                <a:spcPts val="600"/>
              </a:spcBef>
              <a:spcAft>
                <a:spcPts val="600"/>
              </a:spcAft>
              <a:defRPr lang="fr-FR" sz="1800"/>
            </a:lvl2pPr>
            <a:lvl3pPr marL="685800">
              <a:spcBef>
                <a:spcPts val="600"/>
              </a:spcBef>
              <a:spcAft>
                <a:spcPts val="600"/>
              </a:spcAft>
              <a:defRPr lang="fr-FR" sz="1800"/>
            </a:lvl3pPr>
            <a:lvl4pPr marL="1143000">
              <a:spcBef>
                <a:spcPts val="600"/>
              </a:spcBef>
              <a:spcAft>
                <a:spcPts val="600"/>
              </a:spcAft>
              <a:defRPr lang="fr-FR" sz="1800"/>
            </a:lvl4pPr>
            <a:lvl5pPr marL="1600200">
              <a:spcBef>
                <a:spcPts val="600"/>
              </a:spcBef>
              <a:spcAft>
                <a:spcPts val="600"/>
              </a:spcAft>
              <a:defRPr lang="fr-FR" sz="1800"/>
            </a:lvl5pPr>
          </a:lstStyle>
          <a:p>
            <a:pPr lvl="0" rtl="0"/>
            <a:r>
              <a:rPr lang="fr-FR"/>
              <a:t>Cliquez pour ajouter du contenu</a:t>
            </a:r>
          </a:p>
          <a:p>
            <a:pPr lvl="1" rtl="0"/>
            <a:r>
              <a:rPr lang="fr-FR"/>
              <a:t>Deuxième niveau</a:t>
            </a:r>
          </a:p>
          <a:p>
            <a:pPr lvl="2" rtl="0"/>
            <a:r>
              <a:rPr lang="fr-FR"/>
              <a:t>Troisième niveau</a:t>
            </a:r>
          </a:p>
          <a:p>
            <a:pPr lvl="3" rtl="0"/>
            <a:r>
              <a:rPr lang="fr-FR"/>
              <a:t>Quatrième niveau</a:t>
            </a:r>
          </a:p>
          <a:p>
            <a:pPr lvl="4" rtl="0"/>
            <a:r>
              <a:rPr lang="fr-FR"/>
              <a:t>Cinquième niveau</a:t>
            </a:r>
          </a:p>
        </p:txBody>
      </p:sp>
    </p:spTree>
    <p:extLst>
      <p:ext uri="{BB962C8B-B14F-4D97-AF65-F5344CB8AC3E}">
        <p14:creationId xmlns:p14="http://schemas.microsoft.com/office/powerpoint/2010/main" val="6578526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re + sous-titre">
    <p:spTree>
      <p:nvGrpSpPr>
        <p:cNvPr id="1" name=""/>
        <p:cNvGrpSpPr/>
        <p:nvPr/>
      </p:nvGrpSpPr>
      <p:grpSpPr>
        <a:xfrm>
          <a:off x="0" y="0"/>
          <a:ext cx="0" cy="0"/>
          <a:chOff x="0" y="0"/>
          <a:chExt cx="0" cy="0"/>
        </a:xfrm>
      </p:grpSpPr>
      <p:pic>
        <p:nvPicPr>
          <p:cNvPr id="7" name="Espace réservé d’image 8">
            <a:extLst>
              <a:ext uri="{FF2B5EF4-FFF2-40B4-BE49-F238E27FC236}">
                <a16:creationId xmlns:a16="http://schemas.microsoft.com/office/drawing/2014/main" id="{F1219773-33FA-E4F9-4EAE-0764613F6213}"/>
              </a:ext>
              <a:ext uri="{C183D7F6-B498-43B3-948B-1728B52AA6E4}">
                <adec:decorative xmlns:adec="http://schemas.microsoft.com/office/drawing/2017/decorative" val="1"/>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524" y="0"/>
            <a:ext cx="12188952" cy="6858000"/>
          </a:xfrm>
          <a:prstGeom prst="rect">
            <a:avLst/>
          </a:prstGeom>
        </p:spPr>
      </p:pic>
      <p:sp>
        <p:nvSpPr>
          <p:cNvPr id="8" name="Rectangle 7">
            <a:extLst>
              <a:ext uri="{FF2B5EF4-FFF2-40B4-BE49-F238E27FC236}">
                <a16:creationId xmlns:a16="http://schemas.microsoft.com/office/drawing/2014/main" id="{92817C37-9292-1CF3-6529-DEF7174273E0}"/>
              </a:ext>
              <a:ext uri="{C183D7F6-B498-43B3-948B-1728B52AA6E4}">
                <adec:decorative xmlns:adec="http://schemas.microsoft.com/office/drawing/2017/decorative" val="1"/>
              </a:ext>
            </a:extLst>
          </p:cNvPr>
          <p:cNvSpPr/>
          <p:nvPr userDrawn="1"/>
        </p:nvSpPr>
        <p:spPr>
          <a:xfrm>
            <a:off x="915924" y="777240"/>
            <a:ext cx="10360152" cy="530352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fr-FR"/>
            </a:defPPr>
          </a:lstStyle>
          <a:p>
            <a:pPr algn="ctr" rtl="0"/>
            <a:endParaRPr lang="fr-FR" dirty="0"/>
          </a:p>
        </p:txBody>
      </p:sp>
      <p:sp>
        <p:nvSpPr>
          <p:cNvPr id="2" name="Titre 1">
            <a:extLst>
              <a:ext uri="{FF2B5EF4-FFF2-40B4-BE49-F238E27FC236}">
                <a16:creationId xmlns:a16="http://schemas.microsoft.com/office/drawing/2014/main" id="{32772C41-A024-2F33-1F04-21E003FA7291}"/>
              </a:ext>
            </a:extLst>
          </p:cNvPr>
          <p:cNvSpPr>
            <a:spLocks noGrp="1"/>
          </p:cNvSpPr>
          <p:nvPr>
            <p:ph type="ctrTitle" hasCustomPrompt="1"/>
          </p:nvPr>
        </p:nvSpPr>
        <p:spPr>
          <a:xfrm>
            <a:off x="6061275" y="1134320"/>
            <a:ext cx="4803494" cy="1956122"/>
          </a:xfrm>
        </p:spPr>
        <p:txBody>
          <a:bodyPr rtlCol="0" anchor="b">
            <a:noAutofit/>
          </a:bodyPr>
          <a:lstStyle>
            <a:lvl1pPr algn="l">
              <a:defRPr lang="fr-FR" sz="3600"/>
            </a:lvl1pPr>
          </a:lstStyle>
          <a:p>
            <a:pPr rtl="0"/>
            <a:r>
              <a:rPr lang="fr-FR"/>
              <a:t>Cliquez pour ajouter un titre</a:t>
            </a:r>
          </a:p>
        </p:txBody>
      </p:sp>
      <p:sp>
        <p:nvSpPr>
          <p:cNvPr id="3" name="Sous-titr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6061275" y="3418271"/>
            <a:ext cx="4803494" cy="2305409"/>
          </a:xfrm>
        </p:spPr>
        <p:txBody>
          <a:bodyPr rtlCol="0">
            <a:noAutofit/>
          </a:bodyPr>
          <a:lstStyle>
            <a:lvl1pPr marL="0" indent="0" algn="l">
              <a:spcAft>
                <a:spcPts val="1000"/>
              </a:spcAft>
              <a:buNone/>
              <a:defRPr lang="fr-FR" sz="1800"/>
            </a:lvl1pPr>
            <a:lvl2pPr marL="457200" indent="0" algn="ctr">
              <a:buNone/>
              <a:defRPr lang="fr-FR" sz="2000"/>
            </a:lvl2pPr>
            <a:lvl3pPr marL="914400" indent="0" algn="ctr">
              <a:buNone/>
              <a:defRPr lang="fr-FR" sz="1800"/>
            </a:lvl3pPr>
            <a:lvl4pPr marL="1371600" indent="0" algn="ctr">
              <a:buNone/>
              <a:defRPr lang="fr-FR" sz="1600"/>
            </a:lvl4pPr>
            <a:lvl5pPr marL="1828800" indent="0" algn="ctr">
              <a:buNone/>
              <a:defRPr lang="fr-FR" sz="1600"/>
            </a:lvl5pPr>
            <a:lvl6pPr marL="2286000" indent="0" algn="ctr">
              <a:buNone/>
              <a:defRPr lang="fr-FR" sz="1600"/>
            </a:lvl6pPr>
            <a:lvl7pPr marL="2743200" indent="0" algn="ctr">
              <a:buNone/>
              <a:defRPr lang="fr-FR" sz="1600"/>
            </a:lvl7pPr>
            <a:lvl8pPr marL="3200400" indent="0" algn="ctr">
              <a:buNone/>
              <a:defRPr lang="fr-FR" sz="1600"/>
            </a:lvl8pPr>
            <a:lvl9pPr marL="3657600" indent="0" algn="ctr">
              <a:buNone/>
              <a:defRPr lang="fr-FR" sz="1600"/>
            </a:lvl9pPr>
          </a:lstStyle>
          <a:p>
            <a:pPr lvl="0" rtl="0"/>
            <a:r>
              <a:rPr lang="fr-FR"/>
              <a:t>Cliquer pour ajouter du texte</a:t>
            </a:r>
          </a:p>
        </p:txBody>
      </p:sp>
      <p:sp>
        <p:nvSpPr>
          <p:cNvPr id="12" name="Espace réservé d’image 11">
            <a:extLst>
              <a:ext uri="{FF2B5EF4-FFF2-40B4-BE49-F238E27FC236}">
                <a16:creationId xmlns:a16="http://schemas.microsoft.com/office/drawing/2014/main" id="{E5D7B0DF-23EB-406B-9FAA-0182626A919B}"/>
              </a:ext>
            </a:extLst>
          </p:cNvPr>
          <p:cNvSpPr>
            <a:spLocks noGrp="1"/>
          </p:cNvSpPr>
          <p:nvPr>
            <p:ph type="pic" sz="quarter" idx="13"/>
          </p:nvPr>
        </p:nvSpPr>
        <p:spPr>
          <a:xfrm>
            <a:off x="1308563" y="1146638"/>
            <a:ext cx="4389120" cy="4572000"/>
          </a:xfrm>
        </p:spPr>
        <p:txBody>
          <a:bodyPr rtlCol="0">
            <a:normAutofit/>
          </a:bodyPr>
          <a:lstStyle>
            <a:lvl1pPr marL="0" indent="0" algn="ctr">
              <a:buNone/>
              <a:defRPr lang="fr-FR" sz="2000"/>
            </a:lvl1pPr>
          </a:lstStyle>
          <a:p>
            <a:pPr rtl="0"/>
            <a:r>
              <a:rPr lang="fr-FR"/>
              <a:t>Cliquez sur l'icône pour ajouter une image</a:t>
            </a:r>
          </a:p>
        </p:txBody>
      </p:sp>
      <p:sp>
        <p:nvSpPr>
          <p:cNvPr id="4" name="Espace réservé de la date 3">
            <a:extLst>
              <a:ext uri="{FF2B5EF4-FFF2-40B4-BE49-F238E27FC236}">
                <a16:creationId xmlns:a16="http://schemas.microsoft.com/office/drawing/2014/main" id="{C0070940-5919-2C95-2278-32E50BF14DD1}"/>
              </a:ext>
            </a:extLst>
          </p:cNvPr>
          <p:cNvSpPr>
            <a:spLocks noGrp="1"/>
          </p:cNvSpPr>
          <p:nvPr>
            <p:ph type="dt" sz="half" idx="10"/>
          </p:nvPr>
        </p:nvSpPr>
        <p:spPr/>
        <p:txBody>
          <a:bodyPr rtlCol="0"/>
          <a:lstStyle>
            <a:defPPr>
              <a:defRPr lang="fr-FR"/>
            </a:defPPr>
          </a:lstStyle>
          <a:p>
            <a:pPr rtl="0"/>
            <a:fld id="{FA544EF9-C7E3-40B0-9725-5455385E7B71}" type="datetime1">
              <a:rPr lang="fr-FR" smtClean="0"/>
              <a:t>06/09/2026</a:t>
            </a:fld>
            <a:endParaRPr lang="fr-FR" dirty="0"/>
          </a:p>
        </p:txBody>
      </p:sp>
      <p:sp>
        <p:nvSpPr>
          <p:cNvPr id="5" name="Espace réservé du pied de page 4">
            <a:extLst>
              <a:ext uri="{FF2B5EF4-FFF2-40B4-BE49-F238E27FC236}">
                <a16:creationId xmlns:a16="http://schemas.microsoft.com/office/drawing/2014/main" id="{1957D599-49CF-19FE-6D86-C5EDB765F413}"/>
              </a:ext>
            </a:extLst>
          </p:cNvPr>
          <p:cNvSpPr>
            <a:spLocks noGrp="1"/>
          </p:cNvSpPr>
          <p:nvPr>
            <p:ph type="ftr" sz="quarter" idx="11"/>
          </p:nvPr>
        </p:nvSpPr>
        <p:spPr/>
        <p:txBody>
          <a:bodyPr rtlCol="0"/>
          <a:lstStyle>
            <a:defPPr>
              <a:defRPr lang="fr-FR"/>
            </a:defPPr>
          </a:lstStyle>
          <a:p>
            <a:pPr rtl="0"/>
            <a:endParaRPr lang="fr-FR" dirty="0"/>
          </a:p>
        </p:txBody>
      </p:sp>
      <p:sp>
        <p:nvSpPr>
          <p:cNvPr id="6" name="Espace réservé du numéro de diapositive 5">
            <a:extLst>
              <a:ext uri="{FF2B5EF4-FFF2-40B4-BE49-F238E27FC236}">
                <a16:creationId xmlns:a16="http://schemas.microsoft.com/office/drawing/2014/main" id="{28931DF1-1C8D-86B9-BFDD-098FFC00FDC2}"/>
              </a:ext>
            </a:extLst>
          </p:cNvPr>
          <p:cNvSpPr>
            <a:spLocks noGrp="1"/>
          </p:cNvSpPr>
          <p:nvPr>
            <p:ph type="sldNum" sz="quarter" idx="12"/>
          </p:nvPr>
        </p:nvSpPr>
        <p:spPr/>
        <p:txBody>
          <a:bodyPr rtlCol="0"/>
          <a:lstStyle>
            <a:defPPr>
              <a:defRPr lang="fr-FR"/>
            </a:defPPr>
          </a:lstStyle>
          <a:p>
            <a:pPr rtl="0"/>
            <a:fld id="{CBD12358-51D2-46B3-9BDE-DF29528B9454}" type="slidenum">
              <a:rPr lang="fr-FR" smtClean="0"/>
              <a:t>‹N°›</a:t>
            </a:fld>
            <a:endParaRPr lang="fr-FR" dirty="0"/>
          </a:p>
        </p:txBody>
      </p:sp>
    </p:spTree>
    <p:extLst>
      <p:ext uri="{BB962C8B-B14F-4D97-AF65-F5344CB8AC3E}">
        <p14:creationId xmlns:p14="http://schemas.microsoft.com/office/powerpoint/2010/main" val="15637277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u + Tableau">
    <p:spTree>
      <p:nvGrpSpPr>
        <p:cNvPr id="1" name=""/>
        <p:cNvGrpSpPr/>
        <p:nvPr/>
      </p:nvGrpSpPr>
      <p:grpSpPr>
        <a:xfrm>
          <a:off x="0" y="0"/>
          <a:ext cx="0" cy="0"/>
          <a:chOff x="0" y="0"/>
          <a:chExt cx="0" cy="0"/>
        </a:xfrm>
      </p:grpSpPr>
      <p:pic>
        <p:nvPicPr>
          <p:cNvPr id="4" name="Espace réservé d’image 64">
            <a:extLst>
              <a:ext uri="{FF2B5EF4-FFF2-40B4-BE49-F238E27FC236}">
                <a16:creationId xmlns:a16="http://schemas.microsoft.com/office/drawing/2014/main" id="{7C62E1FE-8CAE-1FE1-6A91-DFE7F1D87083}"/>
              </a:ext>
              <a:ext uri="{C183D7F6-B498-43B3-948B-1728B52AA6E4}">
                <adec:decorative xmlns:adec="http://schemas.microsoft.com/office/drawing/2017/decorative" val="1"/>
              </a:ext>
            </a:extLst>
          </p:cNvPr>
          <p:cNvPicPr>
            <a:picLocks noChangeAspect="1"/>
          </p:cNvPicPr>
          <p:nvPr userDrawn="1"/>
        </p:nvPicPr>
        <p:blipFill rotWithShape="1">
          <a:blip r:embed="rId2">
            <a:alphaModFix amt="44000"/>
            <a:extLst>
              <a:ext uri="{28A0092B-C50C-407E-A947-70E740481C1C}">
                <a14:useLocalDpi xmlns:a14="http://schemas.microsoft.com/office/drawing/2010/main"/>
              </a:ext>
            </a:extLst>
          </a:blip>
          <a:srcRect/>
          <a:stretch/>
        </p:blipFill>
        <p:spPr>
          <a:xfrm rot="10800000">
            <a:off x="0" y="0"/>
            <a:ext cx="12188825" cy="6858000"/>
          </a:xfrm>
          <a:prstGeom prst="rect">
            <a:avLst/>
          </a:prstGeom>
          <a:solidFill>
            <a:schemeClr val="accent1"/>
          </a:solidFill>
        </p:spPr>
      </p:pic>
      <p:sp>
        <p:nvSpPr>
          <p:cNvPr id="2" name="Titr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266219"/>
            <a:ext cx="10389243" cy="1424470"/>
          </a:xfrm>
        </p:spPr>
        <p:txBody>
          <a:bodyPr rtlCol="0" anchor="ctr" anchorCtr="0">
            <a:noAutofit/>
          </a:bodyPr>
          <a:lstStyle>
            <a:lvl1pPr>
              <a:defRPr lang="fr-FR" sz="3600"/>
            </a:lvl1pPr>
          </a:lstStyle>
          <a:p>
            <a:pPr rtl="0"/>
            <a:r>
              <a:rPr lang="fr-FR" noProof="0"/>
              <a:t>Cliquez pour ajouter un titre</a:t>
            </a:r>
          </a:p>
        </p:txBody>
      </p:sp>
      <p:sp>
        <p:nvSpPr>
          <p:cNvPr id="3" name="Espace réservé du contenu 2">
            <a:extLst>
              <a:ext uri="{FF2B5EF4-FFF2-40B4-BE49-F238E27FC236}">
                <a16:creationId xmlns:a16="http://schemas.microsoft.com/office/drawing/2014/main" id="{0C813049-5F46-053E-6279-8183259649A6}"/>
              </a:ext>
            </a:extLst>
          </p:cNvPr>
          <p:cNvSpPr>
            <a:spLocks noGrp="1"/>
          </p:cNvSpPr>
          <p:nvPr>
            <p:ph sz="half" idx="1" hasCustomPrompt="1"/>
          </p:nvPr>
        </p:nvSpPr>
        <p:spPr>
          <a:xfrm>
            <a:off x="838200" y="1779325"/>
            <a:ext cx="3490732" cy="4297680"/>
          </a:xfrm>
        </p:spPr>
        <p:txBody>
          <a:bodyPr tIns="274320" rtlCol="0">
            <a:normAutofit/>
          </a:bodyPr>
          <a:lstStyle>
            <a:lvl1pPr marL="0" indent="0">
              <a:spcBef>
                <a:spcPts val="1000"/>
              </a:spcBef>
              <a:spcAft>
                <a:spcPts val="1000"/>
              </a:spcAft>
              <a:buNone/>
              <a:defRPr lang="fr-FR" sz="1800"/>
            </a:lvl1pPr>
            <a:lvl2pPr marL="228600" indent="0">
              <a:spcBef>
                <a:spcPts val="1000"/>
              </a:spcBef>
              <a:spcAft>
                <a:spcPts val="1000"/>
              </a:spcAft>
              <a:buNone/>
              <a:defRPr lang="fr-FR" sz="1800"/>
            </a:lvl2pPr>
            <a:lvl3pPr marL="685800" indent="0">
              <a:spcBef>
                <a:spcPts val="1000"/>
              </a:spcBef>
              <a:spcAft>
                <a:spcPts val="1000"/>
              </a:spcAft>
              <a:buNone/>
              <a:defRPr lang="fr-FR" sz="1800"/>
            </a:lvl3pPr>
            <a:lvl4pPr marL="1143000" indent="0">
              <a:spcBef>
                <a:spcPts val="1000"/>
              </a:spcBef>
              <a:spcAft>
                <a:spcPts val="1000"/>
              </a:spcAft>
              <a:buNone/>
              <a:defRPr lang="fr-FR" sz="1800"/>
            </a:lvl4pPr>
            <a:lvl5pPr marL="1600200" indent="0">
              <a:spcBef>
                <a:spcPts val="1000"/>
              </a:spcBef>
              <a:spcAft>
                <a:spcPts val="1000"/>
              </a:spcAft>
              <a:buNone/>
              <a:defRPr lang="fr-FR" sz="1800"/>
            </a:lvl5pPr>
          </a:lstStyle>
          <a:p>
            <a:pPr lvl="0" rtl="0"/>
            <a:r>
              <a:rPr lang="fr-FR" noProof="0"/>
              <a:t>Cliquez pour ajouter du contenu</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8" name="Espace réservé du tableau 7">
            <a:extLst>
              <a:ext uri="{FF2B5EF4-FFF2-40B4-BE49-F238E27FC236}">
                <a16:creationId xmlns:a16="http://schemas.microsoft.com/office/drawing/2014/main" id="{423FEB60-8FB5-7F10-EDD7-8AB4B3139EF6}"/>
              </a:ext>
            </a:extLst>
          </p:cNvPr>
          <p:cNvSpPr>
            <a:spLocks noGrp="1"/>
          </p:cNvSpPr>
          <p:nvPr>
            <p:ph type="tbl" sz="quarter" idx="13"/>
          </p:nvPr>
        </p:nvSpPr>
        <p:spPr>
          <a:xfrm>
            <a:off x="4502552" y="1779325"/>
            <a:ext cx="6724891" cy="4297680"/>
          </a:xfrm>
        </p:spPr>
        <p:txBody>
          <a:bodyPr rtlCol="0"/>
          <a:lstStyle>
            <a:defPPr>
              <a:defRPr lang="fr-FR"/>
            </a:defPPr>
          </a:lstStyle>
          <a:p>
            <a:pPr rtl="0"/>
            <a:r>
              <a:rPr lang="fr-FR" noProof="0"/>
              <a:t>Cliquez sur l'icône pour ajouter un tableau</a:t>
            </a:r>
          </a:p>
        </p:txBody>
      </p:sp>
      <p:sp>
        <p:nvSpPr>
          <p:cNvPr id="5" name="Espace réservé de la date 4">
            <a:extLst>
              <a:ext uri="{FF2B5EF4-FFF2-40B4-BE49-F238E27FC236}">
                <a16:creationId xmlns:a16="http://schemas.microsoft.com/office/drawing/2014/main" id="{C6CFCEB5-4092-FD13-478E-51CD74FDB82E}"/>
              </a:ext>
            </a:extLst>
          </p:cNvPr>
          <p:cNvSpPr>
            <a:spLocks noGrp="1"/>
          </p:cNvSpPr>
          <p:nvPr>
            <p:ph type="dt" sz="half" idx="10"/>
          </p:nvPr>
        </p:nvSpPr>
        <p:spPr/>
        <p:txBody>
          <a:bodyPr rtlCol="0"/>
          <a:lstStyle>
            <a:defPPr>
              <a:defRPr lang="fr-FR"/>
            </a:defPPr>
          </a:lstStyle>
          <a:p>
            <a:pPr rtl="0"/>
            <a:fld id="{5F1A6C06-0733-4592-8966-AF7599068723}" type="datetime1">
              <a:rPr lang="fr-FR" noProof="0" smtClean="0"/>
              <a:t>06/09/2026</a:t>
            </a:fld>
            <a:endParaRPr lang="fr-FR" noProof="0" dirty="0"/>
          </a:p>
        </p:txBody>
      </p:sp>
      <p:sp>
        <p:nvSpPr>
          <p:cNvPr id="6" name="Espace réservé du pied de page 5">
            <a:extLst>
              <a:ext uri="{FF2B5EF4-FFF2-40B4-BE49-F238E27FC236}">
                <a16:creationId xmlns:a16="http://schemas.microsoft.com/office/drawing/2014/main" id="{5D077A4D-E7C0-912D-293F-D93F0CB5CA49}"/>
              </a:ext>
            </a:extLst>
          </p:cNvPr>
          <p:cNvSpPr>
            <a:spLocks noGrp="1"/>
          </p:cNvSpPr>
          <p:nvPr>
            <p:ph type="ftr" sz="quarter" idx="11"/>
          </p:nvPr>
        </p:nvSpPr>
        <p:spPr/>
        <p:txBody>
          <a:bodyPr rtlCol="0"/>
          <a:lstStyle>
            <a:defPPr>
              <a:defRPr lang="fr-FR"/>
            </a:defPPr>
          </a:lstStyle>
          <a:p>
            <a:pPr rtl="0"/>
            <a:endParaRPr lang="fr-FR" noProof="0" dirty="0"/>
          </a:p>
        </p:txBody>
      </p:sp>
      <p:sp>
        <p:nvSpPr>
          <p:cNvPr id="7" name="Espace réservé du numéro de diapositive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rtlCol="0"/>
          <a:lstStyle>
            <a:defPPr>
              <a:defRPr lang="fr-FR"/>
            </a:defPPr>
          </a:lstStyle>
          <a:p>
            <a:pPr rtl="0"/>
            <a:fld id="{CBD12358-51D2-46B3-9BDE-DF29528B9454}" type="slidenum">
              <a:rPr lang="fr-FR" noProof="0" smtClean="0"/>
              <a:t>‹N°›</a:t>
            </a:fld>
            <a:endParaRPr lang="fr-FR" noProof="0" dirty="0"/>
          </a:p>
        </p:txBody>
      </p:sp>
    </p:spTree>
    <p:extLst>
      <p:ext uri="{BB962C8B-B14F-4D97-AF65-F5344CB8AC3E}">
        <p14:creationId xmlns:p14="http://schemas.microsoft.com/office/powerpoint/2010/main" val="2808150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Deux contenus 3">
    <p:spTree>
      <p:nvGrpSpPr>
        <p:cNvPr id="1" name=""/>
        <p:cNvGrpSpPr/>
        <p:nvPr/>
      </p:nvGrpSpPr>
      <p:grpSpPr>
        <a:xfrm>
          <a:off x="0" y="0"/>
          <a:ext cx="0" cy="0"/>
          <a:chOff x="0" y="0"/>
          <a:chExt cx="0" cy="0"/>
        </a:xfrm>
      </p:grpSpPr>
      <p:pic>
        <p:nvPicPr>
          <p:cNvPr id="8" name="Espace réservé d’image 17">
            <a:extLst>
              <a:ext uri="{FF2B5EF4-FFF2-40B4-BE49-F238E27FC236}">
                <a16:creationId xmlns:a16="http://schemas.microsoft.com/office/drawing/2014/main" id="{32B61A96-5F36-8895-B920-FC12FD76DC53}"/>
              </a:ext>
              <a:ext uri="{C183D7F6-B498-43B3-948B-1728B52AA6E4}">
                <adec:decorative xmlns:adec="http://schemas.microsoft.com/office/drawing/2017/decorative" val="1"/>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saturation sat="60000"/>
                    </a14:imgEffect>
                  </a14:imgLayer>
                </a14:imgProps>
              </a:ext>
              <a:ext uri="{28A0092B-C50C-407E-A947-70E740481C1C}">
                <a14:useLocalDpi xmlns:a14="http://schemas.microsoft.com/office/drawing/2010/main"/>
              </a:ext>
            </a:extLst>
          </a:blip>
          <a:srcRect/>
          <a:stretch/>
        </p:blipFill>
        <p:spPr>
          <a:xfrm>
            <a:off x="0" y="0"/>
            <a:ext cx="12188952" cy="6858000"/>
          </a:xfrm>
          <a:prstGeom prst="rect">
            <a:avLst/>
          </a:prstGeom>
        </p:spPr>
      </p:pic>
      <p:sp>
        <p:nvSpPr>
          <p:cNvPr id="9" name="Rectangle 8">
            <a:extLst>
              <a:ext uri="{FF2B5EF4-FFF2-40B4-BE49-F238E27FC236}">
                <a16:creationId xmlns:a16="http://schemas.microsoft.com/office/drawing/2014/main" id="{8774BC39-6D56-474E-28BE-99260516AB0C}"/>
              </a:ext>
              <a:ext uri="{C183D7F6-B498-43B3-948B-1728B52AA6E4}">
                <adec:decorative xmlns:adec="http://schemas.microsoft.com/office/drawing/2017/decorative" val="1"/>
              </a:ext>
            </a:extLst>
          </p:cNvPr>
          <p:cNvSpPr/>
          <p:nvPr userDrawn="1"/>
        </p:nvSpPr>
        <p:spPr>
          <a:xfrm>
            <a:off x="914400" y="777240"/>
            <a:ext cx="10361676" cy="530352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fr-FR"/>
            </a:defPPr>
          </a:lstStyle>
          <a:p>
            <a:pPr algn="ctr" rtl="0"/>
            <a:endParaRPr lang="fr-FR" dirty="0"/>
          </a:p>
        </p:txBody>
      </p:sp>
      <p:sp>
        <p:nvSpPr>
          <p:cNvPr id="2" name="Titre 1">
            <a:extLst>
              <a:ext uri="{FF2B5EF4-FFF2-40B4-BE49-F238E27FC236}">
                <a16:creationId xmlns:a16="http://schemas.microsoft.com/office/drawing/2014/main" id="{0C40C44A-93E6-6C58-5E88-AFDC594EC27A}"/>
              </a:ext>
            </a:extLst>
          </p:cNvPr>
          <p:cNvSpPr>
            <a:spLocks noGrp="1"/>
          </p:cNvSpPr>
          <p:nvPr>
            <p:ph type="title" hasCustomPrompt="1"/>
          </p:nvPr>
        </p:nvSpPr>
        <p:spPr>
          <a:xfrm>
            <a:off x="1073070" y="914400"/>
            <a:ext cx="10045861" cy="1146680"/>
          </a:xfrm>
        </p:spPr>
        <p:txBody>
          <a:bodyPr rtlCol="0" anchor="b" anchorCtr="0">
            <a:noAutofit/>
          </a:bodyPr>
          <a:lstStyle>
            <a:lvl1pPr algn="ctr">
              <a:defRPr lang="fr-FR" sz="3600"/>
            </a:lvl1pPr>
          </a:lstStyle>
          <a:p>
            <a:pPr rtl="0"/>
            <a:r>
              <a:rPr lang="fr-FR"/>
              <a:t>Cliquez pour ajouter un titre</a:t>
            </a:r>
          </a:p>
        </p:txBody>
      </p:sp>
      <p:sp>
        <p:nvSpPr>
          <p:cNvPr id="3" name="Espace réservé du contenu 2">
            <a:extLst>
              <a:ext uri="{FF2B5EF4-FFF2-40B4-BE49-F238E27FC236}">
                <a16:creationId xmlns:a16="http://schemas.microsoft.com/office/drawing/2014/main" id="{0C813049-5F46-053E-6279-8183259649A6}"/>
              </a:ext>
            </a:extLst>
          </p:cNvPr>
          <p:cNvSpPr>
            <a:spLocks noGrp="1"/>
          </p:cNvSpPr>
          <p:nvPr>
            <p:ph sz="half" idx="1" hasCustomPrompt="1"/>
          </p:nvPr>
        </p:nvSpPr>
        <p:spPr>
          <a:xfrm>
            <a:off x="1423687" y="2288614"/>
            <a:ext cx="5382228" cy="3475578"/>
          </a:xfrm>
        </p:spPr>
        <p:txBody>
          <a:bodyPr rtlCol="0">
            <a:normAutofit/>
          </a:bodyPr>
          <a:lstStyle>
            <a:lvl1pPr marL="0" indent="0">
              <a:spcBef>
                <a:spcPts val="1000"/>
              </a:spcBef>
              <a:spcAft>
                <a:spcPts val="0"/>
              </a:spcAft>
              <a:buNone/>
              <a:defRPr lang="fr-FR" sz="1800"/>
            </a:lvl1pPr>
            <a:lvl2pPr marL="685800">
              <a:spcBef>
                <a:spcPts val="600"/>
              </a:spcBef>
              <a:spcAft>
                <a:spcPts val="600"/>
              </a:spcAft>
              <a:defRPr lang="fr-FR" sz="1800"/>
            </a:lvl2pPr>
            <a:lvl3pPr marL="1143000">
              <a:spcBef>
                <a:spcPts val="600"/>
              </a:spcBef>
              <a:spcAft>
                <a:spcPts val="600"/>
              </a:spcAft>
              <a:defRPr lang="fr-FR" sz="1800"/>
            </a:lvl3pPr>
            <a:lvl4pPr marL="1600200">
              <a:spcBef>
                <a:spcPts val="600"/>
              </a:spcBef>
              <a:spcAft>
                <a:spcPts val="600"/>
              </a:spcAft>
              <a:defRPr lang="fr-FR" sz="1800"/>
            </a:lvl4pPr>
            <a:lvl5pPr marL="2057400">
              <a:spcBef>
                <a:spcPts val="600"/>
              </a:spcBef>
              <a:spcAft>
                <a:spcPts val="600"/>
              </a:spcAft>
              <a:defRPr lang="fr-FR" sz="1800"/>
            </a:lvl5pPr>
          </a:lstStyle>
          <a:p>
            <a:pPr lvl="0" rtl="0"/>
            <a:r>
              <a:rPr lang="fr-FR"/>
              <a:t>Cliquez pour ajouter du contenu</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4" name="Espace réservé du contenu 3">
            <a:extLst>
              <a:ext uri="{FF2B5EF4-FFF2-40B4-BE49-F238E27FC236}">
                <a16:creationId xmlns:a16="http://schemas.microsoft.com/office/drawing/2014/main" id="{72DFB03A-367B-9ADA-8071-E22871EC115F}"/>
              </a:ext>
            </a:extLst>
          </p:cNvPr>
          <p:cNvSpPr>
            <a:spLocks noGrp="1"/>
          </p:cNvSpPr>
          <p:nvPr>
            <p:ph sz="half" idx="2" hasCustomPrompt="1"/>
          </p:nvPr>
        </p:nvSpPr>
        <p:spPr>
          <a:xfrm>
            <a:off x="7451790" y="2288614"/>
            <a:ext cx="3108960" cy="3475578"/>
          </a:xfrm>
        </p:spPr>
        <p:txBody>
          <a:bodyPr tIns="91440" rtlCol="0">
            <a:normAutofit/>
          </a:bodyPr>
          <a:lstStyle>
            <a:lvl1pPr marL="0" indent="0">
              <a:lnSpc>
                <a:spcPct val="150000"/>
              </a:lnSpc>
              <a:spcBef>
                <a:spcPts val="1000"/>
              </a:spcBef>
              <a:spcAft>
                <a:spcPts val="600"/>
              </a:spcAft>
              <a:buNone/>
              <a:defRPr lang="fr-FR" sz="1800"/>
            </a:lvl1pPr>
            <a:lvl2pPr marL="228600" indent="0">
              <a:lnSpc>
                <a:spcPct val="100000"/>
              </a:lnSpc>
              <a:spcBef>
                <a:spcPts val="1000"/>
              </a:spcBef>
              <a:spcAft>
                <a:spcPts val="600"/>
              </a:spcAft>
              <a:buNone/>
              <a:defRPr lang="fr-FR" sz="1800"/>
            </a:lvl2pPr>
            <a:lvl3pPr marL="685800" indent="0">
              <a:lnSpc>
                <a:spcPct val="100000"/>
              </a:lnSpc>
              <a:spcBef>
                <a:spcPts val="1000"/>
              </a:spcBef>
              <a:spcAft>
                <a:spcPts val="600"/>
              </a:spcAft>
              <a:buNone/>
              <a:defRPr lang="fr-FR" sz="1800"/>
            </a:lvl3pPr>
            <a:lvl4pPr marL="1143000" indent="0">
              <a:lnSpc>
                <a:spcPct val="100000"/>
              </a:lnSpc>
              <a:spcBef>
                <a:spcPts val="1000"/>
              </a:spcBef>
              <a:spcAft>
                <a:spcPts val="600"/>
              </a:spcAft>
              <a:buNone/>
              <a:defRPr lang="fr-FR" sz="1800"/>
            </a:lvl4pPr>
            <a:lvl5pPr marL="1600200" indent="0">
              <a:lnSpc>
                <a:spcPct val="100000"/>
              </a:lnSpc>
              <a:spcBef>
                <a:spcPts val="1000"/>
              </a:spcBef>
              <a:spcAft>
                <a:spcPts val="600"/>
              </a:spcAft>
              <a:buNone/>
              <a:defRPr lang="fr-FR" sz="1800"/>
            </a:lvl5pPr>
          </a:lstStyle>
          <a:p>
            <a:pPr lvl="0" rtl="0"/>
            <a:r>
              <a:rPr lang="fr-FR"/>
              <a:t>Cliquez pour ajouter du contenu</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5" name="Espace réservé de la date 4">
            <a:extLst>
              <a:ext uri="{FF2B5EF4-FFF2-40B4-BE49-F238E27FC236}">
                <a16:creationId xmlns:a16="http://schemas.microsoft.com/office/drawing/2014/main" id="{C6CFCEB5-4092-FD13-478E-51CD74FDB82E}"/>
              </a:ext>
            </a:extLst>
          </p:cNvPr>
          <p:cNvSpPr>
            <a:spLocks noGrp="1"/>
          </p:cNvSpPr>
          <p:nvPr>
            <p:ph type="dt" sz="half" idx="10"/>
          </p:nvPr>
        </p:nvSpPr>
        <p:spPr/>
        <p:txBody>
          <a:bodyPr rtlCol="0"/>
          <a:lstStyle>
            <a:defPPr>
              <a:defRPr lang="fr-FR"/>
            </a:defPPr>
          </a:lstStyle>
          <a:p>
            <a:pPr rtl="0"/>
            <a:fld id="{FBD8F672-8C4B-4224-8F63-2DD9FE821C6D}" type="datetime1">
              <a:rPr lang="fr-FR" smtClean="0"/>
              <a:t>06/09/2026</a:t>
            </a:fld>
            <a:endParaRPr lang="fr-FR" dirty="0"/>
          </a:p>
        </p:txBody>
      </p:sp>
      <p:sp>
        <p:nvSpPr>
          <p:cNvPr id="6" name="Espace réservé du pied de page 5">
            <a:extLst>
              <a:ext uri="{FF2B5EF4-FFF2-40B4-BE49-F238E27FC236}">
                <a16:creationId xmlns:a16="http://schemas.microsoft.com/office/drawing/2014/main" id="{5D077A4D-E7C0-912D-293F-D93F0CB5CA49}"/>
              </a:ext>
            </a:extLst>
          </p:cNvPr>
          <p:cNvSpPr>
            <a:spLocks noGrp="1"/>
          </p:cNvSpPr>
          <p:nvPr>
            <p:ph type="ftr" sz="quarter" idx="11"/>
          </p:nvPr>
        </p:nvSpPr>
        <p:spPr/>
        <p:txBody>
          <a:bodyPr rtlCol="0"/>
          <a:lstStyle>
            <a:defPPr>
              <a:defRPr lang="fr-FR"/>
            </a:defPPr>
          </a:lstStyle>
          <a:p>
            <a:pPr rtl="0"/>
            <a:endParaRPr lang="fr-FR" dirty="0"/>
          </a:p>
        </p:txBody>
      </p:sp>
      <p:sp>
        <p:nvSpPr>
          <p:cNvPr id="7" name="Espace réservé du numéro de diapositive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rtlCol="0"/>
          <a:lstStyle>
            <a:defPPr>
              <a:defRPr lang="fr-FR"/>
            </a:defPPr>
          </a:lstStyle>
          <a:p>
            <a:pPr rtl="0"/>
            <a:fld id="{CBD12358-51D2-46B3-9BDE-DF29528B9454}" type="slidenum">
              <a:rPr lang="fr-FR" smtClean="0"/>
              <a:t>‹N°›</a:t>
            </a:fld>
            <a:endParaRPr lang="fr-FR" dirty="0"/>
          </a:p>
        </p:txBody>
      </p:sp>
    </p:spTree>
    <p:extLst>
      <p:ext uri="{BB962C8B-B14F-4D97-AF65-F5344CB8AC3E}">
        <p14:creationId xmlns:p14="http://schemas.microsoft.com/office/powerpoint/2010/main" val="1377039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au">
    <p:spTree>
      <p:nvGrpSpPr>
        <p:cNvPr id="1" name=""/>
        <p:cNvGrpSpPr/>
        <p:nvPr/>
      </p:nvGrpSpPr>
      <p:grpSpPr>
        <a:xfrm>
          <a:off x="0" y="0"/>
          <a:ext cx="0" cy="0"/>
          <a:chOff x="0" y="0"/>
          <a:chExt cx="0" cy="0"/>
        </a:xfrm>
      </p:grpSpPr>
      <p:pic>
        <p:nvPicPr>
          <p:cNvPr id="3" name="Espace réservé d’image 64">
            <a:extLst>
              <a:ext uri="{FF2B5EF4-FFF2-40B4-BE49-F238E27FC236}">
                <a16:creationId xmlns:a16="http://schemas.microsoft.com/office/drawing/2014/main" id="{55E792AE-CF37-9DD8-2703-49480775F029}"/>
              </a:ext>
              <a:ext uri="{C183D7F6-B498-43B3-948B-1728B52AA6E4}">
                <adec:decorative xmlns:adec="http://schemas.microsoft.com/office/drawing/2017/decorative" val="1"/>
              </a:ext>
            </a:extLst>
          </p:cNvPr>
          <p:cNvPicPr>
            <a:picLocks noChangeAspect="1"/>
          </p:cNvPicPr>
          <p:nvPr userDrawn="1"/>
        </p:nvPicPr>
        <p:blipFill rotWithShape="1">
          <a:blip r:embed="rId2">
            <a:alphaModFix amt="44000"/>
            <a:extLst>
              <a:ext uri="{28A0092B-C50C-407E-A947-70E740481C1C}">
                <a14:useLocalDpi xmlns:a14="http://schemas.microsoft.com/office/drawing/2010/main"/>
              </a:ext>
            </a:extLst>
          </a:blip>
          <a:srcRect/>
          <a:stretch/>
        </p:blipFill>
        <p:spPr>
          <a:xfrm rot="10800000">
            <a:off x="0" y="0"/>
            <a:ext cx="12188825" cy="6858000"/>
          </a:xfrm>
          <a:prstGeom prst="rect">
            <a:avLst/>
          </a:prstGeom>
          <a:solidFill>
            <a:schemeClr val="accent1"/>
          </a:solidFill>
        </p:spPr>
      </p:pic>
      <p:sp>
        <p:nvSpPr>
          <p:cNvPr id="2" name="Titre 1">
            <a:extLst>
              <a:ext uri="{FF2B5EF4-FFF2-40B4-BE49-F238E27FC236}">
                <a16:creationId xmlns:a16="http://schemas.microsoft.com/office/drawing/2014/main" id="{F657BD59-35CC-9BB3-8621-6FA3356F81AA}"/>
              </a:ext>
            </a:extLst>
          </p:cNvPr>
          <p:cNvSpPr>
            <a:spLocks noGrp="1"/>
          </p:cNvSpPr>
          <p:nvPr>
            <p:ph type="title" hasCustomPrompt="1"/>
          </p:nvPr>
        </p:nvSpPr>
        <p:spPr>
          <a:xfrm>
            <a:off x="838200" y="133629"/>
            <a:ext cx="10515600" cy="1325563"/>
          </a:xfrm>
        </p:spPr>
        <p:txBody>
          <a:bodyPr rtlCol="0" anchor="b" anchorCtr="0">
            <a:noAutofit/>
          </a:bodyPr>
          <a:lstStyle>
            <a:lvl1pPr>
              <a:defRPr lang="fr-FR" sz="3600"/>
            </a:lvl1pPr>
          </a:lstStyle>
          <a:p>
            <a:pPr rtl="0"/>
            <a:r>
              <a:rPr lang="fr-FR"/>
              <a:t>Cliquez pour ajouter un titre</a:t>
            </a:r>
          </a:p>
        </p:txBody>
      </p:sp>
      <p:sp>
        <p:nvSpPr>
          <p:cNvPr id="8" name="Espace réservé du tableau 7">
            <a:extLst>
              <a:ext uri="{FF2B5EF4-FFF2-40B4-BE49-F238E27FC236}">
                <a16:creationId xmlns:a16="http://schemas.microsoft.com/office/drawing/2014/main" id="{0CEAFE70-86D3-8690-31CA-F9A1FBA494D0}"/>
              </a:ext>
            </a:extLst>
          </p:cNvPr>
          <p:cNvSpPr>
            <a:spLocks noGrp="1"/>
          </p:cNvSpPr>
          <p:nvPr>
            <p:ph type="tbl" sz="quarter" idx="13"/>
          </p:nvPr>
        </p:nvSpPr>
        <p:spPr>
          <a:xfrm>
            <a:off x="914400" y="1779325"/>
            <a:ext cx="10361676" cy="4297680"/>
          </a:xfrm>
        </p:spPr>
        <p:txBody>
          <a:bodyPr rtlCol="0"/>
          <a:lstStyle>
            <a:lvl1pPr>
              <a:defRPr lang="fr-FR"/>
            </a:lvl1pPr>
          </a:lstStyle>
          <a:p>
            <a:pPr rtl="0"/>
            <a:r>
              <a:rPr lang="fr-FR"/>
              <a:t>Cliquez sur l'icône pour ajouter un tableau</a:t>
            </a:r>
          </a:p>
        </p:txBody>
      </p:sp>
      <p:sp>
        <p:nvSpPr>
          <p:cNvPr id="4" name="Espace réservé de la date 3">
            <a:extLst>
              <a:ext uri="{FF2B5EF4-FFF2-40B4-BE49-F238E27FC236}">
                <a16:creationId xmlns:a16="http://schemas.microsoft.com/office/drawing/2014/main" id="{8C56EB0F-63C8-5F75-A333-3413A9DC6F76}"/>
              </a:ext>
            </a:extLst>
          </p:cNvPr>
          <p:cNvSpPr>
            <a:spLocks noGrp="1"/>
          </p:cNvSpPr>
          <p:nvPr>
            <p:ph type="dt" sz="half" idx="10"/>
          </p:nvPr>
        </p:nvSpPr>
        <p:spPr/>
        <p:txBody>
          <a:bodyPr rtlCol="0"/>
          <a:lstStyle>
            <a:defPPr>
              <a:defRPr lang="fr-FR"/>
            </a:defPPr>
          </a:lstStyle>
          <a:p>
            <a:pPr rtl="0"/>
            <a:fld id="{552C5ED7-A1CD-49A3-A299-830AF836F4E6}" type="datetime1">
              <a:rPr lang="fr-FR" smtClean="0"/>
              <a:t>06/09/2026</a:t>
            </a:fld>
            <a:endParaRPr lang="fr-FR" dirty="0"/>
          </a:p>
        </p:txBody>
      </p:sp>
      <p:sp>
        <p:nvSpPr>
          <p:cNvPr id="5" name="Espace réservé du pied de page 4">
            <a:extLst>
              <a:ext uri="{FF2B5EF4-FFF2-40B4-BE49-F238E27FC236}">
                <a16:creationId xmlns:a16="http://schemas.microsoft.com/office/drawing/2014/main" id="{4D4DE333-25B4-E092-1CC4-C3D20BA25168}"/>
              </a:ext>
            </a:extLst>
          </p:cNvPr>
          <p:cNvSpPr>
            <a:spLocks noGrp="1"/>
          </p:cNvSpPr>
          <p:nvPr>
            <p:ph type="ftr" sz="quarter" idx="11"/>
          </p:nvPr>
        </p:nvSpPr>
        <p:spPr/>
        <p:txBody>
          <a:bodyPr rtlCol="0"/>
          <a:lstStyle>
            <a:defPPr>
              <a:defRPr lang="fr-FR"/>
            </a:defPPr>
          </a:lstStyle>
          <a:p>
            <a:pPr rtl="0"/>
            <a:endParaRPr lang="fr-FR" dirty="0"/>
          </a:p>
        </p:txBody>
      </p:sp>
      <p:sp>
        <p:nvSpPr>
          <p:cNvPr id="6" name="Espace réservé du numéro de diapositive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rtlCol="0"/>
          <a:lstStyle>
            <a:defPPr>
              <a:defRPr lang="fr-FR"/>
            </a:defPPr>
          </a:lstStyle>
          <a:p>
            <a:pPr rtl="0"/>
            <a:fld id="{CBD12358-51D2-46B3-9BDE-DF29528B9454}" type="slidenum">
              <a:rPr lang="fr-FR" smtClean="0"/>
              <a:t>‹N°›</a:t>
            </a:fld>
            <a:endParaRPr lang="fr-FR" dirty="0"/>
          </a:p>
        </p:txBody>
      </p:sp>
    </p:spTree>
    <p:extLst>
      <p:ext uri="{BB962C8B-B14F-4D97-AF65-F5344CB8AC3E}">
        <p14:creationId xmlns:p14="http://schemas.microsoft.com/office/powerpoint/2010/main" val="26260992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u 3">
    <p:spTree>
      <p:nvGrpSpPr>
        <p:cNvPr id="1" name=""/>
        <p:cNvGrpSpPr/>
        <p:nvPr/>
      </p:nvGrpSpPr>
      <p:grpSpPr>
        <a:xfrm>
          <a:off x="0" y="0"/>
          <a:ext cx="0" cy="0"/>
          <a:chOff x="0" y="0"/>
          <a:chExt cx="0" cy="0"/>
        </a:xfrm>
      </p:grpSpPr>
      <p:pic>
        <p:nvPicPr>
          <p:cNvPr id="7" name="Espace réservé d’image 13">
            <a:extLst>
              <a:ext uri="{FF2B5EF4-FFF2-40B4-BE49-F238E27FC236}">
                <a16:creationId xmlns:a16="http://schemas.microsoft.com/office/drawing/2014/main" id="{A1BB4149-7987-3EF4-952D-2271B4DD8AB1}"/>
              </a:ext>
              <a:ext uri="{C183D7F6-B498-43B3-948B-1728B52AA6E4}">
                <adec:decorative xmlns:adec="http://schemas.microsoft.com/office/drawing/2017/decorative" val="1"/>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saturation sat="50000"/>
                    </a14:imgEffect>
                  </a14:imgLayer>
                </a14:imgProps>
              </a:ext>
              <a:ext uri="{28A0092B-C50C-407E-A947-70E740481C1C}">
                <a14:useLocalDpi xmlns:a14="http://schemas.microsoft.com/office/drawing/2010/main"/>
              </a:ext>
            </a:extLst>
          </a:blip>
          <a:srcRect/>
          <a:stretch/>
        </p:blipFill>
        <p:spPr>
          <a:xfrm>
            <a:off x="1524" y="0"/>
            <a:ext cx="12188952" cy="6858000"/>
          </a:xfrm>
          <a:prstGeom prst="rect">
            <a:avLst/>
          </a:prstGeom>
        </p:spPr>
      </p:pic>
      <p:sp>
        <p:nvSpPr>
          <p:cNvPr id="8" name="Rectangle 7">
            <a:extLst>
              <a:ext uri="{FF2B5EF4-FFF2-40B4-BE49-F238E27FC236}">
                <a16:creationId xmlns:a16="http://schemas.microsoft.com/office/drawing/2014/main" id="{07B335AD-7A4B-841B-52BC-8FF32D99D749}"/>
              </a:ext>
              <a:ext uri="{C183D7F6-B498-43B3-948B-1728B52AA6E4}">
                <adec:decorative xmlns:adec="http://schemas.microsoft.com/office/drawing/2017/decorative" val="1"/>
              </a:ext>
            </a:extLst>
          </p:cNvPr>
          <p:cNvSpPr/>
          <p:nvPr userDrawn="1"/>
        </p:nvSpPr>
        <p:spPr>
          <a:xfrm>
            <a:off x="3799368" y="0"/>
            <a:ext cx="4593265" cy="6858000"/>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fr-FR"/>
            </a:defPPr>
          </a:lstStyle>
          <a:p>
            <a:pPr algn="ctr" rtl="0"/>
            <a:endParaRPr lang="fr-FR" dirty="0"/>
          </a:p>
        </p:txBody>
      </p:sp>
      <p:sp>
        <p:nvSpPr>
          <p:cNvPr id="2" name="Titre 1">
            <a:extLst>
              <a:ext uri="{FF2B5EF4-FFF2-40B4-BE49-F238E27FC236}">
                <a16:creationId xmlns:a16="http://schemas.microsoft.com/office/drawing/2014/main" id="{F657BD59-35CC-9BB3-8621-6FA3356F81AA}"/>
              </a:ext>
            </a:extLst>
          </p:cNvPr>
          <p:cNvSpPr>
            <a:spLocks noGrp="1"/>
          </p:cNvSpPr>
          <p:nvPr>
            <p:ph type="title" hasCustomPrompt="1"/>
          </p:nvPr>
        </p:nvSpPr>
        <p:spPr>
          <a:xfrm>
            <a:off x="4143375" y="92597"/>
            <a:ext cx="3905250" cy="3032567"/>
          </a:xfrm>
        </p:spPr>
        <p:txBody>
          <a:bodyPr rtlCol="0" anchor="b">
            <a:noAutofit/>
          </a:bodyPr>
          <a:lstStyle>
            <a:lvl1pPr algn="ctr">
              <a:defRPr lang="fr-FR"/>
            </a:lvl1pPr>
          </a:lstStyle>
          <a:p>
            <a:pPr rtl="0"/>
            <a:r>
              <a:rPr lang="fr-FR"/>
              <a:t>Cliquez pour ajouter un titre</a:t>
            </a:r>
          </a:p>
        </p:txBody>
      </p:sp>
      <p:sp>
        <p:nvSpPr>
          <p:cNvPr id="10" name="Espace réservé du texte 9">
            <a:extLst>
              <a:ext uri="{FF2B5EF4-FFF2-40B4-BE49-F238E27FC236}">
                <a16:creationId xmlns:a16="http://schemas.microsoft.com/office/drawing/2014/main" id="{A13E19FD-68BB-0F8D-21CF-9E48B806073F}"/>
              </a:ext>
            </a:extLst>
          </p:cNvPr>
          <p:cNvSpPr>
            <a:spLocks noGrp="1"/>
          </p:cNvSpPr>
          <p:nvPr>
            <p:ph type="body" sz="quarter" idx="10" hasCustomPrompt="1"/>
          </p:nvPr>
        </p:nvSpPr>
        <p:spPr>
          <a:xfrm>
            <a:off x="4143375" y="4004321"/>
            <a:ext cx="3905250" cy="2743200"/>
          </a:xfrm>
        </p:spPr>
        <p:txBody>
          <a:bodyPr rtlCol="0">
            <a:normAutofit/>
          </a:bodyPr>
          <a:lstStyle>
            <a:lvl1pPr marL="0" indent="0" algn="ctr">
              <a:buNone/>
              <a:defRPr lang="fr-FR" sz="1800"/>
            </a:lvl1pPr>
            <a:lvl2pPr marL="457200" indent="0" algn="ctr">
              <a:buNone/>
              <a:defRPr lang="fr-FR"/>
            </a:lvl2pPr>
            <a:lvl3pPr marL="914400" indent="0" algn="ctr">
              <a:buNone/>
              <a:defRPr lang="fr-FR"/>
            </a:lvl3pPr>
            <a:lvl4pPr marL="1371600" indent="0" algn="ctr">
              <a:buNone/>
              <a:defRPr lang="fr-FR"/>
            </a:lvl4pPr>
            <a:lvl5pPr marL="1828800" indent="0" algn="ctr">
              <a:buNone/>
              <a:defRPr lang="fr-FR"/>
            </a:lvl5pPr>
          </a:lstStyle>
          <a:p>
            <a:pPr lvl="0" rtl="0"/>
            <a:r>
              <a:rPr lang="fr-FR"/>
              <a:t>Cliquer pour ajouter du texte</a:t>
            </a:r>
          </a:p>
        </p:txBody>
      </p:sp>
    </p:spTree>
    <p:extLst>
      <p:ext uri="{BB962C8B-B14F-4D97-AF65-F5344CB8AC3E}">
        <p14:creationId xmlns:p14="http://schemas.microsoft.com/office/powerpoint/2010/main" val="21629670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Sommaire simple">
    <p:spTree>
      <p:nvGrpSpPr>
        <p:cNvPr id="1" name=""/>
        <p:cNvGrpSpPr/>
        <p:nvPr/>
      </p:nvGrpSpPr>
      <p:grpSpPr>
        <a:xfrm>
          <a:off x="0" y="0"/>
          <a:ext cx="0" cy="0"/>
          <a:chOff x="0" y="0"/>
          <a:chExt cx="0" cy="0"/>
        </a:xfrm>
      </p:grpSpPr>
      <p:cxnSp>
        <p:nvCxnSpPr>
          <p:cNvPr id="6" name="Connecteur droit 5"/>
          <p:cNvCxnSpPr/>
          <p:nvPr userDrawn="1"/>
        </p:nvCxnSpPr>
        <p:spPr>
          <a:xfrm>
            <a:off x="431681" y="1088740"/>
            <a:ext cx="11268633" cy="0"/>
          </a:xfrm>
          <a:prstGeom prst="line">
            <a:avLst/>
          </a:prstGeom>
          <a:ln w="6350">
            <a:solidFill>
              <a:schemeClr val="accent3">
                <a:lumMod val="75000"/>
              </a:schemeClr>
            </a:solidFill>
          </a:ln>
        </p:spPr>
        <p:style>
          <a:lnRef idx="1">
            <a:schemeClr val="accent4"/>
          </a:lnRef>
          <a:fillRef idx="0">
            <a:schemeClr val="accent4"/>
          </a:fillRef>
          <a:effectRef idx="0">
            <a:schemeClr val="accent4"/>
          </a:effectRef>
          <a:fontRef idx="minor">
            <a:schemeClr val="tx1"/>
          </a:fontRef>
        </p:style>
      </p:cxnSp>
      <p:sp>
        <p:nvSpPr>
          <p:cNvPr id="7" name="Espace réservé du texte 6"/>
          <p:cNvSpPr>
            <a:spLocks noGrp="1"/>
          </p:cNvSpPr>
          <p:nvPr>
            <p:ph type="body" sz="quarter" idx="13" hasCustomPrompt="1"/>
          </p:nvPr>
        </p:nvSpPr>
        <p:spPr>
          <a:xfrm>
            <a:off x="431799" y="1208755"/>
            <a:ext cx="8784548" cy="4800464"/>
          </a:xfrm>
        </p:spPr>
        <p:txBody>
          <a:bodyPr/>
          <a:lstStyle>
            <a:lvl1pPr>
              <a:spcBef>
                <a:spcPts val="1600"/>
              </a:spcBef>
              <a:defRPr>
                <a:solidFill>
                  <a:schemeClr val="tx1"/>
                </a:solidFill>
              </a:defRPr>
            </a:lvl1pPr>
          </a:lstStyle>
          <a:p>
            <a:pPr lvl="0"/>
            <a:r>
              <a:rPr lang="fr-FR" dirty="0"/>
              <a:t>Premier niveau</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pic>
        <p:nvPicPr>
          <p:cNvPr id="3074" name="Picture 2" descr="F:\Services\__Eléments Agence IMMEDIA\Derniers PICTOS reçus\05_08_2016\Pictogrammes-PPT_CFPC-2016\GRAND_Liste.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376254" y="1748813"/>
            <a:ext cx="4032001" cy="4032000"/>
          </a:xfrm>
          <a:prstGeom prst="rect">
            <a:avLst/>
          </a:prstGeom>
          <a:noFill/>
          <a:extLst>
            <a:ext uri="{909E8E84-426E-40DD-AFC4-6F175D3DCCD1}">
              <a14:hiddenFill xmlns:a14="http://schemas.microsoft.com/office/drawing/2010/main">
                <a:solidFill>
                  <a:srgbClr val="FFFFFF"/>
                </a:solidFill>
              </a14:hiddenFill>
            </a:ext>
          </a:extLst>
        </p:spPr>
      </p:pic>
      <p:sp>
        <p:nvSpPr>
          <p:cNvPr id="8" name="Espace réservé du texte 7"/>
          <p:cNvSpPr>
            <a:spLocks noGrp="1"/>
          </p:cNvSpPr>
          <p:nvPr>
            <p:ph type="body" sz="quarter" idx="14" hasCustomPrompt="1"/>
          </p:nvPr>
        </p:nvSpPr>
        <p:spPr>
          <a:xfrm>
            <a:off x="431800" y="308654"/>
            <a:ext cx="11269133" cy="780087"/>
          </a:xfrm>
        </p:spPr>
        <p:txBody>
          <a:bodyPr/>
          <a:lstStyle>
            <a:lvl1pPr marL="0" indent="0">
              <a:buNone/>
              <a:defRPr sz="4267" b="0" cap="all" spc="267" baseline="0"/>
            </a:lvl1pPr>
          </a:lstStyle>
          <a:p>
            <a:pPr lvl="0"/>
            <a:r>
              <a:rPr lang="fr-FR" dirty="0"/>
              <a:t>Sommaire</a:t>
            </a:r>
          </a:p>
        </p:txBody>
      </p:sp>
    </p:spTree>
    <p:extLst>
      <p:ext uri="{BB962C8B-B14F-4D97-AF65-F5344CB8AC3E}">
        <p14:creationId xmlns:p14="http://schemas.microsoft.com/office/powerpoint/2010/main" val="33098447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re de section">
    <p:spTree>
      <p:nvGrpSpPr>
        <p:cNvPr id="1" name=""/>
        <p:cNvGrpSpPr/>
        <p:nvPr/>
      </p:nvGrpSpPr>
      <p:grpSpPr>
        <a:xfrm>
          <a:off x="0" y="0"/>
          <a:ext cx="0" cy="0"/>
          <a:chOff x="0" y="0"/>
          <a:chExt cx="0" cy="0"/>
        </a:xfrm>
      </p:grpSpPr>
      <p:sp>
        <p:nvSpPr>
          <p:cNvPr id="8" name="Rectangle 7"/>
          <p:cNvSpPr/>
          <p:nvPr userDrawn="1"/>
        </p:nvSpPr>
        <p:spPr>
          <a:xfrm>
            <a:off x="430457" y="273273"/>
            <a:ext cx="11265600" cy="5616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dirty="0"/>
          </a:p>
        </p:txBody>
      </p:sp>
      <p:sp>
        <p:nvSpPr>
          <p:cNvPr id="3" name="Espace réservé du texte 2"/>
          <p:cNvSpPr>
            <a:spLocks noGrp="1"/>
          </p:cNvSpPr>
          <p:nvPr>
            <p:ph type="body" idx="1" hasCustomPrompt="1"/>
          </p:nvPr>
        </p:nvSpPr>
        <p:spPr>
          <a:xfrm>
            <a:off x="3288545" y="3669027"/>
            <a:ext cx="8421913" cy="1807732"/>
          </a:xfrm>
        </p:spPr>
        <p:txBody>
          <a:bodyPr lIns="0" tIns="0" rIns="0" bIns="0" anchor="t"/>
          <a:lstStyle>
            <a:lvl1pPr marL="0" indent="0" algn="l">
              <a:buNone/>
              <a:defRPr sz="3200" cap="all" baseline="0">
                <a:solidFill>
                  <a:schemeClr val="bg1"/>
                </a:solidFill>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fr-FR" dirty="0"/>
              <a:t>Sous-titre intercalaire</a:t>
            </a:r>
          </a:p>
        </p:txBody>
      </p:sp>
      <p:sp>
        <p:nvSpPr>
          <p:cNvPr id="7" name="Titre 6"/>
          <p:cNvSpPr>
            <a:spLocks noGrp="1"/>
          </p:cNvSpPr>
          <p:nvPr>
            <p:ph type="title" hasCustomPrompt="1"/>
          </p:nvPr>
        </p:nvSpPr>
        <p:spPr>
          <a:xfrm>
            <a:off x="3288574" y="668694"/>
            <a:ext cx="8407484" cy="2936441"/>
          </a:xfrm>
        </p:spPr>
        <p:txBody>
          <a:bodyPr>
            <a:noAutofit/>
          </a:bodyPr>
          <a:lstStyle>
            <a:lvl1pPr algn="l">
              <a:lnSpc>
                <a:spcPts val="4800"/>
              </a:lnSpc>
              <a:defRPr sz="4800" cap="all" baseline="0">
                <a:solidFill>
                  <a:schemeClr val="bg1"/>
                </a:solidFill>
              </a:defRPr>
            </a:lvl1pPr>
          </a:lstStyle>
          <a:p>
            <a:br>
              <a:rPr lang="fr-FR" dirty="0"/>
            </a:br>
            <a:br>
              <a:rPr lang="fr-FR" dirty="0"/>
            </a:br>
            <a:r>
              <a:rPr lang="fr-FR" dirty="0"/>
              <a:t>séquence 1</a:t>
            </a:r>
          </a:p>
        </p:txBody>
      </p:sp>
      <p:sp>
        <p:nvSpPr>
          <p:cNvPr id="12" name="Rectangle 11"/>
          <p:cNvSpPr/>
          <p:nvPr userDrawn="1"/>
        </p:nvSpPr>
        <p:spPr>
          <a:xfrm>
            <a:off x="432000" y="188640"/>
            <a:ext cx="2783680" cy="480053"/>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cxnSp>
        <p:nvCxnSpPr>
          <p:cNvPr id="14" name="Connecteur droit 13"/>
          <p:cNvCxnSpPr/>
          <p:nvPr userDrawn="1"/>
        </p:nvCxnSpPr>
        <p:spPr>
          <a:xfrm>
            <a:off x="3216632" y="1208754"/>
            <a:ext cx="0" cy="400653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8" name="Espace réservé du contenu 17"/>
          <p:cNvSpPr>
            <a:spLocks noGrp="1"/>
          </p:cNvSpPr>
          <p:nvPr>
            <p:ph sz="quarter" idx="10" hasCustomPrompt="1"/>
          </p:nvPr>
        </p:nvSpPr>
        <p:spPr>
          <a:xfrm>
            <a:off x="575388" y="1149351"/>
            <a:ext cx="2521297" cy="4320116"/>
          </a:xfrm>
        </p:spPr>
        <p:txBody>
          <a:bodyPr/>
          <a:lstStyle>
            <a:lvl1pPr marL="0" indent="0" algn="l">
              <a:buNone/>
              <a:defRPr baseline="0">
                <a:solidFill>
                  <a:schemeClr val="bg1"/>
                </a:solidFill>
              </a:defRPr>
            </a:lvl1pPr>
          </a:lstStyle>
          <a:p>
            <a:pPr lvl="0"/>
            <a:r>
              <a:rPr lang="fr-FR" dirty="0"/>
              <a:t>Insérez une icône</a:t>
            </a:r>
          </a:p>
        </p:txBody>
      </p:sp>
      <p:sp>
        <p:nvSpPr>
          <p:cNvPr id="9" name="Rectangle 8"/>
          <p:cNvSpPr/>
          <p:nvPr userDrawn="1"/>
        </p:nvSpPr>
        <p:spPr>
          <a:xfrm>
            <a:off x="755407" y="6357000"/>
            <a:ext cx="960107" cy="32385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Tree>
    <p:extLst>
      <p:ext uri="{BB962C8B-B14F-4D97-AF65-F5344CB8AC3E}">
        <p14:creationId xmlns:p14="http://schemas.microsoft.com/office/powerpoint/2010/main" val="964207140"/>
      </p:ext>
    </p:extLst>
  </p:cSld>
  <p:clrMapOvr>
    <a:masterClrMapping/>
  </p:clrMapOvr>
  <p:transition spd="slow">
    <p:push dir="u"/>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itre et contenu">
    <p:spTree>
      <p:nvGrpSpPr>
        <p:cNvPr id="1" name=""/>
        <p:cNvGrpSpPr/>
        <p:nvPr/>
      </p:nvGrpSpPr>
      <p:grpSpPr>
        <a:xfrm>
          <a:off x="0" y="0"/>
          <a:ext cx="0" cy="0"/>
          <a:chOff x="0" y="0"/>
          <a:chExt cx="0" cy="0"/>
        </a:xfrm>
      </p:grpSpPr>
      <p:cxnSp>
        <p:nvCxnSpPr>
          <p:cNvPr id="6" name="Connecteur droit 5"/>
          <p:cNvCxnSpPr/>
          <p:nvPr userDrawn="1"/>
        </p:nvCxnSpPr>
        <p:spPr>
          <a:xfrm>
            <a:off x="431681" y="1628800"/>
            <a:ext cx="11268633" cy="0"/>
          </a:xfrm>
          <a:prstGeom prst="line">
            <a:avLst/>
          </a:prstGeom>
          <a:ln w="6350">
            <a:solidFill>
              <a:schemeClr val="accent3">
                <a:lumMod val="75000"/>
              </a:schemeClr>
            </a:solidFill>
          </a:ln>
        </p:spPr>
        <p:style>
          <a:lnRef idx="1">
            <a:schemeClr val="accent4"/>
          </a:lnRef>
          <a:fillRef idx="0">
            <a:schemeClr val="accent4"/>
          </a:fillRef>
          <a:effectRef idx="0">
            <a:schemeClr val="accent4"/>
          </a:effectRef>
          <a:fontRef idx="minor">
            <a:schemeClr val="tx1"/>
          </a:fontRef>
        </p:style>
      </p:cxnSp>
      <p:sp>
        <p:nvSpPr>
          <p:cNvPr id="10" name="Espace réservé du contenu 9"/>
          <p:cNvSpPr>
            <a:spLocks noGrp="1"/>
          </p:cNvSpPr>
          <p:nvPr>
            <p:ph sz="quarter" idx="14" hasCustomPrompt="1"/>
          </p:nvPr>
        </p:nvSpPr>
        <p:spPr>
          <a:xfrm>
            <a:off x="431800" y="1748813"/>
            <a:ext cx="11269133" cy="4132812"/>
          </a:xfrm>
        </p:spPr>
        <p:txBody>
          <a:bodyPr>
            <a:normAutofit/>
          </a:bodyPr>
          <a:lstStyle/>
          <a:p>
            <a:pPr lvl="0"/>
            <a:r>
              <a:rPr lang="fr-FR" dirty="0"/>
              <a:t>Premier niveau</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2" name="Titre 1"/>
          <p:cNvSpPr>
            <a:spLocks noGrp="1"/>
          </p:cNvSpPr>
          <p:nvPr>
            <p:ph type="title" hasCustomPrompt="1"/>
          </p:nvPr>
        </p:nvSpPr>
        <p:spPr>
          <a:xfrm>
            <a:off x="431682" y="428667"/>
            <a:ext cx="11251489" cy="1200133"/>
          </a:xfrm>
        </p:spPr>
        <p:txBody>
          <a:bodyPr/>
          <a:lstStyle>
            <a:lvl1pPr algn="l">
              <a:defRPr/>
            </a:lvl1pPr>
          </a:lstStyle>
          <a:p>
            <a:r>
              <a:rPr lang="fr-FR" dirty="0"/>
              <a:t>Insérez le titre</a:t>
            </a:r>
          </a:p>
        </p:txBody>
      </p:sp>
    </p:spTree>
    <p:extLst>
      <p:ext uri="{BB962C8B-B14F-4D97-AF65-F5344CB8AC3E}">
        <p14:creationId xmlns:p14="http://schemas.microsoft.com/office/powerpoint/2010/main" val="36070637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Séquence 2">
    <p:spTree>
      <p:nvGrpSpPr>
        <p:cNvPr id="1" name=""/>
        <p:cNvGrpSpPr/>
        <p:nvPr/>
      </p:nvGrpSpPr>
      <p:grpSpPr>
        <a:xfrm>
          <a:off x="0" y="0"/>
          <a:ext cx="0" cy="0"/>
          <a:chOff x="0" y="0"/>
          <a:chExt cx="0" cy="0"/>
        </a:xfrm>
      </p:grpSpPr>
      <p:sp>
        <p:nvSpPr>
          <p:cNvPr id="8" name="Rectangle 7"/>
          <p:cNvSpPr/>
          <p:nvPr userDrawn="1"/>
        </p:nvSpPr>
        <p:spPr>
          <a:xfrm>
            <a:off x="430457" y="273273"/>
            <a:ext cx="11265600" cy="5616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
        <p:nvSpPr>
          <p:cNvPr id="3" name="Espace réservé du texte 2"/>
          <p:cNvSpPr>
            <a:spLocks noGrp="1"/>
          </p:cNvSpPr>
          <p:nvPr>
            <p:ph type="body" idx="1" hasCustomPrompt="1"/>
          </p:nvPr>
        </p:nvSpPr>
        <p:spPr>
          <a:xfrm>
            <a:off x="3288545" y="3669027"/>
            <a:ext cx="8421913" cy="1807732"/>
          </a:xfrm>
        </p:spPr>
        <p:txBody>
          <a:bodyPr lIns="0" tIns="0" rIns="0" bIns="0" anchor="t"/>
          <a:lstStyle>
            <a:lvl1pPr marL="0" indent="0" algn="l">
              <a:buNone/>
              <a:defRPr sz="3200" cap="all" baseline="0">
                <a:solidFill>
                  <a:schemeClr val="bg1"/>
                </a:solidFill>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fr-FR" dirty="0"/>
              <a:t>Sous-titre intercalaire</a:t>
            </a:r>
          </a:p>
        </p:txBody>
      </p:sp>
      <p:sp>
        <p:nvSpPr>
          <p:cNvPr id="7" name="Titre 6"/>
          <p:cNvSpPr>
            <a:spLocks noGrp="1"/>
          </p:cNvSpPr>
          <p:nvPr>
            <p:ph type="title" hasCustomPrompt="1"/>
          </p:nvPr>
        </p:nvSpPr>
        <p:spPr>
          <a:xfrm>
            <a:off x="3288417" y="848714"/>
            <a:ext cx="8407484" cy="2756421"/>
          </a:xfrm>
        </p:spPr>
        <p:txBody>
          <a:bodyPr>
            <a:noAutofit/>
          </a:bodyPr>
          <a:lstStyle>
            <a:lvl1pPr algn="l">
              <a:lnSpc>
                <a:spcPts val="4800"/>
              </a:lnSpc>
              <a:defRPr sz="4800" cap="all" baseline="0">
                <a:solidFill>
                  <a:schemeClr val="bg1"/>
                </a:solidFill>
              </a:defRPr>
            </a:lvl1pPr>
          </a:lstStyle>
          <a:p>
            <a:br>
              <a:rPr lang="fr-FR" dirty="0"/>
            </a:br>
            <a:br>
              <a:rPr lang="fr-FR" dirty="0"/>
            </a:br>
            <a:r>
              <a:rPr lang="fr-FR" dirty="0"/>
              <a:t>séquence 2</a:t>
            </a:r>
          </a:p>
        </p:txBody>
      </p:sp>
      <p:sp>
        <p:nvSpPr>
          <p:cNvPr id="12" name="Rectangle 11"/>
          <p:cNvSpPr/>
          <p:nvPr userDrawn="1"/>
        </p:nvSpPr>
        <p:spPr>
          <a:xfrm>
            <a:off x="3252313" y="188640"/>
            <a:ext cx="2788800" cy="48005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cxnSp>
        <p:nvCxnSpPr>
          <p:cNvPr id="14" name="Connecteur droit 13"/>
          <p:cNvCxnSpPr/>
          <p:nvPr userDrawn="1"/>
        </p:nvCxnSpPr>
        <p:spPr>
          <a:xfrm>
            <a:off x="3216632" y="1208754"/>
            <a:ext cx="0" cy="400653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8" name="Espace réservé du contenu 17"/>
          <p:cNvSpPr>
            <a:spLocks noGrp="1"/>
          </p:cNvSpPr>
          <p:nvPr>
            <p:ph sz="quarter" idx="10" hasCustomPrompt="1"/>
          </p:nvPr>
        </p:nvSpPr>
        <p:spPr>
          <a:xfrm>
            <a:off x="575388" y="1149351"/>
            <a:ext cx="2521297" cy="4320116"/>
          </a:xfrm>
        </p:spPr>
        <p:txBody>
          <a:bodyPr/>
          <a:lstStyle>
            <a:lvl1pPr marL="0" indent="0" algn="l">
              <a:buNone/>
              <a:defRPr baseline="0">
                <a:solidFill>
                  <a:schemeClr val="bg1"/>
                </a:solidFill>
              </a:defRPr>
            </a:lvl1pPr>
          </a:lstStyle>
          <a:p>
            <a:pPr lvl="0"/>
            <a:r>
              <a:rPr lang="fr-FR" dirty="0"/>
              <a:t>Insérez une icône</a:t>
            </a:r>
          </a:p>
        </p:txBody>
      </p:sp>
      <p:sp>
        <p:nvSpPr>
          <p:cNvPr id="9" name="Rectangle 8"/>
          <p:cNvSpPr/>
          <p:nvPr userDrawn="1"/>
        </p:nvSpPr>
        <p:spPr>
          <a:xfrm>
            <a:off x="755407" y="6357000"/>
            <a:ext cx="960107" cy="32385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Tree>
    <p:extLst>
      <p:ext uri="{BB962C8B-B14F-4D97-AF65-F5344CB8AC3E}">
        <p14:creationId xmlns:p14="http://schemas.microsoft.com/office/powerpoint/2010/main" val="568309926"/>
      </p:ext>
    </p:extLst>
  </p:cSld>
  <p:clrMapOvr>
    <a:masterClrMapping/>
  </p:clrMapOvr>
  <p:transition spd="slow">
    <p:push dir="u"/>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Séquence 3">
    <p:spTree>
      <p:nvGrpSpPr>
        <p:cNvPr id="1" name=""/>
        <p:cNvGrpSpPr/>
        <p:nvPr/>
      </p:nvGrpSpPr>
      <p:grpSpPr>
        <a:xfrm>
          <a:off x="0" y="0"/>
          <a:ext cx="0" cy="0"/>
          <a:chOff x="0" y="0"/>
          <a:chExt cx="0" cy="0"/>
        </a:xfrm>
      </p:grpSpPr>
      <p:sp>
        <p:nvSpPr>
          <p:cNvPr id="8" name="Rectangle 7"/>
          <p:cNvSpPr/>
          <p:nvPr userDrawn="1"/>
        </p:nvSpPr>
        <p:spPr>
          <a:xfrm>
            <a:off x="430457" y="273273"/>
            <a:ext cx="11265600" cy="561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
        <p:nvSpPr>
          <p:cNvPr id="3" name="Espace réservé du texte 2"/>
          <p:cNvSpPr>
            <a:spLocks noGrp="1"/>
          </p:cNvSpPr>
          <p:nvPr>
            <p:ph type="body" idx="1" hasCustomPrompt="1"/>
          </p:nvPr>
        </p:nvSpPr>
        <p:spPr>
          <a:xfrm>
            <a:off x="3288545" y="3669027"/>
            <a:ext cx="8421913" cy="1807732"/>
          </a:xfrm>
        </p:spPr>
        <p:txBody>
          <a:bodyPr lIns="0" tIns="0" rIns="0" bIns="0" anchor="t"/>
          <a:lstStyle>
            <a:lvl1pPr marL="0" indent="0" algn="l">
              <a:buNone/>
              <a:defRPr sz="3200" cap="all" baseline="0">
                <a:solidFill>
                  <a:schemeClr val="bg1"/>
                </a:solidFill>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fr-FR" dirty="0"/>
              <a:t>Sous-titre intercalaire</a:t>
            </a:r>
          </a:p>
        </p:txBody>
      </p:sp>
      <p:sp>
        <p:nvSpPr>
          <p:cNvPr id="7" name="Titre 6"/>
          <p:cNvSpPr>
            <a:spLocks noGrp="1"/>
          </p:cNvSpPr>
          <p:nvPr>
            <p:ph type="title" hasCustomPrompt="1"/>
          </p:nvPr>
        </p:nvSpPr>
        <p:spPr>
          <a:xfrm>
            <a:off x="3288417" y="848714"/>
            <a:ext cx="8407484" cy="2756421"/>
          </a:xfrm>
        </p:spPr>
        <p:txBody>
          <a:bodyPr>
            <a:noAutofit/>
          </a:bodyPr>
          <a:lstStyle>
            <a:lvl1pPr algn="l">
              <a:lnSpc>
                <a:spcPts val="4800"/>
              </a:lnSpc>
              <a:defRPr sz="4800" cap="all" baseline="0">
                <a:solidFill>
                  <a:schemeClr val="bg1"/>
                </a:solidFill>
              </a:defRPr>
            </a:lvl1pPr>
          </a:lstStyle>
          <a:p>
            <a:br>
              <a:rPr lang="fr-FR" dirty="0"/>
            </a:br>
            <a:br>
              <a:rPr lang="fr-FR" dirty="0"/>
            </a:br>
            <a:r>
              <a:rPr lang="fr-FR" dirty="0"/>
              <a:t>séquence 3</a:t>
            </a:r>
          </a:p>
        </p:txBody>
      </p:sp>
      <p:sp>
        <p:nvSpPr>
          <p:cNvPr id="12" name="Rectangle 11"/>
          <p:cNvSpPr/>
          <p:nvPr userDrawn="1"/>
        </p:nvSpPr>
        <p:spPr>
          <a:xfrm>
            <a:off x="6081600" y="188640"/>
            <a:ext cx="2783680" cy="6511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cxnSp>
        <p:nvCxnSpPr>
          <p:cNvPr id="14" name="Connecteur droit 13"/>
          <p:cNvCxnSpPr/>
          <p:nvPr userDrawn="1"/>
        </p:nvCxnSpPr>
        <p:spPr>
          <a:xfrm>
            <a:off x="3216632" y="1208754"/>
            <a:ext cx="0" cy="400653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8" name="Espace réservé du contenu 17"/>
          <p:cNvSpPr>
            <a:spLocks noGrp="1"/>
          </p:cNvSpPr>
          <p:nvPr>
            <p:ph sz="quarter" idx="10" hasCustomPrompt="1"/>
          </p:nvPr>
        </p:nvSpPr>
        <p:spPr>
          <a:xfrm>
            <a:off x="575388" y="1149351"/>
            <a:ext cx="2521297" cy="4320116"/>
          </a:xfrm>
        </p:spPr>
        <p:txBody>
          <a:bodyPr/>
          <a:lstStyle>
            <a:lvl1pPr marL="0" indent="0" algn="l">
              <a:buNone/>
              <a:defRPr baseline="0">
                <a:solidFill>
                  <a:schemeClr val="bg1"/>
                </a:solidFill>
              </a:defRPr>
            </a:lvl1pPr>
          </a:lstStyle>
          <a:p>
            <a:pPr lvl="0"/>
            <a:r>
              <a:rPr lang="fr-FR" dirty="0"/>
              <a:t>Insérez une icône</a:t>
            </a:r>
          </a:p>
        </p:txBody>
      </p:sp>
      <p:sp>
        <p:nvSpPr>
          <p:cNvPr id="9" name="Rectangle 8"/>
          <p:cNvSpPr/>
          <p:nvPr userDrawn="1"/>
        </p:nvSpPr>
        <p:spPr>
          <a:xfrm>
            <a:off x="755407" y="6357000"/>
            <a:ext cx="960107" cy="32385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Tree>
    <p:extLst>
      <p:ext uri="{BB962C8B-B14F-4D97-AF65-F5344CB8AC3E}">
        <p14:creationId xmlns:p14="http://schemas.microsoft.com/office/powerpoint/2010/main" val="4240301197"/>
      </p:ext>
    </p:extLst>
  </p:cSld>
  <p:clrMapOvr>
    <a:masterClrMapping/>
  </p:clrMapOvr>
  <p:transition spd="slow">
    <p:push dir="u"/>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Séquence 4">
    <p:spTree>
      <p:nvGrpSpPr>
        <p:cNvPr id="1" name=""/>
        <p:cNvGrpSpPr/>
        <p:nvPr/>
      </p:nvGrpSpPr>
      <p:grpSpPr>
        <a:xfrm>
          <a:off x="0" y="0"/>
          <a:ext cx="0" cy="0"/>
          <a:chOff x="0" y="0"/>
          <a:chExt cx="0" cy="0"/>
        </a:xfrm>
      </p:grpSpPr>
      <p:sp>
        <p:nvSpPr>
          <p:cNvPr id="8" name="Rectangle 7"/>
          <p:cNvSpPr/>
          <p:nvPr userDrawn="1"/>
        </p:nvSpPr>
        <p:spPr>
          <a:xfrm>
            <a:off x="430457" y="273273"/>
            <a:ext cx="11265600" cy="561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
        <p:nvSpPr>
          <p:cNvPr id="3" name="Espace réservé du texte 2"/>
          <p:cNvSpPr>
            <a:spLocks noGrp="1"/>
          </p:cNvSpPr>
          <p:nvPr>
            <p:ph type="body" idx="1" hasCustomPrompt="1"/>
          </p:nvPr>
        </p:nvSpPr>
        <p:spPr>
          <a:xfrm>
            <a:off x="3288545" y="3669027"/>
            <a:ext cx="8421913" cy="1807732"/>
          </a:xfrm>
        </p:spPr>
        <p:txBody>
          <a:bodyPr lIns="0" tIns="0" rIns="0" bIns="0" anchor="t"/>
          <a:lstStyle>
            <a:lvl1pPr marL="0" indent="0" algn="l">
              <a:buNone/>
              <a:defRPr sz="3200" cap="all" baseline="0">
                <a:solidFill>
                  <a:schemeClr val="bg1"/>
                </a:solidFill>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fr-FR" dirty="0"/>
              <a:t>Sous-titre intercalaire</a:t>
            </a:r>
          </a:p>
        </p:txBody>
      </p:sp>
      <p:sp>
        <p:nvSpPr>
          <p:cNvPr id="7" name="Titre 6"/>
          <p:cNvSpPr>
            <a:spLocks noGrp="1"/>
          </p:cNvSpPr>
          <p:nvPr>
            <p:ph type="title" hasCustomPrompt="1"/>
          </p:nvPr>
        </p:nvSpPr>
        <p:spPr>
          <a:xfrm>
            <a:off x="3288417" y="848714"/>
            <a:ext cx="8407484" cy="2756421"/>
          </a:xfrm>
        </p:spPr>
        <p:txBody>
          <a:bodyPr>
            <a:noAutofit/>
          </a:bodyPr>
          <a:lstStyle>
            <a:lvl1pPr algn="l">
              <a:lnSpc>
                <a:spcPts val="4800"/>
              </a:lnSpc>
              <a:defRPr sz="4800" cap="all" baseline="0">
                <a:solidFill>
                  <a:schemeClr val="bg1"/>
                </a:solidFill>
              </a:defRPr>
            </a:lvl1pPr>
          </a:lstStyle>
          <a:p>
            <a:br>
              <a:rPr lang="fr-FR" dirty="0"/>
            </a:br>
            <a:br>
              <a:rPr lang="fr-FR" dirty="0"/>
            </a:br>
            <a:r>
              <a:rPr lang="fr-FR" dirty="0"/>
              <a:t>séquence 4</a:t>
            </a:r>
          </a:p>
        </p:txBody>
      </p:sp>
      <p:sp>
        <p:nvSpPr>
          <p:cNvPr id="12" name="Rectangle 11"/>
          <p:cNvSpPr/>
          <p:nvPr userDrawn="1"/>
        </p:nvSpPr>
        <p:spPr>
          <a:xfrm>
            <a:off x="8916313" y="188640"/>
            <a:ext cx="2783680" cy="4800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cxnSp>
        <p:nvCxnSpPr>
          <p:cNvPr id="14" name="Connecteur droit 13"/>
          <p:cNvCxnSpPr/>
          <p:nvPr userDrawn="1"/>
        </p:nvCxnSpPr>
        <p:spPr>
          <a:xfrm>
            <a:off x="3216632" y="1208754"/>
            <a:ext cx="0" cy="400653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8" name="Espace réservé du contenu 17"/>
          <p:cNvSpPr>
            <a:spLocks noGrp="1"/>
          </p:cNvSpPr>
          <p:nvPr>
            <p:ph sz="quarter" idx="10" hasCustomPrompt="1"/>
          </p:nvPr>
        </p:nvSpPr>
        <p:spPr>
          <a:xfrm>
            <a:off x="575388" y="1149351"/>
            <a:ext cx="2521297" cy="4320116"/>
          </a:xfrm>
        </p:spPr>
        <p:txBody>
          <a:bodyPr/>
          <a:lstStyle>
            <a:lvl1pPr marL="0" indent="0" algn="l">
              <a:buNone/>
              <a:defRPr baseline="0">
                <a:solidFill>
                  <a:schemeClr val="bg1"/>
                </a:solidFill>
              </a:defRPr>
            </a:lvl1pPr>
          </a:lstStyle>
          <a:p>
            <a:pPr lvl="0"/>
            <a:r>
              <a:rPr lang="fr-FR" dirty="0"/>
              <a:t>Insérez une icône</a:t>
            </a:r>
          </a:p>
        </p:txBody>
      </p:sp>
      <p:sp>
        <p:nvSpPr>
          <p:cNvPr id="9" name="Rectangle 8"/>
          <p:cNvSpPr/>
          <p:nvPr userDrawn="1"/>
        </p:nvSpPr>
        <p:spPr>
          <a:xfrm>
            <a:off x="755407" y="6357000"/>
            <a:ext cx="960107" cy="32385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Tree>
    <p:extLst>
      <p:ext uri="{BB962C8B-B14F-4D97-AF65-F5344CB8AC3E}">
        <p14:creationId xmlns:p14="http://schemas.microsoft.com/office/powerpoint/2010/main" val="2697257616"/>
      </p:ext>
    </p:extLst>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4FD97564-C310-6E8C-8689-CE18881B4A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defPPr>
              <a:defRPr lang="fr-FR"/>
            </a:defPPr>
          </a:lstStyle>
          <a:p>
            <a:pPr rtl="0"/>
            <a:r>
              <a:rPr lang="fr-FR" noProof="0"/>
              <a:t>Modifiez le style du titre</a:t>
            </a:r>
          </a:p>
        </p:txBody>
      </p:sp>
      <p:sp>
        <p:nvSpPr>
          <p:cNvPr id="3" name="Espace réservé du texte 2">
            <a:extLst>
              <a:ext uri="{FF2B5EF4-FFF2-40B4-BE49-F238E27FC236}">
                <a16:creationId xmlns:a16="http://schemas.microsoft.com/office/drawing/2014/main" id="{0FAD99FA-26D9-873B-BE7F-26FEC5C233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defPPr>
              <a:defRPr lang="fr-FR"/>
            </a:defPPr>
          </a:lstStyle>
          <a:p>
            <a:pPr lvl="0" rtl="0"/>
            <a:r>
              <a:rPr lang="fr-FR" noProof="0"/>
              <a:t>Modifiez les styles du texte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4" name="Espace réservé de la date 3">
            <a:extLst>
              <a:ext uri="{FF2B5EF4-FFF2-40B4-BE49-F238E27FC236}">
                <a16:creationId xmlns:a16="http://schemas.microsoft.com/office/drawing/2014/main" id="{C319819E-0266-97DD-DFD1-BAAA06AE323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lang="fr-FR" sz="1200">
                <a:solidFill>
                  <a:schemeClr val="tx1">
                    <a:tint val="82000"/>
                  </a:schemeClr>
                </a:solidFill>
              </a:defRPr>
            </a:lvl1pPr>
          </a:lstStyle>
          <a:p>
            <a:pPr rtl="0"/>
            <a:fld id="{1A6DB10E-2FC6-46ED-ACF4-C6C6ED67EF1C}" type="datetime1">
              <a:rPr lang="fr-FR" noProof="0" smtClean="0"/>
              <a:t>06/09/2026</a:t>
            </a:fld>
            <a:endParaRPr lang="fr-FR" noProof="0" dirty="0"/>
          </a:p>
        </p:txBody>
      </p:sp>
      <p:sp>
        <p:nvSpPr>
          <p:cNvPr id="5" name="Espace réservé du pied de page 4">
            <a:extLst>
              <a:ext uri="{FF2B5EF4-FFF2-40B4-BE49-F238E27FC236}">
                <a16:creationId xmlns:a16="http://schemas.microsoft.com/office/drawing/2014/main" id="{2BFD19C9-01CE-9E2A-CDA5-C15940F055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lang="fr-FR" sz="1200">
                <a:solidFill>
                  <a:schemeClr val="tx1">
                    <a:tint val="82000"/>
                  </a:schemeClr>
                </a:solidFill>
              </a:defRPr>
            </a:lvl1pPr>
          </a:lstStyle>
          <a:p>
            <a:pPr rtl="0"/>
            <a:endParaRPr lang="fr-FR" noProof="0" dirty="0"/>
          </a:p>
        </p:txBody>
      </p:sp>
      <p:sp>
        <p:nvSpPr>
          <p:cNvPr id="6" name="Espace réservé du numéro de diapositive 5">
            <a:extLst>
              <a:ext uri="{FF2B5EF4-FFF2-40B4-BE49-F238E27FC236}">
                <a16:creationId xmlns:a16="http://schemas.microsoft.com/office/drawing/2014/main" id="{A1801085-7B28-048D-E3D3-9C3614268D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lang="fr-FR" sz="1200">
                <a:solidFill>
                  <a:schemeClr val="tx1">
                    <a:tint val="82000"/>
                  </a:schemeClr>
                </a:solidFill>
              </a:defRPr>
            </a:lvl1pPr>
          </a:lstStyle>
          <a:p>
            <a:pPr rtl="0"/>
            <a:fld id="{CBD12358-51D2-46B3-9BDE-DF29528B9454}" type="slidenum">
              <a:rPr lang="fr-FR" noProof="0" smtClean="0"/>
              <a:t>‹N°›</a:t>
            </a:fld>
            <a:endParaRPr lang="fr-FR" noProof="0" dirty="0"/>
          </a:p>
        </p:txBody>
      </p:sp>
    </p:spTree>
    <p:extLst>
      <p:ext uri="{BB962C8B-B14F-4D97-AF65-F5344CB8AC3E}">
        <p14:creationId xmlns:p14="http://schemas.microsoft.com/office/powerpoint/2010/main" val="1965934658"/>
      </p:ext>
    </p:extLst>
  </p:cSld>
  <p:clrMap bg1="lt1" tx1="dk1" bg2="lt2" tx2="dk2" accent1="accent1" accent2="accent2" accent3="accent3" accent4="accent4" accent5="accent5" accent6="accent6" hlink="hlink" folHlink="folHlink"/>
  <p:sldLayoutIdLst>
    <p:sldLayoutId id="2147483654" r:id="rId1"/>
    <p:sldLayoutId id="2147483660" r:id="rId2"/>
    <p:sldLayoutId id="2147483658" r:id="rId3"/>
    <p:sldLayoutId id="2147483659" r:id="rId4"/>
    <p:sldLayoutId id="2147483650" r:id="rId5"/>
    <p:sldLayoutId id="2147483652" r:id="rId6"/>
    <p:sldLayoutId id="2147483662" r:id="rId7"/>
    <p:sldLayoutId id="2147483663" r:id="rId8"/>
    <p:sldLayoutId id="2147483649" r:id="rId9"/>
    <p:sldLayoutId id="2147483666" r:id="rId10"/>
    <p:sldLayoutId id="2147483664" r:id="rId11"/>
    <p:sldLayoutId id="2147483665" r:id="rId12"/>
    <p:sldLayoutId id="2147483661" r:id="rId13"/>
    <p:sldLayoutId id="2147483667" r:id="rId14"/>
    <p:sldLayoutId id="2147483668" r:id="rId15"/>
    <p:sldLayoutId id="2147483669" r:id="rId16"/>
    <p:sldLayoutId id="2147483670" r:id="rId17"/>
    <p:sldLayoutId id="2147483671" r:id="rId18"/>
    <p:sldLayoutId id="2147483672" r:id="rId19"/>
  </p:sldLayoutIdLst>
  <p:hf sldNum="0" hdr="0" ftr="0" dt="0"/>
  <p:txStyles>
    <p:titleStyle>
      <a:lvl1pPr algn="l" defTabSz="914400" rtl="0" eaLnBrk="1" latinLnBrk="0" hangingPunct="1">
        <a:lnSpc>
          <a:spcPct val="90000"/>
        </a:lnSpc>
        <a:spcBef>
          <a:spcPct val="0"/>
        </a:spcBef>
        <a:buNone/>
        <a:defRPr lang="fr-F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lang="fr-F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fr-F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fr-F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fr-F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fr-F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fr-F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fr-F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fr-F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fr-FR" sz="1800" kern="1200">
          <a:solidFill>
            <a:schemeClr val="tx1"/>
          </a:solidFill>
          <a:latin typeface="+mn-lt"/>
          <a:ea typeface="+mn-ea"/>
          <a:cs typeface="+mn-cs"/>
        </a:defRPr>
      </a:lvl9pPr>
    </p:bodyStyle>
    <p:otherStyle>
      <a:defPPr>
        <a:defRPr lang="fr-FR"/>
      </a:defPPr>
      <a:lvl1pPr marL="0" algn="l" defTabSz="914400" rtl="0" eaLnBrk="1" latinLnBrk="0" hangingPunct="1">
        <a:defRPr lang="fr-FR" sz="1800" kern="1200">
          <a:solidFill>
            <a:schemeClr val="tx1"/>
          </a:solidFill>
          <a:latin typeface="+mn-lt"/>
          <a:ea typeface="+mn-ea"/>
          <a:cs typeface="+mn-cs"/>
        </a:defRPr>
      </a:lvl1pPr>
      <a:lvl2pPr marL="457200" algn="l" defTabSz="914400" rtl="0" eaLnBrk="1" latinLnBrk="0" hangingPunct="1">
        <a:defRPr lang="fr-FR" sz="1800" kern="1200">
          <a:solidFill>
            <a:schemeClr val="tx1"/>
          </a:solidFill>
          <a:latin typeface="+mn-lt"/>
          <a:ea typeface="+mn-ea"/>
          <a:cs typeface="+mn-cs"/>
        </a:defRPr>
      </a:lvl2pPr>
      <a:lvl3pPr marL="914400" algn="l" defTabSz="914400" rtl="0" eaLnBrk="1" latinLnBrk="0" hangingPunct="1">
        <a:defRPr lang="fr-FR" sz="1800" kern="1200">
          <a:solidFill>
            <a:schemeClr val="tx1"/>
          </a:solidFill>
          <a:latin typeface="+mn-lt"/>
          <a:ea typeface="+mn-ea"/>
          <a:cs typeface="+mn-cs"/>
        </a:defRPr>
      </a:lvl3pPr>
      <a:lvl4pPr marL="1371600" algn="l" defTabSz="914400" rtl="0" eaLnBrk="1" latinLnBrk="0" hangingPunct="1">
        <a:defRPr lang="fr-FR" sz="1800" kern="1200">
          <a:solidFill>
            <a:schemeClr val="tx1"/>
          </a:solidFill>
          <a:latin typeface="+mn-lt"/>
          <a:ea typeface="+mn-ea"/>
          <a:cs typeface="+mn-cs"/>
        </a:defRPr>
      </a:lvl4pPr>
      <a:lvl5pPr marL="1828800" algn="l" defTabSz="914400" rtl="0" eaLnBrk="1" latinLnBrk="0" hangingPunct="1">
        <a:defRPr lang="fr-FR" sz="1800" kern="1200">
          <a:solidFill>
            <a:schemeClr val="tx1"/>
          </a:solidFill>
          <a:latin typeface="+mn-lt"/>
          <a:ea typeface="+mn-ea"/>
          <a:cs typeface="+mn-cs"/>
        </a:defRPr>
      </a:lvl5pPr>
      <a:lvl6pPr marL="2286000" algn="l" defTabSz="914400" rtl="0" eaLnBrk="1" latinLnBrk="0" hangingPunct="1">
        <a:defRPr lang="fr-FR" sz="1800" kern="1200">
          <a:solidFill>
            <a:schemeClr val="tx1"/>
          </a:solidFill>
          <a:latin typeface="+mn-lt"/>
          <a:ea typeface="+mn-ea"/>
          <a:cs typeface="+mn-cs"/>
        </a:defRPr>
      </a:lvl6pPr>
      <a:lvl7pPr marL="2743200" algn="l" defTabSz="914400" rtl="0" eaLnBrk="1" latinLnBrk="0" hangingPunct="1">
        <a:defRPr lang="fr-FR" sz="1800" kern="1200">
          <a:solidFill>
            <a:schemeClr val="tx1"/>
          </a:solidFill>
          <a:latin typeface="+mn-lt"/>
          <a:ea typeface="+mn-ea"/>
          <a:cs typeface="+mn-cs"/>
        </a:defRPr>
      </a:lvl7pPr>
      <a:lvl8pPr marL="3200400" algn="l" defTabSz="914400" rtl="0" eaLnBrk="1" latinLnBrk="0" hangingPunct="1">
        <a:defRPr lang="fr-FR" sz="1800" kern="1200">
          <a:solidFill>
            <a:schemeClr val="tx1"/>
          </a:solidFill>
          <a:latin typeface="+mn-lt"/>
          <a:ea typeface="+mn-ea"/>
          <a:cs typeface="+mn-cs"/>
        </a:defRPr>
      </a:lvl8pPr>
      <a:lvl9pPr marL="3657600" algn="l" defTabSz="914400" rtl="0" eaLnBrk="1" latinLnBrk="0" hangingPunct="1">
        <a:defRPr lang="fr-F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1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8.xml"/><Relationship Id="rId1" Type="http://schemas.openxmlformats.org/officeDocument/2006/relationships/slideLayout" Target="../slideLayouts/slideLayout1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0.xml"/><Relationship Id="rId1" Type="http://schemas.openxmlformats.org/officeDocument/2006/relationships/slideLayout" Target="../slideLayouts/slideLayout1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1.xml"/><Relationship Id="rId1" Type="http://schemas.openxmlformats.org/officeDocument/2006/relationships/slideLayout" Target="../slideLayouts/slideLayout16.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4.xml"/><Relationship Id="rId1" Type="http://schemas.openxmlformats.org/officeDocument/2006/relationships/slideLayout" Target="../slideLayouts/slideLayout16.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5.xml"/><Relationship Id="rId1" Type="http://schemas.openxmlformats.org/officeDocument/2006/relationships/slideLayout" Target="../slideLayouts/slideLayout16.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6.xml"/><Relationship Id="rId1" Type="http://schemas.openxmlformats.org/officeDocument/2006/relationships/slideLayout" Target="../slideLayouts/slideLayout16.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18.xml"/><Relationship Id="rId1" Type="http://schemas.openxmlformats.org/officeDocument/2006/relationships/slideLayout" Target="../slideLayouts/slideLayout16.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21.xml"/><Relationship Id="rId1" Type="http://schemas.openxmlformats.org/officeDocument/2006/relationships/slideLayout" Target="../slideLayouts/slideLayout16.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24.xml"/><Relationship Id="rId1" Type="http://schemas.openxmlformats.org/officeDocument/2006/relationships/slideLayout" Target="../slideLayouts/slideLayout16.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25.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25.xml"/><Relationship Id="rId1" Type="http://schemas.openxmlformats.org/officeDocument/2006/relationships/slideLayout" Target="../slideLayouts/slideLayout16.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6.xml"/></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8.xml"/><Relationship Id="rId1" Type="http://schemas.openxmlformats.org/officeDocument/2006/relationships/slideLayout" Target="../slideLayouts/slideLayout1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6.xml"/></Relationships>
</file>

<file path=ppt/slides/_rels/slide32.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32.xml"/><Relationship Id="rId1" Type="http://schemas.openxmlformats.org/officeDocument/2006/relationships/slideLayout" Target="../slideLayouts/slideLayout16.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33.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33.xml"/><Relationship Id="rId1" Type="http://schemas.openxmlformats.org/officeDocument/2006/relationships/slideLayout" Target="../slideLayouts/slideLayout16.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34.xml.rels><?xml version="1.0" encoding="UTF-8" standalone="yes"?>
<Relationships xmlns="http://schemas.openxmlformats.org/package/2006/relationships"><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notesSlide" Target="../notesSlides/notesSlide34.xml"/><Relationship Id="rId1" Type="http://schemas.openxmlformats.org/officeDocument/2006/relationships/slideLayout" Target="../slideLayouts/slideLayout16.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6.xml"/></Relationships>
</file>

<file path=ppt/slides/_rels/slide36.xml.rels><?xml version="1.0" encoding="UTF-8" standalone="yes"?>
<Relationships xmlns="http://schemas.openxmlformats.org/package/2006/relationships"><Relationship Id="rId3" Type="http://schemas.openxmlformats.org/officeDocument/2006/relationships/diagramData" Target="../diagrams/data15.xml"/><Relationship Id="rId7" Type="http://schemas.microsoft.com/office/2007/relationships/diagramDrawing" Target="../diagrams/drawing15.xml"/><Relationship Id="rId2" Type="http://schemas.openxmlformats.org/officeDocument/2006/relationships/notesSlide" Target="../notesSlides/notesSlide36.xml"/><Relationship Id="rId1" Type="http://schemas.openxmlformats.org/officeDocument/2006/relationships/slideLayout" Target="../slideLayouts/slideLayout16.xml"/><Relationship Id="rId6" Type="http://schemas.openxmlformats.org/officeDocument/2006/relationships/diagramColors" Target="../diagrams/colors15.xml"/><Relationship Id="rId5" Type="http://schemas.openxmlformats.org/officeDocument/2006/relationships/diagramQuickStyle" Target="../diagrams/quickStyle15.xml"/><Relationship Id="rId4" Type="http://schemas.openxmlformats.org/officeDocument/2006/relationships/diagramLayout" Target="../diagrams/layout1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6.xml"/></Relationships>
</file>

<file path=ppt/slides/_rels/slide38.xml.rels><?xml version="1.0" encoding="UTF-8" standalone="yes"?>
<Relationships xmlns="http://schemas.openxmlformats.org/package/2006/relationships"><Relationship Id="rId3" Type="http://schemas.openxmlformats.org/officeDocument/2006/relationships/diagramData" Target="../diagrams/data16.xml"/><Relationship Id="rId7" Type="http://schemas.microsoft.com/office/2007/relationships/diagramDrawing" Target="../diagrams/drawing16.xml"/><Relationship Id="rId2" Type="http://schemas.openxmlformats.org/officeDocument/2006/relationships/notesSlide" Target="../notesSlides/notesSlide38.xml"/><Relationship Id="rId1" Type="http://schemas.openxmlformats.org/officeDocument/2006/relationships/slideLayout" Target="../slideLayouts/slideLayout16.xml"/><Relationship Id="rId6" Type="http://schemas.openxmlformats.org/officeDocument/2006/relationships/diagramColors" Target="../diagrams/colors16.xml"/><Relationship Id="rId5" Type="http://schemas.openxmlformats.org/officeDocument/2006/relationships/diagramQuickStyle" Target="../diagrams/quickStyle16.xml"/><Relationship Id="rId4" Type="http://schemas.openxmlformats.org/officeDocument/2006/relationships/diagramLayout" Target="../diagrams/layout1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6.xml"/></Relationships>
</file>

<file path=ppt/slides/_rels/slide40.xml.rels><?xml version="1.0" encoding="UTF-8" standalone="yes"?>
<Relationships xmlns="http://schemas.openxmlformats.org/package/2006/relationships"><Relationship Id="rId3" Type="http://schemas.openxmlformats.org/officeDocument/2006/relationships/diagramData" Target="../diagrams/data17.xml"/><Relationship Id="rId7" Type="http://schemas.microsoft.com/office/2007/relationships/diagramDrawing" Target="../diagrams/drawing17.xml"/><Relationship Id="rId2" Type="http://schemas.openxmlformats.org/officeDocument/2006/relationships/notesSlide" Target="../notesSlides/notesSlide40.xml"/><Relationship Id="rId1" Type="http://schemas.openxmlformats.org/officeDocument/2006/relationships/slideLayout" Target="../slideLayouts/slideLayout16.xml"/><Relationship Id="rId6" Type="http://schemas.openxmlformats.org/officeDocument/2006/relationships/diagramColors" Target="../diagrams/colors17.xml"/><Relationship Id="rId5" Type="http://schemas.openxmlformats.org/officeDocument/2006/relationships/diagramQuickStyle" Target="../diagrams/quickStyle17.xml"/><Relationship Id="rId4" Type="http://schemas.openxmlformats.org/officeDocument/2006/relationships/diagramLayout" Target="../diagrams/layout17.xml"/></Relationships>
</file>

<file path=ppt/slides/_rels/slide41.xml.rels><?xml version="1.0" encoding="UTF-8" standalone="yes"?>
<Relationships xmlns="http://schemas.openxmlformats.org/package/2006/relationships"><Relationship Id="rId3" Type="http://schemas.openxmlformats.org/officeDocument/2006/relationships/diagramData" Target="../diagrams/data18.xml"/><Relationship Id="rId7" Type="http://schemas.microsoft.com/office/2007/relationships/diagramDrawing" Target="../diagrams/drawing18.xml"/><Relationship Id="rId2" Type="http://schemas.openxmlformats.org/officeDocument/2006/relationships/notesSlide" Target="../notesSlides/notesSlide41.xml"/><Relationship Id="rId1" Type="http://schemas.openxmlformats.org/officeDocument/2006/relationships/slideLayout" Target="../slideLayouts/slideLayout16.xml"/><Relationship Id="rId6" Type="http://schemas.openxmlformats.org/officeDocument/2006/relationships/diagramColors" Target="../diagrams/colors18.xml"/><Relationship Id="rId5" Type="http://schemas.openxmlformats.org/officeDocument/2006/relationships/diagramQuickStyle" Target="../diagrams/quickStyle18.xml"/><Relationship Id="rId4" Type="http://schemas.openxmlformats.org/officeDocument/2006/relationships/diagramLayout" Target="../diagrams/layout18.xml"/></Relationships>
</file>

<file path=ppt/slides/_rels/slide42.xml.rels><?xml version="1.0" encoding="UTF-8" standalone="yes"?>
<Relationships xmlns="http://schemas.openxmlformats.org/package/2006/relationships"><Relationship Id="rId3" Type="http://schemas.openxmlformats.org/officeDocument/2006/relationships/diagramData" Target="../diagrams/data19.xml"/><Relationship Id="rId7" Type="http://schemas.microsoft.com/office/2007/relationships/diagramDrawing" Target="../diagrams/drawing19.xml"/><Relationship Id="rId2" Type="http://schemas.openxmlformats.org/officeDocument/2006/relationships/notesSlide" Target="../notesSlides/notesSlide42.xml"/><Relationship Id="rId1" Type="http://schemas.openxmlformats.org/officeDocument/2006/relationships/slideLayout" Target="../slideLayouts/slideLayout16.xml"/><Relationship Id="rId6" Type="http://schemas.openxmlformats.org/officeDocument/2006/relationships/diagramColors" Target="../diagrams/colors19.xml"/><Relationship Id="rId5" Type="http://schemas.openxmlformats.org/officeDocument/2006/relationships/diagramQuickStyle" Target="../diagrams/quickStyle19.xml"/><Relationship Id="rId4" Type="http://schemas.openxmlformats.org/officeDocument/2006/relationships/diagramLayout" Target="../diagrams/layout19.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9.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6.xml"/></Relationships>
</file>

<file path=ppt/slides/_rels/slide4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9.xml"/><Relationship Id="rId1" Type="http://schemas.openxmlformats.org/officeDocument/2006/relationships/slideLayout" Target="../slideLayouts/slideLayout16.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6.xml"/></Relationships>
</file>

<file path=ppt/slides/_rels/slide51.xml.rels><?xml version="1.0" encoding="UTF-8" standalone="yes"?>
<Relationships xmlns="http://schemas.openxmlformats.org/package/2006/relationships"><Relationship Id="rId3" Type="http://schemas.openxmlformats.org/officeDocument/2006/relationships/diagramData" Target="../diagrams/data20.xml"/><Relationship Id="rId7" Type="http://schemas.microsoft.com/office/2007/relationships/diagramDrawing" Target="../diagrams/drawing20.xml"/><Relationship Id="rId2" Type="http://schemas.openxmlformats.org/officeDocument/2006/relationships/notesSlide" Target="../notesSlides/notesSlide51.xml"/><Relationship Id="rId1" Type="http://schemas.openxmlformats.org/officeDocument/2006/relationships/slideLayout" Target="../slideLayouts/slideLayout16.xml"/><Relationship Id="rId6" Type="http://schemas.openxmlformats.org/officeDocument/2006/relationships/diagramColors" Target="../diagrams/colors20.xml"/><Relationship Id="rId5" Type="http://schemas.openxmlformats.org/officeDocument/2006/relationships/diagramQuickStyle" Target="../diagrams/quickStyle20.xml"/><Relationship Id="rId4" Type="http://schemas.openxmlformats.org/officeDocument/2006/relationships/diagramLayout" Target="../diagrams/layout20.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6.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6.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6.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6.xml"/></Relationships>
</file>

<file path=ppt/slides/_rels/slide56.xml.rels><?xml version="1.0" encoding="UTF-8" standalone="yes"?>
<Relationships xmlns="http://schemas.openxmlformats.org/package/2006/relationships"><Relationship Id="rId3" Type="http://schemas.openxmlformats.org/officeDocument/2006/relationships/diagramData" Target="../diagrams/data21.xml"/><Relationship Id="rId7" Type="http://schemas.microsoft.com/office/2007/relationships/diagramDrawing" Target="../diagrams/drawing21.xml"/><Relationship Id="rId2" Type="http://schemas.openxmlformats.org/officeDocument/2006/relationships/notesSlide" Target="../notesSlides/notesSlide56.xml"/><Relationship Id="rId1" Type="http://schemas.openxmlformats.org/officeDocument/2006/relationships/slideLayout" Target="../slideLayouts/slideLayout16.xml"/><Relationship Id="rId6" Type="http://schemas.openxmlformats.org/officeDocument/2006/relationships/diagramColors" Target="../diagrams/colors21.xml"/><Relationship Id="rId5" Type="http://schemas.openxmlformats.org/officeDocument/2006/relationships/diagramQuickStyle" Target="../diagrams/quickStyle21.xml"/><Relationship Id="rId4" Type="http://schemas.openxmlformats.org/officeDocument/2006/relationships/diagramLayout" Target="../diagrams/layout21.xml"/></Relationships>
</file>

<file path=ppt/slides/_rels/slide57.xml.rels><?xml version="1.0" encoding="UTF-8" standalone="yes"?>
<Relationships xmlns="http://schemas.openxmlformats.org/package/2006/relationships"><Relationship Id="rId3" Type="http://schemas.openxmlformats.org/officeDocument/2006/relationships/diagramData" Target="../diagrams/data22.xml"/><Relationship Id="rId7" Type="http://schemas.microsoft.com/office/2007/relationships/diagramDrawing" Target="../diagrams/drawing22.xml"/><Relationship Id="rId2" Type="http://schemas.openxmlformats.org/officeDocument/2006/relationships/notesSlide" Target="../notesSlides/notesSlide57.xml"/><Relationship Id="rId1" Type="http://schemas.openxmlformats.org/officeDocument/2006/relationships/slideLayout" Target="../slideLayouts/slideLayout16.xml"/><Relationship Id="rId6" Type="http://schemas.openxmlformats.org/officeDocument/2006/relationships/diagramColors" Target="../diagrams/colors22.xml"/><Relationship Id="rId5" Type="http://schemas.openxmlformats.org/officeDocument/2006/relationships/diagramQuickStyle" Target="../diagrams/quickStyle22.xml"/><Relationship Id="rId4" Type="http://schemas.openxmlformats.org/officeDocument/2006/relationships/diagramLayout" Target="../diagrams/layout2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5.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4.xml"/></Relationships>
</file>

<file path=ppt/slides/_rels/slide60.xml.rels><?xml version="1.0" encoding="UTF-8" standalone="yes"?>
<Relationships xmlns="http://schemas.openxmlformats.org/package/2006/relationships"><Relationship Id="rId3" Type="http://schemas.openxmlformats.org/officeDocument/2006/relationships/diagramData" Target="../diagrams/data23.xml"/><Relationship Id="rId7" Type="http://schemas.microsoft.com/office/2007/relationships/diagramDrawing" Target="../diagrams/drawing23.xml"/><Relationship Id="rId2" Type="http://schemas.openxmlformats.org/officeDocument/2006/relationships/notesSlide" Target="../notesSlides/notesSlide60.xml"/><Relationship Id="rId1" Type="http://schemas.openxmlformats.org/officeDocument/2006/relationships/slideLayout" Target="../slideLayouts/slideLayout16.xml"/><Relationship Id="rId6" Type="http://schemas.openxmlformats.org/officeDocument/2006/relationships/diagramColors" Target="../diagrams/colors23.xml"/><Relationship Id="rId5" Type="http://schemas.openxmlformats.org/officeDocument/2006/relationships/diagramQuickStyle" Target="../diagrams/quickStyle23.xml"/><Relationship Id="rId4" Type="http://schemas.openxmlformats.org/officeDocument/2006/relationships/diagramLayout" Target="../diagrams/layout23.xml"/></Relationships>
</file>

<file path=ppt/slides/_rels/slide61.xml.rels><?xml version="1.0" encoding="UTF-8" standalone="yes"?>
<Relationships xmlns="http://schemas.openxmlformats.org/package/2006/relationships"><Relationship Id="rId3" Type="http://schemas.openxmlformats.org/officeDocument/2006/relationships/diagramData" Target="../diagrams/data24.xml"/><Relationship Id="rId7" Type="http://schemas.microsoft.com/office/2007/relationships/diagramDrawing" Target="../diagrams/drawing24.xml"/><Relationship Id="rId2" Type="http://schemas.openxmlformats.org/officeDocument/2006/relationships/notesSlide" Target="../notesSlides/notesSlide61.xml"/><Relationship Id="rId1" Type="http://schemas.openxmlformats.org/officeDocument/2006/relationships/slideLayout" Target="../slideLayouts/slideLayout16.xml"/><Relationship Id="rId6" Type="http://schemas.openxmlformats.org/officeDocument/2006/relationships/diagramColors" Target="../diagrams/colors24.xml"/><Relationship Id="rId5" Type="http://schemas.openxmlformats.org/officeDocument/2006/relationships/diagramQuickStyle" Target="../diagrams/quickStyle24.xml"/><Relationship Id="rId4" Type="http://schemas.openxmlformats.org/officeDocument/2006/relationships/diagramLayout" Target="../diagrams/layout24.xml"/></Relationships>
</file>

<file path=ppt/slides/_rels/slide62.xml.rels><?xml version="1.0" encoding="UTF-8" standalone="yes"?>
<Relationships xmlns="http://schemas.openxmlformats.org/package/2006/relationships"><Relationship Id="rId3" Type="http://schemas.openxmlformats.org/officeDocument/2006/relationships/diagramData" Target="../diagrams/data25.xml"/><Relationship Id="rId7" Type="http://schemas.microsoft.com/office/2007/relationships/diagramDrawing" Target="../diagrams/drawing25.xml"/><Relationship Id="rId2" Type="http://schemas.openxmlformats.org/officeDocument/2006/relationships/notesSlide" Target="../notesSlides/notesSlide62.xml"/><Relationship Id="rId1" Type="http://schemas.openxmlformats.org/officeDocument/2006/relationships/slideLayout" Target="../slideLayouts/slideLayout16.xml"/><Relationship Id="rId6" Type="http://schemas.openxmlformats.org/officeDocument/2006/relationships/diagramColors" Target="../diagrams/colors25.xml"/><Relationship Id="rId5" Type="http://schemas.openxmlformats.org/officeDocument/2006/relationships/diagramQuickStyle" Target="../diagrams/quickStyle25.xml"/><Relationship Id="rId4" Type="http://schemas.openxmlformats.org/officeDocument/2006/relationships/diagramLayout" Target="../diagrams/layout25.xml"/></Relationships>
</file>

<file path=ppt/slides/_rels/slide63.xml.rels><?xml version="1.0" encoding="UTF-8" standalone="yes"?>
<Relationships xmlns="http://schemas.openxmlformats.org/package/2006/relationships"><Relationship Id="rId3" Type="http://schemas.openxmlformats.org/officeDocument/2006/relationships/diagramData" Target="../diagrams/data26.xml"/><Relationship Id="rId7" Type="http://schemas.microsoft.com/office/2007/relationships/diagramDrawing" Target="../diagrams/drawing26.xml"/><Relationship Id="rId2" Type="http://schemas.openxmlformats.org/officeDocument/2006/relationships/notesSlide" Target="../notesSlides/notesSlide63.xml"/><Relationship Id="rId1" Type="http://schemas.openxmlformats.org/officeDocument/2006/relationships/slideLayout" Target="../slideLayouts/slideLayout16.xml"/><Relationship Id="rId6" Type="http://schemas.openxmlformats.org/officeDocument/2006/relationships/diagramColors" Target="../diagrams/colors26.xml"/><Relationship Id="rId5" Type="http://schemas.openxmlformats.org/officeDocument/2006/relationships/diagramQuickStyle" Target="../diagrams/quickStyle26.xml"/><Relationship Id="rId4" Type="http://schemas.openxmlformats.org/officeDocument/2006/relationships/diagramLayout" Target="../diagrams/layout26.xml"/></Relationships>
</file>

<file path=ppt/slides/_rels/slide64.xml.rels><?xml version="1.0" encoding="UTF-8" standalone="yes"?>
<Relationships xmlns="http://schemas.openxmlformats.org/package/2006/relationships"><Relationship Id="rId8" Type="http://schemas.openxmlformats.org/officeDocument/2006/relationships/diagramData" Target="../diagrams/data28.xml"/><Relationship Id="rId3" Type="http://schemas.openxmlformats.org/officeDocument/2006/relationships/diagramData" Target="../diagrams/data27.xml"/><Relationship Id="rId7" Type="http://schemas.microsoft.com/office/2007/relationships/diagramDrawing" Target="../diagrams/drawing27.xml"/><Relationship Id="rId12" Type="http://schemas.microsoft.com/office/2007/relationships/diagramDrawing" Target="../diagrams/drawing28.xml"/><Relationship Id="rId2" Type="http://schemas.openxmlformats.org/officeDocument/2006/relationships/notesSlide" Target="../notesSlides/notesSlide64.xml"/><Relationship Id="rId1" Type="http://schemas.openxmlformats.org/officeDocument/2006/relationships/slideLayout" Target="../slideLayouts/slideLayout16.xml"/><Relationship Id="rId6" Type="http://schemas.openxmlformats.org/officeDocument/2006/relationships/diagramColors" Target="../diagrams/colors27.xml"/><Relationship Id="rId11" Type="http://schemas.openxmlformats.org/officeDocument/2006/relationships/diagramColors" Target="../diagrams/colors28.xml"/><Relationship Id="rId5" Type="http://schemas.openxmlformats.org/officeDocument/2006/relationships/diagramQuickStyle" Target="../diagrams/quickStyle27.xml"/><Relationship Id="rId10" Type="http://schemas.openxmlformats.org/officeDocument/2006/relationships/diagramQuickStyle" Target="../diagrams/quickStyle28.xml"/><Relationship Id="rId4" Type="http://schemas.openxmlformats.org/officeDocument/2006/relationships/diagramLayout" Target="../diagrams/layout27.xml"/><Relationship Id="rId9" Type="http://schemas.openxmlformats.org/officeDocument/2006/relationships/diagramLayout" Target="../diagrams/layout28.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6.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6.xml"/></Relationships>
</file>

<file path=ppt/slides/_rels/slide67.xml.rels><?xml version="1.0" encoding="UTF-8" standalone="yes"?>
<Relationships xmlns="http://schemas.openxmlformats.org/package/2006/relationships"><Relationship Id="rId3" Type="http://schemas.openxmlformats.org/officeDocument/2006/relationships/diagramData" Target="../diagrams/data29.xml"/><Relationship Id="rId7" Type="http://schemas.microsoft.com/office/2007/relationships/diagramDrawing" Target="../diagrams/drawing29.xml"/><Relationship Id="rId2" Type="http://schemas.openxmlformats.org/officeDocument/2006/relationships/notesSlide" Target="../notesSlides/notesSlide67.xml"/><Relationship Id="rId1" Type="http://schemas.openxmlformats.org/officeDocument/2006/relationships/slideLayout" Target="../slideLayouts/slideLayout16.xml"/><Relationship Id="rId6" Type="http://schemas.openxmlformats.org/officeDocument/2006/relationships/diagramColors" Target="../diagrams/colors29.xml"/><Relationship Id="rId5" Type="http://schemas.openxmlformats.org/officeDocument/2006/relationships/diagramQuickStyle" Target="../diagrams/quickStyle29.xml"/><Relationship Id="rId4" Type="http://schemas.openxmlformats.org/officeDocument/2006/relationships/diagramLayout" Target="../diagrams/layout29.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6.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6.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6.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6.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6.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6.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6.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6.xml"/></Relationships>
</file>

<file path=ppt/slides/_rels/slide76.xml.rels><?xml version="1.0" encoding="UTF-8" standalone="yes"?>
<Relationships xmlns="http://schemas.openxmlformats.org/package/2006/relationships"><Relationship Id="rId3" Type="http://schemas.openxmlformats.org/officeDocument/2006/relationships/diagramData" Target="../diagrams/data30.xml"/><Relationship Id="rId7" Type="http://schemas.microsoft.com/office/2007/relationships/diagramDrawing" Target="../diagrams/drawing30.xml"/><Relationship Id="rId2" Type="http://schemas.openxmlformats.org/officeDocument/2006/relationships/notesSlide" Target="../notesSlides/notesSlide76.xml"/><Relationship Id="rId1" Type="http://schemas.openxmlformats.org/officeDocument/2006/relationships/slideLayout" Target="../slideLayouts/slideLayout16.xml"/><Relationship Id="rId6" Type="http://schemas.openxmlformats.org/officeDocument/2006/relationships/diagramColors" Target="../diagrams/colors30.xml"/><Relationship Id="rId5" Type="http://schemas.openxmlformats.org/officeDocument/2006/relationships/diagramQuickStyle" Target="../diagrams/quickStyle30.xml"/><Relationship Id="rId4" Type="http://schemas.openxmlformats.org/officeDocument/2006/relationships/diagramLayout" Target="../diagrams/layout30.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4.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6.xml"/></Relationships>
</file>

<file path=ppt/slides/_rels/slide80.xml.rels><?xml version="1.0" encoding="UTF-8" standalone="yes"?>
<Relationships xmlns="http://schemas.openxmlformats.org/package/2006/relationships"><Relationship Id="rId3" Type="http://schemas.openxmlformats.org/officeDocument/2006/relationships/diagramData" Target="../diagrams/data31.xml"/><Relationship Id="rId7" Type="http://schemas.microsoft.com/office/2007/relationships/diagramDrawing" Target="../diagrams/drawing31.xml"/><Relationship Id="rId2" Type="http://schemas.openxmlformats.org/officeDocument/2006/relationships/notesSlide" Target="../notesSlides/notesSlide80.xml"/><Relationship Id="rId1" Type="http://schemas.openxmlformats.org/officeDocument/2006/relationships/slideLayout" Target="../slideLayouts/slideLayout16.xml"/><Relationship Id="rId6" Type="http://schemas.openxmlformats.org/officeDocument/2006/relationships/diagramColors" Target="../diagrams/colors31.xml"/><Relationship Id="rId5" Type="http://schemas.openxmlformats.org/officeDocument/2006/relationships/diagramQuickStyle" Target="../diagrams/quickStyle31.xml"/><Relationship Id="rId4" Type="http://schemas.openxmlformats.org/officeDocument/2006/relationships/diagramLayout" Target="../diagrams/layout3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6.xml"/></Relationships>
</file>

<file path=ppt/slides/_rels/slide82.xml.rels><?xml version="1.0" encoding="UTF-8" standalone="yes"?>
<Relationships xmlns="http://schemas.openxmlformats.org/package/2006/relationships"><Relationship Id="rId3" Type="http://schemas.openxmlformats.org/officeDocument/2006/relationships/diagramData" Target="../diagrams/data32.xml"/><Relationship Id="rId7" Type="http://schemas.microsoft.com/office/2007/relationships/diagramDrawing" Target="../diagrams/drawing32.xml"/><Relationship Id="rId2" Type="http://schemas.openxmlformats.org/officeDocument/2006/relationships/notesSlide" Target="../notesSlides/notesSlide82.xml"/><Relationship Id="rId1" Type="http://schemas.openxmlformats.org/officeDocument/2006/relationships/slideLayout" Target="../slideLayouts/slideLayout16.xml"/><Relationship Id="rId6" Type="http://schemas.openxmlformats.org/officeDocument/2006/relationships/diagramColors" Target="../diagrams/colors32.xml"/><Relationship Id="rId5" Type="http://schemas.openxmlformats.org/officeDocument/2006/relationships/diagramQuickStyle" Target="../diagrams/quickStyle32.xml"/><Relationship Id="rId4" Type="http://schemas.openxmlformats.org/officeDocument/2006/relationships/diagramLayout" Target="../diagrams/layout32.xml"/></Relationships>
</file>

<file path=ppt/slides/_rels/slide83.xml.rels><?xml version="1.0" encoding="UTF-8" standalone="yes"?>
<Relationships xmlns="http://schemas.openxmlformats.org/package/2006/relationships"><Relationship Id="rId3" Type="http://schemas.openxmlformats.org/officeDocument/2006/relationships/diagramData" Target="../diagrams/data33.xml"/><Relationship Id="rId7" Type="http://schemas.microsoft.com/office/2007/relationships/diagramDrawing" Target="../diagrams/drawing33.xml"/><Relationship Id="rId2" Type="http://schemas.openxmlformats.org/officeDocument/2006/relationships/notesSlide" Target="../notesSlides/notesSlide83.xml"/><Relationship Id="rId1" Type="http://schemas.openxmlformats.org/officeDocument/2006/relationships/slideLayout" Target="../slideLayouts/slideLayout16.xml"/><Relationship Id="rId6" Type="http://schemas.openxmlformats.org/officeDocument/2006/relationships/diagramColors" Target="../diagrams/colors33.xml"/><Relationship Id="rId5" Type="http://schemas.openxmlformats.org/officeDocument/2006/relationships/diagramQuickStyle" Target="../diagrams/quickStyle33.xml"/><Relationship Id="rId4" Type="http://schemas.openxmlformats.org/officeDocument/2006/relationships/diagramLayout" Target="../diagrams/layout33.xml"/></Relationships>
</file>

<file path=ppt/slides/_rels/slide8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4.xml"/><Relationship Id="rId1" Type="http://schemas.openxmlformats.org/officeDocument/2006/relationships/slideLayout" Target="../slideLayouts/slideLayout16.xml"/></Relationships>
</file>

<file path=ppt/slides/_rels/slide85.xml.rels><?xml version="1.0" encoding="UTF-8" standalone="yes"?>
<Relationships xmlns="http://schemas.openxmlformats.org/package/2006/relationships"><Relationship Id="rId3" Type="http://schemas.openxmlformats.org/officeDocument/2006/relationships/diagramData" Target="../diagrams/data34.xml"/><Relationship Id="rId7" Type="http://schemas.microsoft.com/office/2007/relationships/diagramDrawing" Target="../diagrams/drawing34.xml"/><Relationship Id="rId2" Type="http://schemas.openxmlformats.org/officeDocument/2006/relationships/notesSlide" Target="../notesSlides/notesSlide85.xml"/><Relationship Id="rId1" Type="http://schemas.openxmlformats.org/officeDocument/2006/relationships/slideLayout" Target="../slideLayouts/slideLayout16.xml"/><Relationship Id="rId6" Type="http://schemas.openxmlformats.org/officeDocument/2006/relationships/diagramColors" Target="../diagrams/colors34.xml"/><Relationship Id="rId5" Type="http://schemas.openxmlformats.org/officeDocument/2006/relationships/diagramQuickStyle" Target="../diagrams/quickStyle34.xml"/><Relationship Id="rId4" Type="http://schemas.openxmlformats.org/officeDocument/2006/relationships/diagramLayout" Target="../diagrams/layout34.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6.xml"/></Relationships>
</file>

<file path=ppt/slides/_rels/slide87.xml.rels><?xml version="1.0" encoding="UTF-8" standalone="yes"?>
<Relationships xmlns="http://schemas.openxmlformats.org/package/2006/relationships"><Relationship Id="rId3" Type="http://schemas.openxmlformats.org/officeDocument/2006/relationships/diagramData" Target="../diagrams/data35.xml"/><Relationship Id="rId7" Type="http://schemas.microsoft.com/office/2007/relationships/diagramDrawing" Target="../diagrams/drawing35.xml"/><Relationship Id="rId2" Type="http://schemas.openxmlformats.org/officeDocument/2006/relationships/notesSlide" Target="../notesSlides/notesSlide87.xml"/><Relationship Id="rId1" Type="http://schemas.openxmlformats.org/officeDocument/2006/relationships/slideLayout" Target="../slideLayouts/slideLayout16.xml"/><Relationship Id="rId6" Type="http://schemas.openxmlformats.org/officeDocument/2006/relationships/diagramColors" Target="../diagrams/colors35.xml"/><Relationship Id="rId5" Type="http://schemas.openxmlformats.org/officeDocument/2006/relationships/diagramQuickStyle" Target="../diagrams/quickStyle35.xml"/><Relationship Id="rId4" Type="http://schemas.openxmlformats.org/officeDocument/2006/relationships/diagramLayout" Target="../diagrams/layout35.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6.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6.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6.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6.xml"/></Relationships>
</file>

<file path=ppt/slides/_rels/slide92.xml.rels><?xml version="1.0" encoding="UTF-8" standalone="yes"?>
<Relationships xmlns="http://schemas.openxmlformats.org/package/2006/relationships"><Relationship Id="rId3" Type="http://schemas.openxmlformats.org/officeDocument/2006/relationships/diagramData" Target="../diagrams/data36.xml"/><Relationship Id="rId7" Type="http://schemas.microsoft.com/office/2007/relationships/diagramDrawing" Target="../diagrams/drawing36.xml"/><Relationship Id="rId2" Type="http://schemas.openxmlformats.org/officeDocument/2006/relationships/notesSlide" Target="../notesSlides/notesSlide92.xml"/><Relationship Id="rId1" Type="http://schemas.openxmlformats.org/officeDocument/2006/relationships/slideLayout" Target="../slideLayouts/slideLayout16.xml"/><Relationship Id="rId6" Type="http://schemas.openxmlformats.org/officeDocument/2006/relationships/diagramColors" Target="../diagrams/colors36.xml"/><Relationship Id="rId5" Type="http://schemas.openxmlformats.org/officeDocument/2006/relationships/diagramQuickStyle" Target="../diagrams/quickStyle36.xml"/><Relationship Id="rId4" Type="http://schemas.openxmlformats.org/officeDocument/2006/relationships/diagramLayout" Target="../diagrams/layout36.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16.xml"/></Relationships>
</file>

<file path=ppt/slides/_rels/slide94.xml.rels><?xml version="1.0" encoding="UTF-8" standalone="yes"?>
<Relationships xmlns="http://schemas.openxmlformats.org/package/2006/relationships"><Relationship Id="rId3" Type="http://schemas.openxmlformats.org/officeDocument/2006/relationships/diagramData" Target="../diagrams/data37.xml"/><Relationship Id="rId7" Type="http://schemas.microsoft.com/office/2007/relationships/diagramDrawing" Target="../diagrams/drawing37.xml"/><Relationship Id="rId2" Type="http://schemas.openxmlformats.org/officeDocument/2006/relationships/notesSlide" Target="../notesSlides/notesSlide94.xml"/><Relationship Id="rId1" Type="http://schemas.openxmlformats.org/officeDocument/2006/relationships/slideLayout" Target="../slideLayouts/slideLayout16.xml"/><Relationship Id="rId6" Type="http://schemas.openxmlformats.org/officeDocument/2006/relationships/diagramColors" Target="../diagrams/colors37.xml"/><Relationship Id="rId5" Type="http://schemas.openxmlformats.org/officeDocument/2006/relationships/diagramQuickStyle" Target="../diagrams/quickStyle37.xml"/><Relationship Id="rId4" Type="http://schemas.openxmlformats.org/officeDocument/2006/relationships/diagramLayout" Target="../diagrams/layout37.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18.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14.xml"/></Relationships>
</file>

<file path=ppt/slides/_rels/slide97.xml.rels><?xml version="1.0" encoding="UTF-8" standalone="yes"?>
<Relationships xmlns="http://schemas.openxmlformats.org/package/2006/relationships"><Relationship Id="rId3" Type="http://schemas.openxmlformats.org/officeDocument/2006/relationships/diagramData" Target="../diagrams/data38.xml"/><Relationship Id="rId7" Type="http://schemas.microsoft.com/office/2007/relationships/diagramDrawing" Target="../diagrams/drawing38.xml"/><Relationship Id="rId2" Type="http://schemas.openxmlformats.org/officeDocument/2006/relationships/notesSlide" Target="../notesSlides/notesSlide97.xml"/><Relationship Id="rId1" Type="http://schemas.openxmlformats.org/officeDocument/2006/relationships/slideLayout" Target="../slideLayouts/slideLayout16.xml"/><Relationship Id="rId6" Type="http://schemas.openxmlformats.org/officeDocument/2006/relationships/diagramColors" Target="../diagrams/colors38.xml"/><Relationship Id="rId5" Type="http://schemas.openxmlformats.org/officeDocument/2006/relationships/diagramQuickStyle" Target="../diagrams/quickStyle38.xml"/><Relationship Id="rId4" Type="http://schemas.openxmlformats.org/officeDocument/2006/relationships/diagramLayout" Target="../diagrams/layout38.xml"/></Relationships>
</file>

<file path=ppt/slides/_rels/slide98.xml.rels><?xml version="1.0" encoding="UTF-8" standalone="yes"?>
<Relationships xmlns="http://schemas.openxmlformats.org/package/2006/relationships"><Relationship Id="rId3" Type="http://schemas.openxmlformats.org/officeDocument/2006/relationships/diagramData" Target="../diagrams/data39.xml"/><Relationship Id="rId7" Type="http://schemas.microsoft.com/office/2007/relationships/diagramDrawing" Target="../diagrams/drawing39.xml"/><Relationship Id="rId2" Type="http://schemas.openxmlformats.org/officeDocument/2006/relationships/notesSlide" Target="../notesSlides/notesSlide98.xml"/><Relationship Id="rId1" Type="http://schemas.openxmlformats.org/officeDocument/2006/relationships/slideLayout" Target="../slideLayouts/slideLayout16.xml"/><Relationship Id="rId6" Type="http://schemas.openxmlformats.org/officeDocument/2006/relationships/diagramColors" Target="../diagrams/colors39.xml"/><Relationship Id="rId5" Type="http://schemas.openxmlformats.org/officeDocument/2006/relationships/diagramQuickStyle" Target="../diagrams/quickStyle39.xml"/><Relationship Id="rId4" Type="http://schemas.openxmlformats.org/officeDocument/2006/relationships/diagramLayout" Target="../diagrams/layout39.xml"/></Relationships>
</file>

<file path=ppt/slides/_rels/slide99.xml.rels><?xml version="1.0" encoding="UTF-8" standalone="yes"?>
<Relationships xmlns="http://schemas.openxmlformats.org/package/2006/relationships"><Relationship Id="rId3" Type="http://schemas.openxmlformats.org/officeDocument/2006/relationships/diagramData" Target="../diagrams/data40.xml"/><Relationship Id="rId7" Type="http://schemas.microsoft.com/office/2007/relationships/diagramDrawing" Target="../diagrams/drawing40.xml"/><Relationship Id="rId2" Type="http://schemas.openxmlformats.org/officeDocument/2006/relationships/notesSlide" Target="../notesSlides/notesSlide99.xml"/><Relationship Id="rId1" Type="http://schemas.openxmlformats.org/officeDocument/2006/relationships/slideLayout" Target="../slideLayouts/slideLayout16.xml"/><Relationship Id="rId6" Type="http://schemas.openxmlformats.org/officeDocument/2006/relationships/diagramColors" Target="../diagrams/colors40.xml"/><Relationship Id="rId5" Type="http://schemas.openxmlformats.org/officeDocument/2006/relationships/diagramQuickStyle" Target="../diagrams/quickStyle40.xml"/><Relationship Id="rId4" Type="http://schemas.openxmlformats.org/officeDocument/2006/relationships/diagramLayout" Target="../diagrams/layout40.xml"/></Relationships>
</file>

<file path=ppt/slides/_rels/slide100.xml.rels><?xml version="1.0" encoding="UTF-8" standalone="yes"?>
<Relationships xmlns="http://schemas.openxmlformats.org/package/2006/relationships"><Relationship Id="rId3" Type="http://schemas.openxmlformats.org/officeDocument/2006/relationships/diagramData" Target="../diagrams/data41.xml"/><Relationship Id="rId7" Type="http://schemas.microsoft.com/office/2007/relationships/diagramDrawing" Target="../diagrams/drawing41.xml"/><Relationship Id="rId2" Type="http://schemas.openxmlformats.org/officeDocument/2006/relationships/notesSlide" Target="../notesSlides/notesSlide100.xml"/><Relationship Id="rId1" Type="http://schemas.openxmlformats.org/officeDocument/2006/relationships/slideLayout" Target="../slideLayouts/slideLayout16.xml"/><Relationship Id="rId6" Type="http://schemas.openxmlformats.org/officeDocument/2006/relationships/diagramColors" Target="../diagrams/colors41.xml"/><Relationship Id="rId5" Type="http://schemas.openxmlformats.org/officeDocument/2006/relationships/diagramQuickStyle" Target="../diagrams/quickStyle41.xml"/><Relationship Id="rId4" Type="http://schemas.openxmlformats.org/officeDocument/2006/relationships/diagramLayout" Target="../diagrams/layout41.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16.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16.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16.xml"/></Relationships>
</file>

<file path=ppt/slides/_rels/slide104.xml.rels><?xml version="1.0" encoding="UTF-8" standalone="yes"?>
<Relationships xmlns="http://schemas.openxmlformats.org/package/2006/relationships"><Relationship Id="rId8" Type="http://schemas.openxmlformats.org/officeDocument/2006/relationships/image" Target="../media/image14.emf"/><Relationship Id="rId3" Type="http://schemas.openxmlformats.org/officeDocument/2006/relationships/diagramData" Target="../diagrams/data42.xml"/><Relationship Id="rId7" Type="http://schemas.microsoft.com/office/2007/relationships/diagramDrawing" Target="../diagrams/drawing42.xml"/><Relationship Id="rId2" Type="http://schemas.openxmlformats.org/officeDocument/2006/relationships/notesSlide" Target="../notesSlides/notesSlide104.xml"/><Relationship Id="rId1" Type="http://schemas.openxmlformats.org/officeDocument/2006/relationships/slideLayout" Target="../slideLayouts/slideLayout16.xml"/><Relationship Id="rId6" Type="http://schemas.openxmlformats.org/officeDocument/2006/relationships/diagramColors" Target="../diagrams/colors42.xml"/><Relationship Id="rId5" Type="http://schemas.openxmlformats.org/officeDocument/2006/relationships/diagramQuickStyle" Target="../diagrams/quickStyle42.xml"/><Relationship Id="rId4" Type="http://schemas.openxmlformats.org/officeDocument/2006/relationships/diagramLayout" Target="../diagrams/layout42.xml"/></Relationships>
</file>

<file path=ppt/slides/_rels/slide105.xml.rels><?xml version="1.0" encoding="UTF-8" standalone="yes"?>
<Relationships xmlns="http://schemas.openxmlformats.org/package/2006/relationships"><Relationship Id="rId3" Type="http://schemas.openxmlformats.org/officeDocument/2006/relationships/diagramData" Target="../diagrams/data43.xml"/><Relationship Id="rId7" Type="http://schemas.microsoft.com/office/2007/relationships/diagramDrawing" Target="../diagrams/drawing43.xml"/><Relationship Id="rId2" Type="http://schemas.openxmlformats.org/officeDocument/2006/relationships/notesSlide" Target="../notesSlides/notesSlide105.xml"/><Relationship Id="rId1" Type="http://schemas.openxmlformats.org/officeDocument/2006/relationships/slideLayout" Target="../slideLayouts/slideLayout16.xml"/><Relationship Id="rId6" Type="http://schemas.openxmlformats.org/officeDocument/2006/relationships/diagramColors" Target="../diagrams/colors43.xml"/><Relationship Id="rId5" Type="http://schemas.openxmlformats.org/officeDocument/2006/relationships/diagramQuickStyle" Target="../diagrams/quickStyle43.xml"/><Relationship Id="rId4" Type="http://schemas.openxmlformats.org/officeDocument/2006/relationships/diagramLayout" Target="../diagrams/layout43.xml"/></Relationships>
</file>

<file path=ppt/slides/_rels/slide106.xml.rels><?xml version="1.0" encoding="UTF-8" standalone="yes"?>
<Relationships xmlns="http://schemas.openxmlformats.org/package/2006/relationships"><Relationship Id="rId8" Type="http://schemas.openxmlformats.org/officeDocument/2006/relationships/image" Target="../media/image15.emf"/><Relationship Id="rId3" Type="http://schemas.openxmlformats.org/officeDocument/2006/relationships/diagramData" Target="../diagrams/data44.xml"/><Relationship Id="rId7" Type="http://schemas.microsoft.com/office/2007/relationships/diagramDrawing" Target="../diagrams/drawing44.xml"/><Relationship Id="rId2" Type="http://schemas.openxmlformats.org/officeDocument/2006/relationships/notesSlide" Target="../notesSlides/notesSlide106.xml"/><Relationship Id="rId1" Type="http://schemas.openxmlformats.org/officeDocument/2006/relationships/slideLayout" Target="../slideLayouts/slideLayout16.xml"/><Relationship Id="rId6" Type="http://schemas.openxmlformats.org/officeDocument/2006/relationships/diagramColors" Target="../diagrams/colors44.xml"/><Relationship Id="rId5" Type="http://schemas.openxmlformats.org/officeDocument/2006/relationships/diagramQuickStyle" Target="../diagrams/quickStyle44.xml"/><Relationship Id="rId4" Type="http://schemas.openxmlformats.org/officeDocument/2006/relationships/diagramLayout" Target="../diagrams/layout44.xml"/></Relationships>
</file>

<file path=ppt/slides/_rels/slide107.xml.rels><?xml version="1.0" encoding="UTF-8" standalone="yes"?>
<Relationships xmlns="http://schemas.openxmlformats.org/package/2006/relationships"><Relationship Id="rId3" Type="http://schemas.openxmlformats.org/officeDocument/2006/relationships/diagramData" Target="../diagrams/data45.xml"/><Relationship Id="rId7" Type="http://schemas.microsoft.com/office/2007/relationships/diagramDrawing" Target="../diagrams/drawing45.xml"/><Relationship Id="rId2" Type="http://schemas.openxmlformats.org/officeDocument/2006/relationships/notesSlide" Target="../notesSlides/notesSlide107.xml"/><Relationship Id="rId1" Type="http://schemas.openxmlformats.org/officeDocument/2006/relationships/slideLayout" Target="../slideLayouts/slideLayout16.xml"/><Relationship Id="rId6" Type="http://schemas.openxmlformats.org/officeDocument/2006/relationships/diagramColors" Target="../diagrams/colors45.xml"/><Relationship Id="rId5" Type="http://schemas.openxmlformats.org/officeDocument/2006/relationships/diagramQuickStyle" Target="../diagrams/quickStyle45.xml"/><Relationship Id="rId4" Type="http://schemas.openxmlformats.org/officeDocument/2006/relationships/diagramLayout" Target="../diagrams/layout45.xml"/></Relationships>
</file>

<file path=ppt/slides/_rels/slide108.xml.rels><?xml version="1.0" encoding="UTF-8" standalone="yes"?>
<Relationships xmlns="http://schemas.openxmlformats.org/package/2006/relationships"><Relationship Id="rId3" Type="http://schemas.openxmlformats.org/officeDocument/2006/relationships/diagramData" Target="../diagrams/data46.xml"/><Relationship Id="rId7" Type="http://schemas.microsoft.com/office/2007/relationships/diagramDrawing" Target="../diagrams/drawing46.xml"/><Relationship Id="rId2" Type="http://schemas.openxmlformats.org/officeDocument/2006/relationships/notesSlide" Target="../notesSlides/notesSlide108.xml"/><Relationship Id="rId1" Type="http://schemas.openxmlformats.org/officeDocument/2006/relationships/slideLayout" Target="../slideLayouts/slideLayout16.xml"/><Relationship Id="rId6" Type="http://schemas.openxmlformats.org/officeDocument/2006/relationships/diagramColors" Target="../diagrams/colors46.xml"/><Relationship Id="rId5" Type="http://schemas.openxmlformats.org/officeDocument/2006/relationships/diagramQuickStyle" Target="../diagrams/quickStyle46.xml"/><Relationship Id="rId4" Type="http://schemas.openxmlformats.org/officeDocument/2006/relationships/diagramLayout" Target="../diagrams/layout46.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16.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16.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16.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16.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14.xml"/><Relationship Id="rId1" Type="http://schemas.openxmlformats.org/officeDocument/2006/relationships/slideLayout" Target="../slideLayouts/slideLayout3.xml"/></Relationships>
</file>

<file path=ppt/slides/_rels/slide11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15.xml"/><Relationship Id="rId1" Type="http://schemas.openxmlformats.org/officeDocument/2006/relationships/slideLayout" Target="../slideLayouts/slideLayout4.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5.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6.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8.xml"/></Relationships>
</file>

<file path=ppt/slides/_rels/slide12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20.xml"/><Relationship Id="rId1" Type="http://schemas.openxmlformats.org/officeDocument/2006/relationships/slideLayout" Target="../slideLayouts/slideLayout9.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10.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11.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12.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10047101-8D42-6100-9CEA-AEC0FAEAB606}"/>
              </a:ext>
            </a:extLst>
          </p:cNvPr>
          <p:cNvSpPr>
            <a:spLocks noGrp="1"/>
          </p:cNvSpPr>
          <p:nvPr>
            <p:ph type="ctrTitle"/>
          </p:nvPr>
        </p:nvSpPr>
        <p:spPr>
          <a:xfrm>
            <a:off x="1524000" y="2286000"/>
            <a:ext cx="9144000" cy="2286000"/>
          </a:xfrm>
          <a:noFill/>
        </p:spPr>
        <p:txBody>
          <a:bodyPr rtlCol="0">
            <a:noAutofit/>
          </a:bodyPr>
          <a:lstStyle>
            <a:defPPr>
              <a:defRPr lang="fr-FR"/>
            </a:defPPr>
          </a:lstStyle>
          <a:p>
            <a:pPr rtl="0"/>
            <a:r>
              <a:rPr lang="fr-FR" dirty="0"/>
              <a:t>LES ESSENTIELS DU BTP</a:t>
            </a:r>
          </a:p>
        </p:txBody>
      </p:sp>
    </p:spTree>
    <p:extLst>
      <p:ext uri="{BB962C8B-B14F-4D97-AF65-F5344CB8AC3E}">
        <p14:creationId xmlns:p14="http://schemas.microsoft.com/office/powerpoint/2010/main" val="20830284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texte 3"/>
          <p:cNvSpPr>
            <a:spLocks noGrp="1"/>
          </p:cNvSpPr>
          <p:nvPr>
            <p:ph type="body" sz="quarter" idx="13"/>
          </p:nvPr>
        </p:nvSpPr>
        <p:spPr/>
        <p:txBody>
          <a:bodyPr/>
          <a:lstStyle/>
          <a:p>
            <a:r>
              <a:rPr lang="fr-FR" dirty="0"/>
              <a:t>Séquence 1 – Les conventions collectives</a:t>
            </a:r>
          </a:p>
          <a:p>
            <a:r>
              <a:rPr lang="fr-FR" dirty="0"/>
              <a:t>Séquence 2 – L’embauche</a:t>
            </a:r>
          </a:p>
          <a:p>
            <a:r>
              <a:rPr lang="fr-FR" dirty="0"/>
              <a:t>Séquence 3 – Le brut</a:t>
            </a:r>
          </a:p>
          <a:p>
            <a:r>
              <a:rPr lang="fr-FR" dirty="0"/>
              <a:t>Séquence 4 – Les frais professionnels et de déplacement</a:t>
            </a:r>
          </a:p>
          <a:p>
            <a:r>
              <a:rPr lang="fr-FR" dirty="0"/>
              <a:t>Séquence 5 – Les cotisations</a:t>
            </a:r>
          </a:p>
          <a:p>
            <a:r>
              <a:rPr lang="fr-FR" dirty="0"/>
              <a:t>Séquence 6 – Les évènements courants</a:t>
            </a:r>
          </a:p>
          <a:p>
            <a:r>
              <a:rPr lang="fr-FR" dirty="0"/>
              <a:t>Séquence 7 – La rupture</a:t>
            </a:r>
          </a:p>
        </p:txBody>
      </p:sp>
      <p:sp>
        <p:nvSpPr>
          <p:cNvPr id="5" name="Espace réservé du texte 4"/>
          <p:cNvSpPr>
            <a:spLocks noGrp="1"/>
          </p:cNvSpPr>
          <p:nvPr>
            <p:ph type="body" sz="quarter" idx="14"/>
          </p:nvPr>
        </p:nvSpPr>
        <p:spPr/>
        <p:txBody>
          <a:bodyPr/>
          <a:lstStyle/>
          <a:p>
            <a:r>
              <a:rPr lang="fr-FR" dirty="0"/>
              <a:t>SOMMAIRE</a:t>
            </a:r>
          </a:p>
        </p:txBody>
      </p:sp>
    </p:spTree>
    <p:extLst>
      <p:ext uri="{BB962C8B-B14F-4D97-AF65-F5344CB8AC3E}">
        <p14:creationId xmlns:p14="http://schemas.microsoft.com/office/powerpoint/2010/main" val="731373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texte 4"/>
          <p:cNvSpPr>
            <a:spLocks noGrp="1"/>
          </p:cNvSpPr>
          <p:nvPr>
            <p:ph type="body" idx="1"/>
          </p:nvPr>
        </p:nvSpPr>
        <p:spPr/>
        <p:txBody>
          <a:bodyPr/>
          <a:lstStyle/>
          <a:p>
            <a:r>
              <a:rPr lang="fr-FR" dirty="0"/>
              <a:t>Les conventions collectives</a:t>
            </a:r>
          </a:p>
          <a:p>
            <a:endParaRPr lang="fr-FR" dirty="0"/>
          </a:p>
        </p:txBody>
      </p:sp>
      <p:sp>
        <p:nvSpPr>
          <p:cNvPr id="4" name="Titre 3"/>
          <p:cNvSpPr>
            <a:spLocks noGrp="1"/>
          </p:cNvSpPr>
          <p:nvPr>
            <p:ph type="title"/>
          </p:nvPr>
        </p:nvSpPr>
        <p:spPr/>
        <p:txBody>
          <a:bodyPr/>
          <a:lstStyle/>
          <a:p>
            <a:r>
              <a:rPr lang="fr-FR" dirty="0"/>
              <a:t>Séquence 1 </a:t>
            </a:r>
          </a:p>
        </p:txBody>
      </p:sp>
      <p:sp>
        <p:nvSpPr>
          <p:cNvPr id="6" name="Espace réservé du contenu 5"/>
          <p:cNvSpPr>
            <a:spLocks noGrp="1"/>
          </p:cNvSpPr>
          <p:nvPr>
            <p:ph sz="quarter" idx="10"/>
          </p:nvPr>
        </p:nvSpPr>
        <p:spPr/>
        <p:txBody>
          <a:bodyPr/>
          <a:lstStyle/>
          <a:p>
            <a:endParaRPr lang="fr-FR"/>
          </a:p>
        </p:txBody>
      </p:sp>
    </p:spTree>
    <p:extLst>
      <p:ext uri="{BB962C8B-B14F-4D97-AF65-F5344CB8AC3E}">
        <p14:creationId xmlns:p14="http://schemas.microsoft.com/office/powerpoint/2010/main" val="916026211"/>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a:xfrm>
            <a:off x="431800" y="1748813"/>
            <a:ext cx="11269133" cy="4132812"/>
          </a:xfrm>
        </p:spPr>
        <p:txBody>
          <a:bodyPr/>
          <a:lstStyle/>
          <a:p>
            <a:r>
              <a:rPr lang="fr-FR" dirty="0"/>
              <a:t>Les articles du code du travail</a:t>
            </a:r>
          </a:p>
          <a:p>
            <a:pPr marL="721182" lvl="1" indent="-457189">
              <a:buFont typeface="+mj-lt"/>
              <a:buAutoNum type="arabicPeriod"/>
            </a:pPr>
            <a:r>
              <a:rPr lang="fr-FR" dirty="0"/>
              <a:t>Fixent des règles impératives (règles d'ordre public)</a:t>
            </a:r>
          </a:p>
          <a:p>
            <a:pPr marL="721182" lvl="1" indent="-457189">
              <a:buFont typeface="+mj-lt"/>
              <a:buAutoNum type="arabicPeriod"/>
            </a:pPr>
            <a:r>
              <a:rPr lang="fr-FR" dirty="0"/>
              <a:t>Indiquent ce qui relève au contraire d'un accord ou d'une convention (champ de la négociation collective)</a:t>
            </a:r>
          </a:p>
          <a:p>
            <a:pPr marL="721182" lvl="1" indent="-457189">
              <a:buFont typeface="+mj-lt"/>
              <a:buAutoNum type="arabicPeriod"/>
            </a:pPr>
            <a:r>
              <a:rPr lang="fr-FR" dirty="0"/>
              <a:t>Prévoient des dispositions s'appliquant faute d'accord (dispositions supplétives)</a:t>
            </a:r>
          </a:p>
          <a:p>
            <a:endParaRPr lang="fr-FR" dirty="0"/>
          </a:p>
        </p:txBody>
      </p:sp>
      <p:sp>
        <p:nvSpPr>
          <p:cNvPr id="3" name="Titre 2"/>
          <p:cNvSpPr>
            <a:spLocks noGrp="1"/>
          </p:cNvSpPr>
          <p:nvPr>
            <p:ph type="title"/>
          </p:nvPr>
        </p:nvSpPr>
        <p:spPr>
          <a:xfrm>
            <a:off x="431682" y="428667"/>
            <a:ext cx="11251489" cy="1200133"/>
          </a:xfrm>
        </p:spPr>
        <p:txBody>
          <a:bodyPr>
            <a:normAutofit fontScale="90000"/>
          </a:bodyPr>
          <a:lstStyle/>
          <a:p>
            <a:r>
              <a:rPr lang="fr-FR" dirty="0"/>
              <a:t>Les 3 niveaux de hiérarchie du code </a:t>
            </a:r>
            <a:br>
              <a:rPr lang="fr-FR" dirty="0"/>
            </a:br>
            <a:r>
              <a:rPr lang="fr-FR" dirty="0"/>
              <a:t>de travail</a:t>
            </a:r>
          </a:p>
        </p:txBody>
      </p:sp>
    </p:spTree>
    <p:extLst>
      <p:ext uri="{BB962C8B-B14F-4D97-AF65-F5344CB8AC3E}">
        <p14:creationId xmlns:p14="http://schemas.microsoft.com/office/powerpoint/2010/main" val="9864677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p:txBody>
          <a:bodyPr/>
          <a:lstStyle/>
          <a:p>
            <a:r>
              <a:rPr lang="fr-FR" dirty="0"/>
              <a:t>La négociation d’entreprise et la CCN</a:t>
            </a:r>
          </a:p>
        </p:txBody>
      </p:sp>
      <p:graphicFrame>
        <p:nvGraphicFramePr>
          <p:cNvPr id="4" name="Espace réservé du contenu 3"/>
          <p:cNvGraphicFramePr>
            <a:graphicFrameLocks noGrp="1"/>
          </p:cNvGraphicFramePr>
          <p:nvPr>
            <p:ph sz="quarter" idx="14"/>
          </p:nvPr>
        </p:nvGraphicFramePr>
        <p:xfrm>
          <a:off x="670064" y="2288873"/>
          <a:ext cx="10851872" cy="306033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459822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a:xfrm>
            <a:off x="515380" y="1748814"/>
            <a:ext cx="11269133" cy="4132812"/>
          </a:xfrm>
        </p:spPr>
        <p:txBody>
          <a:bodyPr>
            <a:normAutofit/>
          </a:bodyPr>
          <a:lstStyle/>
          <a:p>
            <a:pPr algn="just"/>
            <a:r>
              <a:rPr lang="fr-FR" dirty="0"/>
              <a:t>Convention collective nationale par catégorie (ouvriers, ETAM, cadres)</a:t>
            </a:r>
          </a:p>
          <a:p>
            <a:pPr marL="263993" lvl="1" indent="0" algn="just">
              <a:buNone/>
            </a:pPr>
            <a:r>
              <a:rPr lang="fr-FR" b="0" i="1" dirty="0"/>
              <a:t>Observation : pour les ouvriers 2 conventions collectives (IDCC 1596 jusqu’à 10 salariés, IDCC 1597 pour les + 10 salariés)</a:t>
            </a:r>
          </a:p>
          <a:p>
            <a:pPr algn="just"/>
            <a:r>
              <a:rPr lang="fr-FR" dirty="0"/>
              <a:t>La convention collective nationale des cadres BÂTIMENT est non étendue sauf dans certaines régions (travaux publics, la convention a été étendue en 2020)</a:t>
            </a:r>
          </a:p>
          <a:p>
            <a:pPr algn="just"/>
            <a:r>
              <a:rPr lang="fr-FR" dirty="0"/>
              <a:t>Certains accords sont étendus aux 3 catégories de salariés</a:t>
            </a:r>
          </a:p>
          <a:p>
            <a:pPr algn="just"/>
            <a:r>
              <a:rPr lang="fr-FR" dirty="0"/>
              <a:t>Comme dans toute entreprise, il faut savoir si elle adhère à un syndicat patronal</a:t>
            </a:r>
          </a:p>
        </p:txBody>
      </p:sp>
      <p:sp>
        <p:nvSpPr>
          <p:cNvPr id="3" name="Titre 2"/>
          <p:cNvSpPr>
            <a:spLocks noGrp="1"/>
          </p:cNvSpPr>
          <p:nvPr>
            <p:ph type="title"/>
          </p:nvPr>
        </p:nvSpPr>
        <p:spPr/>
        <p:txBody>
          <a:bodyPr>
            <a:normAutofit fontScale="90000"/>
          </a:bodyPr>
          <a:lstStyle/>
          <a:p>
            <a:r>
              <a:rPr lang="fr-FR" dirty="0"/>
              <a:t>Les particularités des conventions collectives du BTP (1)</a:t>
            </a:r>
          </a:p>
        </p:txBody>
      </p:sp>
    </p:spTree>
    <p:extLst>
      <p:ext uri="{BB962C8B-B14F-4D97-AF65-F5344CB8AC3E}">
        <p14:creationId xmlns:p14="http://schemas.microsoft.com/office/powerpoint/2010/main" val="13671545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a:xfrm>
            <a:off x="281414" y="1785623"/>
            <a:ext cx="11269133" cy="3083539"/>
          </a:xfrm>
        </p:spPr>
        <p:txBody>
          <a:bodyPr/>
          <a:lstStyle/>
          <a:p>
            <a:endParaRPr lang="fr-FR" dirty="0"/>
          </a:p>
          <a:p>
            <a:endParaRPr lang="fr-FR" dirty="0"/>
          </a:p>
          <a:p>
            <a:endParaRPr lang="fr-FR" dirty="0"/>
          </a:p>
          <a:p>
            <a:endParaRPr lang="fr-FR" dirty="0"/>
          </a:p>
          <a:p>
            <a:endParaRPr lang="fr-FR" dirty="0"/>
          </a:p>
          <a:p>
            <a:endParaRPr lang="fr-FR" dirty="0"/>
          </a:p>
        </p:txBody>
      </p:sp>
      <p:sp>
        <p:nvSpPr>
          <p:cNvPr id="3" name="Titre 2"/>
          <p:cNvSpPr>
            <a:spLocks noGrp="1"/>
          </p:cNvSpPr>
          <p:nvPr>
            <p:ph type="title"/>
          </p:nvPr>
        </p:nvSpPr>
        <p:spPr/>
        <p:txBody>
          <a:bodyPr>
            <a:normAutofit fontScale="90000"/>
          </a:bodyPr>
          <a:lstStyle/>
          <a:p>
            <a:r>
              <a:rPr lang="fr-FR" dirty="0"/>
              <a:t>Les particularités des conventions collectives du </a:t>
            </a:r>
            <a:r>
              <a:rPr lang="fr-FR" dirty="0" err="1"/>
              <a:t>Btp</a:t>
            </a:r>
            <a:r>
              <a:rPr lang="fr-FR" dirty="0"/>
              <a:t> (2)</a:t>
            </a:r>
          </a:p>
        </p:txBody>
      </p:sp>
      <p:sp>
        <p:nvSpPr>
          <p:cNvPr id="6" name="ZoneTexte 5"/>
          <p:cNvSpPr txBox="1"/>
          <p:nvPr/>
        </p:nvSpPr>
        <p:spPr>
          <a:xfrm>
            <a:off x="431683" y="1868827"/>
            <a:ext cx="11269133" cy="379656"/>
          </a:xfrm>
          <a:prstGeom prst="rect">
            <a:avLst/>
          </a:prstGeom>
          <a:noFill/>
        </p:spPr>
        <p:txBody>
          <a:bodyPr wrap="square" rtlCol="0">
            <a:spAutoFit/>
          </a:bodyPr>
          <a:lstStyle/>
          <a:p>
            <a:r>
              <a:rPr lang="fr-FR" sz="1867" i="1" dirty="0"/>
              <a:t>La CCN ouvriers bâtiment du 05/03/2018 n’a pas été étendue et a eu une durée de vie très courte</a:t>
            </a:r>
          </a:p>
        </p:txBody>
      </p:sp>
      <p:graphicFrame>
        <p:nvGraphicFramePr>
          <p:cNvPr id="5" name="Tableau 6">
            <a:extLst>
              <a:ext uri="{FF2B5EF4-FFF2-40B4-BE49-F238E27FC236}">
                <a16:creationId xmlns:a16="http://schemas.microsoft.com/office/drawing/2014/main" id="{A761AA54-CF5C-4EB3-9B42-D079BAC01125}"/>
              </a:ext>
            </a:extLst>
          </p:cNvPr>
          <p:cNvGraphicFramePr>
            <a:graphicFrameLocks noGrp="1"/>
          </p:cNvGraphicFramePr>
          <p:nvPr/>
        </p:nvGraphicFramePr>
        <p:xfrm>
          <a:off x="584721" y="2362400"/>
          <a:ext cx="10945409" cy="3499944"/>
        </p:xfrm>
        <a:graphic>
          <a:graphicData uri="http://schemas.openxmlformats.org/drawingml/2006/table">
            <a:tbl>
              <a:tblPr firstRow="1" bandRow="1">
                <a:tableStyleId>{5C22544A-7EE6-4342-B048-85BDC9FD1C3A}</a:tableStyleId>
              </a:tblPr>
              <a:tblGrid>
                <a:gridCol w="1490833">
                  <a:extLst>
                    <a:ext uri="{9D8B030D-6E8A-4147-A177-3AD203B41FA5}">
                      <a16:colId xmlns:a16="http://schemas.microsoft.com/office/drawing/2014/main" val="623311329"/>
                    </a:ext>
                  </a:extLst>
                </a:gridCol>
                <a:gridCol w="1872551">
                  <a:extLst>
                    <a:ext uri="{9D8B030D-6E8A-4147-A177-3AD203B41FA5}">
                      <a16:colId xmlns:a16="http://schemas.microsoft.com/office/drawing/2014/main" val="847877989"/>
                    </a:ext>
                  </a:extLst>
                </a:gridCol>
                <a:gridCol w="1113253">
                  <a:extLst>
                    <a:ext uri="{9D8B030D-6E8A-4147-A177-3AD203B41FA5}">
                      <a16:colId xmlns:a16="http://schemas.microsoft.com/office/drawing/2014/main" val="3547743478"/>
                    </a:ext>
                  </a:extLst>
                </a:gridCol>
                <a:gridCol w="2343689">
                  <a:extLst>
                    <a:ext uri="{9D8B030D-6E8A-4147-A177-3AD203B41FA5}">
                      <a16:colId xmlns:a16="http://schemas.microsoft.com/office/drawing/2014/main" val="1411586325"/>
                    </a:ext>
                  </a:extLst>
                </a:gridCol>
                <a:gridCol w="1992136">
                  <a:extLst>
                    <a:ext uri="{9D8B030D-6E8A-4147-A177-3AD203B41FA5}">
                      <a16:colId xmlns:a16="http://schemas.microsoft.com/office/drawing/2014/main" val="3885152802"/>
                    </a:ext>
                  </a:extLst>
                </a:gridCol>
                <a:gridCol w="2132947">
                  <a:extLst>
                    <a:ext uri="{9D8B030D-6E8A-4147-A177-3AD203B41FA5}">
                      <a16:colId xmlns:a16="http://schemas.microsoft.com/office/drawing/2014/main" val="906569779"/>
                    </a:ext>
                  </a:extLst>
                </a:gridCol>
              </a:tblGrid>
              <a:tr h="447040">
                <a:tc rowSpan="2">
                  <a:txBody>
                    <a:bodyPr/>
                    <a:lstStyle/>
                    <a:p>
                      <a:pPr algn="ctr"/>
                      <a:r>
                        <a:rPr lang="fr-FR" sz="2100" dirty="0"/>
                        <a:t>Catégorie</a:t>
                      </a:r>
                    </a:p>
                  </a:txBody>
                  <a:tcPr marL="121920" marR="121920" marT="60960" marB="60960" anchor="ctr"/>
                </a:tc>
                <a:tc rowSpan="2">
                  <a:txBody>
                    <a:bodyPr/>
                    <a:lstStyle/>
                    <a:p>
                      <a:pPr algn="ctr"/>
                      <a:r>
                        <a:rPr lang="fr-FR" sz="2100" dirty="0"/>
                        <a:t>Effectif</a:t>
                      </a:r>
                    </a:p>
                  </a:txBody>
                  <a:tcPr marL="121920" marR="121920" marT="60960" marB="60960" anchor="ctr"/>
                </a:tc>
                <a:tc rowSpan="2">
                  <a:txBody>
                    <a:bodyPr/>
                    <a:lstStyle/>
                    <a:p>
                      <a:pPr algn="ctr"/>
                      <a:r>
                        <a:rPr lang="fr-FR" sz="2100" dirty="0"/>
                        <a:t>IDCC</a:t>
                      </a:r>
                    </a:p>
                  </a:txBody>
                  <a:tcPr marL="121920" marR="121920" marT="60960" marB="60960" anchor="ctr"/>
                </a:tc>
                <a:tc rowSpan="2">
                  <a:txBody>
                    <a:bodyPr/>
                    <a:lstStyle/>
                    <a:p>
                      <a:pPr algn="ctr"/>
                      <a:r>
                        <a:rPr lang="fr-FR" sz="2100" dirty="0"/>
                        <a:t>Date CCN</a:t>
                      </a:r>
                    </a:p>
                  </a:txBody>
                  <a:tcPr marL="121920" marR="121920" marT="60960" marB="60960" anchor="ctr"/>
                </a:tc>
                <a:tc gridSpan="2">
                  <a:txBody>
                    <a:bodyPr/>
                    <a:lstStyle/>
                    <a:p>
                      <a:pPr algn="ctr"/>
                      <a:r>
                        <a:rPr lang="fr-FR" sz="2100" dirty="0"/>
                        <a:t>Date d’application</a:t>
                      </a:r>
                    </a:p>
                  </a:txBody>
                  <a:tcPr marL="121920" marR="121920" marT="60960" marB="60960" anchor="ctr">
                    <a:lnB w="12700" cap="flat" cmpd="sng" algn="ctr">
                      <a:solidFill>
                        <a:schemeClr val="bg1"/>
                      </a:solidFill>
                      <a:prstDash val="solid"/>
                      <a:round/>
                      <a:headEnd type="none" w="med" len="med"/>
                      <a:tailEnd type="none" w="med" len="med"/>
                    </a:lnB>
                  </a:tcPr>
                </a:tc>
                <a:tc hMerge="1">
                  <a:txBody>
                    <a:bodyPr/>
                    <a:lstStyle/>
                    <a:p>
                      <a:endParaRPr lang="fr-FR" dirty="0"/>
                    </a:p>
                  </a:txBody>
                  <a:tcPr/>
                </a:tc>
                <a:extLst>
                  <a:ext uri="{0D108BD9-81ED-4DB2-BD59-A6C34878D82A}">
                    <a16:rowId xmlns:a16="http://schemas.microsoft.com/office/drawing/2014/main" val="3387796874"/>
                  </a:ext>
                </a:extLst>
              </a:tr>
              <a:tr h="700929">
                <a:tc vMerge="1">
                  <a:txBody>
                    <a:bodyPr/>
                    <a:lstStyle/>
                    <a:p>
                      <a:endParaRPr lang="fr-FR"/>
                    </a:p>
                  </a:txBody>
                  <a:tcPr/>
                </a:tc>
                <a:tc vMerge="1">
                  <a:txBody>
                    <a:bodyPr/>
                    <a:lstStyle/>
                    <a:p>
                      <a:endParaRPr lang="fr-FR"/>
                    </a:p>
                  </a:txBody>
                  <a:tcPr/>
                </a:tc>
                <a:tc vMerge="1">
                  <a:txBody>
                    <a:bodyPr/>
                    <a:lstStyle/>
                    <a:p>
                      <a:endParaRPr lang="fr-FR"/>
                    </a:p>
                  </a:txBody>
                  <a:tcPr/>
                </a:tc>
                <a:tc vMerge="1">
                  <a:txBody>
                    <a:bodyPr/>
                    <a:lstStyle/>
                    <a:p>
                      <a:endParaRPr lang="fr-FR"/>
                    </a:p>
                  </a:txBody>
                  <a:tcPr/>
                </a:tc>
                <a:tc>
                  <a:txBody>
                    <a:bodyPr/>
                    <a:lstStyle/>
                    <a:p>
                      <a:pPr algn="ctr"/>
                      <a:r>
                        <a:rPr lang="fr-FR" sz="1900" b="1" dirty="0">
                          <a:solidFill>
                            <a:schemeClr val="bg1"/>
                          </a:solidFill>
                        </a:rPr>
                        <a:t>Non adhérents</a:t>
                      </a:r>
                    </a:p>
                  </a:txBody>
                  <a:tcPr marL="121920" marR="121920" marT="60960" marB="60960"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1"/>
                    </a:solidFill>
                  </a:tcPr>
                </a:tc>
                <a:tc>
                  <a:txBody>
                    <a:bodyPr/>
                    <a:lstStyle/>
                    <a:p>
                      <a:pPr algn="ctr"/>
                      <a:r>
                        <a:rPr lang="fr-FR" sz="1900" b="1" dirty="0">
                          <a:solidFill>
                            <a:schemeClr val="bg1"/>
                          </a:solidFill>
                        </a:rPr>
                        <a:t>Adhérents</a:t>
                      </a:r>
                    </a:p>
                  </a:txBody>
                  <a:tcPr marL="121920" marR="121920" marT="60960" marB="60960" anchor="ct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3521961689"/>
                  </a:ext>
                </a:extLst>
              </a:tr>
              <a:tr h="1143621">
                <a:tc rowSpan="2">
                  <a:txBody>
                    <a:bodyPr/>
                    <a:lstStyle/>
                    <a:p>
                      <a:r>
                        <a:rPr lang="fr-FR" sz="1600" dirty="0"/>
                        <a:t>Ouvriers</a:t>
                      </a:r>
                    </a:p>
                  </a:txBody>
                  <a:tcPr marL="121920" marR="121920" marT="60960" marB="60960" anchor="ctr"/>
                </a:tc>
                <a:tc>
                  <a:txBody>
                    <a:bodyPr/>
                    <a:lstStyle/>
                    <a:p>
                      <a:r>
                        <a:rPr lang="fr-FR" sz="1600" dirty="0"/>
                        <a:t>Jusqu’à 10 salariés (2)</a:t>
                      </a:r>
                    </a:p>
                  </a:txBody>
                  <a:tcPr marL="121920" marR="121920" marT="60960" marB="60960"/>
                </a:tc>
                <a:tc>
                  <a:txBody>
                    <a:bodyPr/>
                    <a:lstStyle/>
                    <a:p>
                      <a:pPr algn="ctr"/>
                      <a:r>
                        <a:rPr lang="fr-FR" sz="1600" dirty="0"/>
                        <a:t>1596</a:t>
                      </a:r>
                    </a:p>
                  </a:txBody>
                  <a:tcPr marL="121920" marR="121920" marT="60960" marB="60960"/>
                </a:tc>
                <a:tc>
                  <a:txBody>
                    <a:bodyPr/>
                    <a:lstStyle/>
                    <a:p>
                      <a:r>
                        <a:rPr lang="fr-FR" sz="1600" dirty="0"/>
                        <a:t>08/10/1990 étendue le 12 février 1991</a:t>
                      </a:r>
                    </a:p>
                  </a:txBody>
                  <a:tcPr marL="121920" marR="121920" marT="60960" marB="60960"/>
                </a:tc>
                <a:tc>
                  <a:txBody>
                    <a:bodyPr/>
                    <a:lstStyle/>
                    <a:p>
                      <a:pPr algn="ctr"/>
                      <a:r>
                        <a:rPr lang="fr-FR" sz="1600" dirty="0"/>
                        <a:t>APPLICABLE</a:t>
                      </a:r>
                    </a:p>
                  </a:txBody>
                  <a:tcPr marL="121920" marR="121920" marT="60960" marB="60960">
                    <a:lnT w="38100" cap="flat" cmpd="sng" algn="ctr">
                      <a:solidFill>
                        <a:schemeClr val="bg1"/>
                      </a:solidFill>
                      <a:prstDash val="solid"/>
                      <a:round/>
                      <a:headEnd type="none" w="med" len="med"/>
                      <a:tailEnd type="none" w="med" len="med"/>
                    </a:lnT>
                  </a:tcPr>
                </a:tc>
                <a:tc>
                  <a:txBody>
                    <a:bodyPr/>
                    <a:lstStyle/>
                    <a:p>
                      <a:r>
                        <a:rPr lang="fr-FR" sz="1600" dirty="0"/>
                        <a:t>SAUF pour la période du 01/07/2018 au 24/02/2019</a:t>
                      </a:r>
                    </a:p>
                  </a:txBody>
                  <a:tcPr marL="121920" marR="121920" marT="60960" marB="60960">
                    <a:lnT w="38100" cap="flat" cmpd="sng" algn="ctr">
                      <a:solidFill>
                        <a:schemeClr val="bg1"/>
                      </a:solidFill>
                      <a:prstDash val="solid"/>
                      <a:round/>
                      <a:headEnd type="none" w="med" len="med"/>
                      <a:tailEnd type="none" w="med" len="med"/>
                    </a:lnT>
                  </a:tcPr>
                </a:tc>
                <a:extLst>
                  <a:ext uri="{0D108BD9-81ED-4DB2-BD59-A6C34878D82A}">
                    <a16:rowId xmlns:a16="http://schemas.microsoft.com/office/drawing/2014/main" val="2971949225"/>
                  </a:ext>
                </a:extLst>
              </a:tr>
              <a:tr h="1208353">
                <a:tc vMerge="1">
                  <a:txBody>
                    <a:bodyPr/>
                    <a:lstStyle/>
                    <a:p>
                      <a:endParaRPr lang="fr-FR" dirty="0"/>
                    </a:p>
                  </a:txBody>
                  <a:tcPr/>
                </a:tc>
                <a:tc>
                  <a:txBody>
                    <a:bodyPr/>
                    <a:lstStyle/>
                    <a:p>
                      <a:r>
                        <a:rPr lang="fr-FR" sz="1600" dirty="0"/>
                        <a:t>+ de 10 salariés (2)</a:t>
                      </a:r>
                    </a:p>
                  </a:txBody>
                  <a:tcPr marL="121920" marR="121920" marT="60960" marB="60960"/>
                </a:tc>
                <a:tc>
                  <a:txBody>
                    <a:bodyPr/>
                    <a:lstStyle/>
                    <a:p>
                      <a:pPr algn="ctr"/>
                      <a:r>
                        <a:rPr lang="fr-FR" sz="1600" dirty="0"/>
                        <a:t>1957</a:t>
                      </a:r>
                    </a:p>
                  </a:txBody>
                  <a:tcPr marL="121920" marR="121920" marT="60960" marB="60960"/>
                </a:tc>
                <a:tc>
                  <a:txBody>
                    <a:bodyPr/>
                    <a:lstStyle/>
                    <a:p>
                      <a:r>
                        <a:rPr lang="fr-FR" sz="1600" dirty="0"/>
                        <a:t>08/10/1990 étendue le 8 février 1991</a:t>
                      </a:r>
                    </a:p>
                  </a:txBody>
                  <a:tcPr marL="121920" marR="121920" marT="60960" marB="60960"/>
                </a:tc>
                <a:tc>
                  <a:txBody>
                    <a:bodyPr/>
                    <a:lstStyle/>
                    <a:p>
                      <a:pPr algn="ctr"/>
                      <a:r>
                        <a:rPr lang="fr-FR" sz="1600" dirty="0"/>
                        <a:t>APPLICABLE</a:t>
                      </a:r>
                    </a:p>
                  </a:txBody>
                  <a:tcPr marL="121920" marR="121920" marT="60960" marB="6096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dirty="0"/>
                        <a:t>SAUF pour la période du 01/07/2018 au 24/02/2019</a:t>
                      </a:r>
                    </a:p>
                  </a:txBody>
                  <a:tcPr marL="121920" marR="121920" marT="60960" marB="60960"/>
                </a:tc>
                <a:extLst>
                  <a:ext uri="{0D108BD9-81ED-4DB2-BD59-A6C34878D82A}">
                    <a16:rowId xmlns:a16="http://schemas.microsoft.com/office/drawing/2014/main" val="3365868189"/>
                  </a:ext>
                </a:extLst>
              </a:tr>
            </a:tbl>
          </a:graphicData>
        </a:graphic>
      </p:graphicFrame>
    </p:spTree>
    <p:extLst>
      <p:ext uri="{BB962C8B-B14F-4D97-AF65-F5344CB8AC3E}">
        <p14:creationId xmlns:p14="http://schemas.microsoft.com/office/powerpoint/2010/main" val="31084204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p:cNvGraphicFramePr>
            <a:graphicFrameLocks noGrp="1"/>
          </p:cNvGraphicFramePr>
          <p:nvPr>
            <p:ph sz="quarter" idx="14"/>
          </p:nvPr>
        </p:nvGraphicFramePr>
        <p:xfrm>
          <a:off x="431800" y="1748813"/>
          <a:ext cx="11269133" cy="41328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re 2"/>
          <p:cNvSpPr>
            <a:spLocks noGrp="1"/>
          </p:cNvSpPr>
          <p:nvPr>
            <p:ph type="title"/>
          </p:nvPr>
        </p:nvSpPr>
        <p:spPr/>
        <p:txBody>
          <a:bodyPr/>
          <a:lstStyle/>
          <a:p>
            <a:r>
              <a:rPr lang="fr-FR" dirty="0"/>
              <a:t>avertissement</a:t>
            </a:r>
          </a:p>
        </p:txBody>
      </p:sp>
    </p:spTree>
    <p:extLst>
      <p:ext uri="{BB962C8B-B14F-4D97-AF65-F5344CB8AC3E}">
        <p14:creationId xmlns:p14="http://schemas.microsoft.com/office/powerpoint/2010/main" val="3958438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a:xfrm>
            <a:off x="431800" y="1748813"/>
            <a:ext cx="11269133" cy="4132812"/>
          </a:xfrm>
        </p:spPr>
        <p:txBody>
          <a:bodyPr/>
          <a:lstStyle/>
          <a:p>
            <a:pPr marL="0" indent="0">
              <a:buNone/>
            </a:pPr>
            <a:endParaRPr lang="fr-FR" dirty="0"/>
          </a:p>
          <a:p>
            <a:r>
              <a:rPr lang="fr-FR" dirty="0"/>
              <a:t>Dans le BTP, il existe  des conventions collectives nationale et régionale ou départementale à utiliser simultanément</a:t>
            </a:r>
          </a:p>
        </p:txBody>
      </p:sp>
      <p:sp>
        <p:nvSpPr>
          <p:cNvPr id="3" name="Titre 2"/>
          <p:cNvSpPr>
            <a:spLocks noGrp="1"/>
          </p:cNvSpPr>
          <p:nvPr>
            <p:ph type="title"/>
          </p:nvPr>
        </p:nvSpPr>
        <p:spPr>
          <a:xfrm>
            <a:off x="431682" y="428667"/>
            <a:ext cx="11251489" cy="1200133"/>
          </a:xfrm>
        </p:spPr>
        <p:txBody>
          <a:bodyPr>
            <a:normAutofit fontScale="90000"/>
          </a:bodyPr>
          <a:lstStyle/>
          <a:p>
            <a:r>
              <a:rPr lang="fr-FR" dirty="0"/>
              <a:t>Les particularités des conventions collectives du </a:t>
            </a:r>
            <a:r>
              <a:rPr lang="fr-FR" dirty="0" err="1"/>
              <a:t>Btp</a:t>
            </a:r>
            <a:r>
              <a:rPr lang="fr-FR" dirty="0"/>
              <a:t> (3)</a:t>
            </a:r>
          </a:p>
        </p:txBody>
      </p:sp>
    </p:spTree>
    <p:extLst>
      <p:ext uri="{BB962C8B-B14F-4D97-AF65-F5344CB8AC3E}">
        <p14:creationId xmlns:p14="http://schemas.microsoft.com/office/powerpoint/2010/main" val="25174574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p:cNvGraphicFramePr>
            <a:graphicFrameLocks noGrp="1"/>
          </p:cNvGraphicFramePr>
          <p:nvPr>
            <p:ph sz="quarter" idx="14"/>
          </p:nvPr>
        </p:nvGraphicFramePr>
        <p:xfrm>
          <a:off x="431800" y="1748813"/>
          <a:ext cx="11269133" cy="41328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re 2"/>
          <p:cNvSpPr>
            <a:spLocks noGrp="1"/>
          </p:cNvSpPr>
          <p:nvPr>
            <p:ph type="title"/>
          </p:nvPr>
        </p:nvSpPr>
        <p:spPr/>
        <p:txBody>
          <a:bodyPr/>
          <a:lstStyle/>
          <a:p>
            <a:r>
              <a:rPr lang="fr-FR" dirty="0"/>
              <a:t>Conventions collectives BTP</a:t>
            </a:r>
          </a:p>
        </p:txBody>
      </p:sp>
    </p:spTree>
    <p:extLst>
      <p:ext uri="{BB962C8B-B14F-4D97-AF65-F5344CB8AC3E}">
        <p14:creationId xmlns:p14="http://schemas.microsoft.com/office/powerpoint/2010/main" val="17106730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p:cNvGraphicFramePr>
            <a:graphicFrameLocks noGrp="1"/>
          </p:cNvGraphicFramePr>
          <p:nvPr>
            <p:ph sz="quarter" idx="14"/>
          </p:nvPr>
        </p:nvGraphicFramePr>
        <p:xfrm>
          <a:off x="431800" y="1748813"/>
          <a:ext cx="11269133" cy="41328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re 2"/>
          <p:cNvSpPr>
            <a:spLocks noGrp="1"/>
          </p:cNvSpPr>
          <p:nvPr>
            <p:ph type="title"/>
          </p:nvPr>
        </p:nvSpPr>
        <p:spPr/>
        <p:txBody>
          <a:bodyPr>
            <a:normAutofit fontScale="90000"/>
          </a:bodyPr>
          <a:lstStyle/>
          <a:p>
            <a:r>
              <a:rPr lang="fr-FR" dirty="0"/>
              <a:t>Conventions collectives : Information des salariés</a:t>
            </a:r>
          </a:p>
        </p:txBody>
      </p:sp>
    </p:spTree>
    <p:extLst>
      <p:ext uri="{BB962C8B-B14F-4D97-AF65-F5344CB8AC3E}">
        <p14:creationId xmlns:p14="http://schemas.microsoft.com/office/powerpoint/2010/main" val="11360812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texte 4"/>
          <p:cNvSpPr>
            <a:spLocks noGrp="1"/>
          </p:cNvSpPr>
          <p:nvPr>
            <p:ph type="body" idx="1"/>
          </p:nvPr>
        </p:nvSpPr>
        <p:spPr/>
        <p:txBody>
          <a:bodyPr/>
          <a:lstStyle/>
          <a:p>
            <a:r>
              <a:rPr lang="fr-FR" dirty="0"/>
              <a:t>L’embauche</a:t>
            </a:r>
          </a:p>
          <a:p>
            <a:endParaRPr lang="fr-FR" dirty="0"/>
          </a:p>
        </p:txBody>
      </p:sp>
      <p:sp>
        <p:nvSpPr>
          <p:cNvPr id="4" name="Titre 3"/>
          <p:cNvSpPr>
            <a:spLocks noGrp="1"/>
          </p:cNvSpPr>
          <p:nvPr>
            <p:ph type="title"/>
          </p:nvPr>
        </p:nvSpPr>
        <p:spPr/>
        <p:txBody>
          <a:bodyPr/>
          <a:lstStyle/>
          <a:p>
            <a:r>
              <a:rPr lang="fr-FR" dirty="0"/>
              <a:t>Séquence 2 </a:t>
            </a:r>
          </a:p>
        </p:txBody>
      </p:sp>
      <p:sp>
        <p:nvSpPr>
          <p:cNvPr id="6" name="Espace réservé du contenu 5"/>
          <p:cNvSpPr>
            <a:spLocks noGrp="1"/>
          </p:cNvSpPr>
          <p:nvPr>
            <p:ph sz="quarter" idx="10"/>
          </p:nvPr>
        </p:nvSpPr>
        <p:spPr/>
        <p:txBody>
          <a:bodyPr/>
          <a:lstStyle/>
          <a:p>
            <a:endParaRPr lang="fr-FR"/>
          </a:p>
        </p:txBody>
      </p:sp>
    </p:spTree>
    <p:extLst>
      <p:ext uri="{BB962C8B-B14F-4D97-AF65-F5344CB8AC3E}">
        <p14:creationId xmlns:p14="http://schemas.microsoft.com/office/powerpoint/2010/main" val="3294597452"/>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a:xfrm>
            <a:off x="455374" y="1748814"/>
            <a:ext cx="11269133" cy="4440493"/>
          </a:xfrm>
        </p:spPr>
        <p:txBody>
          <a:bodyPr>
            <a:normAutofit fontScale="92500" lnSpcReduction="10000"/>
          </a:bodyPr>
          <a:lstStyle/>
          <a:p>
            <a:pPr algn="just"/>
            <a:r>
              <a:rPr lang="fr-FR" dirty="0"/>
              <a:t>Règles renforcées visant à lutter contre le travail illégal </a:t>
            </a:r>
            <a:r>
              <a:rPr lang="fr-FR" i="1" dirty="0"/>
              <a:t>(déclaration préalable à l’embauche, étranger, etc.)</a:t>
            </a:r>
          </a:p>
          <a:p>
            <a:pPr marL="0" indent="0" algn="just">
              <a:buNone/>
            </a:pPr>
            <a:endParaRPr lang="fr-FR" i="1" dirty="0"/>
          </a:p>
          <a:p>
            <a:pPr algn="just"/>
            <a:r>
              <a:rPr lang="fr-FR" dirty="0"/>
              <a:t>Obligations liées à toute embauche </a:t>
            </a:r>
            <a:r>
              <a:rPr lang="fr-FR" i="1" dirty="0"/>
              <a:t>(visite médicale ou VIP, déclaration aux caisses, affichage, comité économique et social (CSE), etc.)</a:t>
            </a:r>
          </a:p>
          <a:p>
            <a:pPr marL="0" indent="0" algn="just">
              <a:buNone/>
            </a:pPr>
            <a:endParaRPr lang="fr-FR" i="1" dirty="0"/>
          </a:p>
          <a:p>
            <a:pPr algn="just"/>
            <a:r>
              <a:rPr lang="fr-FR" dirty="0"/>
              <a:t>Obligations plus spécifiques au secteur du BTP </a:t>
            </a:r>
            <a:r>
              <a:rPr lang="fr-FR" i="1" dirty="0"/>
              <a:t>(carte d’identification professionnelle, registre chantier, sous-traitance, etc.)</a:t>
            </a:r>
          </a:p>
          <a:p>
            <a:pPr algn="just"/>
            <a:endParaRPr lang="fr-FR" i="1" dirty="0"/>
          </a:p>
          <a:p>
            <a:pPr marL="0" indent="0" algn="just">
              <a:buNone/>
            </a:pPr>
            <a:r>
              <a:rPr lang="fr-FR" i="1" dirty="0"/>
              <a:t>Observation : il n’est pas possible de développer toutes ces obligations lors de l’animation (ces points sont développés dans le support du cours)</a:t>
            </a:r>
          </a:p>
          <a:p>
            <a:pPr marL="0" indent="0" algn="just">
              <a:buNone/>
            </a:pPr>
            <a:endParaRPr lang="fr-FR" i="1" dirty="0"/>
          </a:p>
        </p:txBody>
      </p:sp>
      <p:sp>
        <p:nvSpPr>
          <p:cNvPr id="3" name="Titre 2"/>
          <p:cNvSpPr>
            <a:spLocks noGrp="1"/>
          </p:cNvSpPr>
          <p:nvPr>
            <p:ph type="title"/>
          </p:nvPr>
        </p:nvSpPr>
        <p:spPr/>
        <p:txBody>
          <a:bodyPr>
            <a:normAutofit fontScale="90000"/>
          </a:bodyPr>
          <a:lstStyle/>
          <a:p>
            <a:r>
              <a:rPr lang="fr-FR" dirty="0"/>
              <a:t>L’embauche : Les obligations dans un contexte de responsabilité de l’employeur</a:t>
            </a:r>
          </a:p>
        </p:txBody>
      </p:sp>
    </p:spTree>
    <p:extLst>
      <p:ext uri="{BB962C8B-B14F-4D97-AF65-F5344CB8AC3E}">
        <p14:creationId xmlns:p14="http://schemas.microsoft.com/office/powerpoint/2010/main" val="1504194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a:xfrm>
            <a:off x="431800" y="1748813"/>
            <a:ext cx="11269133" cy="4132812"/>
          </a:xfrm>
        </p:spPr>
        <p:txBody>
          <a:bodyPr>
            <a:normAutofit/>
          </a:bodyPr>
          <a:lstStyle/>
          <a:p>
            <a:pPr marL="263993" lvl="1" indent="0">
              <a:buNone/>
            </a:pPr>
            <a:endParaRPr lang="fr-FR" i="1" dirty="0"/>
          </a:p>
          <a:p>
            <a:pPr marL="263993" lvl="1" indent="0">
              <a:buNone/>
            </a:pPr>
            <a:endParaRPr lang="fr-FR" i="1" dirty="0"/>
          </a:p>
          <a:p>
            <a:pPr marL="263993" lvl="1" indent="0">
              <a:buNone/>
            </a:pPr>
            <a:endParaRPr lang="fr-FR" i="1" dirty="0"/>
          </a:p>
        </p:txBody>
      </p:sp>
      <p:sp>
        <p:nvSpPr>
          <p:cNvPr id="3" name="Titre 2"/>
          <p:cNvSpPr>
            <a:spLocks noGrp="1"/>
          </p:cNvSpPr>
          <p:nvPr>
            <p:ph type="title"/>
          </p:nvPr>
        </p:nvSpPr>
        <p:spPr>
          <a:xfrm>
            <a:off x="431682" y="428667"/>
            <a:ext cx="11251489" cy="1200133"/>
          </a:xfrm>
        </p:spPr>
        <p:txBody>
          <a:bodyPr>
            <a:normAutofit fontScale="90000"/>
          </a:bodyPr>
          <a:lstStyle/>
          <a:p>
            <a:r>
              <a:rPr lang="fr-FR" dirty="0"/>
              <a:t>L’embauche : Mesures pour assurer la santé et la sécurité des salariés</a:t>
            </a:r>
          </a:p>
        </p:txBody>
      </p:sp>
      <p:graphicFrame>
        <p:nvGraphicFramePr>
          <p:cNvPr id="5" name="Diagramme 4"/>
          <p:cNvGraphicFramePr/>
          <p:nvPr/>
        </p:nvGraphicFramePr>
        <p:xfrm>
          <a:off x="416289" y="1508787"/>
          <a:ext cx="11251489" cy="497761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ZoneTexte 5"/>
          <p:cNvSpPr txBox="1"/>
          <p:nvPr/>
        </p:nvSpPr>
        <p:spPr>
          <a:xfrm>
            <a:off x="1175453" y="5529233"/>
            <a:ext cx="9361040" cy="748795"/>
          </a:xfrm>
          <a:prstGeom prst="rect">
            <a:avLst/>
          </a:prstGeom>
          <a:noFill/>
        </p:spPr>
        <p:txBody>
          <a:bodyPr wrap="square" rtlCol="0">
            <a:spAutoFit/>
          </a:bodyPr>
          <a:lstStyle/>
          <a:p>
            <a:r>
              <a:rPr lang="fr-FR" sz="2133" i="1" dirty="0"/>
              <a:t>Observation : il n’est pas possible de développer toutes ces obligations lors de l’animation (ces points sont développés dans le support du cours)</a:t>
            </a:r>
          </a:p>
        </p:txBody>
      </p:sp>
    </p:spTree>
    <p:extLst>
      <p:ext uri="{BB962C8B-B14F-4D97-AF65-F5344CB8AC3E}">
        <p14:creationId xmlns:p14="http://schemas.microsoft.com/office/powerpoint/2010/main" val="35001859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Espace réservé du contenu 7"/>
          <p:cNvGraphicFramePr>
            <a:graphicFrameLocks noGrp="1"/>
          </p:cNvGraphicFramePr>
          <p:nvPr>
            <p:ph sz="quarter" idx="14"/>
          </p:nvPr>
        </p:nvGraphicFramePr>
        <p:xfrm>
          <a:off x="431800" y="1748367"/>
          <a:ext cx="11269133" cy="413385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re 2"/>
          <p:cNvSpPr>
            <a:spLocks noGrp="1"/>
          </p:cNvSpPr>
          <p:nvPr>
            <p:ph type="title"/>
          </p:nvPr>
        </p:nvSpPr>
        <p:spPr>
          <a:xfrm>
            <a:off x="431682" y="428667"/>
            <a:ext cx="11251489" cy="1200133"/>
          </a:xfrm>
        </p:spPr>
        <p:txBody>
          <a:bodyPr/>
          <a:lstStyle/>
          <a:p>
            <a:r>
              <a:rPr lang="fr-FR" dirty="0"/>
              <a:t>L’embauche : les risques</a:t>
            </a:r>
          </a:p>
        </p:txBody>
      </p:sp>
    </p:spTree>
    <p:extLst>
      <p:ext uri="{BB962C8B-B14F-4D97-AF65-F5344CB8AC3E}">
        <p14:creationId xmlns:p14="http://schemas.microsoft.com/office/powerpoint/2010/main" val="14471477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p:cNvGraphicFramePr>
            <a:graphicFrameLocks noGrp="1"/>
          </p:cNvGraphicFramePr>
          <p:nvPr>
            <p:ph sz="quarter" idx="14"/>
          </p:nvPr>
        </p:nvGraphicFramePr>
        <p:xfrm>
          <a:off x="431800" y="1748813"/>
          <a:ext cx="11269133" cy="41328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re 2"/>
          <p:cNvSpPr>
            <a:spLocks noGrp="1"/>
          </p:cNvSpPr>
          <p:nvPr>
            <p:ph type="title"/>
          </p:nvPr>
        </p:nvSpPr>
        <p:spPr/>
        <p:txBody>
          <a:bodyPr/>
          <a:lstStyle/>
          <a:p>
            <a:r>
              <a:rPr lang="fr-FR" dirty="0"/>
              <a:t>L’embauche : Pénibilité  </a:t>
            </a:r>
          </a:p>
        </p:txBody>
      </p:sp>
    </p:spTree>
    <p:extLst>
      <p:ext uri="{BB962C8B-B14F-4D97-AF65-F5344CB8AC3E}">
        <p14:creationId xmlns:p14="http://schemas.microsoft.com/office/powerpoint/2010/main" val="37826176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Espace réservé du contenu 10">
            <a:extLst>
              <a:ext uri="{FF2B5EF4-FFF2-40B4-BE49-F238E27FC236}">
                <a16:creationId xmlns:a16="http://schemas.microsoft.com/office/drawing/2014/main" id="{A30D7743-31FD-4C38-A947-D82E85613AAC}"/>
              </a:ext>
            </a:extLst>
          </p:cNvPr>
          <p:cNvSpPr>
            <a:spLocks noGrp="1"/>
          </p:cNvSpPr>
          <p:nvPr>
            <p:ph sz="quarter" idx="14"/>
          </p:nvPr>
        </p:nvSpPr>
        <p:spPr>
          <a:xfrm>
            <a:off x="431800" y="1748812"/>
            <a:ext cx="11269133" cy="4620515"/>
          </a:xfrm>
        </p:spPr>
        <p:txBody>
          <a:bodyPr>
            <a:noAutofit/>
          </a:bodyPr>
          <a:lstStyle/>
          <a:p>
            <a:r>
              <a:rPr lang="fr-FR" dirty="0">
                <a:sym typeface="Wingdings 3" pitchFamily="18" charset="2"/>
              </a:rPr>
              <a:t>La convention collective bâtiment ouvriers (étendu en 1991) a prévu une période d’essai inférieure à la loi d’où non applicable </a:t>
            </a:r>
          </a:p>
          <a:p>
            <a:r>
              <a:rPr lang="fr-FR" dirty="0"/>
              <a:t>La CCN du bâtiment ne prévoit pas le renouvellement pour les ouvriers, d'où impossible </a:t>
            </a:r>
          </a:p>
          <a:p>
            <a:r>
              <a:rPr lang="fr-FR" dirty="0"/>
              <a:t>Les conventions collectives BTP des ETAM et des cadres prévoient la possibilité de renouveler une fois la période d'essai, (rappel la convention collective des cadres du bâtiment n’est pas étendue)</a:t>
            </a:r>
          </a:p>
          <a:p>
            <a:r>
              <a:rPr lang="fr-FR" dirty="0"/>
              <a:t>Pas de délai de prévenances dans les CC bâtiments ouvriers. L'article sur le délai de prévenance l 1221-26 du code du travail n'est pas dans les articles d'ordre public. Le plus favorable doit s'appliquer donc les ouvriers n'ont pas à respecter le délai de prévenance</a:t>
            </a:r>
          </a:p>
          <a:p>
            <a:pPr marL="0" indent="0">
              <a:buNone/>
            </a:pPr>
            <a:endParaRPr lang="fr-FR" sz="2133" dirty="0"/>
          </a:p>
        </p:txBody>
      </p:sp>
      <p:sp>
        <p:nvSpPr>
          <p:cNvPr id="3" name="Titre 2"/>
          <p:cNvSpPr>
            <a:spLocks noGrp="1"/>
          </p:cNvSpPr>
          <p:nvPr>
            <p:ph type="title"/>
          </p:nvPr>
        </p:nvSpPr>
        <p:spPr/>
        <p:txBody>
          <a:bodyPr/>
          <a:lstStyle/>
          <a:p>
            <a:r>
              <a:rPr lang="fr-FR" dirty="0"/>
              <a:t>L’embauche : La période d’essai</a:t>
            </a:r>
          </a:p>
        </p:txBody>
      </p:sp>
    </p:spTree>
    <p:extLst>
      <p:ext uri="{BB962C8B-B14F-4D97-AF65-F5344CB8AC3E}">
        <p14:creationId xmlns:p14="http://schemas.microsoft.com/office/powerpoint/2010/main" val="33041824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p:cNvGraphicFramePr>
            <a:graphicFrameLocks noGrp="1"/>
          </p:cNvGraphicFramePr>
          <p:nvPr>
            <p:ph sz="quarter" idx="14"/>
          </p:nvPr>
        </p:nvGraphicFramePr>
        <p:xfrm>
          <a:off x="431800" y="1748367"/>
          <a:ext cx="11269133" cy="413385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re 2"/>
          <p:cNvSpPr>
            <a:spLocks noGrp="1"/>
          </p:cNvSpPr>
          <p:nvPr>
            <p:ph type="title"/>
          </p:nvPr>
        </p:nvSpPr>
        <p:spPr/>
        <p:txBody>
          <a:bodyPr/>
          <a:lstStyle/>
          <a:p>
            <a:r>
              <a:rPr lang="fr-FR" dirty="0"/>
              <a:t>L’embauche : CDD </a:t>
            </a:r>
          </a:p>
        </p:txBody>
      </p:sp>
    </p:spTree>
    <p:extLst>
      <p:ext uri="{BB962C8B-B14F-4D97-AF65-F5344CB8AC3E}">
        <p14:creationId xmlns:p14="http://schemas.microsoft.com/office/powerpoint/2010/main" val="41033661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Espace réservé du contenu 10">
            <a:extLst>
              <a:ext uri="{FF2B5EF4-FFF2-40B4-BE49-F238E27FC236}">
                <a16:creationId xmlns:a16="http://schemas.microsoft.com/office/drawing/2014/main" id="{A30D7743-31FD-4C38-A947-D82E85613AAC}"/>
              </a:ext>
            </a:extLst>
          </p:cNvPr>
          <p:cNvSpPr>
            <a:spLocks noGrp="1"/>
          </p:cNvSpPr>
          <p:nvPr>
            <p:ph sz="quarter" idx="14"/>
          </p:nvPr>
        </p:nvSpPr>
        <p:spPr>
          <a:xfrm>
            <a:off x="431800" y="1748813"/>
            <a:ext cx="11269133" cy="4132812"/>
          </a:xfrm>
        </p:spPr>
        <p:txBody>
          <a:bodyPr>
            <a:noAutofit/>
          </a:bodyPr>
          <a:lstStyle/>
          <a:p>
            <a:r>
              <a:rPr lang="fr-FR" dirty="0">
                <a:sym typeface="Wingdings 3" pitchFamily="18" charset="2"/>
              </a:rPr>
              <a:t>Un écrit est obligatoire</a:t>
            </a:r>
          </a:p>
          <a:p>
            <a:r>
              <a:rPr lang="fr-FR" dirty="0">
                <a:sym typeface="Wingdings 3" pitchFamily="18" charset="2"/>
              </a:rPr>
              <a:t>Mentions particulières du contrat de travail (choix de l’employeur de proposer ou non l’abattement, lieu géographique, vêtements de travail, etc.)</a:t>
            </a:r>
          </a:p>
          <a:p>
            <a:r>
              <a:rPr lang="fr-FR" dirty="0">
                <a:sym typeface="Wingdings 3" pitchFamily="18" charset="2"/>
              </a:rPr>
              <a:t>CDI de chantier</a:t>
            </a:r>
          </a:p>
          <a:p>
            <a:r>
              <a:rPr lang="fr-FR" dirty="0">
                <a:sym typeface="Wingdings 3" pitchFamily="18" charset="2"/>
              </a:rPr>
              <a:t>Information sur les contrats de prévoyance</a:t>
            </a:r>
            <a:endParaRPr lang="fr-FR" dirty="0"/>
          </a:p>
        </p:txBody>
      </p:sp>
      <p:sp>
        <p:nvSpPr>
          <p:cNvPr id="3" name="Titre 2"/>
          <p:cNvSpPr>
            <a:spLocks noGrp="1"/>
          </p:cNvSpPr>
          <p:nvPr>
            <p:ph type="title"/>
          </p:nvPr>
        </p:nvSpPr>
        <p:spPr>
          <a:xfrm>
            <a:off x="431682" y="428667"/>
            <a:ext cx="11251489" cy="1200133"/>
          </a:xfrm>
        </p:spPr>
        <p:txBody>
          <a:bodyPr/>
          <a:lstStyle/>
          <a:p>
            <a:r>
              <a:rPr lang="fr-FR"/>
              <a:t>L’embauche : Le contrat de travail </a:t>
            </a:r>
            <a:endParaRPr lang="fr-FR" dirty="0"/>
          </a:p>
        </p:txBody>
      </p:sp>
    </p:spTree>
    <p:extLst>
      <p:ext uri="{BB962C8B-B14F-4D97-AF65-F5344CB8AC3E}">
        <p14:creationId xmlns:p14="http://schemas.microsoft.com/office/powerpoint/2010/main" val="35409307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a:xfrm>
            <a:off x="431800" y="1748813"/>
            <a:ext cx="11269133" cy="4132812"/>
          </a:xfrm>
        </p:spPr>
        <p:txBody>
          <a:bodyPr>
            <a:normAutofit lnSpcReduction="10000"/>
          </a:bodyPr>
          <a:lstStyle/>
          <a:p>
            <a:r>
              <a:rPr lang="fr-FR" dirty="0">
                <a:sym typeface="Wingdings 3" pitchFamily="18" charset="2"/>
              </a:rPr>
              <a:t>Avenant forfait jours applicable à compter du 1</a:t>
            </a:r>
            <a:r>
              <a:rPr lang="fr-FR" baseline="30000" dirty="0">
                <a:sym typeface="Wingdings 3" pitchFamily="18" charset="2"/>
              </a:rPr>
              <a:t>er</a:t>
            </a:r>
            <a:r>
              <a:rPr lang="fr-FR" dirty="0">
                <a:sym typeface="Wingdings 3" pitchFamily="18" charset="2"/>
              </a:rPr>
              <a:t> janvier 2013</a:t>
            </a:r>
          </a:p>
          <a:p>
            <a:r>
              <a:rPr lang="fr-FR" dirty="0">
                <a:sym typeface="Wingdings 3" pitchFamily="18" charset="2"/>
              </a:rPr>
              <a:t>Il est possible de proposer une convention individuelle de forfait en jours aux ETAM (à partir de la position F) et aux cadres</a:t>
            </a:r>
          </a:p>
          <a:p>
            <a:r>
              <a:rPr lang="fr-FR" dirty="0">
                <a:sym typeface="Wingdings 3" pitchFamily="18" charset="2"/>
              </a:rPr>
              <a:t>Le nombre de jours est de 218 mais de ce nombre il faut déduire le nombre de jours de congés payés dus à l’ancienneté, au nombre de jours de fractionnement</a:t>
            </a:r>
          </a:p>
          <a:p>
            <a:r>
              <a:rPr lang="fr-FR" dirty="0">
                <a:sym typeface="Wingdings 3" pitchFamily="18" charset="2"/>
              </a:rPr>
              <a:t>La valeur d’une journée entière est la rémunération mensuelle divisée</a:t>
            </a:r>
            <a:br>
              <a:rPr lang="fr-FR" dirty="0">
                <a:sym typeface="Wingdings 3" pitchFamily="18" charset="2"/>
              </a:rPr>
            </a:br>
            <a:r>
              <a:rPr lang="fr-FR" dirty="0">
                <a:sym typeface="Wingdings 3" pitchFamily="18" charset="2"/>
              </a:rPr>
              <a:t>par 22</a:t>
            </a:r>
          </a:p>
          <a:p>
            <a:r>
              <a:rPr lang="fr-FR" dirty="0">
                <a:sym typeface="Wingdings 3" pitchFamily="18" charset="2"/>
              </a:rPr>
              <a:t>Une majoration du salaire minimum conventionnel est prévue pour les conventions de forfait en jours</a:t>
            </a:r>
          </a:p>
          <a:p>
            <a:endParaRPr lang="fr-FR" dirty="0">
              <a:sym typeface="Wingdings 3" pitchFamily="18" charset="2"/>
            </a:endParaRPr>
          </a:p>
        </p:txBody>
      </p:sp>
      <p:sp>
        <p:nvSpPr>
          <p:cNvPr id="3" name="Titre 2"/>
          <p:cNvSpPr>
            <a:spLocks noGrp="1"/>
          </p:cNvSpPr>
          <p:nvPr>
            <p:ph type="title"/>
          </p:nvPr>
        </p:nvSpPr>
        <p:spPr>
          <a:xfrm>
            <a:off x="431682" y="428667"/>
            <a:ext cx="11251489" cy="1200133"/>
          </a:xfrm>
        </p:spPr>
        <p:txBody>
          <a:bodyPr/>
          <a:lstStyle/>
          <a:p>
            <a:r>
              <a:rPr lang="fr-FR"/>
              <a:t>L’embauche : Forfait jours </a:t>
            </a:r>
            <a:endParaRPr lang="fr-FR" dirty="0"/>
          </a:p>
        </p:txBody>
      </p:sp>
    </p:spTree>
    <p:extLst>
      <p:ext uri="{BB962C8B-B14F-4D97-AF65-F5344CB8AC3E}">
        <p14:creationId xmlns:p14="http://schemas.microsoft.com/office/powerpoint/2010/main" val="258628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p:cNvGraphicFramePr>
            <a:graphicFrameLocks noGrp="1"/>
          </p:cNvGraphicFramePr>
          <p:nvPr>
            <p:ph sz="quarter" idx="14"/>
          </p:nvPr>
        </p:nvGraphicFramePr>
        <p:xfrm>
          <a:off x="95333" y="1808820"/>
          <a:ext cx="11341260" cy="408045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re 2"/>
          <p:cNvSpPr>
            <a:spLocks noGrp="1"/>
          </p:cNvSpPr>
          <p:nvPr>
            <p:ph type="title"/>
          </p:nvPr>
        </p:nvSpPr>
        <p:spPr/>
        <p:txBody>
          <a:bodyPr/>
          <a:lstStyle/>
          <a:p>
            <a:r>
              <a:rPr lang="fr-FR"/>
              <a:t>L’embauche : Exercice</a:t>
            </a:r>
            <a:endParaRPr lang="fr-FR" dirty="0"/>
          </a:p>
        </p:txBody>
      </p:sp>
    </p:spTree>
    <p:extLst>
      <p:ext uri="{BB962C8B-B14F-4D97-AF65-F5344CB8AC3E}">
        <p14:creationId xmlns:p14="http://schemas.microsoft.com/office/powerpoint/2010/main" val="1779900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texte 4"/>
          <p:cNvSpPr>
            <a:spLocks noGrp="1"/>
          </p:cNvSpPr>
          <p:nvPr>
            <p:ph type="body" idx="1"/>
          </p:nvPr>
        </p:nvSpPr>
        <p:spPr/>
        <p:txBody>
          <a:bodyPr/>
          <a:lstStyle/>
          <a:p>
            <a:r>
              <a:rPr lang="fr-FR" dirty="0"/>
              <a:t>Le brut </a:t>
            </a:r>
          </a:p>
        </p:txBody>
      </p:sp>
      <p:sp>
        <p:nvSpPr>
          <p:cNvPr id="4" name="Titre 3"/>
          <p:cNvSpPr>
            <a:spLocks noGrp="1"/>
          </p:cNvSpPr>
          <p:nvPr>
            <p:ph type="title"/>
          </p:nvPr>
        </p:nvSpPr>
        <p:spPr/>
        <p:txBody>
          <a:bodyPr/>
          <a:lstStyle/>
          <a:p>
            <a:r>
              <a:rPr lang="fr-FR" dirty="0"/>
              <a:t>Séquence 3 </a:t>
            </a:r>
          </a:p>
        </p:txBody>
      </p:sp>
      <p:sp>
        <p:nvSpPr>
          <p:cNvPr id="6" name="Espace réservé du contenu 5"/>
          <p:cNvSpPr>
            <a:spLocks noGrp="1"/>
          </p:cNvSpPr>
          <p:nvPr>
            <p:ph sz="quarter" idx="10"/>
          </p:nvPr>
        </p:nvSpPr>
        <p:spPr/>
        <p:txBody>
          <a:bodyPr/>
          <a:lstStyle/>
          <a:p>
            <a:endParaRPr lang="fr-FR"/>
          </a:p>
        </p:txBody>
      </p:sp>
    </p:spTree>
    <p:extLst>
      <p:ext uri="{BB962C8B-B14F-4D97-AF65-F5344CB8AC3E}">
        <p14:creationId xmlns:p14="http://schemas.microsoft.com/office/powerpoint/2010/main" val="1217354961"/>
      </p:ext>
    </p:extLst>
  </p:cSld>
  <p:clrMapOvr>
    <a:masterClrMapping/>
  </p:clrMapOvr>
  <p:transition spd="slow">
    <p:push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type="body" sz="quarter" idx="13"/>
          </p:nvPr>
        </p:nvSpPr>
        <p:spPr>
          <a:xfrm>
            <a:off x="431799" y="1208755"/>
            <a:ext cx="8784548" cy="4800464"/>
          </a:xfrm>
        </p:spPr>
        <p:txBody>
          <a:bodyPr/>
          <a:lstStyle/>
          <a:p>
            <a:r>
              <a:rPr lang="fr-FR"/>
              <a:t>Rémunération minimum conventionnelle</a:t>
            </a:r>
          </a:p>
          <a:p>
            <a:r>
              <a:rPr lang="fr-FR"/>
              <a:t>Les heures (absences, supplémentaires…)</a:t>
            </a:r>
          </a:p>
          <a:p>
            <a:r>
              <a:rPr lang="fr-FR"/>
              <a:t>Les primes conventionnelles</a:t>
            </a:r>
          </a:p>
          <a:p>
            <a:r>
              <a:rPr lang="fr-FR"/>
              <a:t>Les apprentis</a:t>
            </a:r>
          </a:p>
          <a:p>
            <a:r>
              <a:rPr lang="fr-FR"/>
              <a:t>La problématique « trajet »</a:t>
            </a:r>
          </a:p>
          <a:p>
            <a:pPr lvl="1"/>
            <a:endParaRPr lang="fr-FR" dirty="0"/>
          </a:p>
        </p:txBody>
      </p:sp>
      <p:sp>
        <p:nvSpPr>
          <p:cNvPr id="4" name="Espace réservé du texte 3"/>
          <p:cNvSpPr>
            <a:spLocks noGrp="1"/>
          </p:cNvSpPr>
          <p:nvPr>
            <p:ph type="body" sz="quarter" idx="14"/>
          </p:nvPr>
        </p:nvSpPr>
        <p:spPr>
          <a:xfrm>
            <a:off x="431800" y="308654"/>
            <a:ext cx="11269133" cy="780087"/>
          </a:xfrm>
        </p:spPr>
        <p:txBody>
          <a:bodyPr/>
          <a:lstStyle/>
          <a:p>
            <a:r>
              <a:rPr lang="fr-FR"/>
              <a:t>SOMMAIRE SéQUENCE 3 - Le brut</a:t>
            </a:r>
            <a:endParaRPr lang="fr-FR" dirty="0"/>
          </a:p>
        </p:txBody>
      </p:sp>
    </p:spTree>
    <p:extLst>
      <p:ext uri="{BB962C8B-B14F-4D97-AF65-F5344CB8AC3E}">
        <p14:creationId xmlns:p14="http://schemas.microsoft.com/office/powerpoint/2010/main" val="25243524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p:cNvGraphicFramePr>
            <a:graphicFrameLocks noGrp="1"/>
          </p:cNvGraphicFramePr>
          <p:nvPr>
            <p:ph sz="quarter" idx="14"/>
          </p:nvPr>
        </p:nvGraphicFramePr>
        <p:xfrm>
          <a:off x="431800" y="1748813"/>
          <a:ext cx="11269133" cy="41328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re 2"/>
          <p:cNvSpPr>
            <a:spLocks noGrp="1"/>
          </p:cNvSpPr>
          <p:nvPr>
            <p:ph type="title"/>
          </p:nvPr>
        </p:nvSpPr>
        <p:spPr/>
        <p:txBody>
          <a:bodyPr/>
          <a:lstStyle/>
          <a:p>
            <a:r>
              <a:rPr lang="fr-FR" dirty="0"/>
              <a:t>Le brut : classification et rémunération (1)</a:t>
            </a:r>
          </a:p>
        </p:txBody>
      </p:sp>
    </p:spTree>
    <p:extLst>
      <p:ext uri="{BB962C8B-B14F-4D97-AF65-F5344CB8AC3E}">
        <p14:creationId xmlns:p14="http://schemas.microsoft.com/office/powerpoint/2010/main" val="31745615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p:cNvGraphicFramePr>
            <a:graphicFrameLocks noGrp="1"/>
          </p:cNvGraphicFramePr>
          <p:nvPr>
            <p:ph sz="quarter" idx="14"/>
          </p:nvPr>
        </p:nvGraphicFramePr>
        <p:xfrm>
          <a:off x="431800" y="1748813"/>
          <a:ext cx="11269133" cy="41328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re 2"/>
          <p:cNvSpPr>
            <a:spLocks noGrp="1"/>
          </p:cNvSpPr>
          <p:nvPr>
            <p:ph type="title"/>
          </p:nvPr>
        </p:nvSpPr>
        <p:spPr/>
        <p:txBody>
          <a:bodyPr/>
          <a:lstStyle/>
          <a:p>
            <a:r>
              <a:rPr lang="fr-FR" dirty="0"/>
              <a:t>Le brut : classification et rémunération (2)</a:t>
            </a:r>
          </a:p>
        </p:txBody>
      </p:sp>
    </p:spTree>
    <p:extLst>
      <p:ext uri="{BB962C8B-B14F-4D97-AF65-F5344CB8AC3E}">
        <p14:creationId xmlns:p14="http://schemas.microsoft.com/office/powerpoint/2010/main" val="21716613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p:txBody>
          <a:bodyPr/>
          <a:lstStyle/>
          <a:p>
            <a:r>
              <a:rPr lang="fr-FR" dirty="0"/>
              <a:t>Les salaires minimaux se trouvent au niveau régional ou départemental </a:t>
            </a:r>
          </a:p>
          <a:p>
            <a:endParaRPr lang="fr-FR" dirty="0"/>
          </a:p>
          <a:p>
            <a:r>
              <a:rPr lang="fr-FR" dirty="0"/>
              <a:t>Pratique différente entre le bâtiment et les travaux publics</a:t>
            </a:r>
          </a:p>
          <a:p>
            <a:pPr lvl="1"/>
            <a:r>
              <a:rPr lang="fr-FR" dirty="0"/>
              <a:t>Bâtiment : notion de salaire mensuel </a:t>
            </a:r>
          </a:p>
          <a:p>
            <a:pPr lvl="1"/>
            <a:r>
              <a:rPr lang="fr-FR" dirty="0"/>
              <a:t>Travaux publics : salaire annuel (prise en compte des indemnités de congés payés </a:t>
            </a:r>
            <a:br>
              <a:rPr lang="fr-FR" dirty="0"/>
            </a:br>
            <a:r>
              <a:rPr lang="fr-FR" dirty="0"/>
              <a:t>et de la prime de vacances de 30 % versés par la caisse des congés payés pour déterminer le salaire annuel)</a:t>
            </a:r>
          </a:p>
        </p:txBody>
      </p:sp>
      <p:sp>
        <p:nvSpPr>
          <p:cNvPr id="3" name="Titre 2"/>
          <p:cNvSpPr>
            <a:spLocks noGrp="1"/>
          </p:cNvSpPr>
          <p:nvPr>
            <p:ph type="title"/>
          </p:nvPr>
        </p:nvSpPr>
        <p:spPr/>
        <p:txBody>
          <a:bodyPr>
            <a:normAutofit fontScale="90000"/>
          </a:bodyPr>
          <a:lstStyle/>
          <a:p>
            <a:r>
              <a:rPr lang="fr-FR"/>
              <a:t>Le brut : Rémunération minimum conventionnelle </a:t>
            </a:r>
            <a:endParaRPr lang="fr-FR" dirty="0"/>
          </a:p>
        </p:txBody>
      </p:sp>
    </p:spTree>
    <p:extLst>
      <p:ext uri="{BB962C8B-B14F-4D97-AF65-F5344CB8AC3E}">
        <p14:creationId xmlns:p14="http://schemas.microsoft.com/office/powerpoint/2010/main" val="32020359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p:txBody>
          <a:bodyPr/>
          <a:lstStyle/>
          <a:p>
            <a:pPr algn="just"/>
            <a:r>
              <a:rPr lang="fr-FR" dirty="0"/>
              <a:t>Heures non travaillées méthode de déduction prévue par la convention collective des ouvriers (aucune information dans les CCN ETAM et cadre)</a:t>
            </a:r>
          </a:p>
          <a:p>
            <a:pPr marL="0" indent="0" algn="just">
              <a:buNone/>
            </a:pPr>
            <a:endParaRPr lang="fr-FR" dirty="0"/>
          </a:p>
          <a:p>
            <a:pPr algn="just"/>
            <a:r>
              <a:rPr lang="fr-FR" dirty="0"/>
              <a:t>La convention collective nationale des ouvriers du bâtiment 08/10/1990</a:t>
            </a:r>
            <a:br>
              <a:rPr lang="fr-FR" dirty="0"/>
            </a:br>
            <a:r>
              <a:rPr lang="fr-FR" dirty="0"/>
              <a:t>art. IV-2 précise </a:t>
            </a:r>
          </a:p>
          <a:p>
            <a:pPr marL="349242" lvl="1" indent="0" algn="just">
              <a:buNone/>
            </a:pPr>
            <a:r>
              <a:rPr lang="fr-FR" i="1" dirty="0"/>
              <a:t>« Pour chaque heure à déduire, le montant de la déduction est égal au quotient du salaire mensuel par le nombre d'heures de travail dans l'entreprise pour le mois considéré » </a:t>
            </a:r>
          </a:p>
          <a:p>
            <a:pPr marL="349242" lvl="1" indent="0" algn="just">
              <a:buNone/>
            </a:pPr>
            <a:endParaRPr lang="fr-FR" dirty="0"/>
          </a:p>
          <a:p>
            <a:pPr marL="349242" lvl="1" indent="0" algn="just">
              <a:buNone/>
            </a:pPr>
            <a:r>
              <a:rPr lang="fr-FR" i="1" dirty="0"/>
              <a:t>Dans la CCN ouvriers des TP l’article 4.2 a la même rédaction</a:t>
            </a:r>
          </a:p>
          <a:p>
            <a:endParaRPr lang="fr-FR" dirty="0"/>
          </a:p>
        </p:txBody>
      </p:sp>
      <p:sp>
        <p:nvSpPr>
          <p:cNvPr id="3" name="Titre 2"/>
          <p:cNvSpPr>
            <a:spLocks noGrp="1"/>
          </p:cNvSpPr>
          <p:nvPr>
            <p:ph type="title"/>
          </p:nvPr>
        </p:nvSpPr>
        <p:spPr/>
        <p:txBody>
          <a:bodyPr/>
          <a:lstStyle/>
          <a:p>
            <a:r>
              <a:rPr lang="fr-FR" dirty="0"/>
              <a:t>Le brut : Les heures</a:t>
            </a:r>
          </a:p>
        </p:txBody>
      </p:sp>
    </p:spTree>
    <p:extLst>
      <p:ext uri="{BB962C8B-B14F-4D97-AF65-F5344CB8AC3E}">
        <p14:creationId xmlns:p14="http://schemas.microsoft.com/office/powerpoint/2010/main" val="5294270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a:xfrm>
            <a:off x="431800" y="1748813"/>
            <a:ext cx="11269133" cy="4680521"/>
          </a:xfrm>
        </p:spPr>
        <p:txBody>
          <a:bodyPr>
            <a:normAutofit/>
          </a:bodyPr>
          <a:lstStyle/>
          <a:p>
            <a:r>
              <a:rPr lang="fr-FR" dirty="0"/>
              <a:t>Heures majorées de 25 % les 8 premières heures après 35h hebdomadaires</a:t>
            </a:r>
          </a:p>
          <a:p>
            <a:r>
              <a:rPr lang="fr-FR" dirty="0"/>
              <a:t>Heures majorées de 50 % les heures suivantes</a:t>
            </a:r>
          </a:p>
          <a:p>
            <a:pPr algn="just"/>
            <a:endParaRPr lang="fr-FR" dirty="0"/>
          </a:p>
          <a:p>
            <a:pPr algn="just"/>
            <a:endParaRPr lang="fr-FR" dirty="0"/>
          </a:p>
          <a:p>
            <a:pPr algn="just"/>
            <a:endParaRPr lang="fr-FR" dirty="0"/>
          </a:p>
          <a:p>
            <a:pPr marL="0" indent="0" algn="just">
              <a:buNone/>
            </a:pPr>
            <a:endParaRPr lang="fr-FR" dirty="0"/>
          </a:p>
          <a:p>
            <a:pPr marL="482588" indent="0">
              <a:buNone/>
            </a:pPr>
            <a:r>
              <a:rPr lang="fr-FR" dirty="0"/>
              <a:t>Attention : il existe une dérogation permanente de temps de conduite (hors contingent) </a:t>
            </a:r>
          </a:p>
          <a:p>
            <a:pPr marL="482588" indent="0">
              <a:buNone/>
            </a:pPr>
            <a:endParaRPr lang="fr-FR" dirty="0"/>
          </a:p>
        </p:txBody>
      </p:sp>
      <p:sp>
        <p:nvSpPr>
          <p:cNvPr id="3" name="Titre 2"/>
          <p:cNvSpPr>
            <a:spLocks noGrp="1"/>
          </p:cNvSpPr>
          <p:nvPr>
            <p:ph type="title"/>
          </p:nvPr>
        </p:nvSpPr>
        <p:spPr/>
        <p:txBody>
          <a:bodyPr/>
          <a:lstStyle/>
          <a:p>
            <a:r>
              <a:rPr lang="fr-FR" dirty="0"/>
              <a:t>Le brut : Les heures supplémentaires (1)</a:t>
            </a:r>
          </a:p>
        </p:txBody>
      </p:sp>
      <p:pic>
        <p:nvPicPr>
          <p:cNvPr id="5" name="Image 4">
            <a:extLst>
              <a:ext uri="{FF2B5EF4-FFF2-40B4-BE49-F238E27FC236}">
                <a16:creationId xmlns:a16="http://schemas.microsoft.com/office/drawing/2014/main" id="{9E414B9F-8DA0-4E99-A6E6-B55106404B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59423" y="2348880"/>
            <a:ext cx="2473155" cy="2473155"/>
          </a:xfrm>
          <a:prstGeom prst="rect">
            <a:avLst/>
          </a:prstGeom>
        </p:spPr>
      </p:pic>
    </p:spTree>
    <p:extLst>
      <p:ext uri="{BB962C8B-B14F-4D97-AF65-F5344CB8AC3E}">
        <p14:creationId xmlns:p14="http://schemas.microsoft.com/office/powerpoint/2010/main" val="7282925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p:cNvGraphicFramePr>
            <a:graphicFrameLocks noGrp="1"/>
          </p:cNvGraphicFramePr>
          <p:nvPr>
            <p:ph sz="quarter" idx="14"/>
          </p:nvPr>
        </p:nvGraphicFramePr>
        <p:xfrm>
          <a:off x="431801" y="1748369"/>
          <a:ext cx="10884780" cy="4064417"/>
        </p:xfrm>
        <a:graphic>
          <a:graphicData uri="http://schemas.openxmlformats.org/drawingml/2006/table">
            <a:tbl>
              <a:tblPr firstRow="1" bandRow="1">
                <a:tableStyleId>{5C22544A-7EE6-4342-B048-85BDC9FD1C3A}</a:tableStyleId>
              </a:tblPr>
              <a:tblGrid>
                <a:gridCol w="8400029">
                  <a:extLst>
                    <a:ext uri="{9D8B030D-6E8A-4147-A177-3AD203B41FA5}">
                      <a16:colId xmlns:a16="http://schemas.microsoft.com/office/drawing/2014/main" val="20000"/>
                    </a:ext>
                  </a:extLst>
                </a:gridCol>
                <a:gridCol w="2484751">
                  <a:extLst>
                    <a:ext uri="{9D8B030D-6E8A-4147-A177-3AD203B41FA5}">
                      <a16:colId xmlns:a16="http://schemas.microsoft.com/office/drawing/2014/main" val="20001"/>
                    </a:ext>
                  </a:extLst>
                </a:gridCol>
              </a:tblGrid>
              <a:tr h="487680">
                <a:tc>
                  <a:txBody>
                    <a:bodyPr/>
                    <a:lstStyle/>
                    <a:p>
                      <a:r>
                        <a:rPr lang="fr-FR" sz="2400" dirty="0"/>
                        <a:t>Contingent d’heures supplémentaires ouvriers</a:t>
                      </a:r>
                    </a:p>
                  </a:txBody>
                  <a:tcPr marL="121920" marR="121920" marT="60960" marB="60960"/>
                </a:tc>
                <a:tc>
                  <a:txBody>
                    <a:bodyPr/>
                    <a:lstStyle/>
                    <a:p>
                      <a:pPr algn="ctr"/>
                      <a:r>
                        <a:rPr lang="fr-FR" sz="2400" dirty="0"/>
                        <a:t>Article 3-13</a:t>
                      </a:r>
                    </a:p>
                  </a:txBody>
                  <a:tcPr marL="121920" marR="121920" marT="60960" marB="60960" anchor="ctr"/>
                </a:tc>
                <a:extLst>
                  <a:ext uri="{0D108BD9-81ED-4DB2-BD59-A6C34878D82A}">
                    <a16:rowId xmlns:a16="http://schemas.microsoft.com/office/drawing/2014/main" val="10000"/>
                  </a:ext>
                </a:extLst>
              </a:tr>
              <a:tr h="447040">
                <a:tc>
                  <a:txBody>
                    <a:bodyPr/>
                    <a:lstStyle/>
                    <a:p>
                      <a:r>
                        <a:rPr lang="fr-FR" sz="2100" dirty="0"/>
                        <a:t>Conventions collectives 08/10/1990</a:t>
                      </a:r>
                    </a:p>
                  </a:txBody>
                  <a:tcPr marL="121920" marR="121920" marT="60960" marB="60960"/>
                </a:tc>
                <a:tc>
                  <a:txBody>
                    <a:bodyPr/>
                    <a:lstStyle/>
                    <a:p>
                      <a:pPr algn="ctr"/>
                      <a:endParaRPr lang="fr-FR" sz="2100" dirty="0"/>
                    </a:p>
                  </a:txBody>
                  <a:tcPr marL="121920" marR="121920" marT="60960" marB="60960" anchor="ctr"/>
                </a:tc>
                <a:extLst>
                  <a:ext uri="{0D108BD9-81ED-4DB2-BD59-A6C34878D82A}">
                    <a16:rowId xmlns:a16="http://schemas.microsoft.com/office/drawing/2014/main" val="10001"/>
                  </a:ext>
                </a:extLst>
              </a:tr>
              <a:tr h="447040">
                <a:tc>
                  <a:txBody>
                    <a:bodyPr/>
                    <a:lstStyle/>
                    <a:p>
                      <a:r>
                        <a:rPr lang="fr-FR" sz="2100" dirty="0"/>
                        <a:t>Possibilité (si annualisation du temps de travail)</a:t>
                      </a:r>
                    </a:p>
                  </a:txBody>
                  <a:tcPr marL="121920" marR="121920" marT="60960" marB="60960"/>
                </a:tc>
                <a:tc>
                  <a:txBody>
                    <a:bodyPr/>
                    <a:lstStyle/>
                    <a:p>
                      <a:pPr algn="ctr"/>
                      <a:r>
                        <a:rPr lang="fr-FR" sz="2100" dirty="0"/>
                        <a:t>145 heures</a:t>
                      </a:r>
                    </a:p>
                  </a:txBody>
                  <a:tcPr marL="121920" marR="121920" marT="60960" marB="60960" anchor="ctr"/>
                </a:tc>
                <a:extLst>
                  <a:ext uri="{0D108BD9-81ED-4DB2-BD59-A6C34878D82A}">
                    <a16:rowId xmlns:a16="http://schemas.microsoft.com/office/drawing/2014/main" val="10002"/>
                  </a:ext>
                </a:extLst>
              </a:tr>
              <a:tr h="447040">
                <a:tc>
                  <a:txBody>
                    <a:bodyPr/>
                    <a:lstStyle/>
                    <a:p>
                      <a:r>
                        <a:rPr lang="fr-FR" sz="2100" dirty="0"/>
                        <a:t>Possibilité (hors annualisation du temps de travail)</a:t>
                      </a:r>
                    </a:p>
                  </a:txBody>
                  <a:tcPr marL="121920" marR="121920" marT="60960" marB="60960"/>
                </a:tc>
                <a:tc>
                  <a:txBody>
                    <a:bodyPr/>
                    <a:lstStyle/>
                    <a:p>
                      <a:pPr algn="ctr"/>
                      <a:r>
                        <a:rPr lang="fr-FR" sz="2100" dirty="0"/>
                        <a:t>180 heures</a:t>
                      </a:r>
                    </a:p>
                  </a:txBody>
                  <a:tcPr marL="121920" marR="121920" marT="60960" marB="60960" anchor="ctr"/>
                </a:tc>
                <a:extLst>
                  <a:ext uri="{0D108BD9-81ED-4DB2-BD59-A6C34878D82A}">
                    <a16:rowId xmlns:a16="http://schemas.microsoft.com/office/drawing/2014/main" val="10003"/>
                  </a:ext>
                </a:extLst>
              </a:tr>
              <a:tr h="1450535">
                <a:tc>
                  <a:txBody>
                    <a:bodyPr/>
                    <a:lstStyle/>
                    <a:p>
                      <a:r>
                        <a:rPr lang="fr-FR" sz="2100" dirty="0"/>
                        <a:t>Article 3-14 : chaque</a:t>
                      </a:r>
                      <a:r>
                        <a:rPr lang="fr-FR" sz="2100" baseline="0" dirty="0"/>
                        <a:t> heure supplémentaire effectuée au-delà du contingent annuel bénéficie d’une contrepartie obligatoire en repos (100 % quelle que soit la taille de l’entreprise (idem pour les ETAM, le cadre = la loi)</a:t>
                      </a:r>
                      <a:endParaRPr lang="fr-FR" sz="2100" dirty="0"/>
                    </a:p>
                  </a:txBody>
                  <a:tcPr marL="121920" marR="121920" marT="60960" marB="60960"/>
                </a:tc>
                <a:tc>
                  <a:txBody>
                    <a:bodyPr/>
                    <a:lstStyle/>
                    <a:p>
                      <a:endParaRPr lang="fr-FR" sz="2100" dirty="0"/>
                    </a:p>
                  </a:txBody>
                  <a:tcPr marL="121920" marR="121920" marT="60960" marB="60960"/>
                </a:tc>
                <a:extLst>
                  <a:ext uri="{0D108BD9-81ED-4DB2-BD59-A6C34878D82A}">
                    <a16:rowId xmlns:a16="http://schemas.microsoft.com/office/drawing/2014/main" val="10004"/>
                  </a:ext>
                </a:extLst>
              </a:tr>
              <a:tr h="785083">
                <a:tc gridSpan="2">
                  <a:txBody>
                    <a:bodyPr/>
                    <a:lstStyle/>
                    <a:p>
                      <a:r>
                        <a:rPr lang="fr-FR" sz="2100" dirty="0"/>
                        <a:t>Pour les TP, ce sont les mêmes termes (accord national commun BTP)</a:t>
                      </a:r>
                    </a:p>
                    <a:p>
                      <a:r>
                        <a:rPr lang="fr-FR" sz="2100" dirty="0"/>
                        <a:t>Les accords d’entreprise peuvent déroger</a:t>
                      </a:r>
                    </a:p>
                  </a:txBody>
                  <a:tcPr marL="121920" marR="121920" marT="60960" marB="60960"/>
                </a:tc>
                <a:tc hMerge="1">
                  <a:txBody>
                    <a:bodyPr/>
                    <a:lstStyle/>
                    <a:p>
                      <a:endParaRPr lang="fr-FR" dirty="0"/>
                    </a:p>
                  </a:txBody>
                  <a:tcPr/>
                </a:tc>
                <a:extLst>
                  <a:ext uri="{0D108BD9-81ED-4DB2-BD59-A6C34878D82A}">
                    <a16:rowId xmlns:a16="http://schemas.microsoft.com/office/drawing/2014/main" val="10005"/>
                  </a:ext>
                </a:extLst>
              </a:tr>
            </a:tbl>
          </a:graphicData>
        </a:graphic>
      </p:graphicFrame>
      <p:sp>
        <p:nvSpPr>
          <p:cNvPr id="3" name="Titre 2"/>
          <p:cNvSpPr>
            <a:spLocks noGrp="1"/>
          </p:cNvSpPr>
          <p:nvPr>
            <p:ph type="title"/>
          </p:nvPr>
        </p:nvSpPr>
        <p:spPr>
          <a:xfrm>
            <a:off x="431682" y="428667"/>
            <a:ext cx="11251489" cy="1200133"/>
          </a:xfrm>
        </p:spPr>
        <p:txBody>
          <a:bodyPr/>
          <a:lstStyle/>
          <a:p>
            <a:r>
              <a:rPr lang="fr-FR" dirty="0"/>
              <a:t>Le brut : Les heures supplémentaires (2)</a:t>
            </a:r>
          </a:p>
        </p:txBody>
      </p:sp>
      <p:sp>
        <p:nvSpPr>
          <p:cNvPr id="6" name="ZoneTexte 5"/>
          <p:cNvSpPr txBox="1"/>
          <p:nvPr/>
        </p:nvSpPr>
        <p:spPr>
          <a:xfrm>
            <a:off x="431682" y="5975877"/>
            <a:ext cx="10381153" cy="461665"/>
          </a:xfrm>
          <a:prstGeom prst="rect">
            <a:avLst/>
          </a:prstGeom>
          <a:noFill/>
        </p:spPr>
        <p:txBody>
          <a:bodyPr wrap="square" rtlCol="0">
            <a:spAutoFit/>
          </a:bodyPr>
          <a:lstStyle/>
          <a:p>
            <a:r>
              <a:rPr lang="fr-FR" sz="2400" dirty="0"/>
              <a:t>Ce contingent s’applique également aux ETAM et aux cadres</a:t>
            </a:r>
          </a:p>
        </p:txBody>
      </p:sp>
    </p:spTree>
    <p:extLst>
      <p:ext uri="{BB962C8B-B14F-4D97-AF65-F5344CB8AC3E}">
        <p14:creationId xmlns:p14="http://schemas.microsoft.com/office/powerpoint/2010/main" val="24385628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p:txBody>
          <a:bodyPr>
            <a:normAutofit fontScale="92500" lnSpcReduction="20000"/>
          </a:bodyPr>
          <a:lstStyle/>
          <a:p>
            <a:pPr algn="just"/>
            <a:r>
              <a:rPr lang="fr-FR" dirty="0"/>
              <a:t>Par principe le recours au travail de nuit doit rester exceptionnel. Il doit prendre en compte les impératifs de protection de la sécurité et de la santé des salariés et il doit être justifié par la nécessité d’assurer la continuité de l’activité économique ou des services d’utilité sociale</a:t>
            </a:r>
          </a:p>
          <a:p>
            <a:pPr algn="just"/>
            <a:r>
              <a:rPr lang="fr-FR" dirty="0"/>
              <a:t>Dans le BTP un accord collectif national du 12 juillet 2006 (étendu en 2007) applicable aux ouvriers, ETAM et cadres définit le régime juridique applicable au travail de nuit habituel</a:t>
            </a:r>
          </a:p>
          <a:p>
            <a:pPr algn="just"/>
            <a:r>
              <a:rPr lang="fr-FR" dirty="0"/>
              <a:t> Au niveau national, seule les conventions collectives des ETAM du Bâtiment et des Travaux Publics prévoient la situation des salariés travaillant de nuit à titre exceptionnel</a:t>
            </a:r>
          </a:p>
          <a:p>
            <a:pPr algn="just"/>
            <a:r>
              <a:rPr lang="fr-FR" dirty="0"/>
              <a:t>NE PAS OUBLIER le seuil de pénibilité pour le facteur « travail de nuit » est  franchi dès lors que le salarié effectue au moins 1h de travail entre minuit et 5h du matin pendant au moins 120 nuits par an</a:t>
            </a:r>
          </a:p>
          <a:p>
            <a:pPr algn="just"/>
            <a:endParaRPr lang="fr-FR" dirty="0"/>
          </a:p>
        </p:txBody>
      </p:sp>
      <p:sp>
        <p:nvSpPr>
          <p:cNvPr id="3" name="Titre 2"/>
          <p:cNvSpPr>
            <a:spLocks noGrp="1"/>
          </p:cNvSpPr>
          <p:nvPr>
            <p:ph type="title"/>
          </p:nvPr>
        </p:nvSpPr>
        <p:spPr/>
        <p:txBody>
          <a:bodyPr/>
          <a:lstStyle/>
          <a:p>
            <a:r>
              <a:rPr lang="fr-FR" dirty="0"/>
              <a:t>Le travail de nuit </a:t>
            </a:r>
          </a:p>
        </p:txBody>
      </p:sp>
    </p:spTree>
    <p:extLst>
      <p:ext uri="{BB962C8B-B14F-4D97-AF65-F5344CB8AC3E}">
        <p14:creationId xmlns:p14="http://schemas.microsoft.com/office/powerpoint/2010/main" val="42081179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p:txBody>
          <a:bodyPr>
            <a:normAutofit lnSpcReduction="10000"/>
          </a:bodyPr>
          <a:lstStyle/>
          <a:p>
            <a:pPr algn="just"/>
            <a:r>
              <a:rPr lang="fr-FR" dirty="0"/>
              <a:t>Convention collective : les jours fériés désignés à l’article L3133-1 du Code du travail sont payés dans les conditions prévues par la loi pour le 1</a:t>
            </a:r>
            <a:r>
              <a:rPr lang="fr-FR" baseline="30000" dirty="0"/>
              <a:t>er</a:t>
            </a:r>
            <a:r>
              <a:rPr lang="fr-FR" dirty="0"/>
              <a:t> mai </a:t>
            </a:r>
          </a:p>
          <a:p>
            <a:pPr algn="just"/>
            <a:endParaRPr lang="fr-FR" dirty="0"/>
          </a:p>
          <a:p>
            <a:pPr algn="just"/>
            <a:r>
              <a:rPr lang="fr-FR" dirty="0"/>
              <a:t>Les dispositions ci-dessus s'appliquent même lorsque les jours fériés visés à l'alinéa 5.111 tombent pendant une période de chômage-intempéries ou pendant le congé payé</a:t>
            </a:r>
          </a:p>
          <a:p>
            <a:pPr algn="just"/>
            <a:endParaRPr lang="fr-FR" dirty="0"/>
          </a:p>
          <a:p>
            <a:pPr algn="just"/>
            <a:r>
              <a:rPr lang="fr-FR" dirty="0"/>
              <a:t>En conséquence, lorsque l’ouvrier travaille un jour férié, </a:t>
            </a:r>
            <a:r>
              <a:rPr lang="fr-FR" u="sng" dirty="0"/>
              <a:t>les heures de travail sont payées double</a:t>
            </a:r>
          </a:p>
          <a:p>
            <a:pPr marL="0" indent="0" algn="just">
              <a:buNone/>
            </a:pPr>
            <a:endParaRPr lang="fr-FR" dirty="0"/>
          </a:p>
        </p:txBody>
      </p:sp>
      <p:sp>
        <p:nvSpPr>
          <p:cNvPr id="3" name="Titre 2"/>
          <p:cNvSpPr>
            <a:spLocks noGrp="1"/>
          </p:cNvSpPr>
          <p:nvPr>
            <p:ph type="title"/>
          </p:nvPr>
        </p:nvSpPr>
        <p:spPr/>
        <p:txBody>
          <a:bodyPr/>
          <a:lstStyle/>
          <a:p>
            <a:r>
              <a:rPr lang="fr-FR" dirty="0"/>
              <a:t>Le travail  des jours fériés (ouvriers)</a:t>
            </a:r>
          </a:p>
        </p:txBody>
      </p:sp>
    </p:spTree>
    <p:extLst>
      <p:ext uri="{BB962C8B-B14F-4D97-AF65-F5344CB8AC3E}">
        <p14:creationId xmlns:p14="http://schemas.microsoft.com/office/powerpoint/2010/main" val="35861178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p:cNvGraphicFramePr>
            <a:graphicFrameLocks noGrp="1"/>
          </p:cNvGraphicFramePr>
          <p:nvPr>
            <p:ph sz="quarter" idx="14"/>
          </p:nvPr>
        </p:nvGraphicFramePr>
        <p:xfrm>
          <a:off x="431800" y="1748367"/>
          <a:ext cx="11269133" cy="413385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re 2"/>
          <p:cNvSpPr>
            <a:spLocks noGrp="1"/>
          </p:cNvSpPr>
          <p:nvPr>
            <p:ph type="title"/>
          </p:nvPr>
        </p:nvSpPr>
        <p:spPr/>
        <p:txBody>
          <a:bodyPr/>
          <a:lstStyle/>
          <a:p>
            <a:r>
              <a:rPr lang="fr-FR" dirty="0"/>
              <a:t>Les apprentis (1)</a:t>
            </a:r>
          </a:p>
        </p:txBody>
      </p:sp>
      <p:sp>
        <p:nvSpPr>
          <p:cNvPr id="2" name="ZoneTexte 1"/>
          <p:cNvSpPr txBox="1"/>
          <p:nvPr/>
        </p:nvSpPr>
        <p:spPr>
          <a:xfrm>
            <a:off x="515380" y="5851721"/>
            <a:ext cx="9721080" cy="666977"/>
          </a:xfrm>
          <a:prstGeom prst="rect">
            <a:avLst/>
          </a:prstGeom>
          <a:noFill/>
        </p:spPr>
        <p:txBody>
          <a:bodyPr wrap="square" rtlCol="0">
            <a:spAutoFit/>
          </a:bodyPr>
          <a:lstStyle/>
          <a:p>
            <a:r>
              <a:rPr lang="fr-FR" sz="1867" dirty="0"/>
              <a:t>Pour les salariés en contrat de professionnalisation, le pourcentage du SMIC applicable dans le BTP est plus favorable que la règle légale</a:t>
            </a:r>
          </a:p>
        </p:txBody>
      </p:sp>
    </p:spTree>
    <p:extLst>
      <p:ext uri="{BB962C8B-B14F-4D97-AF65-F5344CB8AC3E}">
        <p14:creationId xmlns:p14="http://schemas.microsoft.com/office/powerpoint/2010/main" val="37473797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p:cNvGraphicFramePr>
            <a:graphicFrameLocks noGrp="1"/>
          </p:cNvGraphicFramePr>
          <p:nvPr>
            <p:ph sz="quarter" idx="14"/>
          </p:nvPr>
        </p:nvGraphicFramePr>
        <p:xfrm>
          <a:off x="431800" y="1875436"/>
          <a:ext cx="11269133" cy="413385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re 2"/>
          <p:cNvSpPr>
            <a:spLocks noGrp="1"/>
          </p:cNvSpPr>
          <p:nvPr>
            <p:ph type="title"/>
          </p:nvPr>
        </p:nvSpPr>
        <p:spPr/>
        <p:txBody>
          <a:bodyPr/>
          <a:lstStyle/>
          <a:p>
            <a:r>
              <a:rPr lang="fr-FR" dirty="0"/>
              <a:t>Les apprentis (2)</a:t>
            </a:r>
          </a:p>
        </p:txBody>
      </p:sp>
    </p:spTree>
    <p:extLst>
      <p:ext uri="{BB962C8B-B14F-4D97-AF65-F5344CB8AC3E}">
        <p14:creationId xmlns:p14="http://schemas.microsoft.com/office/powerpoint/2010/main" val="2245460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p:txBody>
          <a:bodyPr/>
          <a:lstStyle/>
          <a:p>
            <a:r>
              <a:rPr lang="fr-FR" dirty="0"/>
              <a:t>Les apprentis (3)</a:t>
            </a:r>
          </a:p>
        </p:txBody>
      </p:sp>
      <p:graphicFrame>
        <p:nvGraphicFramePr>
          <p:cNvPr id="8" name="Espace réservé du contenu 7"/>
          <p:cNvGraphicFramePr>
            <a:graphicFrameLocks noGrp="1"/>
          </p:cNvGraphicFramePr>
          <p:nvPr>
            <p:ph sz="quarter" idx="14"/>
          </p:nvPr>
        </p:nvGraphicFramePr>
        <p:xfrm>
          <a:off x="431800" y="1876475"/>
          <a:ext cx="11269133" cy="41328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759735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p:txBody>
          <a:bodyPr/>
          <a:lstStyle/>
          <a:p>
            <a:pPr algn="just"/>
            <a:r>
              <a:rPr lang="fr-FR" dirty="0"/>
              <a:t>Les primes font partie des nombreux éléments variables de paie rendant plus complexe la réalisation de la paie</a:t>
            </a:r>
          </a:p>
          <a:p>
            <a:pPr lvl="1" algn="just"/>
            <a:r>
              <a:rPr lang="fr-FR" dirty="0"/>
              <a:t>Prime de vacances payée par la caisse de congés payés pour toutes les catégories de salariés (y compris les cadres malgré une convention collective nationale non étendue)</a:t>
            </a:r>
          </a:p>
          <a:p>
            <a:pPr lvl="1" algn="just"/>
            <a:r>
              <a:rPr lang="fr-FR" dirty="0"/>
              <a:t>Primes liées à la pénibilité du travail ou à l’insalubrité : voir convention régionale ou départementale, attention à leur dénonciation suite convention collective ouvriers de 5 mars 2018 (voir développement dans support de cours)</a:t>
            </a:r>
          </a:p>
          <a:p>
            <a:pPr lvl="1" algn="just"/>
            <a:r>
              <a:rPr lang="fr-FR" dirty="0"/>
              <a:t>L’accord d’entreprise peut prévoir des dispositions moins favorables aux salariés</a:t>
            </a:r>
          </a:p>
          <a:p>
            <a:pPr marL="263993" lvl="1" indent="0" algn="just">
              <a:buNone/>
            </a:pPr>
            <a:endParaRPr lang="fr-FR" dirty="0"/>
          </a:p>
          <a:p>
            <a:pPr marL="263993" lvl="1" indent="0" algn="just">
              <a:buNone/>
            </a:pPr>
            <a:endParaRPr lang="fr-FR" dirty="0"/>
          </a:p>
          <a:p>
            <a:pPr lvl="1" algn="just"/>
            <a:endParaRPr lang="fr-FR" dirty="0"/>
          </a:p>
        </p:txBody>
      </p:sp>
      <p:sp>
        <p:nvSpPr>
          <p:cNvPr id="3" name="Titre 2"/>
          <p:cNvSpPr>
            <a:spLocks noGrp="1"/>
          </p:cNvSpPr>
          <p:nvPr>
            <p:ph type="title"/>
          </p:nvPr>
        </p:nvSpPr>
        <p:spPr/>
        <p:txBody>
          <a:bodyPr/>
          <a:lstStyle/>
          <a:p>
            <a:r>
              <a:rPr lang="fr-FR" dirty="0"/>
              <a:t>Le brut : Les primes </a:t>
            </a:r>
          </a:p>
        </p:txBody>
      </p:sp>
    </p:spTree>
    <p:extLst>
      <p:ext uri="{BB962C8B-B14F-4D97-AF65-F5344CB8AC3E}">
        <p14:creationId xmlns:p14="http://schemas.microsoft.com/office/powerpoint/2010/main" val="31800304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p:cNvGraphicFramePr>
            <a:graphicFrameLocks noGrp="1"/>
          </p:cNvGraphicFramePr>
          <p:nvPr>
            <p:ph sz="quarter" idx="14"/>
          </p:nvPr>
        </p:nvGraphicFramePr>
        <p:xfrm>
          <a:off x="431800" y="1748813"/>
          <a:ext cx="11269133" cy="41328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re 2"/>
          <p:cNvSpPr>
            <a:spLocks noGrp="1"/>
          </p:cNvSpPr>
          <p:nvPr>
            <p:ph type="title"/>
          </p:nvPr>
        </p:nvSpPr>
        <p:spPr/>
        <p:txBody>
          <a:bodyPr/>
          <a:lstStyle/>
          <a:p>
            <a:r>
              <a:rPr lang="fr-FR" dirty="0"/>
              <a:t>Les trajets</a:t>
            </a:r>
          </a:p>
        </p:txBody>
      </p:sp>
    </p:spTree>
    <p:extLst>
      <p:ext uri="{BB962C8B-B14F-4D97-AF65-F5344CB8AC3E}">
        <p14:creationId xmlns:p14="http://schemas.microsoft.com/office/powerpoint/2010/main" val="1991209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p:txBody>
          <a:bodyPr>
            <a:normAutofit/>
          </a:bodyPr>
          <a:lstStyle/>
          <a:p>
            <a:r>
              <a:rPr lang="fr-FR" dirty="0"/>
              <a:t>Définition selon le code du travail</a:t>
            </a:r>
          </a:p>
          <a:p>
            <a:pPr lvl="1"/>
            <a:r>
              <a:rPr lang="fr-FR" dirty="0"/>
              <a:t>Le temps de travail effectif est le temps pendant lequel le salarié est à la disposition de son employeur, contraint de suivre ses directives sans pouvoir se livrer à ses activités personnelles. Son calcul est réglementé par le Code du travail</a:t>
            </a:r>
          </a:p>
          <a:p>
            <a:endParaRPr lang="fr-FR" dirty="0"/>
          </a:p>
        </p:txBody>
      </p:sp>
      <p:sp>
        <p:nvSpPr>
          <p:cNvPr id="3" name="Titre 2"/>
          <p:cNvSpPr>
            <a:spLocks noGrp="1"/>
          </p:cNvSpPr>
          <p:nvPr>
            <p:ph type="title"/>
          </p:nvPr>
        </p:nvSpPr>
        <p:spPr/>
        <p:txBody>
          <a:bodyPr>
            <a:normAutofit fontScale="90000"/>
          </a:bodyPr>
          <a:lstStyle/>
          <a:p>
            <a:r>
              <a:rPr lang="fr-FR"/>
              <a:t>Le temps de travail effectif et les temps de trajet</a:t>
            </a:r>
            <a:endParaRPr lang="fr-FR" dirty="0"/>
          </a:p>
        </p:txBody>
      </p:sp>
    </p:spTree>
    <p:extLst>
      <p:ext uri="{BB962C8B-B14F-4D97-AF65-F5344CB8AC3E}">
        <p14:creationId xmlns:p14="http://schemas.microsoft.com/office/powerpoint/2010/main" val="87957202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p:cNvGraphicFramePr>
            <a:graphicFrameLocks noGrp="1"/>
          </p:cNvGraphicFramePr>
          <p:nvPr>
            <p:ph sz="quarter" idx="14"/>
          </p:nvPr>
        </p:nvGraphicFramePr>
        <p:xfrm>
          <a:off x="431800" y="1815429"/>
          <a:ext cx="11269133" cy="38938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re 2"/>
          <p:cNvSpPr>
            <a:spLocks noGrp="1"/>
          </p:cNvSpPr>
          <p:nvPr>
            <p:ph type="title"/>
          </p:nvPr>
        </p:nvSpPr>
        <p:spPr>
          <a:xfrm>
            <a:off x="431682" y="428667"/>
            <a:ext cx="11251489" cy="1200133"/>
          </a:xfrm>
        </p:spPr>
        <p:txBody>
          <a:bodyPr/>
          <a:lstStyle/>
          <a:p>
            <a:r>
              <a:rPr lang="fr-FR" dirty="0"/>
              <a:t>Le brut : les temps de trajet (1)</a:t>
            </a:r>
          </a:p>
        </p:txBody>
      </p:sp>
    </p:spTree>
    <p:extLst>
      <p:ext uri="{BB962C8B-B14F-4D97-AF65-F5344CB8AC3E}">
        <p14:creationId xmlns:p14="http://schemas.microsoft.com/office/powerpoint/2010/main" val="338193071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a:xfrm>
            <a:off x="431800" y="1748366"/>
            <a:ext cx="11269133" cy="4560953"/>
          </a:xfrm>
        </p:spPr>
        <p:txBody>
          <a:bodyPr>
            <a:noAutofit/>
          </a:bodyPr>
          <a:lstStyle/>
          <a:p>
            <a:r>
              <a:rPr lang="fr-FR" dirty="0"/>
              <a:t>L'Arrêt de la Cour de cassation, chambre sociale, 18 octobre 2017, n° 16-13.281 a rappelé que, le temps de trajet domicile-chantier ne constitue, par principe, pas du temps de travail effectif. Le salarié travaillant sur chantier est ainsi placé sur un plan d’égalité avec un salarié travaillant sur un site fixe (bureau, atelier) pour lequel le Code du travail exclut expressément la qualification de travail effectif pour le trajet domicile-lieu d’exécution du travail</a:t>
            </a:r>
          </a:p>
          <a:p>
            <a:r>
              <a:rPr lang="fr-FR" dirty="0"/>
              <a:t>Sauf si ce temps de trajet dépasse le temps normal de trajet du salarié entre son domicile et le lieu de rattachement administratif prévu à son contrat</a:t>
            </a:r>
          </a:p>
          <a:p>
            <a:r>
              <a:rPr lang="fr-FR" dirty="0"/>
              <a:t>Le salarié doit alors se voir attribuer une contrepartie, sous forme</a:t>
            </a:r>
            <a:br>
              <a:rPr lang="fr-FR" dirty="0"/>
            </a:br>
            <a:r>
              <a:rPr lang="fr-FR" dirty="0"/>
              <a:t>de repos ou d’argent, pour l’allongement de son temps de trajet</a:t>
            </a:r>
          </a:p>
        </p:txBody>
      </p:sp>
      <p:sp>
        <p:nvSpPr>
          <p:cNvPr id="3" name="Titre 2"/>
          <p:cNvSpPr>
            <a:spLocks noGrp="1"/>
          </p:cNvSpPr>
          <p:nvPr>
            <p:ph type="title"/>
          </p:nvPr>
        </p:nvSpPr>
        <p:spPr>
          <a:xfrm>
            <a:off x="431682" y="428667"/>
            <a:ext cx="11251489" cy="1200133"/>
          </a:xfrm>
        </p:spPr>
        <p:txBody>
          <a:bodyPr/>
          <a:lstStyle/>
          <a:p>
            <a:r>
              <a:rPr lang="fr-FR"/>
              <a:t>Le brut : les temps de trajet (2)</a:t>
            </a:r>
            <a:endParaRPr lang="fr-FR" dirty="0"/>
          </a:p>
        </p:txBody>
      </p:sp>
    </p:spTree>
    <p:extLst>
      <p:ext uri="{BB962C8B-B14F-4D97-AF65-F5344CB8AC3E}">
        <p14:creationId xmlns:p14="http://schemas.microsoft.com/office/powerpoint/2010/main" val="8756702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p:cNvGraphicFramePr>
            <a:graphicFrameLocks noGrp="1"/>
          </p:cNvGraphicFramePr>
          <p:nvPr>
            <p:ph sz="quarter" idx="14"/>
          </p:nvPr>
        </p:nvGraphicFramePr>
        <p:xfrm>
          <a:off x="431800" y="1816469"/>
          <a:ext cx="11424840" cy="41328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re 2"/>
          <p:cNvSpPr>
            <a:spLocks noGrp="1"/>
          </p:cNvSpPr>
          <p:nvPr>
            <p:ph type="title"/>
          </p:nvPr>
        </p:nvSpPr>
        <p:spPr/>
        <p:txBody>
          <a:bodyPr/>
          <a:lstStyle/>
          <a:p>
            <a:r>
              <a:rPr lang="fr-FR" dirty="0"/>
              <a:t>Le brut : les temps de trajet (3)</a:t>
            </a:r>
          </a:p>
        </p:txBody>
      </p:sp>
    </p:spTree>
    <p:extLst>
      <p:ext uri="{BB962C8B-B14F-4D97-AF65-F5344CB8AC3E}">
        <p14:creationId xmlns:p14="http://schemas.microsoft.com/office/powerpoint/2010/main" val="39733838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p:cNvGraphicFramePr>
            <a:graphicFrameLocks noGrp="1"/>
          </p:cNvGraphicFramePr>
          <p:nvPr>
            <p:ph sz="quarter" idx="14"/>
          </p:nvPr>
        </p:nvGraphicFramePr>
        <p:xfrm>
          <a:off x="431800" y="1748813"/>
          <a:ext cx="11269133" cy="41328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re 2"/>
          <p:cNvSpPr>
            <a:spLocks noGrp="1"/>
          </p:cNvSpPr>
          <p:nvPr>
            <p:ph type="title"/>
          </p:nvPr>
        </p:nvSpPr>
        <p:spPr/>
        <p:txBody>
          <a:bodyPr>
            <a:normAutofit fontScale="90000"/>
          </a:bodyPr>
          <a:lstStyle/>
          <a:p>
            <a:r>
              <a:rPr lang="fr-FR" dirty="0"/>
              <a:t>Le brut et l’indemnité de trajet SELON LA CONVENTION COLLECTIVE</a:t>
            </a:r>
          </a:p>
        </p:txBody>
      </p:sp>
    </p:spTree>
    <p:extLst>
      <p:ext uri="{BB962C8B-B14F-4D97-AF65-F5344CB8AC3E}">
        <p14:creationId xmlns:p14="http://schemas.microsoft.com/office/powerpoint/2010/main" val="47537579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p:cNvGraphicFramePr>
            <a:graphicFrameLocks noGrp="1"/>
          </p:cNvGraphicFramePr>
          <p:nvPr>
            <p:ph sz="quarter" idx="14"/>
          </p:nvPr>
        </p:nvGraphicFramePr>
        <p:xfrm>
          <a:off x="431800" y="1748813"/>
          <a:ext cx="11269133" cy="41328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re 2"/>
          <p:cNvSpPr>
            <a:spLocks noGrp="1"/>
          </p:cNvSpPr>
          <p:nvPr>
            <p:ph type="title"/>
          </p:nvPr>
        </p:nvSpPr>
        <p:spPr/>
        <p:txBody>
          <a:bodyPr>
            <a:normAutofit fontScale="90000"/>
          </a:bodyPr>
          <a:lstStyle/>
          <a:p>
            <a:r>
              <a:rPr lang="fr-FR" dirty="0"/>
              <a:t>Le brut et l’indemnité de trajet POSITION</a:t>
            </a:r>
            <a:br>
              <a:rPr lang="fr-FR" dirty="0"/>
            </a:br>
            <a:r>
              <a:rPr lang="fr-FR" dirty="0"/>
              <a:t>DE LA COUR DE CASSATION</a:t>
            </a:r>
          </a:p>
        </p:txBody>
      </p:sp>
    </p:spTree>
    <p:extLst>
      <p:ext uri="{BB962C8B-B14F-4D97-AF65-F5344CB8AC3E}">
        <p14:creationId xmlns:p14="http://schemas.microsoft.com/office/powerpoint/2010/main" val="196053365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p:txBody>
          <a:bodyPr>
            <a:normAutofit lnSpcReduction="10000"/>
          </a:bodyPr>
          <a:lstStyle/>
          <a:p>
            <a:pPr algn="just"/>
            <a:r>
              <a:rPr lang="fr-FR" dirty="0"/>
              <a:t>L’URSSAF s’appuie sur des arrêts de la Cour de cassation qui considère que </a:t>
            </a:r>
            <a:r>
              <a:rPr lang="fr-FR" i="1" dirty="0"/>
              <a:t>« l’indemnité de trajet prévue par la convention collective des ouvriers et employés du bâtiment du 8 octobre 1990 est due indépendamment de la rémunération par l’employeur du temps de trajet inclus dans l’horaire de travail et du moyen de transport utilisé »</a:t>
            </a:r>
            <a:r>
              <a:rPr lang="fr-FR" dirty="0"/>
              <a:t>. Cela signifie que l’indemnité de trajet indemnise une sujétion liée à la non sédentarité de l’emploi d’ouvrier du bâtiment</a:t>
            </a:r>
          </a:p>
          <a:p>
            <a:pPr algn="just"/>
            <a:r>
              <a:rPr lang="fr-FR" dirty="0"/>
              <a:t>La Cour de cassation, 2</a:t>
            </a:r>
            <a:r>
              <a:rPr lang="fr-FR" baseline="30000" dirty="0"/>
              <a:t>e</a:t>
            </a:r>
            <a:r>
              <a:rPr lang="fr-FR" dirty="0"/>
              <a:t> chambre civile, 15 juin 2017, n° 16-19.162  précise que l’indemnité de trajet est une indemnisation de l’absence de lieu de travail fixe et prévisible pour le salarié, sans lien avec une notion de temps de trajet</a:t>
            </a:r>
          </a:p>
          <a:p>
            <a:endParaRPr lang="fr-FR" dirty="0"/>
          </a:p>
        </p:txBody>
      </p:sp>
      <p:sp>
        <p:nvSpPr>
          <p:cNvPr id="3" name="Titre 2"/>
          <p:cNvSpPr>
            <a:spLocks noGrp="1"/>
          </p:cNvSpPr>
          <p:nvPr>
            <p:ph type="title"/>
          </p:nvPr>
        </p:nvSpPr>
        <p:spPr/>
        <p:txBody>
          <a:bodyPr/>
          <a:lstStyle/>
          <a:p>
            <a:r>
              <a:rPr lang="fr-FR" dirty="0"/>
              <a:t>Le brut, l’indemnité de trajet et l'URSSAF</a:t>
            </a:r>
          </a:p>
        </p:txBody>
      </p:sp>
    </p:spTree>
    <p:extLst>
      <p:ext uri="{BB962C8B-B14F-4D97-AF65-F5344CB8AC3E}">
        <p14:creationId xmlns:p14="http://schemas.microsoft.com/office/powerpoint/2010/main" val="283124222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texte 4"/>
          <p:cNvSpPr>
            <a:spLocks noGrp="1"/>
          </p:cNvSpPr>
          <p:nvPr>
            <p:ph type="body" idx="1"/>
          </p:nvPr>
        </p:nvSpPr>
        <p:spPr/>
        <p:txBody>
          <a:bodyPr/>
          <a:lstStyle/>
          <a:p>
            <a:r>
              <a:rPr lang="fr-FR" dirty="0"/>
              <a:t>Les frais professionnels </a:t>
            </a:r>
            <a:br>
              <a:rPr lang="fr-FR" dirty="0"/>
            </a:br>
            <a:r>
              <a:rPr lang="fr-FR" dirty="0"/>
              <a:t>et de déplacement</a:t>
            </a:r>
          </a:p>
        </p:txBody>
      </p:sp>
      <p:sp>
        <p:nvSpPr>
          <p:cNvPr id="4" name="Titre 3"/>
          <p:cNvSpPr>
            <a:spLocks noGrp="1"/>
          </p:cNvSpPr>
          <p:nvPr>
            <p:ph type="title"/>
          </p:nvPr>
        </p:nvSpPr>
        <p:spPr/>
        <p:txBody>
          <a:bodyPr/>
          <a:lstStyle/>
          <a:p>
            <a:r>
              <a:rPr lang="fr-FR" dirty="0"/>
              <a:t>Séquence 4 	</a:t>
            </a:r>
          </a:p>
        </p:txBody>
      </p:sp>
      <p:sp>
        <p:nvSpPr>
          <p:cNvPr id="6" name="Espace réservé du contenu 5"/>
          <p:cNvSpPr>
            <a:spLocks noGrp="1"/>
          </p:cNvSpPr>
          <p:nvPr>
            <p:ph sz="quarter" idx="10"/>
          </p:nvPr>
        </p:nvSpPr>
        <p:spPr/>
        <p:txBody>
          <a:bodyPr/>
          <a:lstStyle/>
          <a:p>
            <a:endParaRPr lang="fr-FR"/>
          </a:p>
        </p:txBody>
      </p:sp>
    </p:spTree>
    <p:extLst>
      <p:ext uri="{BB962C8B-B14F-4D97-AF65-F5344CB8AC3E}">
        <p14:creationId xmlns:p14="http://schemas.microsoft.com/office/powerpoint/2010/main" val="2633401531"/>
      </p:ext>
    </p:extLst>
  </p:cSld>
  <p:clrMapOvr>
    <a:masterClrMapping/>
  </p:clrMapOvr>
  <p:transition spd="slow">
    <p:push dir="u"/>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type="body" sz="quarter" idx="13"/>
          </p:nvPr>
        </p:nvSpPr>
        <p:spPr>
          <a:xfrm>
            <a:off x="431800" y="1208755"/>
            <a:ext cx="7764433" cy="4800464"/>
          </a:xfrm>
        </p:spPr>
        <p:txBody>
          <a:bodyPr>
            <a:normAutofit lnSpcReduction="10000"/>
          </a:bodyPr>
          <a:lstStyle/>
          <a:p>
            <a:pPr algn="just"/>
            <a:r>
              <a:rPr lang="fr-FR" dirty="0"/>
              <a:t>Indemnités de grands déplacements</a:t>
            </a:r>
          </a:p>
          <a:p>
            <a:pPr algn="just"/>
            <a:r>
              <a:rPr lang="fr-FR" dirty="0"/>
              <a:t>Les voyages</a:t>
            </a:r>
          </a:p>
          <a:p>
            <a:pPr algn="just"/>
            <a:r>
              <a:rPr lang="fr-FR" dirty="0"/>
              <a:t>Autres frais professionnels</a:t>
            </a:r>
          </a:p>
          <a:p>
            <a:pPr algn="just"/>
            <a:r>
              <a:rPr lang="fr-FR" dirty="0"/>
              <a:t>Indemnités de petits déplacements</a:t>
            </a:r>
          </a:p>
          <a:p>
            <a:r>
              <a:rPr lang="fr-FR" dirty="0"/>
              <a:t>Déduction forfaitaire spécifique pour les frais professionnels</a:t>
            </a:r>
          </a:p>
          <a:p>
            <a:pPr lvl="1" algn="just"/>
            <a:r>
              <a:rPr lang="fr-FR" i="1" dirty="0"/>
              <a:t>Observation : dans les cas figurent des informations comme les valeurs des frais de déplacement ainsi qu’un tableau permettant de connaître les traitements de frais professionnels selon l’option ou non à la déduction forfaitaire</a:t>
            </a:r>
          </a:p>
        </p:txBody>
      </p:sp>
      <p:sp>
        <p:nvSpPr>
          <p:cNvPr id="4" name="Espace réservé du texte 3"/>
          <p:cNvSpPr>
            <a:spLocks noGrp="1"/>
          </p:cNvSpPr>
          <p:nvPr>
            <p:ph type="body" sz="quarter" idx="14"/>
          </p:nvPr>
        </p:nvSpPr>
        <p:spPr/>
        <p:txBody>
          <a:bodyPr>
            <a:normAutofit fontScale="55000" lnSpcReduction="20000"/>
          </a:bodyPr>
          <a:lstStyle/>
          <a:p>
            <a:r>
              <a:rPr lang="fr-FR"/>
              <a:t>SOMMAIRE SéQUENCE 4 – </a:t>
            </a:r>
          </a:p>
          <a:p>
            <a:r>
              <a:rPr lang="fr-FR"/>
              <a:t>Les frais professionnels et de déplacement</a:t>
            </a:r>
            <a:endParaRPr lang="fr-FR" dirty="0"/>
          </a:p>
        </p:txBody>
      </p:sp>
    </p:spTree>
    <p:extLst>
      <p:ext uri="{BB962C8B-B14F-4D97-AF65-F5344CB8AC3E}">
        <p14:creationId xmlns:p14="http://schemas.microsoft.com/office/powerpoint/2010/main" val="304921569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a:xfrm>
            <a:off x="431800" y="1748813"/>
            <a:ext cx="11269133" cy="4132812"/>
          </a:xfrm>
        </p:spPr>
        <p:txBody>
          <a:bodyPr/>
          <a:lstStyle/>
          <a:p>
            <a:r>
              <a:rPr lang="fr-FR" dirty="0"/>
              <a:t>À titre d’exemple, sont nommés dans la catégorie des frais professionnels, les frais suivants</a:t>
            </a:r>
          </a:p>
          <a:p>
            <a:pPr lvl="1"/>
            <a:r>
              <a:rPr lang="fr-FR" dirty="0"/>
              <a:t>Les dépenses d’entretien des vêtements de travail</a:t>
            </a:r>
          </a:p>
          <a:p>
            <a:pPr lvl="1"/>
            <a:r>
              <a:rPr lang="fr-FR" dirty="0"/>
              <a:t>Les dépenses engagées par le salarié à la demande de l’employeur</a:t>
            </a:r>
          </a:p>
          <a:p>
            <a:r>
              <a:rPr lang="fr-FR" dirty="0"/>
              <a:t>Les conséquences en paie sont importantes</a:t>
            </a:r>
          </a:p>
          <a:p>
            <a:pPr lvl="1"/>
            <a:r>
              <a:rPr lang="fr-FR" dirty="0"/>
              <a:t>Intégration au salaire brut lorsque l’entreprise applique une DFS, au même titre que les autres frais professionnels</a:t>
            </a:r>
          </a:p>
          <a:p>
            <a:r>
              <a:rPr lang="fr-FR" dirty="0"/>
              <a:t>MAIS</a:t>
            </a:r>
          </a:p>
          <a:p>
            <a:pPr lvl="1"/>
            <a:r>
              <a:rPr lang="fr-FR" dirty="0"/>
              <a:t>Cumul abattement et remboursement de frais : voir § 2250 du BOSS</a:t>
            </a:r>
          </a:p>
          <a:p>
            <a:endParaRPr lang="fr-FR" dirty="0"/>
          </a:p>
          <a:p>
            <a:endParaRPr lang="fr-FR" dirty="0"/>
          </a:p>
          <a:p>
            <a:endParaRPr lang="fr-FR" dirty="0"/>
          </a:p>
        </p:txBody>
      </p:sp>
      <p:sp>
        <p:nvSpPr>
          <p:cNvPr id="3" name="Titre 2"/>
          <p:cNvSpPr>
            <a:spLocks noGrp="1"/>
          </p:cNvSpPr>
          <p:nvPr>
            <p:ph type="title"/>
          </p:nvPr>
        </p:nvSpPr>
        <p:spPr>
          <a:xfrm>
            <a:off x="431682" y="428667"/>
            <a:ext cx="11251489" cy="1200133"/>
          </a:xfrm>
        </p:spPr>
        <p:txBody>
          <a:bodyPr>
            <a:normAutofit fontScale="90000"/>
          </a:bodyPr>
          <a:lstStyle/>
          <a:p>
            <a:r>
              <a:rPr lang="fr-FR" dirty="0"/>
              <a:t>Avec le BOSS disparition des frais d’entreprise</a:t>
            </a:r>
          </a:p>
        </p:txBody>
      </p:sp>
    </p:spTree>
    <p:extLst>
      <p:ext uri="{BB962C8B-B14F-4D97-AF65-F5344CB8AC3E}">
        <p14:creationId xmlns:p14="http://schemas.microsoft.com/office/powerpoint/2010/main" val="227801177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p:txBody>
          <a:bodyPr/>
          <a:lstStyle/>
          <a:p>
            <a:r>
              <a:rPr lang="fr-FR" dirty="0"/>
              <a:t>Le salarié est considéré en grand déplacement lorsqu'il accomplit une mission professionnelle et qu'il est empêché de regagner sa résidence en raison des deux conditions suivantes</a:t>
            </a:r>
          </a:p>
          <a:p>
            <a:pPr lvl="1"/>
            <a:r>
              <a:rPr lang="fr-FR" dirty="0"/>
              <a:t>La distance séparant le lieu de résidence du lieu de déplacement est au moins égale à 50 km (trajet aller) et </a:t>
            </a:r>
          </a:p>
          <a:p>
            <a:pPr lvl="1"/>
            <a:r>
              <a:rPr lang="fr-FR" dirty="0"/>
              <a:t>Les transports en commun ne permettent pas de parcourir cette distance dans un temps inférieur à 1h30 (trajet aller)</a:t>
            </a:r>
          </a:p>
        </p:txBody>
      </p:sp>
      <p:sp>
        <p:nvSpPr>
          <p:cNvPr id="3" name="Titre 2"/>
          <p:cNvSpPr>
            <a:spLocks noGrp="1"/>
          </p:cNvSpPr>
          <p:nvPr>
            <p:ph type="title"/>
          </p:nvPr>
        </p:nvSpPr>
        <p:spPr/>
        <p:txBody>
          <a:bodyPr>
            <a:normAutofit fontScale="90000"/>
          </a:bodyPr>
          <a:lstStyle/>
          <a:p>
            <a:r>
              <a:rPr lang="fr-FR"/>
              <a:t>Les frais professionnels et de déplacement : </a:t>
            </a:r>
            <a:br>
              <a:rPr lang="fr-FR"/>
            </a:br>
            <a:r>
              <a:rPr lang="fr-FR"/>
              <a:t>Les grands déplacements (1)</a:t>
            </a:r>
            <a:endParaRPr lang="fr-FR" dirty="0"/>
          </a:p>
        </p:txBody>
      </p:sp>
    </p:spTree>
    <p:extLst>
      <p:ext uri="{BB962C8B-B14F-4D97-AF65-F5344CB8AC3E}">
        <p14:creationId xmlns:p14="http://schemas.microsoft.com/office/powerpoint/2010/main" val="104617793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p:txBody>
          <a:bodyPr>
            <a:normAutofit/>
          </a:bodyPr>
          <a:lstStyle/>
          <a:p>
            <a:pPr algn="just"/>
            <a:r>
              <a:rPr lang="fr-FR" dirty="0"/>
              <a:t>L'indemnité de grand déplacement est destinée à couvrir les dépenses supplémentaires de nourriture et de logement du salarié en déplacement professionnel</a:t>
            </a:r>
          </a:p>
          <a:p>
            <a:pPr algn="just"/>
            <a:endParaRPr lang="fr-FR" dirty="0"/>
          </a:p>
          <a:p>
            <a:pPr algn="just"/>
            <a:r>
              <a:rPr lang="fr-FR" dirty="0"/>
              <a:t>Exemple </a:t>
            </a:r>
          </a:p>
          <a:p>
            <a:pPr lvl="1" algn="just"/>
            <a:r>
              <a:rPr lang="fr-FR" dirty="0"/>
              <a:t>Un ouvrier en grand déplacement du lundi au vendredi aura 4 forfaits (et non 5 s'il partait le dimanche)</a:t>
            </a:r>
          </a:p>
          <a:p>
            <a:pPr lvl="1" algn="just"/>
            <a:r>
              <a:rPr lang="fr-FR" dirty="0"/>
              <a:t>En revanche, un ouvrier en grand déplacement du dimanche au samedi matin aura 6 forfaits (alors qu'il ne travaille que 5 jours, comme le cas précédent)</a:t>
            </a:r>
          </a:p>
        </p:txBody>
      </p:sp>
      <p:sp>
        <p:nvSpPr>
          <p:cNvPr id="3" name="Titre 2"/>
          <p:cNvSpPr>
            <a:spLocks noGrp="1"/>
          </p:cNvSpPr>
          <p:nvPr>
            <p:ph type="title"/>
          </p:nvPr>
        </p:nvSpPr>
        <p:spPr/>
        <p:txBody>
          <a:bodyPr>
            <a:normAutofit fontScale="90000"/>
          </a:bodyPr>
          <a:lstStyle/>
          <a:p>
            <a:r>
              <a:rPr lang="fr-FR" dirty="0"/>
              <a:t>Les frais professionnels et de déplacement : </a:t>
            </a:r>
            <a:br>
              <a:rPr lang="fr-FR" dirty="0"/>
            </a:br>
            <a:r>
              <a:rPr lang="fr-FR" dirty="0"/>
              <a:t>Les grands déplacements (2)</a:t>
            </a:r>
          </a:p>
        </p:txBody>
      </p:sp>
    </p:spTree>
    <p:extLst>
      <p:ext uri="{BB962C8B-B14F-4D97-AF65-F5344CB8AC3E}">
        <p14:creationId xmlns:p14="http://schemas.microsoft.com/office/powerpoint/2010/main" val="234449086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contenu 4"/>
          <p:cNvSpPr>
            <a:spLocks noGrp="1"/>
          </p:cNvSpPr>
          <p:nvPr>
            <p:ph sz="quarter" idx="14"/>
          </p:nvPr>
        </p:nvSpPr>
        <p:spPr>
          <a:xfrm>
            <a:off x="414038" y="1748814"/>
            <a:ext cx="11269133" cy="4020447"/>
          </a:xfrm>
        </p:spPr>
        <p:txBody>
          <a:bodyPr>
            <a:normAutofit fontScale="92500" lnSpcReduction="10000"/>
          </a:bodyPr>
          <a:lstStyle/>
          <a:p>
            <a:pPr algn="just"/>
            <a:r>
              <a:rPr lang="fr-FR" dirty="0"/>
              <a:t>Les indemnités forfaitaires de grands déplacements sont nettes de charges dans les limites d’exonération fixées par l’URSSAF et dans la mesure où les conditions de grands déplacements sont respectées (d’où après le net imposable)</a:t>
            </a:r>
          </a:p>
          <a:p>
            <a:pPr marL="0" indent="0" algn="just">
              <a:buNone/>
            </a:pPr>
            <a:endParaRPr lang="fr-FR" dirty="0"/>
          </a:p>
          <a:p>
            <a:pPr marL="952476" indent="0" algn="just">
              <a:buNone/>
            </a:pPr>
            <a:r>
              <a:rPr lang="fr-FR" dirty="0"/>
              <a:t>ATTENTION : le montant de l’indemnité forfaitaire dépend de la durée des grands déplacements </a:t>
            </a:r>
            <a:r>
              <a:rPr lang="fr-FR" i="1" dirty="0"/>
              <a:t>(il faut donc tenir un décompte à partir de la date d’affectation de chaque chantier)</a:t>
            </a:r>
          </a:p>
          <a:p>
            <a:pPr marL="952476" indent="0" algn="just">
              <a:buNone/>
            </a:pPr>
            <a:r>
              <a:rPr lang="fr-FR" dirty="0"/>
              <a:t>ATTENTION : en cas de remboursement de frais de grand déplacement, il est mentionné dans le  BOSS § 2250 cumul possible avec DFS</a:t>
            </a:r>
          </a:p>
        </p:txBody>
      </p:sp>
      <p:sp>
        <p:nvSpPr>
          <p:cNvPr id="3" name="Titre 2"/>
          <p:cNvSpPr>
            <a:spLocks noGrp="1"/>
          </p:cNvSpPr>
          <p:nvPr>
            <p:ph type="title"/>
          </p:nvPr>
        </p:nvSpPr>
        <p:spPr/>
        <p:txBody>
          <a:bodyPr>
            <a:normAutofit/>
          </a:bodyPr>
          <a:lstStyle/>
          <a:p>
            <a:r>
              <a:rPr lang="fr-FR" sz="3067" dirty="0"/>
              <a:t>Les frais de grands déplacements et </a:t>
            </a:r>
            <a:br>
              <a:rPr lang="fr-FR" sz="3067" dirty="0"/>
            </a:br>
            <a:r>
              <a:rPr lang="fr-FR" sz="3067" dirty="0"/>
              <a:t>La déduction forfaitaire spécifique</a:t>
            </a:r>
          </a:p>
        </p:txBody>
      </p:sp>
      <p:pic>
        <p:nvPicPr>
          <p:cNvPr id="3074" name="Picture 2" descr="V:\Styles\charte 2016 CFPC\Pictogrammes_PPT_CFPC-2016\alerte-attention.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4687" y="3549013"/>
            <a:ext cx="1440160" cy="14401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850238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p:txBody>
          <a:bodyPr/>
          <a:lstStyle/>
          <a:p>
            <a:r>
              <a:rPr lang="fr-FR" dirty="0"/>
              <a:t>La convention collective des ouvriers traite </a:t>
            </a:r>
          </a:p>
          <a:p>
            <a:pPr lvl="1"/>
            <a:r>
              <a:rPr lang="fr-FR" dirty="0"/>
              <a:t>De l’indemnisation des frais et temps de voyage des ouvriers envoyés en grand déplacement</a:t>
            </a:r>
          </a:p>
          <a:p>
            <a:pPr lvl="1"/>
            <a:r>
              <a:rPr lang="fr-FR" dirty="0"/>
              <a:t>Des voyages de détente (voyage périodique)</a:t>
            </a:r>
          </a:p>
        </p:txBody>
      </p:sp>
      <p:sp>
        <p:nvSpPr>
          <p:cNvPr id="3" name="Titre 2"/>
          <p:cNvSpPr>
            <a:spLocks noGrp="1"/>
          </p:cNvSpPr>
          <p:nvPr>
            <p:ph type="title"/>
          </p:nvPr>
        </p:nvSpPr>
        <p:spPr/>
        <p:txBody>
          <a:bodyPr>
            <a:normAutofit fontScale="90000"/>
          </a:bodyPr>
          <a:lstStyle/>
          <a:p>
            <a:r>
              <a:rPr lang="fr-FR" dirty="0"/>
              <a:t>Les frais professionnels et de déplacement :</a:t>
            </a:r>
            <a:br>
              <a:rPr lang="fr-FR" dirty="0"/>
            </a:br>
            <a:r>
              <a:rPr lang="fr-FR" dirty="0"/>
              <a:t>Les voyages </a:t>
            </a:r>
          </a:p>
        </p:txBody>
      </p:sp>
    </p:spTree>
    <p:extLst>
      <p:ext uri="{BB962C8B-B14F-4D97-AF65-F5344CB8AC3E}">
        <p14:creationId xmlns:p14="http://schemas.microsoft.com/office/powerpoint/2010/main" val="101880440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p:cNvGraphicFramePr>
            <a:graphicFrameLocks noGrp="1"/>
          </p:cNvGraphicFramePr>
          <p:nvPr>
            <p:ph sz="quarter" idx="14"/>
          </p:nvPr>
        </p:nvGraphicFramePr>
        <p:xfrm>
          <a:off x="431800" y="1748813"/>
          <a:ext cx="11269133" cy="41328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re 2"/>
          <p:cNvSpPr>
            <a:spLocks noGrp="1"/>
          </p:cNvSpPr>
          <p:nvPr>
            <p:ph type="title"/>
          </p:nvPr>
        </p:nvSpPr>
        <p:spPr/>
        <p:txBody>
          <a:bodyPr/>
          <a:lstStyle/>
          <a:p>
            <a:r>
              <a:rPr lang="fr-FR" dirty="0"/>
              <a:t>Avant de traiter les petits déplacements </a:t>
            </a:r>
          </a:p>
        </p:txBody>
      </p:sp>
    </p:spTree>
    <p:extLst>
      <p:ext uri="{BB962C8B-B14F-4D97-AF65-F5344CB8AC3E}">
        <p14:creationId xmlns:p14="http://schemas.microsoft.com/office/powerpoint/2010/main" val="233875482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p:txBody>
          <a:bodyPr/>
          <a:lstStyle/>
          <a:p>
            <a:r>
              <a:rPr lang="fr-FR" dirty="0"/>
              <a:t>Autres frais professionnels</a:t>
            </a:r>
          </a:p>
          <a:p>
            <a:pPr lvl="1" algn="just"/>
            <a:r>
              <a:rPr lang="fr-FR" dirty="0"/>
              <a:t>Utilisation du véhicule de l’entreprise par le salarié (dans certains cas c’est un avantage en nature)</a:t>
            </a:r>
          </a:p>
          <a:p>
            <a:pPr lvl="1" algn="just"/>
            <a:r>
              <a:rPr lang="fr-FR" dirty="0"/>
              <a:t>Prime de nettoyage des tenues de travail le BOSS précise : la prise en charge des dépenses d’entretien des vêtements sous forme de prime de salissure constitue un remboursement de frais professionnels, exclu à ce titre de l’assiette des cotisations et contributions sociales pour la part correspondant </a:t>
            </a:r>
            <a:r>
              <a:rPr lang="fr-FR" u="sng" dirty="0"/>
              <a:t>aux coûts effectivement exposés par le salarié</a:t>
            </a:r>
          </a:p>
          <a:p>
            <a:pPr lvl="1" algn="just"/>
            <a:r>
              <a:rPr lang="fr-FR" dirty="0"/>
              <a:t>Prime d’outillage (l’arrêté du 22 décembre 2012 ne comprend pas ces frais dans la liste des frais remboursables) </a:t>
            </a:r>
          </a:p>
          <a:p>
            <a:endParaRPr lang="fr-FR" dirty="0"/>
          </a:p>
          <a:p>
            <a:endParaRPr lang="fr-FR" dirty="0"/>
          </a:p>
        </p:txBody>
      </p:sp>
      <p:sp>
        <p:nvSpPr>
          <p:cNvPr id="3" name="Titre 2"/>
          <p:cNvSpPr>
            <a:spLocks noGrp="1"/>
          </p:cNvSpPr>
          <p:nvPr>
            <p:ph type="title"/>
          </p:nvPr>
        </p:nvSpPr>
        <p:spPr/>
        <p:txBody>
          <a:bodyPr>
            <a:normAutofit fontScale="90000"/>
          </a:bodyPr>
          <a:lstStyle/>
          <a:p>
            <a:r>
              <a:rPr lang="fr-FR" dirty="0"/>
              <a:t>Les frais professionnels et de déplacements : </a:t>
            </a:r>
            <a:br>
              <a:rPr lang="fr-FR" dirty="0"/>
            </a:br>
            <a:r>
              <a:rPr lang="fr-FR" dirty="0"/>
              <a:t>Autres frais professionnels </a:t>
            </a:r>
          </a:p>
        </p:txBody>
      </p:sp>
    </p:spTree>
    <p:extLst>
      <p:ext uri="{BB962C8B-B14F-4D97-AF65-F5344CB8AC3E}">
        <p14:creationId xmlns:p14="http://schemas.microsoft.com/office/powerpoint/2010/main" val="367674049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p:txBody>
          <a:bodyPr>
            <a:normAutofit lnSpcReduction="10000"/>
          </a:bodyPr>
          <a:lstStyle/>
          <a:p>
            <a:r>
              <a:rPr lang="fr-FR" dirty="0"/>
              <a:t>Selon la convention collective des ouvriers, le régime des petits déplacements comporte les 3 indemnités suivantes</a:t>
            </a:r>
          </a:p>
          <a:p>
            <a:pPr lvl="1"/>
            <a:r>
              <a:rPr lang="fr-FR" dirty="0"/>
              <a:t>Prime de panier </a:t>
            </a:r>
          </a:p>
          <a:p>
            <a:pPr lvl="1"/>
            <a:r>
              <a:rPr lang="fr-FR" dirty="0"/>
              <a:t>Indemnité de transport </a:t>
            </a:r>
          </a:p>
          <a:p>
            <a:pPr lvl="1"/>
            <a:r>
              <a:rPr lang="fr-FR" dirty="0"/>
              <a:t>Indemnité de trajet (cette indemnisation figure dans le brut. Elle n'a pas le caractère de remboursement de frais)</a:t>
            </a:r>
          </a:p>
          <a:p>
            <a:r>
              <a:rPr lang="fr-FR" dirty="0"/>
              <a:t>Les indemnités ci-dessus sont journalières, forfaitaires et fixées en valeur absolue à l'échelon régional (ou départemental) et ne concernent pas les sédentaires </a:t>
            </a:r>
          </a:p>
          <a:p>
            <a:r>
              <a:rPr lang="fr-FR" dirty="0"/>
              <a:t>L’URSSAF fixe les limites d’exonération des allocations de ces indemnités</a:t>
            </a:r>
          </a:p>
        </p:txBody>
      </p:sp>
      <p:sp>
        <p:nvSpPr>
          <p:cNvPr id="3" name="Titre 2"/>
          <p:cNvSpPr>
            <a:spLocks noGrp="1"/>
          </p:cNvSpPr>
          <p:nvPr>
            <p:ph type="title"/>
          </p:nvPr>
        </p:nvSpPr>
        <p:spPr/>
        <p:txBody>
          <a:bodyPr>
            <a:normAutofit fontScale="90000"/>
          </a:bodyPr>
          <a:lstStyle/>
          <a:p>
            <a:r>
              <a:rPr lang="fr-FR" dirty="0"/>
              <a:t>Les frais professionnels : </a:t>
            </a:r>
            <a:br>
              <a:rPr lang="fr-FR" dirty="0"/>
            </a:br>
            <a:r>
              <a:rPr lang="fr-FR" dirty="0"/>
              <a:t>Indemnités de petits déplacements (1)</a:t>
            </a:r>
          </a:p>
        </p:txBody>
      </p:sp>
    </p:spTree>
    <p:extLst>
      <p:ext uri="{BB962C8B-B14F-4D97-AF65-F5344CB8AC3E}">
        <p14:creationId xmlns:p14="http://schemas.microsoft.com/office/powerpoint/2010/main" val="219899484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p:txBody>
          <a:bodyPr>
            <a:normAutofit fontScale="92500" lnSpcReduction="20000"/>
          </a:bodyPr>
          <a:lstStyle/>
          <a:p>
            <a:r>
              <a:rPr lang="fr-FR" dirty="0"/>
              <a:t>Bénéficient des indemnités de petits déplacements les ouvriers non sédentaires du BTP</a:t>
            </a:r>
          </a:p>
          <a:p>
            <a:pPr algn="just"/>
            <a:r>
              <a:rPr lang="fr-FR" dirty="0"/>
              <a:t>Sont considérés comme ouvriers non sédentaires du BTP ceux qui sont occupés sur les chantiers et non pas ceux qui travaillent dans une installation fixe permanente de l'entreprise</a:t>
            </a:r>
          </a:p>
          <a:p>
            <a:pPr algn="just"/>
            <a:r>
              <a:rPr lang="fr-FR" dirty="0"/>
              <a:t>Il est institué un système de zones circulaires concentriques dont les circonférences sont distantes entre elles de 10 km mesurés à vol d'oiseau</a:t>
            </a:r>
            <a:r>
              <a:rPr lang="fr-FR" i="1" dirty="0"/>
              <a:t> </a:t>
            </a:r>
            <a:br>
              <a:rPr lang="fr-FR" i="1" dirty="0"/>
            </a:br>
            <a:r>
              <a:rPr lang="fr-FR" i="1" dirty="0"/>
              <a:t>(point à vérifier : une convention collective régionale peut avoir remplacé la notion de vol d’oiseau pour la notion de km parcourus)</a:t>
            </a:r>
          </a:p>
          <a:p>
            <a:r>
              <a:rPr lang="fr-FR" i="1" dirty="0"/>
              <a:t>CAPEB lundi 3 juin 2019 : les montants des indemnités de petits déplacements négociés par les partenaires sociaux au niveau local ne sont pas remis en cause par la suspension judiciaire des conventions du 7 mars 2018</a:t>
            </a:r>
            <a:r>
              <a:rPr lang="fr-FR" dirty="0"/>
              <a:t> </a:t>
            </a:r>
          </a:p>
        </p:txBody>
      </p:sp>
      <p:sp>
        <p:nvSpPr>
          <p:cNvPr id="3" name="Titre 2"/>
          <p:cNvSpPr>
            <a:spLocks noGrp="1"/>
          </p:cNvSpPr>
          <p:nvPr>
            <p:ph type="title"/>
          </p:nvPr>
        </p:nvSpPr>
        <p:spPr/>
        <p:txBody>
          <a:bodyPr>
            <a:normAutofit fontScale="90000"/>
          </a:bodyPr>
          <a:lstStyle/>
          <a:p>
            <a:r>
              <a:rPr lang="fr-FR" dirty="0"/>
              <a:t>Les frais professionnels : </a:t>
            </a:r>
            <a:br>
              <a:rPr lang="fr-FR" dirty="0"/>
            </a:br>
            <a:r>
              <a:rPr lang="fr-FR" dirty="0"/>
              <a:t>Indemnités de petits déplacements (2)</a:t>
            </a:r>
          </a:p>
        </p:txBody>
      </p:sp>
    </p:spTree>
    <p:extLst>
      <p:ext uri="{BB962C8B-B14F-4D97-AF65-F5344CB8AC3E}">
        <p14:creationId xmlns:p14="http://schemas.microsoft.com/office/powerpoint/2010/main" val="166069632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a:xfrm>
            <a:off x="431800" y="1748813"/>
            <a:ext cx="10584747" cy="4132812"/>
          </a:xfrm>
        </p:spPr>
        <p:txBody>
          <a:bodyPr>
            <a:normAutofit fontScale="92500" lnSpcReduction="10000"/>
          </a:bodyPr>
          <a:lstStyle/>
          <a:p>
            <a:pPr algn="just"/>
            <a:r>
              <a:rPr lang="fr-FR" dirty="0"/>
              <a:t>À l’origine de cette pratique : le CGI qui précise </a:t>
            </a:r>
            <a:r>
              <a:rPr lang="fr-FR" i="1" dirty="0"/>
              <a:t>l’employeur est autorisé à pratiquer…</a:t>
            </a:r>
            <a:endParaRPr lang="fr-FR" dirty="0"/>
          </a:p>
          <a:p>
            <a:pPr algn="just"/>
            <a:r>
              <a:rPr lang="fr-FR" dirty="0"/>
              <a:t>Particularité importante du BTP : la pratique de la déduction de 10 % impacte la gestion des frais professionnels</a:t>
            </a:r>
          </a:p>
          <a:p>
            <a:pPr lvl="1"/>
            <a:r>
              <a:rPr lang="fr-FR" dirty="0"/>
              <a:t>Procédure de mise en place à respecter</a:t>
            </a:r>
          </a:p>
          <a:p>
            <a:pPr lvl="1"/>
            <a:r>
              <a:rPr lang="fr-FR" dirty="0"/>
              <a:t>Avoir la preuve de l’option annuelle et de l’information annuelle du salarié</a:t>
            </a:r>
          </a:p>
          <a:p>
            <a:pPr lvl="1"/>
            <a:r>
              <a:rPr lang="fr-FR" dirty="0"/>
              <a:t>Pratiquer un abattement sans respecter les dispositions relatives à la déduction forfaitaire spécifique constitue un travail dissimulé</a:t>
            </a:r>
          </a:p>
          <a:p>
            <a:pPr marL="501638" lvl="1" indent="0">
              <a:buNone/>
            </a:pPr>
            <a:endParaRPr lang="fr-FR" dirty="0"/>
          </a:p>
          <a:p>
            <a:pPr marL="0" indent="0" algn="just">
              <a:lnSpc>
                <a:spcPts val="2533"/>
              </a:lnSpc>
              <a:spcBef>
                <a:spcPts val="0"/>
              </a:spcBef>
              <a:buNone/>
            </a:pPr>
            <a:r>
              <a:rPr lang="fr-FR" i="1" dirty="0"/>
              <a:t>Pour pouvoir bénéficier de l’abattement de 10 %, l’entreprise doit appartenir au secteur du BTP et les ouvriers doivent effectuer des déplacements, </a:t>
            </a:r>
            <a:r>
              <a:rPr lang="fr-FR" i="1" u="sng" dirty="0"/>
              <a:t>avoir supportés effectivement des frais</a:t>
            </a:r>
            <a:r>
              <a:rPr lang="fr-FR" i="1" dirty="0">
                <a:effectLst>
                  <a:outerShdw blurRad="38100" dist="38100" dir="2700000" algn="tl">
                    <a:srgbClr val="000000">
                      <a:alpha val="43137"/>
                    </a:srgbClr>
                  </a:outerShdw>
                </a:effectLst>
              </a:rPr>
              <a:t> </a:t>
            </a:r>
            <a:r>
              <a:rPr lang="fr-FR" i="1" dirty="0"/>
              <a:t>et recevoir en contrepartie des indemnités </a:t>
            </a:r>
          </a:p>
          <a:p>
            <a:pPr marL="0" indent="0" algn="just">
              <a:lnSpc>
                <a:spcPts val="2533"/>
              </a:lnSpc>
              <a:spcBef>
                <a:spcPts val="0"/>
              </a:spcBef>
              <a:buNone/>
            </a:pPr>
            <a:endParaRPr lang="fr-FR" i="1" dirty="0"/>
          </a:p>
          <a:p>
            <a:pPr marL="0" indent="0">
              <a:buNone/>
            </a:pPr>
            <a:endParaRPr lang="fr-FR" dirty="0"/>
          </a:p>
        </p:txBody>
      </p:sp>
      <p:sp>
        <p:nvSpPr>
          <p:cNvPr id="3" name="Titre 2"/>
          <p:cNvSpPr>
            <a:spLocks noGrp="1"/>
          </p:cNvSpPr>
          <p:nvPr>
            <p:ph type="title"/>
          </p:nvPr>
        </p:nvSpPr>
        <p:spPr/>
        <p:txBody>
          <a:bodyPr>
            <a:normAutofit/>
          </a:bodyPr>
          <a:lstStyle/>
          <a:p>
            <a:r>
              <a:rPr lang="fr-FR" sz="3067" dirty="0"/>
              <a:t>Les frais professionnels : </a:t>
            </a:r>
            <a:br>
              <a:rPr lang="fr-FR" sz="3067" dirty="0"/>
            </a:br>
            <a:r>
              <a:rPr lang="fr-FR" sz="3067" dirty="0"/>
              <a:t>La déduction forfaitaire spécifique</a:t>
            </a:r>
          </a:p>
        </p:txBody>
      </p:sp>
    </p:spTree>
    <p:extLst>
      <p:ext uri="{BB962C8B-B14F-4D97-AF65-F5344CB8AC3E}">
        <p14:creationId xmlns:p14="http://schemas.microsoft.com/office/powerpoint/2010/main" val="248107582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p:cNvGraphicFramePr>
            <a:graphicFrameLocks noGrp="1"/>
          </p:cNvGraphicFramePr>
          <p:nvPr>
            <p:ph sz="quarter" idx="14"/>
          </p:nvPr>
        </p:nvGraphicFramePr>
        <p:xfrm>
          <a:off x="431800" y="1748813"/>
          <a:ext cx="11269133" cy="41328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re 2"/>
          <p:cNvSpPr>
            <a:spLocks noGrp="1"/>
          </p:cNvSpPr>
          <p:nvPr>
            <p:ph type="title"/>
          </p:nvPr>
        </p:nvSpPr>
        <p:spPr/>
        <p:txBody>
          <a:bodyPr>
            <a:normAutofit fontScale="90000"/>
          </a:bodyPr>
          <a:lstStyle/>
          <a:p>
            <a:r>
              <a:rPr lang="fr-FR" dirty="0"/>
              <a:t>Les frais professionnels :</a:t>
            </a:r>
            <a:br>
              <a:rPr lang="fr-FR" dirty="0"/>
            </a:br>
            <a:r>
              <a:rPr lang="fr-FR" dirty="0"/>
              <a:t>le brut et La déduction forfaitaire spécifique</a:t>
            </a:r>
          </a:p>
        </p:txBody>
      </p:sp>
    </p:spTree>
    <p:extLst>
      <p:ext uri="{BB962C8B-B14F-4D97-AF65-F5344CB8AC3E}">
        <p14:creationId xmlns:p14="http://schemas.microsoft.com/office/powerpoint/2010/main" val="261539872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p:cNvGraphicFramePr>
            <a:graphicFrameLocks noGrp="1"/>
          </p:cNvGraphicFramePr>
          <p:nvPr>
            <p:ph sz="quarter" idx="14"/>
          </p:nvPr>
        </p:nvGraphicFramePr>
        <p:xfrm>
          <a:off x="431800" y="1748813"/>
          <a:ext cx="11269133" cy="41328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re 2"/>
          <p:cNvSpPr>
            <a:spLocks noGrp="1"/>
          </p:cNvSpPr>
          <p:nvPr>
            <p:ph type="title"/>
          </p:nvPr>
        </p:nvSpPr>
        <p:spPr/>
        <p:txBody>
          <a:bodyPr>
            <a:normAutofit/>
          </a:bodyPr>
          <a:lstStyle/>
          <a:p>
            <a:r>
              <a:rPr lang="fr-FR" sz="3067" dirty="0"/>
              <a:t>Les frais professionnels : La déduction forfaitaire spécifique et le calcul du net imposable</a:t>
            </a:r>
          </a:p>
        </p:txBody>
      </p:sp>
    </p:spTree>
    <p:extLst>
      <p:ext uri="{BB962C8B-B14F-4D97-AF65-F5344CB8AC3E}">
        <p14:creationId xmlns:p14="http://schemas.microsoft.com/office/powerpoint/2010/main" val="423117183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texte 4"/>
          <p:cNvSpPr>
            <a:spLocks noGrp="1"/>
          </p:cNvSpPr>
          <p:nvPr>
            <p:ph type="body" idx="1"/>
          </p:nvPr>
        </p:nvSpPr>
        <p:spPr/>
        <p:txBody>
          <a:bodyPr/>
          <a:lstStyle/>
          <a:p>
            <a:r>
              <a:rPr lang="fr-FR" dirty="0"/>
              <a:t>Les cotisations</a:t>
            </a:r>
          </a:p>
        </p:txBody>
      </p:sp>
      <p:sp>
        <p:nvSpPr>
          <p:cNvPr id="4" name="Titre 3"/>
          <p:cNvSpPr>
            <a:spLocks noGrp="1"/>
          </p:cNvSpPr>
          <p:nvPr>
            <p:ph type="title"/>
          </p:nvPr>
        </p:nvSpPr>
        <p:spPr/>
        <p:txBody>
          <a:bodyPr/>
          <a:lstStyle/>
          <a:p>
            <a:r>
              <a:rPr lang="fr-FR" dirty="0"/>
              <a:t>Séquence 5 	</a:t>
            </a:r>
          </a:p>
        </p:txBody>
      </p:sp>
      <p:sp>
        <p:nvSpPr>
          <p:cNvPr id="6" name="Espace réservé du contenu 5"/>
          <p:cNvSpPr>
            <a:spLocks noGrp="1"/>
          </p:cNvSpPr>
          <p:nvPr>
            <p:ph sz="quarter" idx="10"/>
          </p:nvPr>
        </p:nvSpPr>
        <p:spPr/>
        <p:txBody>
          <a:bodyPr/>
          <a:lstStyle/>
          <a:p>
            <a:endParaRPr lang="fr-FR"/>
          </a:p>
        </p:txBody>
      </p:sp>
    </p:spTree>
    <p:extLst>
      <p:ext uri="{BB962C8B-B14F-4D97-AF65-F5344CB8AC3E}">
        <p14:creationId xmlns:p14="http://schemas.microsoft.com/office/powerpoint/2010/main" val="542345855"/>
      </p:ext>
    </p:extLst>
  </p:cSld>
  <p:clrMapOvr>
    <a:masterClrMapping/>
  </p:clrMapOvr>
  <p:transition spd="slow">
    <p:push dir="u"/>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type="body" sz="quarter" idx="13"/>
          </p:nvPr>
        </p:nvSpPr>
        <p:spPr/>
        <p:txBody>
          <a:bodyPr/>
          <a:lstStyle/>
          <a:p>
            <a:r>
              <a:rPr lang="fr-FR" dirty="0"/>
              <a:t>Les cotisations versées à l’URSSAF</a:t>
            </a:r>
          </a:p>
          <a:p>
            <a:r>
              <a:rPr lang="fr-FR" dirty="0"/>
              <a:t>Les autres cotisations </a:t>
            </a:r>
          </a:p>
          <a:p>
            <a:r>
              <a:rPr lang="fr-FR" dirty="0"/>
              <a:t>L’impact du secteur sur les bases fiscales</a:t>
            </a:r>
          </a:p>
          <a:p>
            <a:endParaRPr lang="fr-FR" dirty="0"/>
          </a:p>
        </p:txBody>
      </p:sp>
      <p:sp>
        <p:nvSpPr>
          <p:cNvPr id="4" name="Espace réservé du texte 3"/>
          <p:cNvSpPr>
            <a:spLocks noGrp="1"/>
          </p:cNvSpPr>
          <p:nvPr>
            <p:ph type="body" sz="quarter" idx="14"/>
          </p:nvPr>
        </p:nvSpPr>
        <p:spPr/>
        <p:txBody>
          <a:bodyPr>
            <a:normAutofit fontScale="92500"/>
          </a:bodyPr>
          <a:lstStyle/>
          <a:p>
            <a:r>
              <a:rPr lang="fr-FR"/>
              <a:t>SOMMAIRE SéQUENCE 5 - Les cotisations</a:t>
            </a:r>
            <a:endParaRPr lang="fr-FR" dirty="0"/>
          </a:p>
        </p:txBody>
      </p:sp>
    </p:spTree>
    <p:extLst>
      <p:ext uri="{BB962C8B-B14F-4D97-AF65-F5344CB8AC3E}">
        <p14:creationId xmlns:p14="http://schemas.microsoft.com/office/powerpoint/2010/main" val="368152517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p:cNvGraphicFramePr>
            <a:graphicFrameLocks noGrp="1"/>
          </p:cNvGraphicFramePr>
          <p:nvPr>
            <p:ph sz="quarter" idx="14"/>
          </p:nvPr>
        </p:nvGraphicFramePr>
        <p:xfrm>
          <a:off x="431682" y="1748812"/>
          <a:ext cx="11304945" cy="10801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re 2"/>
          <p:cNvSpPr>
            <a:spLocks noGrp="1"/>
          </p:cNvSpPr>
          <p:nvPr>
            <p:ph type="title"/>
          </p:nvPr>
        </p:nvSpPr>
        <p:spPr/>
        <p:txBody>
          <a:bodyPr/>
          <a:lstStyle/>
          <a:p>
            <a:r>
              <a:rPr lang="fr-FR" dirty="0"/>
              <a:t>Les cotisations : versées à l’URSSAF</a:t>
            </a:r>
          </a:p>
        </p:txBody>
      </p:sp>
    </p:spTree>
    <p:extLst>
      <p:ext uri="{BB962C8B-B14F-4D97-AF65-F5344CB8AC3E}">
        <p14:creationId xmlns:p14="http://schemas.microsoft.com/office/powerpoint/2010/main" val="54539681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p:cNvGraphicFramePr>
            <a:graphicFrameLocks noGrp="1"/>
          </p:cNvGraphicFramePr>
          <p:nvPr>
            <p:ph sz="quarter" idx="14"/>
          </p:nvPr>
        </p:nvGraphicFramePr>
        <p:xfrm>
          <a:off x="431800" y="1748813"/>
          <a:ext cx="11269133" cy="33603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re 2"/>
          <p:cNvSpPr>
            <a:spLocks noGrp="1"/>
          </p:cNvSpPr>
          <p:nvPr>
            <p:ph type="title"/>
          </p:nvPr>
        </p:nvSpPr>
        <p:spPr/>
        <p:txBody>
          <a:bodyPr/>
          <a:lstStyle/>
          <a:p>
            <a:r>
              <a:rPr lang="fr-FR" dirty="0"/>
              <a:t>Les cotisations : versées à l’URSSAF</a:t>
            </a:r>
          </a:p>
        </p:txBody>
      </p:sp>
    </p:spTree>
    <p:extLst>
      <p:ext uri="{BB962C8B-B14F-4D97-AF65-F5344CB8AC3E}">
        <p14:creationId xmlns:p14="http://schemas.microsoft.com/office/powerpoint/2010/main" val="200863038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p:cNvGraphicFramePr>
            <a:graphicFrameLocks noGrp="1"/>
          </p:cNvGraphicFramePr>
          <p:nvPr>
            <p:ph sz="quarter" idx="14"/>
          </p:nvPr>
        </p:nvGraphicFramePr>
        <p:xfrm>
          <a:off x="431800" y="1748813"/>
          <a:ext cx="11269133" cy="41328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re 2"/>
          <p:cNvSpPr>
            <a:spLocks noGrp="1"/>
          </p:cNvSpPr>
          <p:nvPr>
            <p:ph type="title"/>
          </p:nvPr>
        </p:nvSpPr>
        <p:spPr/>
        <p:txBody>
          <a:bodyPr/>
          <a:lstStyle/>
          <a:p>
            <a:r>
              <a:rPr lang="fr-FR" dirty="0"/>
              <a:t>Les cotisations : versées à l’URSSAF</a:t>
            </a:r>
          </a:p>
        </p:txBody>
      </p:sp>
    </p:spTree>
    <p:extLst>
      <p:ext uri="{BB962C8B-B14F-4D97-AF65-F5344CB8AC3E}">
        <p14:creationId xmlns:p14="http://schemas.microsoft.com/office/powerpoint/2010/main" val="31652346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p:cNvGraphicFramePr>
            <a:graphicFrameLocks noGrp="1"/>
          </p:cNvGraphicFramePr>
          <p:nvPr>
            <p:ph sz="quarter" idx="14"/>
          </p:nvPr>
        </p:nvGraphicFramePr>
        <p:xfrm>
          <a:off x="431800" y="1868830"/>
          <a:ext cx="11269133" cy="258028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re 2"/>
          <p:cNvSpPr>
            <a:spLocks noGrp="1"/>
          </p:cNvSpPr>
          <p:nvPr>
            <p:ph type="title"/>
          </p:nvPr>
        </p:nvSpPr>
        <p:spPr/>
        <p:txBody>
          <a:bodyPr/>
          <a:lstStyle/>
          <a:p>
            <a:r>
              <a:rPr lang="fr-FR"/>
              <a:t>Les cotisations : versées à l’URSSAF</a:t>
            </a:r>
            <a:endParaRPr lang="fr-FR" dirty="0"/>
          </a:p>
        </p:txBody>
      </p:sp>
    </p:spTree>
    <p:extLst>
      <p:ext uri="{BB962C8B-B14F-4D97-AF65-F5344CB8AC3E}">
        <p14:creationId xmlns:p14="http://schemas.microsoft.com/office/powerpoint/2010/main" val="378579688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p:txBody>
          <a:bodyPr/>
          <a:lstStyle/>
          <a:p>
            <a:endParaRPr lang="fr-FR" dirty="0"/>
          </a:p>
          <a:p>
            <a:endParaRPr lang="fr-FR" dirty="0"/>
          </a:p>
          <a:p>
            <a:endParaRPr lang="fr-FR" dirty="0"/>
          </a:p>
          <a:p>
            <a:endParaRPr lang="fr-FR" dirty="0"/>
          </a:p>
          <a:p>
            <a:endParaRPr lang="fr-FR" dirty="0"/>
          </a:p>
        </p:txBody>
      </p:sp>
      <p:sp>
        <p:nvSpPr>
          <p:cNvPr id="5" name="Titre 2"/>
          <p:cNvSpPr>
            <a:spLocks noGrp="1"/>
          </p:cNvSpPr>
          <p:nvPr>
            <p:ph type="title"/>
          </p:nvPr>
        </p:nvSpPr>
        <p:spPr/>
        <p:txBody>
          <a:bodyPr/>
          <a:lstStyle/>
          <a:p>
            <a:r>
              <a:rPr lang="fr-FR" dirty="0"/>
              <a:t>Les cotisations : versées à l’URSSAF</a:t>
            </a:r>
          </a:p>
        </p:txBody>
      </p:sp>
      <p:graphicFrame>
        <p:nvGraphicFramePr>
          <p:cNvPr id="7" name="Diagramme 6"/>
          <p:cNvGraphicFramePr/>
          <p:nvPr/>
        </p:nvGraphicFramePr>
        <p:xfrm>
          <a:off x="215348" y="1831997"/>
          <a:ext cx="11341259" cy="339720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8" name="Diagramme 7"/>
          <p:cNvGraphicFramePr/>
          <p:nvPr/>
        </p:nvGraphicFramePr>
        <p:xfrm>
          <a:off x="431682" y="1808821"/>
          <a:ext cx="11251489" cy="4132811"/>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163232196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a:xfrm>
            <a:off x="431800" y="1748813"/>
            <a:ext cx="11269133" cy="4132812"/>
          </a:xfrm>
        </p:spPr>
        <p:txBody>
          <a:bodyPr>
            <a:normAutofit/>
          </a:bodyPr>
          <a:lstStyle/>
          <a:p>
            <a:r>
              <a:rPr lang="fr-FR" dirty="0"/>
              <a:t>Pour les salariés du BTP qui relèvent d’une caisse de congés payés pour le paiement de leurs congés, la formule de calcul est assortie d’un correcteur visant à tenir compte de cette situation</a:t>
            </a:r>
          </a:p>
          <a:p>
            <a:pPr lvl="1"/>
            <a:r>
              <a:rPr lang="fr-FR" dirty="0"/>
              <a:t>En pratique, cela revient à relever la valeur maximale du coefficient : (formule × 100/90)</a:t>
            </a:r>
          </a:p>
          <a:p>
            <a:r>
              <a:rPr lang="fr-FR" dirty="0"/>
              <a:t>Si la déduction forfaitaire spécifique pour frais professionnels (abattement de 10 %) sur les rémunérations est pratiquée, il faut utiliser pour le calcul le salaire brut abattu</a:t>
            </a:r>
          </a:p>
          <a:p>
            <a:pPr lvl="1"/>
            <a:endParaRPr lang="fr-FR" dirty="0"/>
          </a:p>
        </p:txBody>
      </p:sp>
      <p:sp>
        <p:nvSpPr>
          <p:cNvPr id="3" name="Titre 2"/>
          <p:cNvSpPr>
            <a:spLocks noGrp="1"/>
          </p:cNvSpPr>
          <p:nvPr>
            <p:ph type="title"/>
          </p:nvPr>
        </p:nvSpPr>
        <p:spPr>
          <a:xfrm>
            <a:off x="431682" y="428667"/>
            <a:ext cx="11251489" cy="1200133"/>
          </a:xfrm>
        </p:spPr>
        <p:txBody>
          <a:bodyPr>
            <a:normAutofit fontScale="90000"/>
          </a:bodyPr>
          <a:lstStyle/>
          <a:p>
            <a:r>
              <a:rPr lang="fr-FR"/>
              <a:t>URSSAF : la réduction générale des cotisations patronales sur les bas salaires (ex réduction Fillon) </a:t>
            </a:r>
            <a:endParaRPr lang="fr-FR" dirty="0"/>
          </a:p>
        </p:txBody>
      </p:sp>
    </p:spTree>
    <p:extLst>
      <p:ext uri="{BB962C8B-B14F-4D97-AF65-F5344CB8AC3E}">
        <p14:creationId xmlns:p14="http://schemas.microsoft.com/office/powerpoint/2010/main" val="122409923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a:xfrm>
            <a:off x="431800" y="1748813"/>
            <a:ext cx="11269133" cy="4132812"/>
          </a:xfrm>
        </p:spPr>
        <p:txBody>
          <a:bodyPr>
            <a:normAutofit/>
          </a:bodyPr>
          <a:lstStyle/>
          <a:p>
            <a:r>
              <a:rPr lang="fr-FR" dirty="0"/>
              <a:t>À compter du 1</a:t>
            </a:r>
            <a:r>
              <a:rPr lang="fr-FR" baseline="30000" dirty="0"/>
              <a:t>er</a:t>
            </a:r>
            <a:r>
              <a:rPr lang="fr-FR" dirty="0"/>
              <a:t> janvier 2020, la réduction générale de cotisations patronale est plafonnée </a:t>
            </a:r>
          </a:p>
          <a:p>
            <a:pPr lvl="1" algn="just"/>
            <a:r>
              <a:rPr lang="fr-FR" dirty="0"/>
              <a:t>Ainsi, pour un salarié auquel l'employeur applique une déduction forfaitaire spécifique pour frais professionnels (DFS), les allégements généraux sont plafonnés à 130 % des allégements auxquels a droit un employeur de droit commun pour un salarié à un même niveau de salaire</a:t>
            </a:r>
          </a:p>
        </p:txBody>
      </p:sp>
      <p:sp>
        <p:nvSpPr>
          <p:cNvPr id="3" name="Titre 2"/>
          <p:cNvSpPr>
            <a:spLocks noGrp="1"/>
          </p:cNvSpPr>
          <p:nvPr>
            <p:ph type="title"/>
          </p:nvPr>
        </p:nvSpPr>
        <p:spPr>
          <a:xfrm>
            <a:off x="431682" y="428667"/>
            <a:ext cx="11251489" cy="1200133"/>
          </a:xfrm>
        </p:spPr>
        <p:txBody>
          <a:bodyPr>
            <a:normAutofit fontScale="90000"/>
          </a:bodyPr>
          <a:lstStyle/>
          <a:p>
            <a:r>
              <a:rPr lang="fr-FR" dirty="0"/>
              <a:t>URSSAF : la réduction générale des cotisations patronales sur les bas salaires (ex réduction Fillon) </a:t>
            </a:r>
          </a:p>
        </p:txBody>
      </p:sp>
    </p:spTree>
    <p:extLst>
      <p:ext uri="{BB962C8B-B14F-4D97-AF65-F5344CB8AC3E}">
        <p14:creationId xmlns:p14="http://schemas.microsoft.com/office/powerpoint/2010/main" val="41216851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p:cNvGraphicFramePr>
            <a:graphicFrameLocks noGrp="1"/>
          </p:cNvGraphicFramePr>
          <p:nvPr>
            <p:ph sz="quarter" idx="14"/>
          </p:nvPr>
        </p:nvGraphicFramePr>
        <p:xfrm>
          <a:off x="431800" y="1748813"/>
          <a:ext cx="11269133" cy="41328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re 2"/>
          <p:cNvSpPr>
            <a:spLocks noGrp="1"/>
          </p:cNvSpPr>
          <p:nvPr>
            <p:ph type="title"/>
          </p:nvPr>
        </p:nvSpPr>
        <p:spPr/>
        <p:txBody>
          <a:bodyPr/>
          <a:lstStyle/>
          <a:p>
            <a:r>
              <a:rPr lang="fr-FR" dirty="0"/>
              <a:t>réduction du plafond SS dans le BTP(1)</a:t>
            </a:r>
          </a:p>
        </p:txBody>
      </p:sp>
    </p:spTree>
    <p:extLst>
      <p:ext uri="{BB962C8B-B14F-4D97-AF65-F5344CB8AC3E}">
        <p14:creationId xmlns:p14="http://schemas.microsoft.com/office/powerpoint/2010/main" val="280876427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p:txBody>
          <a:bodyPr/>
          <a:lstStyle/>
          <a:p>
            <a:r>
              <a:rPr lang="fr-FR" dirty="0"/>
              <a:t>Depuis le 01/07/2018, lorsque le salarié est absent, l'employeur réduit le plafond au prorata du nombre de jours pendant lesquels le salarié est employé. Le calcul est effectué en jours calendaires selon la formule</a:t>
            </a:r>
          </a:p>
          <a:p>
            <a:pPr lvl="1"/>
            <a:r>
              <a:rPr lang="fr-FR" dirty="0"/>
              <a:t>Valeur mensuelle du plafond SS × (nombre de jours de la période d’emploi/nombre de jours calendaires du mois)</a:t>
            </a:r>
          </a:p>
          <a:p>
            <a:endParaRPr lang="fr-FR" dirty="0"/>
          </a:p>
        </p:txBody>
      </p:sp>
      <p:sp>
        <p:nvSpPr>
          <p:cNvPr id="3" name="Titre 2"/>
          <p:cNvSpPr>
            <a:spLocks noGrp="1"/>
          </p:cNvSpPr>
          <p:nvPr>
            <p:ph type="title"/>
          </p:nvPr>
        </p:nvSpPr>
        <p:spPr/>
        <p:txBody>
          <a:bodyPr/>
          <a:lstStyle/>
          <a:p>
            <a:r>
              <a:rPr lang="fr-FR" dirty="0"/>
              <a:t>réduction du plafond SS dans le BTP(2)</a:t>
            </a:r>
          </a:p>
        </p:txBody>
      </p:sp>
    </p:spTree>
    <p:extLst>
      <p:ext uri="{BB962C8B-B14F-4D97-AF65-F5344CB8AC3E}">
        <p14:creationId xmlns:p14="http://schemas.microsoft.com/office/powerpoint/2010/main" val="326751072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a:xfrm>
            <a:off x="431800" y="1748813"/>
            <a:ext cx="11269133" cy="4680521"/>
          </a:xfrm>
        </p:spPr>
        <p:txBody>
          <a:bodyPr>
            <a:normAutofit/>
          </a:bodyPr>
          <a:lstStyle/>
          <a:p>
            <a:r>
              <a:rPr lang="fr-FR" dirty="0"/>
              <a:t>Les organismes</a:t>
            </a:r>
          </a:p>
          <a:p>
            <a:pPr lvl="1"/>
            <a:r>
              <a:rPr lang="x-none" dirty="0"/>
              <a:t>Alliance professionnelle Retraite</a:t>
            </a:r>
            <a:r>
              <a:rPr lang="fr-FR" dirty="0"/>
              <a:t> </a:t>
            </a:r>
            <a:r>
              <a:rPr lang="x-none" dirty="0"/>
              <a:t>(ex PRO</a:t>
            </a:r>
            <a:r>
              <a:rPr lang="fr-FR" dirty="0"/>
              <a:t>-</a:t>
            </a:r>
            <a:r>
              <a:rPr lang="x-none" dirty="0"/>
              <a:t>BTP)</a:t>
            </a:r>
            <a:r>
              <a:rPr lang="fr-FR" dirty="0"/>
              <a:t> collecte la cotisation retraite </a:t>
            </a:r>
          </a:p>
          <a:p>
            <a:pPr lvl="1"/>
            <a:r>
              <a:rPr lang="fr-FR" dirty="0"/>
              <a:t>PRO BTP prévoyance collecte la prévoyance, formation continue…</a:t>
            </a:r>
          </a:p>
          <a:p>
            <a:pPr lvl="1"/>
            <a:r>
              <a:rPr lang="fr-FR" dirty="0"/>
              <a:t>Caisse congés payés collecte en plus des cotisations congés payés, les cotisations intempéries, OPPBTP…</a:t>
            </a:r>
          </a:p>
          <a:p>
            <a:r>
              <a:rPr lang="fr-FR" dirty="0"/>
              <a:t>Les bases et les taux figurent sur les sites respectifs et il est possible de récupérer ces informations</a:t>
            </a:r>
          </a:p>
          <a:p>
            <a:pPr marL="263993" lvl="1" indent="0">
              <a:buNone/>
            </a:pPr>
            <a:r>
              <a:rPr lang="fr-FR" i="1" dirty="0"/>
              <a:t>Observation </a:t>
            </a:r>
          </a:p>
          <a:p>
            <a:pPr lvl="2">
              <a:buFont typeface="Webdings" panose="05030102010509060703" pitchFamily="18" charset="2"/>
              <a:buChar char="4"/>
            </a:pPr>
            <a:r>
              <a:rPr lang="fr-FR" i="1" dirty="0"/>
              <a:t>Il faut faire une adhésion à PRO-BTP pour la formation, la prévoyance </a:t>
            </a:r>
          </a:p>
          <a:p>
            <a:pPr lvl="2">
              <a:buFont typeface="Webdings" panose="05030102010509060703" pitchFamily="18" charset="2"/>
              <a:buChar char="4"/>
            </a:pPr>
            <a:r>
              <a:rPr lang="fr-FR" i="1" dirty="0"/>
              <a:t>Caisse CP si certaines rémunérations peuvent être exclues de la base CP, elles doivent être intégrées dans les autres bases appelées par la caisse CP</a:t>
            </a:r>
          </a:p>
          <a:p>
            <a:pPr lvl="2">
              <a:buFont typeface="Webdings" panose="05030102010509060703" pitchFamily="18" charset="2"/>
              <a:buChar char="4"/>
            </a:pPr>
            <a:r>
              <a:rPr lang="fr-FR" i="1" dirty="0"/>
              <a:t>Dans les cotisations CP, existe la cotisation OPPBTP intérimaire basée sur le nombre d’heures</a:t>
            </a:r>
          </a:p>
          <a:p>
            <a:pPr lvl="2"/>
            <a:endParaRPr lang="fr-FR" i="1" dirty="0"/>
          </a:p>
          <a:p>
            <a:pPr marL="503987" lvl="2" indent="0">
              <a:buNone/>
            </a:pPr>
            <a:endParaRPr lang="fr-FR" i="1" dirty="0"/>
          </a:p>
        </p:txBody>
      </p:sp>
      <p:sp>
        <p:nvSpPr>
          <p:cNvPr id="3" name="Titre 2"/>
          <p:cNvSpPr>
            <a:spLocks noGrp="1"/>
          </p:cNvSpPr>
          <p:nvPr>
            <p:ph type="title"/>
          </p:nvPr>
        </p:nvSpPr>
        <p:spPr/>
        <p:txBody>
          <a:bodyPr/>
          <a:lstStyle/>
          <a:p>
            <a:r>
              <a:rPr lang="fr-FR"/>
              <a:t>Les cotisations : Les autres cotisations </a:t>
            </a:r>
            <a:endParaRPr lang="fr-FR" dirty="0"/>
          </a:p>
        </p:txBody>
      </p:sp>
    </p:spTree>
    <p:extLst>
      <p:ext uri="{BB962C8B-B14F-4D97-AF65-F5344CB8AC3E}">
        <p14:creationId xmlns:p14="http://schemas.microsoft.com/office/powerpoint/2010/main" val="21294254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a:xfrm>
            <a:off x="431800" y="1748812"/>
            <a:ext cx="11269133" cy="4380488"/>
          </a:xfrm>
        </p:spPr>
        <p:txBody>
          <a:bodyPr>
            <a:normAutofit fontScale="85000" lnSpcReduction="20000"/>
          </a:bodyPr>
          <a:lstStyle/>
          <a:p>
            <a:pPr marL="0" indent="0">
              <a:buNone/>
            </a:pPr>
            <a:r>
              <a:rPr lang="fr-FR" dirty="0"/>
              <a:t>Compte tenu des dispositions de l’accord national BTP du 13 décembre 1990, une répartition spécifique</a:t>
            </a:r>
          </a:p>
          <a:p>
            <a:pPr marL="0" indent="0">
              <a:buNone/>
            </a:pPr>
            <a:endParaRPr lang="fr-FR" dirty="0"/>
          </a:p>
          <a:p>
            <a:endParaRPr lang="fr-FR" dirty="0"/>
          </a:p>
          <a:p>
            <a:endParaRPr lang="fr-FR" dirty="0"/>
          </a:p>
          <a:p>
            <a:endParaRPr lang="fr-FR" dirty="0"/>
          </a:p>
          <a:p>
            <a:r>
              <a:rPr lang="fr-FR" dirty="0"/>
              <a:t>En application d’une circulaire AGIRC n° 2008-6-DRE du 23 juin 2008, sont considérés comme assimilés cadres au titre de l’article 4 bis tous les ETAM ayant un classement de niveau H</a:t>
            </a:r>
          </a:p>
          <a:p>
            <a:endParaRPr lang="fr-FR" dirty="0"/>
          </a:p>
          <a:p>
            <a:r>
              <a:rPr lang="fr-FR" dirty="0"/>
              <a:t>Peuvent être assimilés cadres au titre de l’article 36, les ETAM ayant un classement compris entre le niveau E et le niveau H. C’est l’employeur qui choisit</a:t>
            </a:r>
          </a:p>
        </p:txBody>
      </p:sp>
      <p:sp>
        <p:nvSpPr>
          <p:cNvPr id="3" name="Titre 2"/>
          <p:cNvSpPr>
            <a:spLocks noGrp="1"/>
          </p:cNvSpPr>
          <p:nvPr>
            <p:ph type="title"/>
          </p:nvPr>
        </p:nvSpPr>
        <p:spPr/>
        <p:txBody>
          <a:bodyPr/>
          <a:lstStyle/>
          <a:p>
            <a:r>
              <a:rPr lang="fr-FR" dirty="0"/>
              <a:t>Cotisations retraite (ETAM)</a:t>
            </a:r>
          </a:p>
        </p:txBody>
      </p:sp>
      <p:graphicFrame>
        <p:nvGraphicFramePr>
          <p:cNvPr id="4" name="Tableau 5">
            <a:extLst>
              <a:ext uri="{FF2B5EF4-FFF2-40B4-BE49-F238E27FC236}">
                <a16:creationId xmlns:a16="http://schemas.microsoft.com/office/drawing/2014/main" id="{1B35B8E6-8B77-4BE1-B98E-A155809D6093}"/>
              </a:ext>
            </a:extLst>
          </p:cNvPr>
          <p:cNvGraphicFramePr>
            <a:graphicFrameLocks noGrp="1"/>
          </p:cNvGraphicFramePr>
          <p:nvPr/>
        </p:nvGraphicFramePr>
        <p:xfrm>
          <a:off x="431681" y="2528900"/>
          <a:ext cx="11251489" cy="988907"/>
        </p:xfrm>
        <a:graphic>
          <a:graphicData uri="http://schemas.openxmlformats.org/drawingml/2006/table">
            <a:tbl>
              <a:tblPr firstRow="1" bandRow="1">
                <a:tableStyleId>{5C22544A-7EE6-4342-B048-85BDC9FD1C3A}</a:tableStyleId>
              </a:tblPr>
              <a:tblGrid>
                <a:gridCol w="1703880">
                  <a:extLst>
                    <a:ext uri="{9D8B030D-6E8A-4147-A177-3AD203B41FA5}">
                      <a16:colId xmlns:a16="http://schemas.microsoft.com/office/drawing/2014/main" val="4094884816"/>
                    </a:ext>
                  </a:extLst>
                </a:gridCol>
                <a:gridCol w="2640293">
                  <a:extLst>
                    <a:ext uri="{9D8B030D-6E8A-4147-A177-3AD203B41FA5}">
                      <a16:colId xmlns:a16="http://schemas.microsoft.com/office/drawing/2014/main" val="2181188775"/>
                    </a:ext>
                  </a:extLst>
                </a:gridCol>
                <a:gridCol w="2280253">
                  <a:extLst>
                    <a:ext uri="{9D8B030D-6E8A-4147-A177-3AD203B41FA5}">
                      <a16:colId xmlns:a16="http://schemas.microsoft.com/office/drawing/2014/main" val="784871591"/>
                    </a:ext>
                  </a:extLst>
                </a:gridCol>
                <a:gridCol w="2376765">
                  <a:extLst>
                    <a:ext uri="{9D8B030D-6E8A-4147-A177-3AD203B41FA5}">
                      <a16:colId xmlns:a16="http://schemas.microsoft.com/office/drawing/2014/main" val="2756376745"/>
                    </a:ext>
                  </a:extLst>
                </a:gridCol>
                <a:gridCol w="2250297">
                  <a:extLst>
                    <a:ext uri="{9D8B030D-6E8A-4147-A177-3AD203B41FA5}">
                      <a16:colId xmlns:a16="http://schemas.microsoft.com/office/drawing/2014/main" val="1489411500"/>
                    </a:ext>
                  </a:extLst>
                </a:gridCol>
              </a:tblGrid>
              <a:tr h="494453">
                <a:tc>
                  <a:txBody>
                    <a:bodyPr/>
                    <a:lstStyle/>
                    <a:p>
                      <a:pPr algn="ctr"/>
                      <a:r>
                        <a:rPr lang="fr-FR" sz="2100" dirty="0"/>
                        <a:t>Tranche</a:t>
                      </a:r>
                    </a:p>
                  </a:txBody>
                  <a:tcPr marL="121920" marR="121920" marT="60960" marB="60960"/>
                </a:tc>
                <a:tc>
                  <a:txBody>
                    <a:bodyPr/>
                    <a:lstStyle/>
                    <a:p>
                      <a:pPr algn="ctr"/>
                      <a:r>
                        <a:rPr lang="fr-FR" sz="2100" dirty="0"/>
                        <a:t>Taux contractuel</a:t>
                      </a:r>
                    </a:p>
                  </a:txBody>
                  <a:tcPr marL="121920" marR="121920" marT="60960" marB="60960"/>
                </a:tc>
                <a:tc>
                  <a:txBody>
                    <a:bodyPr/>
                    <a:lstStyle/>
                    <a:p>
                      <a:pPr algn="ctr"/>
                      <a:r>
                        <a:rPr lang="fr-FR" sz="2100" dirty="0"/>
                        <a:t>Taux appelé</a:t>
                      </a:r>
                    </a:p>
                  </a:txBody>
                  <a:tcPr marL="121920" marR="121920" marT="60960" marB="60960"/>
                </a:tc>
                <a:tc>
                  <a:txBody>
                    <a:bodyPr/>
                    <a:lstStyle/>
                    <a:p>
                      <a:pPr algn="ctr"/>
                      <a:r>
                        <a:rPr lang="fr-FR" sz="2100" dirty="0"/>
                        <a:t>Part employeur</a:t>
                      </a:r>
                    </a:p>
                  </a:txBody>
                  <a:tcPr marL="121920" marR="121920" marT="60960" marB="60960"/>
                </a:tc>
                <a:tc>
                  <a:txBody>
                    <a:bodyPr/>
                    <a:lstStyle/>
                    <a:p>
                      <a:pPr algn="ctr"/>
                      <a:r>
                        <a:rPr lang="fr-FR" sz="2100" dirty="0"/>
                        <a:t>Part salariée</a:t>
                      </a:r>
                    </a:p>
                  </a:txBody>
                  <a:tcPr marL="121920" marR="121920" marT="60960" marB="60960"/>
                </a:tc>
                <a:extLst>
                  <a:ext uri="{0D108BD9-81ED-4DB2-BD59-A6C34878D82A}">
                    <a16:rowId xmlns:a16="http://schemas.microsoft.com/office/drawing/2014/main" val="688925360"/>
                  </a:ext>
                </a:extLst>
              </a:tr>
              <a:tr h="494453">
                <a:tc>
                  <a:txBody>
                    <a:bodyPr/>
                    <a:lstStyle/>
                    <a:p>
                      <a:pPr algn="ctr"/>
                      <a:r>
                        <a:rPr lang="fr-FR" sz="2100" dirty="0"/>
                        <a:t>Tranche 2</a:t>
                      </a:r>
                    </a:p>
                  </a:txBody>
                  <a:tcPr marL="121920" marR="121920" marT="60960" marB="60960"/>
                </a:tc>
                <a:tc>
                  <a:txBody>
                    <a:bodyPr/>
                    <a:lstStyle/>
                    <a:p>
                      <a:pPr algn="ctr"/>
                      <a:r>
                        <a:rPr lang="fr-FR" sz="2100" dirty="0"/>
                        <a:t>17,00 %</a:t>
                      </a:r>
                    </a:p>
                  </a:txBody>
                  <a:tcPr marL="121920" marR="121920" marT="60960" marB="60960"/>
                </a:tc>
                <a:tc>
                  <a:txBody>
                    <a:bodyPr/>
                    <a:lstStyle/>
                    <a:p>
                      <a:pPr algn="ctr"/>
                      <a:r>
                        <a:rPr lang="fr-FR" sz="2100" dirty="0"/>
                        <a:t>21,59 %</a:t>
                      </a:r>
                    </a:p>
                  </a:txBody>
                  <a:tcPr marL="121920" marR="121920" marT="60960" marB="60960"/>
                </a:tc>
                <a:tc>
                  <a:txBody>
                    <a:bodyPr/>
                    <a:lstStyle/>
                    <a:p>
                      <a:pPr algn="ctr"/>
                      <a:r>
                        <a:rPr lang="fr-FR" sz="2100" dirty="0"/>
                        <a:t>12,70 %</a:t>
                      </a:r>
                    </a:p>
                  </a:txBody>
                  <a:tcPr marL="121920" marR="121920" marT="60960" marB="60960"/>
                </a:tc>
                <a:tc>
                  <a:txBody>
                    <a:bodyPr/>
                    <a:lstStyle/>
                    <a:p>
                      <a:pPr algn="ctr"/>
                      <a:r>
                        <a:rPr lang="fr-FR" sz="2100" dirty="0"/>
                        <a:t>8,89 %</a:t>
                      </a:r>
                    </a:p>
                  </a:txBody>
                  <a:tcPr marL="121920" marR="121920" marT="60960" marB="60960"/>
                </a:tc>
                <a:extLst>
                  <a:ext uri="{0D108BD9-81ED-4DB2-BD59-A6C34878D82A}">
                    <a16:rowId xmlns:a16="http://schemas.microsoft.com/office/drawing/2014/main" val="1522256519"/>
                  </a:ext>
                </a:extLst>
              </a:tr>
            </a:tbl>
          </a:graphicData>
        </a:graphic>
      </p:graphicFrame>
    </p:spTree>
    <p:extLst>
      <p:ext uri="{BB962C8B-B14F-4D97-AF65-F5344CB8AC3E}">
        <p14:creationId xmlns:p14="http://schemas.microsoft.com/office/powerpoint/2010/main" val="180137469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a:xfrm>
            <a:off x="431800" y="1748813"/>
            <a:ext cx="11269133" cy="4132812"/>
          </a:xfrm>
        </p:spPr>
        <p:txBody>
          <a:bodyPr>
            <a:normAutofit fontScale="92500" lnSpcReduction="20000"/>
          </a:bodyPr>
          <a:lstStyle/>
          <a:p>
            <a:r>
              <a:rPr lang="fr-FR" dirty="0"/>
              <a:t>Toutes les cotisations formation sont appelées par PRO-BTP pour le compte de CONSTRUTYS</a:t>
            </a:r>
          </a:p>
          <a:p>
            <a:r>
              <a:rPr lang="fr-FR" dirty="0"/>
              <a:t>Pour CONSTRUTYS et CPF-CDD les cotisations sont soumises à TVA, le montant des cotisations sont donc TTC dans la DSN</a:t>
            </a:r>
          </a:p>
          <a:p>
            <a:r>
              <a:rPr lang="fr-FR" dirty="0"/>
              <a:t>Les entreprises 11 salariés et plus doivent s’acquitter d’acompte en cours d’année. Les entreprises du BTP ne sont pas impactées par cette disposition</a:t>
            </a:r>
            <a:br>
              <a:rPr lang="fr-FR" dirty="0"/>
            </a:br>
            <a:r>
              <a:rPr lang="fr-FR" dirty="0"/>
              <a:t>du fait que les cotisations sont collectées tout au long de l’année par PRO-BTP</a:t>
            </a:r>
          </a:p>
          <a:p>
            <a:r>
              <a:rPr lang="fr-FR" dirty="0"/>
              <a:t>Dans le BTP, les taux conventionnels supérieurs sont aux taux légaux. Le régime conventionnel mis en place dans le BTP va rester. Des précisions devront être apportées sur la collecte de la cotisation conventionnelle relative à la formation professionnelle lors de la mise en place du versement de la formation à l’URSSAF</a:t>
            </a:r>
          </a:p>
          <a:p>
            <a:endParaRPr lang="fr-FR" dirty="0"/>
          </a:p>
        </p:txBody>
      </p:sp>
      <p:sp>
        <p:nvSpPr>
          <p:cNvPr id="3" name="Titre 2"/>
          <p:cNvSpPr>
            <a:spLocks noGrp="1"/>
          </p:cNvSpPr>
          <p:nvPr>
            <p:ph type="title"/>
          </p:nvPr>
        </p:nvSpPr>
        <p:spPr>
          <a:xfrm>
            <a:off x="431682" y="428667"/>
            <a:ext cx="11251489" cy="1200133"/>
          </a:xfrm>
        </p:spPr>
        <p:txBody>
          <a:bodyPr/>
          <a:lstStyle/>
          <a:p>
            <a:r>
              <a:rPr lang="fr-FR" dirty="0"/>
              <a:t>BTp ET FORMATION CONTINUE</a:t>
            </a:r>
          </a:p>
        </p:txBody>
      </p:sp>
    </p:spTree>
    <p:extLst>
      <p:ext uri="{BB962C8B-B14F-4D97-AF65-F5344CB8AC3E}">
        <p14:creationId xmlns:p14="http://schemas.microsoft.com/office/powerpoint/2010/main" val="26605351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p:txBody>
          <a:bodyPr/>
          <a:lstStyle/>
          <a:p>
            <a:pPr algn="just"/>
            <a:r>
              <a:rPr lang="fr-FR" dirty="0"/>
              <a:t>Informations diverses</a:t>
            </a:r>
          </a:p>
          <a:p>
            <a:pPr lvl="1" algn="just"/>
            <a:r>
              <a:rPr lang="fr-FR" dirty="0"/>
              <a:t>Les salariés non cadres (ouvriers et ETAM) disposent désormais d’une nouvelle prestation hospitalisation chirurgicale (prise en charge de la chambre individuelle)</a:t>
            </a:r>
          </a:p>
          <a:p>
            <a:pPr lvl="1" algn="just"/>
            <a:r>
              <a:rPr lang="fr-FR" dirty="0"/>
              <a:t>En cas de naissance ou d’adoption, un forfait parentalité identique est versé à toutes les catégories de salariés (ouvriers, ETAM ou cadres). Pour les femmes, un forfait accouchement est également prévu</a:t>
            </a:r>
          </a:p>
          <a:p>
            <a:pPr lvl="1" algn="just"/>
            <a:r>
              <a:rPr lang="fr-FR" dirty="0"/>
              <a:t>Le maintien gratuit des garanties collectives prévoyance pendant 36 mois maximum en cas de chômage quelque soit l’organisme (santé 36 mois également si le contrat a été signé auprès de PRO-BTP)</a:t>
            </a:r>
          </a:p>
          <a:p>
            <a:endParaRPr lang="fr-FR" dirty="0"/>
          </a:p>
        </p:txBody>
      </p:sp>
      <p:sp>
        <p:nvSpPr>
          <p:cNvPr id="3" name="Titre 2"/>
          <p:cNvSpPr>
            <a:spLocks noGrp="1"/>
          </p:cNvSpPr>
          <p:nvPr>
            <p:ph type="title"/>
          </p:nvPr>
        </p:nvSpPr>
        <p:spPr/>
        <p:txBody>
          <a:bodyPr/>
          <a:lstStyle/>
          <a:p>
            <a:r>
              <a:rPr lang="fr-FR" dirty="0"/>
              <a:t>Garanties prévoyance PRO-BTP </a:t>
            </a:r>
          </a:p>
        </p:txBody>
      </p:sp>
    </p:spTree>
    <p:extLst>
      <p:ext uri="{BB962C8B-B14F-4D97-AF65-F5344CB8AC3E}">
        <p14:creationId xmlns:p14="http://schemas.microsoft.com/office/powerpoint/2010/main" val="56172947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p:txBody>
          <a:bodyPr/>
          <a:lstStyle/>
          <a:p>
            <a:r>
              <a:rPr lang="fr-FR" dirty="0"/>
              <a:t>Une couverture santé pour tous les salariés</a:t>
            </a:r>
          </a:p>
          <a:p>
            <a:pPr lvl="1" algn="just"/>
            <a:r>
              <a:rPr lang="fr-FR" dirty="0"/>
              <a:t>Au 1</a:t>
            </a:r>
            <a:r>
              <a:rPr lang="fr-FR" baseline="30000" dirty="0"/>
              <a:t>er</a:t>
            </a:r>
            <a:r>
              <a:rPr lang="fr-FR" dirty="0"/>
              <a:t> janvier 2016, toutes les entreprises du secteur privé doivent avoir mis en place une couverture santé pour leurs salariés</a:t>
            </a:r>
          </a:p>
          <a:p>
            <a:pPr lvl="1" algn="just"/>
            <a:r>
              <a:rPr lang="fr-FR" dirty="0"/>
              <a:t>Les partenaires sociaux du BTP n’ont pas signé d’avenant relatif au régime complémentaire des frais de santé</a:t>
            </a:r>
          </a:p>
          <a:p>
            <a:pPr lvl="1" algn="just"/>
            <a:r>
              <a:rPr lang="fr-FR" dirty="0"/>
              <a:t>Donc, la mise en place de ce régime doit avoir lieu, soit par accord collectif d’entreprise, soit par référendum, soit par décision unilatérale de l’employeur</a:t>
            </a:r>
          </a:p>
        </p:txBody>
      </p:sp>
      <p:sp>
        <p:nvSpPr>
          <p:cNvPr id="3" name="Titre 2"/>
          <p:cNvSpPr>
            <a:spLocks noGrp="1"/>
          </p:cNvSpPr>
          <p:nvPr>
            <p:ph type="title"/>
          </p:nvPr>
        </p:nvSpPr>
        <p:spPr/>
        <p:txBody>
          <a:bodyPr/>
          <a:lstStyle/>
          <a:p>
            <a:r>
              <a:rPr lang="fr-FR" dirty="0"/>
              <a:t>Mutuelle santé </a:t>
            </a:r>
          </a:p>
        </p:txBody>
      </p:sp>
    </p:spTree>
    <p:extLst>
      <p:ext uri="{BB962C8B-B14F-4D97-AF65-F5344CB8AC3E}">
        <p14:creationId xmlns:p14="http://schemas.microsoft.com/office/powerpoint/2010/main" val="157647115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a:xfrm>
            <a:off x="431800" y="1748813"/>
            <a:ext cx="11269133" cy="4440495"/>
          </a:xfrm>
        </p:spPr>
        <p:txBody>
          <a:bodyPr>
            <a:normAutofit/>
          </a:bodyPr>
          <a:lstStyle/>
          <a:p>
            <a:pPr algn="just"/>
            <a:r>
              <a:rPr lang="fr-FR" dirty="0"/>
              <a:t>Ces cotisations sont encaissées par la caisse des congés payés  auprès des entreprises adhérentes à une fédération départementale d'entrepreneurs ou syndicats d'artisans</a:t>
            </a:r>
          </a:p>
          <a:p>
            <a:pPr marL="0" indent="0" algn="just">
              <a:buNone/>
            </a:pPr>
            <a:r>
              <a:rPr lang="fr-FR" dirty="0"/>
              <a:t>  </a:t>
            </a:r>
          </a:p>
          <a:p>
            <a:pPr algn="just"/>
            <a:r>
              <a:rPr lang="fr-FR" i="1" dirty="0"/>
              <a:t>Exemple BTP 74 </a:t>
            </a:r>
          </a:p>
          <a:p>
            <a:pPr lvl="1" algn="just"/>
            <a:r>
              <a:rPr lang="fr-FR" i="1" dirty="0"/>
              <a:t>FFB (Fédération Française du Bâtiment) / FNTP (Fédération Nationale des Travaux Publics) / CAPEB 74 / : la cotisation est calculée sur une assiette identique à celle des congés payés (la FFB demande un minimum de cotisation)</a:t>
            </a:r>
          </a:p>
          <a:p>
            <a:pPr lvl="1" algn="just"/>
            <a:r>
              <a:rPr lang="fr-FR" i="1" dirty="0"/>
              <a:t>BTP 74 (Fédération des Entrepreneurs et Artisans du BTP de Haute-Savoie) : la cotisation comprend un taux sur les salaires et un taux sur chiffre d’affaires. De plus, le cumul des deux ne peut toutefois être inférieur à un minimum en euros par an</a:t>
            </a:r>
            <a:endParaRPr lang="fr-FR" dirty="0"/>
          </a:p>
        </p:txBody>
      </p:sp>
      <p:sp>
        <p:nvSpPr>
          <p:cNvPr id="3" name="Titre 2"/>
          <p:cNvSpPr>
            <a:spLocks noGrp="1"/>
          </p:cNvSpPr>
          <p:nvPr>
            <p:ph type="title"/>
          </p:nvPr>
        </p:nvSpPr>
        <p:spPr/>
        <p:txBody>
          <a:bodyPr/>
          <a:lstStyle/>
          <a:p>
            <a:r>
              <a:rPr lang="fr-FR" dirty="0"/>
              <a:t>Caisse congés payés et cotisation syndicale</a:t>
            </a:r>
          </a:p>
        </p:txBody>
      </p:sp>
    </p:spTree>
    <p:extLst>
      <p:ext uri="{BB962C8B-B14F-4D97-AF65-F5344CB8AC3E}">
        <p14:creationId xmlns:p14="http://schemas.microsoft.com/office/powerpoint/2010/main" val="146728548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p:txBody>
          <a:bodyPr/>
          <a:lstStyle/>
          <a:p>
            <a:r>
              <a:rPr lang="fr-FR" dirty="0"/>
              <a:t>Du fait du secteur, il faut tenir compte </a:t>
            </a:r>
          </a:p>
          <a:p>
            <a:pPr lvl="1" algn="just"/>
            <a:r>
              <a:rPr lang="fr-FR" dirty="0"/>
              <a:t>De l’impact des indemnités caisse congés payés sur la base des taxes et participations sur salaires</a:t>
            </a:r>
          </a:p>
          <a:p>
            <a:pPr lvl="1" algn="just"/>
            <a:r>
              <a:rPr lang="fr-FR" dirty="0"/>
              <a:t>Du taux de garantie chirurgie (ETAM, ouvriers, cadres) compris dans les cotisations prévoyance sur le net imposable</a:t>
            </a:r>
          </a:p>
        </p:txBody>
      </p:sp>
      <p:sp>
        <p:nvSpPr>
          <p:cNvPr id="3" name="Titre 2"/>
          <p:cNvSpPr>
            <a:spLocks noGrp="1"/>
          </p:cNvSpPr>
          <p:nvPr>
            <p:ph type="title"/>
          </p:nvPr>
        </p:nvSpPr>
        <p:spPr/>
        <p:txBody>
          <a:bodyPr/>
          <a:lstStyle/>
          <a:p>
            <a:r>
              <a:rPr lang="fr-FR" dirty="0"/>
              <a:t>Impact du secteur sur les bases fiscales </a:t>
            </a:r>
          </a:p>
        </p:txBody>
      </p:sp>
    </p:spTree>
    <p:extLst>
      <p:ext uri="{BB962C8B-B14F-4D97-AF65-F5344CB8AC3E}">
        <p14:creationId xmlns:p14="http://schemas.microsoft.com/office/powerpoint/2010/main" val="83147354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p:txBody>
          <a:bodyPr/>
          <a:lstStyle/>
          <a:p>
            <a:r>
              <a:rPr lang="fr-FR" dirty="0"/>
              <a:t>LE BULLETIN DE PAYE </a:t>
            </a:r>
          </a:p>
        </p:txBody>
      </p:sp>
      <p:graphicFrame>
        <p:nvGraphicFramePr>
          <p:cNvPr id="6" name="Espace réservé du contenu 5"/>
          <p:cNvGraphicFramePr>
            <a:graphicFrameLocks noGrp="1"/>
          </p:cNvGraphicFramePr>
          <p:nvPr>
            <p:ph sz="quarter" idx="14"/>
          </p:nvPr>
        </p:nvGraphicFramePr>
        <p:xfrm>
          <a:off x="449444" y="1748812"/>
          <a:ext cx="11251489" cy="414046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1339532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texte 4"/>
          <p:cNvSpPr>
            <a:spLocks noGrp="1"/>
          </p:cNvSpPr>
          <p:nvPr>
            <p:ph type="body" idx="1"/>
          </p:nvPr>
        </p:nvSpPr>
        <p:spPr/>
        <p:txBody>
          <a:bodyPr/>
          <a:lstStyle/>
          <a:p>
            <a:r>
              <a:rPr lang="fr-FR" dirty="0"/>
              <a:t>Les évènements courants</a:t>
            </a:r>
          </a:p>
        </p:txBody>
      </p:sp>
      <p:sp>
        <p:nvSpPr>
          <p:cNvPr id="4" name="Titre 3"/>
          <p:cNvSpPr>
            <a:spLocks noGrp="1"/>
          </p:cNvSpPr>
          <p:nvPr>
            <p:ph type="title"/>
          </p:nvPr>
        </p:nvSpPr>
        <p:spPr/>
        <p:txBody>
          <a:bodyPr/>
          <a:lstStyle/>
          <a:p>
            <a:r>
              <a:rPr lang="fr-FR" dirty="0"/>
              <a:t>Séquence 6 </a:t>
            </a:r>
          </a:p>
        </p:txBody>
      </p:sp>
      <p:sp>
        <p:nvSpPr>
          <p:cNvPr id="6" name="Espace réservé du contenu 5"/>
          <p:cNvSpPr>
            <a:spLocks noGrp="1"/>
          </p:cNvSpPr>
          <p:nvPr>
            <p:ph sz="quarter" idx="10"/>
          </p:nvPr>
        </p:nvSpPr>
        <p:spPr/>
        <p:txBody>
          <a:bodyPr/>
          <a:lstStyle/>
          <a:p>
            <a:endParaRPr lang="fr-FR"/>
          </a:p>
        </p:txBody>
      </p:sp>
    </p:spTree>
    <p:extLst>
      <p:ext uri="{BB962C8B-B14F-4D97-AF65-F5344CB8AC3E}">
        <p14:creationId xmlns:p14="http://schemas.microsoft.com/office/powerpoint/2010/main" val="4230909312"/>
      </p:ext>
    </p:extLst>
  </p:cSld>
  <p:clrMapOvr>
    <a:masterClrMapping/>
  </p:clrMapOvr>
  <p:transition spd="slow">
    <p:push dir="u"/>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type="body" sz="quarter" idx="13"/>
          </p:nvPr>
        </p:nvSpPr>
        <p:spPr>
          <a:xfrm>
            <a:off x="431799" y="1208755"/>
            <a:ext cx="8784548" cy="4800464"/>
          </a:xfrm>
        </p:spPr>
        <p:txBody>
          <a:bodyPr/>
          <a:lstStyle/>
          <a:p>
            <a:r>
              <a:rPr lang="fr-FR" dirty="0"/>
              <a:t>Maternité</a:t>
            </a:r>
          </a:p>
          <a:p>
            <a:r>
              <a:rPr lang="fr-FR" dirty="0"/>
              <a:t>Maladie</a:t>
            </a:r>
          </a:p>
          <a:p>
            <a:r>
              <a:rPr lang="fr-FR" dirty="0"/>
              <a:t>Congés payés </a:t>
            </a:r>
          </a:p>
          <a:p>
            <a:r>
              <a:rPr lang="fr-FR" dirty="0"/>
              <a:t>Intempéries</a:t>
            </a:r>
          </a:p>
        </p:txBody>
      </p:sp>
      <p:sp>
        <p:nvSpPr>
          <p:cNvPr id="4" name="Espace réservé du texte 3"/>
          <p:cNvSpPr>
            <a:spLocks noGrp="1"/>
          </p:cNvSpPr>
          <p:nvPr>
            <p:ph type="body" sz="quarter" idx="14"/>
          </p:nvPr>
        </p:nvSpPr>
        <p:spPr>
          <a:xfrm>
            <a:off x="431800" y="308654"/>
            <a:ext cx="11269133" cy="780087"/>
          </a:xfrm>
        </p:spPr>
        <p:txBody>
          <a:bodyPr>
            <a:normAutofit fontScale="55000" lnSpcReduction="20000"/>
          </a:bodyPr>
          <a:lstStyle/>
          <a:p>
            <a:endParaRPr lang="fr-FR" dirty="0"/>
          </a:p>
          <a:p>
            <a:r>
              <a:rPr lang="fr-FR" dirty="0"/>
              <a:t>SOMMAIRE </a:t>
            </a:r>
            <a:r>
              <a:rPr lang="fr-FR" dirty="0" err="1"/>
              <a:t>SéQUENCE</a:t>
            </a:r>
            <a:r>
              <a:rPr lang="fr-FR" dirty="0"/>
              <a:t> 6 – Les évènements courants</a:t>
            </a:r>
          </a:p>
        </p:txBody>
      </p:sp>
    </p:spTree>
    <p:extLst>
      <p:ext uri="{BB962C8B-B14F-4D97-AF65-F5344CB8AC3E}">
        <p14:creationId xmlns:p14="http://schemas.microsoft.com/office/powerpoint/2010/main" val="350800943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p:txBody>
          <a:bodyPr/>
          <a:lstStyle/>
          <a:p>
            <a:pPr algn="just"/>
            <a:r>
              <a:rPr lang="fr-FR" dirty="0"/>
              <a:t>Dans le BTP, les conventions collectives prévoient le maintien du salaire net, déduction faite des indemnités journalières de Sécurité sociale (IJSS) et sous conditions d'ancienneté</a:t>
            </a:r>
          </a:p>
          <a:p>
            <a:pPr lvl="1"/>
            <a:r>
              <a:rPr lang="fr-FR" dirty="0"/>
              <a:t>Pour les ETAM et les cadres, les salariées doivent avoir une année de présence dans l'entreprise pour bénéficier du maintien de salaire</a:t>
            </a:r>
          </a:p>
          <a:p>
            <a:pPr lvl="1"/>
            <a:r>
              <a:rPr lang="fr-FR" dirty="0"/>
              <a:t>Pour les ouvriers, la condition d'ancienneté varie de 1 à 3 mois selon l'âge de la salariée</a:t>
            </a:r>
          </a:p>
          <a:p>
            <a:pPr marL="0" indent="0">
              <a:buNone/>
            </a:pPr>
            <a:endParaRPr lang="fr-FR" dirty="0"/>
          </a:p>
        </p:txBody>
      </p:sp>
      <p:sp>
        <p:nvSpPr>
          <p:cNvPr id="3" name="Titre 2"/>
          <p:cNvSpPr>
            <a:spLocks noGrp="1"/>
          </p:cNvSpPr>
          <p:nvPr>
            <p:ph type="title"/>
          </p:nvPr>
        </p:nvSpPr>
        <p:spPr/>
        <p:txBody>
          <a:bodyPr/>
          <a:lstStyle/>
          <a:p>
            <a:r>
              <a:rPr lang="fr-FR"/>
              <a:t>Les évènements courants : Maternité </a:t>
            </a:r>
            <a:endParaRPr lang="fr-FR" dirty="0"/>
          </a:p>
        </p:txBody>
      </p:sp>
    </p:spTree>
    <p:extLst>
      <p:ext uri="{BB962C8B-B14F-4D97-AF65-F5344CB8AC3E}">
        <p14:creationId xmlns:p14="http://schemas.microsoft.com/office/powerpoint/2010/main" val="192433315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p:cNvGraphicFramePr>
            <a:graphicFrameLocks noGrp="1"/>
          </p:cNvGraphicFramePr>
          <p:nvPr>
            <p:ph sz="quarter" idx="14"/>
          </p:nvPr>
        </p:nvGraphicFramePr>
        <p:xfrm>
          <a:off x="431800" y="1748813"/>
          <a:ext cx="11269133" cy="41328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re 2"/>
          <p:cNvSpPr>
            <a:spLocks noGrp="1"/>
          </p:cNvSpPr>
          <p:nvPr>
            <p:ph type="title"/>
          </p:nvPr>
        </p:nvSpPr>
        <p:spPr/>
        <p:txBody>
          <a:bodyPr/>
          <a:lstStyle/>
          <a:p>
            <a:r>
              <a:rPr lang="fr-FR" dirty="0"/>
              <a:t>Les évènements courants : maladie (1)</a:t>
            </a:r>
          </a:p>
        </p:txBody>
      </p:sp>
    </p:spTree>
    <p:extLst>
      <p:ext uri="{BB962C8B-B14F-4D97-AF65-F5344CB8AC3E}">
        <p14:creationId xmlns:p14="http://schemas.microsoft.com/office/powerpoint/2010/main" val="96620512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p:txBody>
          <a:bodyPr/>
          <a:lstStyle/>
          <a:p>
            <a:r>
              <a:rPr lang="fr-FR" dirty="0"/>
              <a:t>Ouvriers travaux publics : pas de délai de carence, bâtiment délai de carence de 3 jours</a:t>
            </a:r>
          </a:p>
          <a:p>
            <a:endParaRPr lang="fr-FR" dirty="0"/>
          </a:p>
          <a:p>
            <a:r>
              <a:rPr lang="fr-FR" dirty="0"/>
              <a:t>La subrogation est obligatoire dans les travaux publics (pour les cadres, </a:t>
            </a:r>
            <a:br>
              <a:rPr lang="fr-FR" dirty="0"/>
            </a:br>
            <a:r>
              <a:rPr lang="fr-FR" dirty="0"/>
              <a:t>la subrogation est conditionnée à l’application de la convention collective des cadres des travaux publics) ainsi que pour les ETAM du BTP (la SS verse </a:t>
            </a:r>
            <a:br>
              <a:rPr lang="fr-FR" dirty="0"/>
            </a:br>
            <a:r>
              <a:rPr lang="fr-FR" dirty="0"/>
              <a:t>à l’employeur directement les indemnités journalières à titre de remboursement de l’avance qu’il aura accordée à son salarié)</a:t>
            </a:r>
          </a:p>
          <a:p>
            <a:pPr marL="0" indent="0">
              <a:buNone/>
            </a:pPr>
            <a:endParaRPr lang="fr-FR" dirty="0"/>
          </a:p>
        </p:txBody>
      </p:sp>
      <p:sp>
        <p:nvSpPr>
          <p:cNvPr id="3" name="Titre 2"/>
          <p:cNvSpPr>
            <a:spLocks noGrp="1"/>
          </p:cNvSpPr>
          <p:nvPr>
            <p:ph type="title"/>
          </p:nvPr>
        </p:nvSpPr>
        <p:spPr/>
        <p:txBody>
          <a:bodyPr/>
          <a:lstStyle/>
          <a:p>
            <a:r>
              <a:rPr lang="fr-FR" dirty="0"/>
              <a:t>Les évènements courants : maladie (2) </a:t>
            </a:r>
          </a:p>
        </p:txBody>
      </p:sp>
    </p:spTree>
    <p:extLst>
      <p:ext uri="{BB962C8B-B14F-4D97-AF65-F5344CB8AC3E}">
        <p14:creationId xmlns:p14="http://schemas.microsoft.com/office/powerpoint/2010/main" val="285114088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p:cNvGraphicFramePr>
            <a:graphicFrameLocks noGrp="1"/>
          </p:cNvGraphicFramePr>
          <p:nvPr>
            <p:ph sz="quarter" idx="14"/>
          </p:nvPr>
        </p:nvGraphicFramePr>
        <p:xfrm>
          <a:off x="431800" y="1748813"/>
          <a:ext cx="11269133" cy="41328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re 2"/>
          <p:cNvSpPr>
            <a:spLocks noGrp="1"/>
          </p:cNvSpPr>
          <p:nvPr>
            <p:ph type="title"/>
          </p:nvPr>
        </p:nvSpPr>
        <p:spPr/>
        <p:txBody>
          <a:bodyPr>
            <a:normAutofit fontScale="90000"/>
          </a:bodyPr>
          <a:lstStyle/>
          <a:p>
            <a:r>
              <a:rPr lang="fr-FR" dirty="0"/>
              <a:t>Les évènements courants : maladie</a:t>
            </a:r>
            <a:br>
              <a:rPr lang="fr-FR" dirty="0"/>
            </a:br>
            <a:r>
              <a:rPr lang="fr-FR" dirty="0"/>
              <a:t>et contrat incapacité de travail</a:t>
            </a:r>
          </a:p>
        </p:txBody>
      </p:sp>
    </p:spTree>
    <p:extLst>
      <p:ext uri="{BB962C8B-B14F-4D97-AF65-F5344CB8AC3E}">
        <p14:creationId xmlns:p14="http://schemas.microsoft.com/office/powerpoint/2010/main" val="89713464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p:cNvGraphicFramePr>
            <a:graphicFrameLocks noGrp="1"/>
          </p:cNvGraphicFramePr>
          <p:nvPr>
            <p:ph sz="quarter" idx="14"/>
          </p:nvPr>
        </p:nvGraphicFramePr>
        <p:xfrm>
          <a:off x="461434" y="1868827"/>
          <a:ext cx="11269133" cy="41328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re 2"/>
          <p:cNvSpPr>
            <a:spLocks noGrp="1"/>
          </p:cNvSpPr>
          <p:nvPr>
            <p:ph type="title"/>
          </p:nvPr>
        </p:nvSpPr>
        <p:spPr/>
        <p:txBody>
          <a:bodyPr>
            <a:normAutofit fontScale="90000"/>
          </a:bodyPr>
          <a:lstStyle/>
          <a:p>
            <a:r>
              <a:rPr lang="fr-FR"/>
              <a:t>Les évènements courants : maladie et indemnités </a:t>
            </a:r>
            <a:br>
              <a:rPr lang="fr-FR"/>
            </a:br>
            <a:r>
              <a:rPr lang="fr-FR"/>
              <a:t>(- 90 jours) versées par PRO-BTP aux ouvriers du bâtiment </a:t>
            </a:r>
            <a:endParaRPr lang="fr-FR" dirty="0"/>
          </a:p>
        </p:txBody>
      </p:sp>
    </p:spTree>
    <p:extLst>
      <p:ext uri="{BB962C8B-B14F-4D97-AF65-F5344CB8AC3E}">
        <p14:creationId xmlns:p14="http://schemas.microsoft.com/office/powerpoint/2010/main" val="194533429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p:txBody>
          <a:bodyPr/>
          <a:lstStyle/>
          <a:p>
            <a:pPr algn="just"/>
            <a:r>
              <a:rPr lang="fr-FR" dirty="0"/>
              <a:t>Entreprises ayant adhéré volontairement à la garantie arrêt de travail inférieur à 90 jours proposée par PRO-BTP</a:t>
            </a:r>
          </a:p>
          <a:p>
            <a:pPr marL="0" indent="0" algn="just">
              <a:buNone/>
            </a:pPr>
            <a:endParaRPr lang="fr-FR" i="1" dirty="0"/>
          </a:p>
          <a:p>
            <a:pPr marL="0" indent="0" algn="just">
              <a:buNone/>
            </a:pPr>
            <a:endParaRPr lang="fr-FR" i="1" dirty="0"/>
          </a:p>
          <a:p>
            <a:pPr marL="952476" indent="0" algn="just">
              <a:buNone/>
            </a:pPr>
            <a:r>
              <a:rPr lang="fr-FR" i="1" dirty="0"/>
              <a:t>ATTENTION : du fait de la subrogation dans les travaux publics, le montant est versé à l’entreprise (soit indemnité majorée de 45 % de charges et l’entreprise calculera les précomptes)</a:t>
            </a:r>
          </a:p>
          <a:p>
            <a:pPr marL="0" indent="0" algn="just">
              <a:buNone/>
            </a:pPr>
            <a:endParaRPr lang="fr-FR" dirty="0"/>
          </a:p>
          <a:p>
            <a:pPr marL="0" indent="0" algn="just">
              <a:buNone/>
            </a:pPr>
            <a:endParaRPr lang="fr-FR" sz="1067" dirty="0"/>
          </a:p>
        </p:txBody>
      </p:sp>
      <p:sp>
        <p:nvSpPr>
          <p:cNvPr id="3" name="Titre 2"/>
          <p:cNvSpPr>
            <a:spLocks noGrp="1"/>
          </p:cNvSpPr>
          <p:nvPr>
            <p:ph type="title"/>
          </p:nvPr>
        </p:nvSpPr>
        <p:spPr/>
        <p:txBody>
          <a:bodyPr>
            <a:normAutofit fontScale="90000"/>
          </a:bodyPr>
          <a:lstStyle/>
          <a:p>
            <a:r>
              <a:rPr lang="fr-FR" sz="3200" dirty="0"/>
              <a:t>Les évènements courants : maladie et indemnités </a:t>
            </a:r>
            <a:br>
              <a:rPr lang="fr-FR" sz="3200" dirty="0"/>
            </a:br>
            <a:r>
              <a:rPr lang="fr-FR" sz="3200" dirty="0"/>
              <a:t>(- 90 jours) versées par PRO-BTP aux ouvriers des travaux publics </a:t>
            </a:r>
            <a:endParaRPr lang="fr-FR" dirty="0"/>
          </a:p>
        </p:txBody>
      </p:sp>
      <p:pic>
        <p:nvPicPr>
          <p:cNvPr id="2050" name="Picture 2" descr="V:\Styles\charte 2016 CFPC\Pictogrammes_PPT_CFPC-2016\alerte-attention.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216" y="3429001"/>
            <a:ext cx="1380153" cy="13801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104100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p:cNvGraphicFramePr>
            <a:graphicFrameLocks noGrp="1"/>
          </p:cNvGraphicFramePr>
          <p:nvPr>
            <p:ph sz="quarter" idx="14"/>
          </p:nvPr>
        </p:nvGraphicFramePr>
        <p:xfrm>
          <a:off x="431800" y="1748812"/>
          <a:ext cx="11269133" cy="42604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re 2"/>
          <p:cNvSpPr>
            <a:spLocks noGrp="1"/>
          </p:cNvSpPr>
          <p:nvPr>
            <p:ph type="title"/>
          </p:nvPr>
        </p:nvSpPr>
        <p:spPr/>
        <p:txBody>
          <a:bodyPr>
            <a:normAutofit fontScale="90000"/>
          </a:bodyPr>
          <a:lstStyle/>
          <a:p>
            <a:r>
              <a:rPr lang="fr-FR"/>
              <a:t>Les évènements courants : maladie et indemnités (+ 90 jours) versées par PRO-BTP aux ouvriers (1) </a:t>
            </a:r>
            <a:endParaRPr lang="fr-FR" dirty="0"/>
          </a:p>
        </p:txBody>
      </p:sp>
    </p:spTree>
    <p:extLst>
      <p:ext uri="{BB962C8B-B14F-4D97-AF65-F5344CB8AC3E}">
        <p14:creationId xmlns:p14="http://schemas.microsoft.com/office/powerpoint/2010/main" val="37747137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p:txBody>
          <a:bodyPr/>
          <a:lstStyle/>
          <a:p>
            <a:r>
              <a:rPr lang="fr-FR" dirty="0"/>
              <a:t>Si l’entreprise a adhéré à la GAT inférieur à 90 jours (au niveau conventionnel) ou a pris l’option OCALD</a:t>
            </a:r>
          </a:p>
          <a:p>
            <a:pPr lvl="1"/>
            <a:r>
              <a:rPr lang="fr-FR" dirty="0"/>
              <a:t>Le paiement des indemnités journalières se fait soit à l’employeur (subrogation), soit au salarié suivant le choix fait par l’employeur à l’origine</a:t>
            </a:r>
          </a:p>
          <a:p>
            <a:pPr lvl="1"/>
            <a:r>
              <a:rPr lang="fr-FR" dirty="0"/>
              <a:t>Dans les 2 cas, le paiement est net, les charges sont précomptées par BTP-Prévoyance</a:t>
            </a:r>
          </a:p>
          <a:p>
            <a:pPr lvl="1"/>
            <a:r>
              <a:rPr lang="fr-FR" dirty="0"/>
              <a:t>Si un salarié a quitté l’entreprise, le complément de salaire lui est toujours versé directement</a:t>
            </a:r>
          </a:p>
        </p:txBody>
      </p:sp>
      <p:sp>
        <p:nvSpPr>
          <p:cNvPr id="3" name="Titre 2"/>
          <p:cNvSpPr>
            <a:spLocks noGrp="1"/>
          </p:cNvSpPr>
          <p:nvPr>
            <p:ph type="title"/>
          </p:nvPr>
        </p:nvSpPr>
        <p:spPr/>
        <p:txBody>
          <a:bodyPr>
            <a:normAutofit fontScale="90000"/>
          </a:bodyPr>
          <a:lstStyle/>
          <a:p>
            <a:r>
              <a:rPr lang="fr-FR"/>
              <a:t>Les évènements courants : maladie et indemnités (+ 90 jours) versées par PRO-BTP aux ouvriers (2) </a:t>
            </a:r>
            <a:endParaRPr lang="fr-FR" dirty="0"/>
          </a:p>
        </p:txBody>
      </p:sp>
    </p:spTree>
    <p:extLst>
      <p:ext uri="{BB962C8B-B14F-4D97-AF65-F5344CB8AC3E}">
        <p14:creationId xmlns:p14="http://schemas.microsoft.com/office/powerpoint/2010/main" val="173832773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p:cNvGraphicFramePr>
            <a:graphicFrameLocks noGrp="1"/>
          </p:cNvGraphicFramePr>
          <p:nvPr>
            <p:ph sz="quarter" idx="14"/>
          </p:nvPr>
        </p:nvGraphicFramePr>
        <p:xfrm>
          <a:off x="431800" y="1748813"/>
          <a:ext cx="11269133" cy="41328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re 2"/>
          <p:cNvSpPr>
            <a:spLocks noGrp="1"/>
          </p:cNvSpPr>
          <p:nvPr>
            <p:ph type="title"/>
          </p:nvPr>
        </p:nvSpPr>
        <p:spPr/>
        <p:txBody>
          <a:bodyPr/>
          <a:lstStyle/>
          <a:p>
            <a:r>
              <a:rPr lang="fr-FR" dirty="0"/>
              <a:t>Les évènements courants : Les congés payés</a:t>
            </a:r>
          </a:p>
        </p:txBody>
      </p:sp>
    </p:spTree>
    <p:extLst>
      <p:ext uri="{BB962C8B-B14F-4D97-AF65-F5344CB8AC3E}">
        <p14:creationId xmlns:p14="http://schemas.microsoft.com/office/powerpoint/2010/main" val="245644410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p:txBody>
          <a:bodyPr/>
          <a:lstStyle/>
          <a:p>
            <a:r>
              <a:rPr lang="fr-FR" dirty="0"/>
              <a:t>Les périodes de congés payés</a:t>
            </a:r>
          </a:p>
          <a:p>
            <a:pPr lvl="1"/>
            <a:r>
              <a:rPr lang="fr-FR" dirty="0"/>
              <a:t>Doivent être complètement neutralisées sur le bulletin de paie </a:t>
            </a:r>
          </a:p>
          <a:p>
            <a:pPr lvl="1"/>
            <a:r>
              <a:rPr lang="fr-FR" dirty="0"/>
              <a:t>Et impactent le plafond SS  </a:t>
            </a:r>
          </a:p>
          <a:p>
            <a:pPr marL="263993" lvl="1" indent="0">
              <a:buNone/>
            </a:pPr>
            <a:endParaRPr lang="fr-FR" dirty="0"/>
          </a:p>
          <a:p>
            <a:endParaRPr lang="fr-FR" dirty="0"/>
          </a:p>
        </p:txBody>
      </p:sp>
      <p:sp>
        <p:nvSpPr>
          <p:cNvPr id="3" name="Titre 2"/>
          <p:cNvSpPr>
            <a:spLocks noGrp="1"/>
          </p:cNvSpPr>
          <p:nvPr>
            <p:ph type="title"/>
          </p:nvPr>
        </p:nvSpPr>
        <p:spPr/>
        <p:txBody>
          <a:bodyPr/>
          <a:lstStyle/>
          <a:p>
            <a:r>
              <a:rPr lang="fr-FR" dirty="0"/>
              <a:t>Les congés payés et le plafond SS </a:t>
            </a:r>
          </a:p>
        </p:txBody>
      </p:sp>
    </p:spTree>
    <p:extLst>
      <p:ext uri="{BB962C8B-B14F-4D97-AF65-F5344CB8AC3E}">
        <p14:creationId xmlns:p14="http://schemas.microsoft.com/office/powerpoint/2010/main" val="45454371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p:txBody>
          <a:bodyPr/>
          <a:lstStyle/>
          <a:p>
            <a:pPr algn="just"/>
            <a:r>
              <a:rPr lang="fr-FR" dirty="0"/>
              <a:t>Un jour férié compris dans la période de congés payés pris n'est pas indemnisé par la caisse</a:t>
            </a:r>
          </a:p>
          <a:p>
            <a:pPr algn="just"/>
            <a:endParaRPr lang="fr-FR" dirty="0"/>
          </a:p>
          <a:p>
            <a:pPr algn="just"/>
            <a:r>
              <a:rPr lang="fr-FR" dirty="0"/>
              <a:t>Il appartient à l'entreprise de l'indemniser si ce jour est habituellement travaillé</a:t>
            </a:r>
          </a:p>
        </p:txBody>
      </p:sp>
      <p:sp>
        <p:nvSpPr>
          <p:cNvPr id="3" name="Titre 2"/>
          <p:cNvSpPr>
            <a:spLocks noGrp="1"/>
          </p:cNvSpPr>
          <p:nvPr>
            <p:ph type="title"/>
          </p:nvPr>
        </p:nvSpPr>
        <p:spPr/>
        <p:txBody>
          <a:bodyPr/>
          <a:lstStyle/>
          <a:p>
            <a:r>
              <a:rPr lang="fr-FR" dirty="0"/>
              <a:t>Les congés payés et un jour férié</a:t>
            </a:r>
          </a:p>
        </p:txBody>
      </p:sp>
    </p:spTree>
    <p:extLst>
      <p:ext uri="{BB962C8B-B14F-4D97-AF65-F5344CB8AC3E}">
        <p14:creationId xmlns:p14="http://schemas.microsoft.com/office/powerpoint/2010/main" val="225841519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p:txBody>
          <a:bodyPr>
            <a:normAutofit lnSpcReduction="10000"/>
          </a:bodyPr>
          <a:lstStyle/>
          <a:p>
            <a:r>
              <a:rPr lang="fr-FR" dirty="0"/>
              <a:t>Période d’acquisition des congés : du 1</a:t>
            </a:r>
            <a:r>
              <a:rPr lang="fr-FR" baseline="30000" dirty="0"/>
              <a:t>er</a:t>
            </a:r>
            <a:r>
              <a:rPr lang="fr-FR" dirty="0"/>
              <a:t> avril au 31 mars</a:t>
            </a:r>
          </a:p>
          <a:p>
            <a:r>
              <a:rPr lang="fr-FR" dirty="0"/>
              <a:t>Congés payés</a:t>
            </a:r>
          </a:p>
          <a:p>
            <a:pPr lvl="1"/>
            <a:r>
              <a:rPr lang="fr-FR" dirty="0"/>
              <a:t>Congés principal</a:t>
            </a:r>
          </a:p>
          <a:p>
            <a:pPr lvl="1"/>
            <a:r>
              <a:rPr lang="fr-FR" dirty="0"/>
              <a:t>La 5</a:t>
            </a:r>
            <a:r>
              <a:rPr lang="fr-FR" baseline="30000" dirty="0"/>
              <a:t>ème</a:t>
            </a:r>
            <a:r>
              <a:rPr lang="fr-FR" dirty="0"/>
              <a:t> semaine</a:t>
            </a:r>
          </a:p>
          <a:p>
            <a:pPr lvl="1"/>
            <a:r>
              <a:rPr lang="fr-FR" dirty="0"/>
              <a:t>La prime de vacances</a:t>
            </a:r>
          </a:p>
          <a:p>
            <a:pPr lvl="1"/>
            <a:r>
              <a:rPr lang="fr-FR" dirty="0"/>
              <a:t>Le congé fractionne</a:t>
            </a:r>
          </a:p>
          <a:p>
            <a:r>
              <a:rPr lang="fr-FR" dirty="0"/>
              <a:t>Les congés d’ancienneté allant de 2 jours à 6 jours en fonction de la catégorie et de l’ancienneté</a:t>
            </a:r>
          </a:p>
          <a:p>
            <a:r>
              <a:rPr lang="fr-FR" dirty="0"/>
              <a:t>Prime de vacances : 30 % des indemnités de CP calculés sur le congé principal</a:t>
            </a:r>
          </a:p>
        </p:txBody>
      </p:sp>
      <p:sp>
        <p:nvSpPr>
          <p:cNvPr id="3" name="Titre 2"/>
          <p:cNvSpPr>
            <a:spLocks noGrp="1"/>
          </p:cNvSpPr>
          <p:nvPr>
            <p:ph type="title"/>
          </p:nvPr>
        </p:nvSpPr>
        <p:spPr/>
        <p:txBody>
          <a:bodyPr/>
          <a:lstStyle/>
          <a:p>
            <a:r>
              <a:rPr lang="fr-FR" dirty="0"/>
              <a:t>Les évènements courants : Les indemnités</a:t>
            </a:r>
          </a:p>
        </p:txBody>
      </p:sp>
    </p:spTree>
    <p:extLst>
      <p:ext uri="{BB962C8B-B14F-4D97-AF65-F5344CB8AC3E}">
        <p14:creationId xmlns:p14="http://schemas.microsoft.com/office/powerpoint/2010/main" val="348260527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a:xfrm>
            <a:off x="431800" y="1748813"/>
            <a:ext cx="11269133" cy="4680521"/>
          </a:xfrm>
        </p:spPr>
        <p:txBody>
          <a:bodyPr>
            <a:normAutofit fontScale="92500" lnSpcReduction="10000"/>
          </a:bodyPr>
          <a:lstStyle/>
          <a:p>
            <a:r>
              <a:rPr lang="fr-FR" dirty="0"/>
              <a:t> Pour les ETAM et les cadres, il existe 2 modes</a:t>
            </a:r>
          </a:p>
          <a:p>
            <a:pPr lvl="1"/>
            <a:r>
              <a:rPr lang="fr-FR" dirty="0"/>
              <a:t>Mode déclaratif : sur les indemnités des congés payés des ETAM et des cadres ne sont pas précomptées les retenues retraite et prévoyance et ne font l'objet d'aucun règlement par la caisse des congés payés à PRO-BTP </a:t>
            </a:r>
          </a:p>
          <a:p>
            <a:pPr lvl="1"/>
            <a:r>
              <a:rPr lang="fr-FR" dirty="0"/>
              <a:t>Mode direct : la caisse congés intempéries BTP verse aux salariés des indemnités de congés précomptées de la part salariale des cotisations PRO-BTP de retraite et de prévoyance obligatoires sur les ICP </a:t>
            </a:r>
          </a:p>
          <a:p>
            <a:r>
              <a:rPr lang="fr-FR" dirty="0"/>
              <a:t>Obligation de réintégrer ou non le montant des congés payés dans les bases de retraite et prévoyance </a:t>
            </a:r>
          </a:p>
          <a:p>
            <a:r>
              <a:rPr lang="fr-FR" dirty="0"/>
              <a:t>Objectif : cotisations retraite sur une année pleine </a:t>
            </a:r>
          </a:p>
          <a:p>
            <a:r>
              <a:rPr lang="fr-FR" dirty="0"/>
              <a:t>Ne concerne que les ETAM et cadres</a:t>
            </a:r>
          </a:p>
          <a:p>
            <a:pPr marL="0" indent="0">
              <a:buNone/>
            </a:pPr>
            <a:r>
              <a:rPr lang="fr-FR" i="1" dirty="0"/>
              <a:t>Certains ouvriers pourraient être en mode déclaratif si l’entreprise </a:t>
            </a:r>
            <a:br>
              <a:rPr lang="fr-FR" i="1" dirty="0"/>
            </a:br>
            <a:r>
              <a:rPr lang="fr-FR" i="1" dirty="0"/>
              <a:t>n’adhère pas à la prévoyance conventionnelle du BTP</a:t>
            </a:r>
          </a:p>
        </p:txBody>
      </p:sp>
      <p:sp>
        <p:nvSpPr>
          <p:cNvPr id="3" name="Titre 2"/>
          <p:cNvSpPr>
            <a:spLocks noGrp="1"/>
          </p:cNvSpPr>
          <p:nvPr>
            <p:ph type="title"/>
          </p:nvPr>
        </p:nvSpPr>
        <p:spPr/>
        <p:txBody>
          <a:bodyPr>
            <a:normAutofit fontScale="90000"/>
          </a:bodyPr>
          <a:lstStyle/>
          <a:p>
            <a:r>
              <a:rPr lang="fr-FR" dirty="0"/>
              <a:t>Les évènements courants : Congés payés</a:t>
            </a:r>
            <a:br>
              <a:rPr lang="fr-FR" dirty="0"/>
            </a:br>
            <a:r>
              <a:rPr lang="fr-FR" dirty="0"/>
              <a:t> Particularités Etam/cadres</a:t>
            </a:r>
          </a:p>
        </p:txBody>
      </p:sp>
    </p:spTree>
    <p:extLst>
      <p:ext uri="{BB962C8B-B14F-4D97-AF65-F5344CB8AC3E}">
        <p14:creationId xmlns:p14="http://schemas.microsoft.com/office/powerpoint/2010/main" val="33647782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p:cNvGraphicFramePr>
            <a:graphicFrameLocks noGrp="1"/>
          </p:cNvGraphicFramePr>
          <p:nvPr>
            <p:ph sz="quarter" idx="14"/>
          </p:nvPr>
        </p:nvGraphicFramePr>
        <p:xfrm>
          <a:off x="431800" y="1748813"/>
          <a:ext cx="11269133" cy="41328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re 2"/>
          <p:cNvSpPr>
            <a:spLocks noGrp="1"/>
          </p:cNvSpPr>
          <p:nvPr>
            <p:ph type="title"/>
          </p:nvPr>
        </p:nvSpPr>
        <p:spPr/>
        <p:txBody>
          <a:bodyPr/>
          <a:lstStyle/>
          <a:p>
            <a:r>
              <a:rPr lang="fr-FR" dirty="0"/>
              <a:t>Les évènements courants : Les intempéries</a:t>
            </a:r>
          </a:p>
        </p:txBody>
      </p:sp>
    </p:spTree>
    <p:extLst>
      <p:ext uri="{BB962C8B-B14F-4D97-AF65-F5344CB8AC3E}">
        <p14:creationId xmlns:p14="http://schemas.microsoft.com/office/powerpoint/2010/main" val="45159019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a:xfrm>
            <a:off x="431800" y="1748367"/>
            <a:ext cx="11269133" cy="4380933"/>
          </a:xfrm>
        </p:spPr>
        <p:txBody>
          <a:bodyPr>
            <a:normAutofit fontScale="92500" lnSpcReduction="20000"/>
          </a:bodyPr>
          <a:lstStyle/>
          <a:p>
            <a:r>
              <a:rPr lang="fr-FR" dirty="0"/>
              <a:t>Condition d’indemnisation : totaliser 200h travaillées sur les 2 derniers mois dans une ou plusieurs entreprises du BTP </a:t>
            </a:r>
          </a:p>
          <a:p>
            <a:r>
              <a:rPr lang="fr-FR" dirty="0"/>
              <a:t>Indemnité versée au salarié à hauteur de 75 % du salaire (elle est soumise à l’impôt sur le revenu et donc sera prise en compte pour le PAS)</a:t>
            </a:r>
          </a:p>
          <a:p>
            <a:r>
              <a:rPr lang="fr-FR" dirty="0"/>
              <a:t>Indemnité non chargée (le plafond SS est réduit selon le nombre d’heures d’absence), indemnité soumises à la CSG/CRDS à 6.7 % (revenu de remplacement)</a:t>
            </a:r>
          </a:p>
          <a:p>
            <a:r>
              <a:rPr lang="fr-FR" dirty="0"/>
              <a:t>1h de carence à la charge du salarié</a:t>
            </a:r>
          </a:p>
          <a:p>
            <a:r>
              <a:rPr lang="fr-FR" dirty="0"/>
              <a:t>Remboursement partiel par la caisse des congés payés si l’entreprise n’était pas exonérée de cotisations (du fait base cotisation avec un abattement de 8000 fois le SMIC)</a:t>
            </a:r>
          </a:p>
          <a:p>
            <a:r>
              <a:rPr lang="fr-FR" dirty="0"/>
              <a:t>Faire le dossier auprès de la caisse des congés payés est obligatoire même en l’absence de remboursement (sinon pas d’exonération de cotisations sociales)</a:t>
            </a:r>
          </a:p>
          <a:p>
            <a:endParaRPr lang="fr-FR" dirty="0"/>
          </a:p>
          <a:p>
            <a:endParaRPr lang="fr-FR" dirty="0"/>
          </a:p>
        </p:txBody>
      </p:sp>
      <p:sp>
        <p:nvSpPr>
          <p:cNvPr id="3" name="Titre 2"/>
          <p:cNvSpPr>
            <a:spLocks noGrp="1"/>
          </p:cNvSpPr>
          <p:nvPr>
            <p:ph type="title"/>
          </p:nvPr>
        </p:nvSpPr>
        <p:spPr>
          <a:xfrm>
            <a:off x="431682" y="428667"/>
            <a:ext cx="11251489" cy="1200133"/>
          </a:xfrm>
        </p:spPr>
        <p:txBody>
          <a:bodyPr/>
          <a:lstStyle/>
          <a:p>
            <a:r>
              <a:rPr lang="fr-FR" dirty="0"/>
              <a:t>Les évènements courants : Les intempéries</a:t>
            </a:r>
          </a:p>
        </p:txBody>
      </p:sp>
    </p:spTree>
    <p:extLst>
      <p:ext uri="{BB962C8B-B14F-4D97-AF65-F5344CB8AC3E}">
        <p14:creationId xmlns:p14="http://schemas.microsoft.com/office/powerpoint/2010/main" val="63370281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p:cNvGraphicFramePr>
            <a:graphicFrameLocks noGrp="1"/>
          </p:cNvGraphicFramePr>
          <p:nvPr>
            <p:ph sz="quarter" idx="14"/>
          </p:nvPr>
        </p:nvGraphicFramePr>
        <p:xfrm>
          <a:off x="431800" y="1748813"/>
          <a:ext cx="11269133" cy="41328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re 2"/>
          <p:cNvSpPr>
            <a:spLocks noGrp="1"/>
          </p:cNvSpPr>
          <p:nvPr>
            <p:ph type="title"/>
          </p:nvPr>
        </p:nvSpPr>
        <p:spPr/>
        <p:txBody>
          <a:bodyPr/>
          <a:lstStyle/>
          <a:p>
            <a:r>
              <a:rPr lang="fr-FR" dirty="0"/>
              <a:t>Les intempéries</a:t>
            </a:r>
          </a:p>
        </p:txBody>
      </p:sp>
    </p:spTree>
    <p:extLst>
      <p:ext uri="{BB962C8B-B14F-4D97-AF65-F5344CB8AC3E}">
        <p14:creationId xmlns:p14="http://schemas.microsoft.com/office/powerpoint/2010/main" val="367619571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texte 4"/>
          <p:cNvSpPr>
            <a:spLocks noGrp="1"/>
          </p:cNvSpPr>
          <p:nvPr>
            <p:ph type="body" idx="1"/>
          </p:nvPr>
        </p:nvSpPr>
        <p:spPr/>
        <p:txBody>
          <a:bodyPr/>
          <a:lstStyle/>
          <a:p>
            <a:r>
              <a:rPr lang="fr-FR" dirty="0"/>
              <a:t>La rupture</a:t>
            </a:r>
          </a:p>
        </p:txBody>
      </p:sp>
      <p:sp>
        <p:nvSpPr>
          <p:cNvPr id="4" name="Titre 3"/>
          <p:cNvSpPr>
            <a:spLocks noGrp="1"/>
          </p:cNvSpPr>
          <p:nvPr>
            <p:ph type="title"/>
          </p:nvPr>
        </p:nvSpPr>
        <p:spPr/>
        <p:txBody>
          <a:bodyPr/>
          <a:lstStyle/>
          <a:p>
            <a:r>
              <a:rPr lang="fr-FR" dirty="0"/>
              <a:t>Séquence 7</a:t>
            </a:r>
          </a:p>
        </p:txBody>
      </p:sp>
      <p:sp>
        <p:nvSpPr>
          <p:cNvPr id="6" name="Espace réservé du contenu 5"/>
          <p:cNvSpPr>
            <a:spLocks noGrp="1"/>
          </p:cNvSpPr>
          <p:nvPr>
            <p:ph sz="quarter" idx="10"/>
          </p:nvPr>
        </p:nvSpPr>
        <p:spPr/>
        <p:txBody>
          <a:bodyPr/>
          <a:lstStyle/>
          <a:p>
            <a:endParaRPr lang="fr-FR"/>
          </a:p>
        </p:txBody>
      </p:sp>
    </p:spTree>
    <p:extLst>
      <p:ext uri="{BB962C8B-B14F-4D97-AF65-F5344CB8AC3E}">
        <p14:creationId xmlns:p14="http://schemas.microsoft.com/office/powerpoint/2010/main" val="4254808937"/>
      </p:ext>
    </p:extLst>
  </p:cSld>
  <p:clrMapOvr>
    <a:masterClrMapping/>
  </p:clrMapOvr>
  <p:transition spd="slow">
    <p:push dir="u"/>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type="body" sz="quarter" idx="13"/>
          </p:nvPr>
        </p:nvSpPr>
        <p:spPr/>
        <p:txBody>
          <a:bodyPr/>
          <a:lstStyle/>
          <a:p>
            <a:r>
              <a:rPr lang="fr-FR" dirty="0"/>
              <a:t>CDD (rupture ou transformation CDI)</a:t>
            </a:r>
          </a:p>
          <a:p>
            <a:r>
              <a:rPr lang="fr-FR" dirty="0"/>
              <a:t>Documents à remettre</a:t>
            </a:r>
          </a:p>
          <a:p>
            <a:r>
              <a:rPr lang="fr-FR" dirty="0"/>
              <a:t>Préavis</a:t>
            </a:r>
          </a:p>
          <a:p>
            <a:r>
              <a:rPr lang="fr-FR" dirty="0"/>
              <a:t>Indemnités de licenciement</a:t>
            </a:r>
          </a:p>
          <a:p>
            <a:r>
              <a:rPr lang="fr-FR" dirty="0"/>
              <a:t>Indemnités de départ à la retraite</a:t>
            </a:r>
          </a:p>
          <a:p>
            <a:r>
              <a:rPr lang="fr-FR" dirty="0"/>
              <a:t>Indemnités de mise à la retraite</a:t>
            </a:r>
          </a:p>
        </p:txBody>
      </p:sp>
      <p:sp>
        <p:nvSpPr>
          <p:cNvPr id="4" name="Espace réservé du texte 3"/>
          <p:cNvSpPr>
            <a:spLocks noGrp="1"/>
          </p:cNvSpPr>
          <p:nvPr>
            <p:ph type="body" sz="quarter" idx="14"/>
          </p:nvPr>
        </p:nvSpPr>
        <p:spPr/>
        <p:txBody>
          <a:bodyPr>
            <a:normAutofit fontScale="70000" lnSpcReduction="20000"/>
          </a:bodyPr>
          <a:lstStyle/>
          <a:p>
            <a:r>
              <a:rPr lang="fr-FR" dirty="0"/>
              <a:t>SOMMAIRE </a:t>
            </a:r>
            <a:r>
              <a:rPr lang="fr-FR" dirty="0" err="1"/>
              <a:t>SéQUENCE</a:t>
            </a:r>
            <a:r>
              <a:rPr lang="fr-FR" dirty="0"/>
              <a:t> 7 – la Rupture : Le préavis </a:t>
            </a:r>
            <a:br>
              <a:rPr lang="fr-FR" dirty="0"/>
            </a:br>
            <a:r>
              <a:rPr lang="fr-FR" dirty="0"/>
              <a:t>et les indemnités </a:t>
            </a:r>
          </a:p>
        </p:txBody>
      </p:sp>
    </p:spTree>
    <p:extLst>
      <p:ext uri="{BB962C8B-B14F-4D97-AF65-F5344CB8AC3E}">
        <p14:creationId xmlns:p14="http://schemas.microsoft.com/office/powerpoint/2010/main" val="23340349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Espace réservé du contenu 5"/>
          <p:cNvGraphicFramePr>
            <a:graphicFrameLocks noGrp="1"/>
          </p:cNvGraphicFramePr>
          <p:nvPr>
            <p:ph sz="quarter" idx="14"/>
          </p:nvPr>
        </p:nvGraphicFramePr>
        <p:xfrm>
          <a:off x="431800" y="1748367"/>
          <a:ext cx="11269133" cy="413385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re 2"/>
          <p:cNvSpPr>
            <a:spLocks noGrp="1"/>
          </p:cNvSpPr>
          <p:nvPr>
            <p:ph type="title"/>
          </p:nvPr>
        </p:nvSpPr>
        <p:spPr>
          <a:xfrm>
            <a:off x="431682" y="428667"/>
            <a:ext cx="11251489" cy="1200133"/>
          </a:xfrm>
        </p:spPr>
        <p:txBody>
          <a:bodyPr>
            <a:normAutofit fontScale="90000"/>
          </a:bodyPr>
          <a:lstStyle/>
          <a:p>
            <a:r>
              <a:rPr lang="fr-FR" dirty="0"/>
              <a:t>CDD : renouvellement, transformation en CDI</a:t>
            </a:r>
          </a:p>
        </p:txBody>
      </p:sp>
    </p:spTree>
    <p:extLst>
      <p:ext uri="{BB962C8B-B14F-4D97-AF65-F5344CB8AC3E}">
        <p14:creationId xmlns:p14="http://schemas.microsoft.com/office/powerpoint/2010/main" val="137404308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p:txBody>
          <a:bodyPr/>
          <a:lstStyle/>
          <a:p>
            <a:r>
              <a:rPr lang="x-none"/>
              <a:t>Fin de contrat : documents à remettre</a:t>
            </a:r>
            <a:endParaRPr lang="fr-FR" dirty="0"/>
          </a:p>
        </p:txBody>
      </p:sp>
      <p:graphicFrame>
        <p:nvGraphicFramePr>
          <p:cNvPr id="6" name="Espace réservé du contenu 5"/>
          <p:cNvGraphicFramePr>
            <a:graphicFrameLocks noGrp="1"/>
          </p:cNvGraphicFramePr>
          <p:nvPr>
            <p:ph sz="quarter" idx="14"/>
          </p:nvPr>
        </p:nvGraphicFramePr>
        <p:xfrm>
          <a:off x="431800" y="1748813"/>
          <a:ext cx="11269133" cy="41328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3281782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p:cNvGraphicFramePr>
            <a:graphicFrameLocks noGrp="1"/>
          </p:cNvGraphicFramePr>
          <p:nvPr>
            <p:ph sz="quarter" idx="14"/>
          </p:nvPr>
        </p:nvGraphicFramePr>
        <p:xfrm>
          <a:off x="431800" y="1748813"/>
          <a:ext cx="11269133" cy="41328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re 2"/>
          <p:cNvSpPr>
            <a:spLocks noGrp="1"/>
          </p:cNvSpPr>
          <p:nvPr>
            <p:ph type="title"/>
          </p:nvPr>
        </p:nvSpPr>
        <p:spPr/>
        <p:txBody>
          <a:bodyPr/>
          <a:lstStyle/>
          <a:p>
            <a:r>
              <a:rPr lang="fr-FR" dirty="0"/>
              <a:t>La Rupture : Préavis</a:t>
            </a:r>
          </a:p>
        </p:txBody>
      </p:sp>
    </p:spTree>
    <p:extLst>
      <p:ext uri="{BB962C8B-B14F-4D97-AF65-F5344CB8AC3E}">
        <p14:creationId xmlns:p14="http://schemas.microsoft.com/office/powerpoint/2010/main" val="316917982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p:cNvGraphicFramePr>
            <a:graphicFrameLocks noGrp="1"/>
          </p:cNvGraphicFramePr>
          <p:nvPr>
            <p:ph sz="quarter" idx="14"/>
          </p:nvPr>
        </p:nvGraphicFramePr>
        <p:xfrm>
          <a:off x="431800" y="1748367"/>
          <a:ext cx="11269133" cy="413385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re 2"/>
          <p:cNvSpPr>
            <a:spLocks noGrp="1"/>
          </p:cNvSpPr>
          <p:nvPr>
            <p:ph type="title"/>
          </p:nvPr>
        </p:nvSpPr>
        <p:spPr>
          <a:xfrm>
            <a:off x="431682" y="428667"/>
            <a:ext cx="11251489" cy="1200133"/>
          </a:xfrm>
        </p:spPr>
        <p:txBody>
          <a:bodyPr/>
          <a:lstStyle/>
          <a:p>
            <a:r>
              <a:rPr lang="fr-FR" dirty="0"/>
              <a:t>La Rupture : Licenciement (1)</a:t>
            </a:r>
          </a:p>
        </p:txBody>
      </p:sp>
    </p:spTree>
    <p:extLst>
      <p:ext uri="{BB962C8B-B14F-4D97-AF65-F5344CB8AC3E}">
        <p14:creationId xmlns:p14="http://schemas.microsoft.com/office/powerpoint/2010/main" val="69379390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a:xfrm>
            <a:off x="431800" y="1748813"/>
            <a:ext cx="11269133" cy="4132812"/>
          </a:xfrm>
        </p:spPr>
        <p:txBody>
          <a:bodyPr>
            <a:normAutofit/>
          </a:bodyPr>
          <a:lstStyle/>
          <a:p>
            <a:r>
              <a:rPr lang="fr-FR" dirty="0"/>
              <a:t>Assiette pour l’indemnité légale</a:t>
            </a:r>
          </a:p>
          <a:p>
            <a:pPr lvl="1"/>
            <a:r>
              <a:rPr lang="fr-FR" dirty="0"/>
              <a:t>Il faut exclure notamment les remboursements de frais professionnels </a:t>
            </a:r>
          </a:p>
          <a:p>
            <a:pPr lvl="1"/>
            <a:r>
              <a:rPr lang="fr-FR" dirty="0"/>
              <a:t>Il faut tenir compte des primes annuelles ou exceptionnelles (à l’exclusion des primes individuelles exceptionnelles)</a:t>
            </a:r>
          </a:p>
          <a:p>
            <a:pPr lvl="1"/>
            <a:r>
              <a:rPr lang="fr-FR" dirty="0"/>
              <a:t>Salaire de référence : moyenne des 3 derniers mois de salaire + 1/12 prime. Les frais professionnels doivent être exclus et selon le cas, il faut tenir compte de l’indemnité de congés payés versée par la caisse</a:t>
            </a:r>
          </a:p>
          <a:p>
            <a:pPr lvl="1"/>
            <a:r>
              <a:rPr lang="fr-FR" dirty="0"/>
              <a:t>Il faut retravailler l’assiette (absence longue durée ou activité partielle) </a:t>
            </a:r>
          </a:p>
          <a:p>
            <a:pPr lvl="1"/>
            <a:r>
              <a:rPr lang="fr-FR" dirty="0"/>
              <a:t>Il convient de ne pas déduire les absences pour congés (ou introduire le montant des indemnités versées par la caisse des congés payés sur la période de référence)</a:t>
            </a:r>
          </a:p>
        </p:txBody>
      </p:sp>
      <p:sp>
        <p:nvSpPr>
          <p:cNvPr id="3" name="Titre 2"/>
          <p:cNvSpPr>
            <a:spLocks noGrp="1"/>
          </p:cNvSpPr>
          <p:nvPr>
            <p:ph type="title"/>
          </p:nvPr>
        </p:nvSpPr>
        <p:spPr>
          <a:xfrm>
            <a:off x="431682" y="428667"/>
            <a:ext cx="11251489" cy="1200133"/>
          </a:xfrm>
        </p:spPr>
        <p:txBody>
          <a:bodyPr/>
          <a:lstStyle/>
          <a:p>
            <a:r>
              <a:rPr lang="fr-FR" dirty="0"/>
              <a:t>La Rupture : Licenciement (2)</a:t>
            </a:r>
          </a:p>
        </p:txBody>
      </p:sp>
    </p:spTree>
    <p:extLst>
      <p:ext uri="{BB962C8B-B14F-4D97-AF65-F5344CB8AC3E}">
        <p14:creationId xmlns:p14="http://schemas.microsoft.com/office/powerpoint/2010/main" val="189689751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a:xfrm>
            <a:off x="431800" y="1748813"/>
            <a:ext cx="11269133" cy="4132812"/>
          </a:xfrm>
        </p:spPr>
        <p:txBody>
          <a:bodyPr/>
          <a:lstStyle/>
          <a:p>
            <a:r>
              <a:rPr lang="fr-FR" dirty="0"/>
              <a:t>Assiette pour l’indemnité conventionnelle</a:t>
            </a:r>
          </a:p>
          <a:p>
            <a:pPr lvl="1"/>
            <a:r>
              <a:rPr lang="fr-FR" dirty="0"/>
              <a:t>Ouvriers : l’assiette à retenir est la même que celle prévue par le code du travail</a:t>
            </a:r>
          </a:p>
          <a:p>
            <a:pPr lvl="1"/>
            <a:r>
              <a:rPr lang="fr-FR" dirty="0" err="1"/>
              <a:t>ETAMet</a:t>
            </a:r>
            <a:r>
              <a:rPr lang="fr-FR" dirty="0"/>
              <a:t> cadres : l’assiette prend en compte la rémunération brute du dernier mois (salaire habituel) à laquelle s’ajoute la rémunération variable (différence entre </a:t>
            </a:r>
            <a:br>
              <a:rPr lang="fr-FR" dirty="0"/>
            </a:br>
            <a:r>
              <a:rPr lang="fr-FR" dirty="0"/>
              <a:t>la rémunération totale des 12 derniers mois et la rémunération de base des </a:t>
            </a:r>
            <a:br>
              <a:rPr lang="fr-FR" dirty="0"/>
            </a:br>
            <a:r>
              <a:rPr lang="fr-FR" dirty="0"/>
              <a:t>12 derniers mois) </a:t>
            </a:r>
          </a:p>
        </p:txBody>
      </p:sp>
      <p:sp>
        <p:nvSpPr>
          <p:cNvPr id="3" name="Titre 2"/>
          <p:cNvSpPr>
            <a:spLocks noGrp="1"/>
          </p:cNvSpPr>
          <p:nvPr>
            <p:ph type="title"/>
          </p:nvPr>
        </p:nvSpPr>
        <p:spPr>
          <a:xfrm>
            <a:off x="431682" y="428667"/>
            <a:ext cx="11251489" cy="1200133"/>
          </a:xfrm>
        </p:spPr>
        <p:txBody>
          <a:bodyPr/>
          <a:lstStyle/>
          <a:p>
            <a:r>
              <a:rPr lang="fr-FR" dirty="0"/>
              <a:t>La Rupture : Licenciement (3)</a:t>
            </a:r>
          </a:p>
        </p:txBody>
      </p:sp>
    </p:spTree>
    <p:extLst>
      <p:ext uri="{BB962C8B-B14F-4D97-AF65-F5344CB8AC3E}">
        <p14:creationId xmlns:p14="http://schemas.microsoft.com/office/powerpoint/2010/main" val="75485687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a:xfrm>
            <a:off x="431800" y="1748813"/>
            <a:ext cx="11269133" cy="4132812"/>
          </a:xfrm>
        </p:spPr>
        <p:txBody>
          <a:bodyPr/>
          <a:lstStyle/>
          <a:p>
            <a:r>
              <a:rPr lang="x-none" dirty="0"/>
              <a:t>Instauration d'une visite médicale avant leur départ en retraite pour les travailleurs ayant bénéficié d'un suivi médical renforcé durant leur carrière professionnelle</a:t>
            </a:r>
            <a:endParaRPr lang="fr-FR" dirty="0"/>
          </a:p>
          <a:p>
            <a:endParaRPr lang="fr-FR" dirty="0"/>
          </a:p>
        </p:txBody>
      </p:sp>
      <p:sp>
        <p:nvSpPr>
          <p:cNvPr id="3" name="Titre 2"/>
          <p:cNvSpPr>
            <a:spLocks noGrp="1"/>
          </p:cNvSpPr>
          <p:nvPr>
            <p:ph type="title"/>
          </p:nvPr>
        </p:nvSpPr>
        <p:spPr>
          <a:xfrm>
            <a:off x="431682" y="428667"/>
            <a:ext cx="11251489" cy="1200133"/>
          </a:xfrm>
        </p:spPr>
        <p:txBody>
          <a:bodyPr/>
          <a:lstStyle/>
          <a:p>
            <a:r>
              <a:rPr lang="fr-FR"/>
              <a:t>Départ </a:t>
            </a:r>
            <a:r>
              <a:rPr lang="fr-FR" dirty="0"/>
              <a:t>en retraite : visite médicale</a:t>
            </a:r>
          </a:p>
        </p:txBody>
      </p:sp>
    </p:spTree>
    <p:extLst>
      <p:ext uri="{BB962C8B-B14F-4D97-AF65-F5344CB8AC3E}">
        <p14:creationId xmlns:p14="http://schemas.microsoft.com/office/powerpoint/2010/main" val="146827435"/>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p:cNvGraphicFramePr>
            <a:graphicFrameLocks noGrp="1"/>
          </p:cNvGraphicFramePr>
          <p:nvPr>
            <p:ph sz="quarter" idx="14"/>
          </p:nvPr>
        </p:nvGraphicFramePr>
        <p:xfrm>
          <a:off x="431800" y="1748367"/>
          <a:ext cx="11269133" cy="413385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re 2"/>
          <p:cNvSpPr>
            <a:spLocks noGrp="1"/>
          </p:cNvSpPr>
          <p:nvPr>
            <p:ph type="title"/>
          </p:nvPr>
        </p:nvSpPr>
        <p:spPr>
          <a:xfrm>
            <a:off x="431682" y="428667"/>
            <a:ext cx="11251489" cy="1200133"/>
          </a:xfrm>
        </p:spPr>
        <p:txBody>
          <a:bodyPr>
            <a:normAutofit fontScale="90000"/>
          </a:bodyPr>
          <a:lstStyle/>
          <a:p>
            <a:r>
              <a:rPr lang="fr-FR" dirty="0"/>
              <a:t>La Rupture : Indemnités de départ </a:t>
            </a:r>
            <a:br>
              <a:rPr lang="fr-FR" dirty="0"/>
            </a:br>
            <a:r>
              <a:rPr lang="fr-FR" dirty="0"/>
              <a:t>à la retraite (1)</a:t>
            </a:r>
          </a:p>
        </p:txBody>
      </p:sp>
      <p:pic>
        <p:nvPicPr>
          <p:cNvPr id="2" name="Image 1"/>
          <p:cNvPicPr>
            <a:picLocks noChangeAspect="1"/>
          </p:cNvPicPr>
          <p:nvPr/>
        </p:nvPicPr>
        <p:blipFill>
          <a:blip r:embed="rId8"/>
          <a:stretch>
            <a:fillRect/>
          </a:stretch>
        </p:blipFill>
        <p:spPr>
          <a:xfrm>
            <a:off x="780601" y="2013985"/>
            <a:ext cx="10571531" cy="3853065"/>
          </a:xfrm>
          <a:prstGeom prst="rect">
            <a:avLst/>
          </a:prstGeom>
        </p:spPr>
      </p:pic>
    </p:spTree>
    <p:extLst>
      <p:ext uri="{BB962C8B-B14F-4D97-AF65-F5344CB8AC3E}">
        <p14:creationId xmlns:p14="http://schemas.microsoft.com/office/powerpoint/2010/main" val="394190515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p:cNvGraphicFramePr>
            <a:graphicFrameLocks noGrp="1"/>
          </p:cNvGraphicFramePr>
          <p:nvPr>
            <p:ph sz="quarter" idx="14"/>
          </p:nvPr>
        </p:nvGraphicFramePr>
        <p:xfrm>
          <a:off x="431800" y="1748367"/>
          <a:ext cx="11269133" cy="413385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re 2"/>
          <p:cNvSpPr>
            <a:spLocks noGrp="1"/>
          </p:cNvSpPr>
          <p:nvPr>
            <p:ph type="title"/>
          </p:nvPr>
        </p:nvSpPr>
        <p:spPr>
          <a:xfrm>
            <a:off x="431682" y="428667"/>
            <a:ext cx="11251489" cy="1200133"/>
          </a:xfrm>
        </p:spPr>
        <p:txBody>
          <a:bodyPr>
            <a:normAutofit fontScale="90000"/>
          </a:bodyPr>
          <a:lstStyle/>
          <a:p>
            <a:r>
              <a:rPr lang="fr-FR" dirty="0"/>
              <a:t>La Rupture : Indemnités de départ </a:t>
            </a:r>
            <a:br>
              <a:rPr lang="fr-FR" dirty="0"/>
            </a:br>
            <a:r>
              <a:rPr lang="fr-FR" dirty="0"/>
              <a:t>à la retraite (2)</a:t>
            </a:r>
          </a:p>
        </p:txBody>
      </p:sp>
    </p:spTree>
    <p:extLst>
      <p:ext uri="{BB962C8B-B14F-4D97-AF65-F5344CB8AC3E}">
        <p14:creationId xmlns:p14="http://schemas.microsoft.com/office/powerpoint/2010/main" val="3464984313"/>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p:cNvGraphicFramePr>
            <a:graphicFrameLocks noGrp="1"/>
          </p:cNvGraphicFramePr>
          <p:nvPr>
            <p:ph sz="quarter" idx="14"/>
          </p:nvPr>
        </p:nvGraphicFramePr>
        <p:xfrm>
          <a:off x="431800" y="1748367"/>
          <a:ext cx="11269133" cy="413385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re 2"/>
          <p:cNvSpPr>
            <a:spLocks noGrp="1"/>
          </p:cNvSpPr>
          <p:nvPr>
            <p:ph type="title"/>
          </p:nvPr>
        </p:nvSpPr>
        <p:spPr>
          <a:xfrm>
            <a:off x="431682" y="428667"/>
            <a:ext cx="11251489" cy="1200133"/>
          </a:xfrm>
        </p:spPr>
        <p:txBody>
          <a:bodyPr>
            <a:normAutofit fontScale="90000"/>
          </a:bodyPr>
          <a:lstStyle/>
          <a:p>
            <a:r>
              <a:rPr lang="fr-FR" dirty="0"/>
              <a:t>La Rupture : Indemnités de mise </a:t>
            </a:r>
            <a:br>
              <a:rPr lang="fr-FR" dirty="0"/>
            </a:br>
            <a:r>
              <a:rPr lang="fr-FR" dirty="0"/>
              <a:t>à la retraite (1) </a:t>
            </a:r>
          </a:p>
        </p:txBody>
      </p:sp>
      <p:pic>
        <p:nvPicPr>
          <p:cNvPr id="5" name="Image 4"/>
          <p:cNvPicPr>
            <a:picLocks noChangeAspect="1"/>
          </p:cNvPicPr>
          <p:nvPr/>
        </p:nvPicPr>
        <p:blipFill>
          <a:blip r:embed="rId8"/>
          <a:stretch>
            <a:fillRect/>
          </a:stretch>
        </p:blipFill>
        <p:spPr>
          <a:xfrm>
            <a:off x="875420" y="1988840"/>
            <a:ext cx="9961107" cy="4230416"/>
          </a:xfrm>
          <a:prstGeom prst="rect">
            <a:avLst/>
          </a:prstGeom>
        </p:spPr>
      </p:pic>
    </p:spTree>
    <p:extLst>
      <p:ext uri="{BB962C8B-B14F-4D97-AF65-F5344CB8AC3E}">
        <p14:creationId xmlns:p14="http://schemas.microsoft.com/office/powerpoint/2010/main" val="258232480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p:cNvGraphicFramePr>
            <a:graphicFrameLocks noGrp="1"/>
          </p:cNvGraphicFramePr>
          <p:nvPr>
            <p:ph sz="quarter" idx="14"/>
          </p:nvPr>
        </p:nvGraphicFramePr>
        <p:xfrm>
          <a:off x="431800" y="1748367"/>
          <a:ext cx="11269133" cy="413385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re 2"/>
          <p:cNvSpPr>
            <a:spLocks noGrp="1"/>
          </p:cNvSpPr>
          <p:nvPr>
            <p:ph type="title"/>
          </p:nvPr>
        </p:nvSpPr>
        <p:spPr>
          <a:xfrm>
            <a:off x="431682" y="428667"/>
            <a:ext cx="11251489" cy="1200133"/>
          </a:xfrm>
        </p:spPr>
        <p:txBody>
          <a:bodyPr>
            <a:normAutofit fontScale="90000"/>
          </a:bodyPr>
          <a:lstStyle/>
          <a:p>
            <a:r>
              <a:rPr lang="fr-FR" dirty="0"/>
              <a:t>La Rupture : Indemnités de mise </a:t>
            </a:r>
            <a:br>
              <a:rPr lang="fr-FR" dirty="0"/>
            </a:br>
            <a:r>
              <a:rPr lang="fr-FR" dirty="0"/>
              <a:t>à la retraite (2)</a:t>
            </a:r>
          </a:p>
        </p:txBody>
      </p:sp>
    </p:spTree>
    <p:extLst>
      <p:ext uri="{BB962C8B-B14F-4D97-AF65-F5344CB8AC3E}">
        <p14:creationId xmlns:p14="http://schemas.microsoft.com/office/powerpoint/2010/main" val="1136871593"/>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p:cNvGraphicFramePr>
            <a:graphicFrameLocks noGrp="1"/>
          </p:cNvGraphicFramePr>
          <p:nvPr>
            <p:ph sz="quarter" idx="14"/>
          </p:nvPr>
        </p:nvGraphicFramePr>
        <p:xfrm>
          <a:off x="431800" y="1748367"/>
          <a:ext cx="11269133" cy="413385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re 2"/>
          <p:cNvSpPr>
            <a:spLocks noGrp="1"/>
          </p:cNvSpPr>
          <p:nvPr>
            <p:ph type="title"/>
          </p:nvPr>
        </p:nvSpPr>
        <p:spPr>
          <a:xfrm>
            <a:off x="431682" y="428667"/>
            <a:ext cx="11251489" cy="1200133"/>
          </a:xfrm>
        </p:spPr>
        <p:txBody>
          <a:bodyPr>
            <a:normAutofit fontScale="90000"/>
          </a:bodyPr>
          <a:lstStyle/>
          <a:p>
            <a:r>
              <a:rPr lang="fr-FR" dirty="0"/>
              <a:t>La Rupture : Indemnités de mise </a:t>
            </a:r>
            <a:br>
              <a:rPr lang="fr-FR" dirty="0"/>
            </a:br>
            <a:r>
              <a:rPr lang="fr-FR" dirty="0"/>
              <a:t>à la retraite (2)</a:t>
            </a:r>
          </a:p>
        </p:txBody>
      </p:sp>
    </p:spTree>
    <p:extLst>
      <p:ext uri="{BB962C8B-B14F-4D97-AF65-F5344CB8AC3E}">
        <p14:creationId xmlns:p14="http://schemas.microsoft.com/office/powerpoint/2010/main" val="1936483533"/>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a:xfrm>
            <a:off x="431800" y="1748813"/>
            <a:ext cx="11269133" cy="4132812"/>
          </a:xfrm>
        </p:spPr>
        <p:txBody>
          <a:bodyPr>
            <a:normAutofit fontScale="92500"/>
          </a:bodyPr>
          <a:lstStyle/>
          <a:p>
            <a:r>
              <a:rPr lang="fr-FR" dirty="0"/>
              <a:t>Les primes pour travaux dangereux ou insalubres. Les clauses de verrouillage déjà existantes dans des accords étendus devront être confirmées par avenant avant le 1</a:t>
            </a:r>
            <a:r>
              <a:rPr lang="fr-FR" baseline="30000" dirty="0"/>
              <a:t>er</a:t>
            </a:r>
            <a:r>
              <a:rPr lang="fr-FR" dirty="0"/>
              <a:t> janvier 2019. Ceci n’a pas été fait dans la nouvelle convention collective du bâtiment ouvrier</a:t>
            </a:r>
          </a:p>
          <a:p>
            <a:r>
              <a:rPr lang="fr-FR" dirty="0"/>
              <a:t>Pour les points ci-après, il y a toujours primauté de l’accord d’entreprise</a:t>
            </a:r>
          </a:p>
          <a:p>
            <a:pPr lvl="1"/>
            <a:r>
              <a:rPr lang="fr-FR" dirty="0"/>
              <a:t>Prime de vacances, le 13</a:t>
            </a:r>
            <a:r>
              <a:rPr lang="fr-FR" baseline="30000" dirty="0"/>
              <a:t>e</a:t>
            </a:r>
            <a:r>
              <a:rPr lang="fr-FR" dirty="0"/>
              <a:t> mois</a:t>
            </a:r>
          </a:p>
          <a:p>
            <a:pPr lvl="1"/>
            <a:r>
              <a:rPr lang="fr-FR" dirty="0"/>
              <a:t>Aménagement du temps de travail, forfait jours</a:t>
            </a:r>
          </a:p>
          <a:p>
            <a:pPr lvl="1"/>
            <a:r>
              <a:rPr lang="fr-FR" dirty="0"/>
              <a:t>Le taux de majoration des heures supplémentaires, le contingent d’heures supplémentaires</a:t>
            </a:r>
          </a:p>
          <a:p>
            <a:pPr lvl="1"/>
            <a:r>
              <a:rPr lang="fr-FR" dirty="0"/>
              <a:t>Maladie</a:t>
            </a:r>
          </a:p>
          <a:p>
            <a:pPr lvl="1"/>
            <a:r>
              <a:rPr lang="fr-FR" dirty="0"/>
              <a:t>La période d’acquisition et de prise des congés payés, les congés pour ancienneté…</a:t>
            </a:r>
          </a:p>
          <a:p>
            <a:endParaRPr lang="fr-FR" dirty="0"/>
          </a:p>
        </p:txBody>
      </p:sp>
      <p:sp>
        <p:nvSpPr>
          <p:cNvPr id="3" name="Titre 2"/>
          <p:cNvSpPr>
            <a:spLocks noGrp="1"/>
          </p:cNvSpPr>
          <p:nvPr>
            <p:ph type="title"/>
          </p:nvPr>
        </p:nvSpPr>
        <p:spPr>
          <a:xfrm>
            <a:off x="431682" y="428667"/>
            <a:ext cx="11251489" cy="1200133"/>
          </a:xfrm>
        </p:spPr>
        <p:txBody>
          <a:bodyPr>
            <a:normAutofit fontScale="90000"/>
          </a:bodyPr>
          <a:lstStyle/>
          <a:p>
            <a:r>
              <a:rPr lang="fr-FR" dirty="0"/>
              <a:t>Que retenir : points principaux pouvant être modifiés par accord d’entreprise</a:t>
            </a:r>
          </a:p>
        </p:txBody>
      </p:sp>
    </p:spTree>
    <p:extLst>
      <p:ext uri="{BB962C8B-B14F-4D97-AF65-F5344CB8AC3E}">
        <p14:creationId xmlns:p14="http://schemas.microsoft.com/office/powerpoint/2010/main" val="3379663629"/>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a:xfrm>
            <a:off x="431800" y="1748813"/>
            <a:ext cx="11269133" cy="4132812"/>
          </a:xfrm>
        </p:spPr>
        <p:txBody>
          <a:bodyPr>
            <a:normAutofit fontScale="92500" lnSpcReduction="10000"/>
          </a:bodyPr>
          <a:lstStyle/>
          <a:p>
            <a:r>
              <a:rPr lang="fr-FR" dirty="0"/>
              <a:t>Pour les entreprises adhérentes à l’une des organisations patronales signataires » les dispositions des deux Conventions Collectives Nationales </a:t>
            </a:r>
            <a:br>
              <a:rPr lang="fr-FR" dirty="0"/>
            </a:br>
            <a:r>
              <a:rPr lang="fr-FR" dirty="0"/>
              <a:t>du 7 mars 2018 pouvaient être appliquées entre le 1</a:t>
            </a:r>
            <a:r>
              <a:rPr lang="fr-FR" baseline="30000" dirty="0"/>
              <a:t>er </a:t>
            </a:r>
            <a:r>
              <a:rPr lang="fr-FR" dirty="0"/>
              <a:t>juillet 2018 </a:t>
            </a:r>
            <a:br>
              <a:rPr lang="fr-FR" dirty="0"/>
            </a:br>
            <a:r>
              <a:rPr lang="fr-FR" dirty="0"/>
              <a:t>et 24 février 2019</a:t>
            </a:r>
          </a:p>
          <a:p>
            <a:endParaRPr lang="fr-FR" dirty="0"/>
          </a:p>
          <a:p>
            <a:r>
              <a:rPr lang="fr-FR" dirty="0"/>
              <a:t>Les clauses communes à la plupart de ces conventions locales régionales généralisées au sein des 2 conventions de branche. Elle est complétée par avenants territoriaux qui traitent des salaires minimaux, des indemnités de petits déplacements, et des clauses de spécificités</a:t>
            </a:r>
          </a:p>
          <a:p>
            <a:endParaRPr lang="fr-FR" dirty="0"/>
          </a:p>
          <a:p>
            <a:r>
              <a:rPr lang="fr-FR" dirty="0"/>
              <a:t>La durée maximale de la période d'essai est portée à 2 mois</a:t>
            </a:r>
          </a:p>
          <a:p>
            <a:endParaRPr lang="fr-FR" dirty="0"/>
          </a:p>
        </p:txBody>
      </p:sp>
      <p:sp>
        <p:nvSpPr>
          <p:cNvPr id="3" name="Titre 2"/>
          <p:cNvSpPr>
            <a:spLocks noGrp="1"/>
          </p:cNvSpPr>
          <p:nvPr>
            <p:ph type="title"/>
          </p:nvPr>
        </p:nvSpPr>
        <p:spPr>
          <a:xfrm>
            <a:off x="431682" y="428667"/>
            <a:ext cx="11251489" cy="1200133"/>
          </a:xfrm>
        </p:spPr>
        <p:txBody>
          <a:bodyPr>
            <a:normAutofit fontScale="90000"/>
          </a:bodyPr>
          <a:lstStyle/>
          <a:p>
            <a:r>
              <a:rPr lang="fr-FR" dirty="0"/>
              <a:t>Que retenir des conventions collectives des ouvriers du Bâtiment - 07/03/2018 (1)</a:t>
            </a:r>
          </a:p>
        </p:txBody>
      </p:sp>
    </p:spTree>
    <p:extLst>
      <p:ext uri="{BB962C8B-B14F-4D97-AF65-F5344CB8AC3E}">
        <p14:creationId xmlns:p14="http://schemas.microsoft.com/office/powerpoint/2010/main" val="2049956096"/>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a:xfrm>
            <a:off x="431800" y="1748813"/>
            <a:ext cx="11269133" cy="4132812"/>
          </a:xfrm>
        </p:spPr>
        <p:txBody>
          <a:bodyPr>
            <a:normAutofit fontScale="92500" lnSpcReduction="10000"/>
          </a:bodyPr>
          <a:lstStyle/>
          <a:p>
            <a:r>
              <a:rPr lang="fr-FR" dirty="0"/>
              <a:t>Le régime applicable au travail de nuit a été modifié</a:t>
            </a:r>
          </a:p>
          <a:p>
            <a:endParaRPr lang="fr-FR" dirty="0"/>
          </a:p>
          <a:p>
            <a:r>
              <a:rPr lang="fr-FR" dirty="0"/>
              <a:t>Le contingent d heures supplémentaires est porté à 300 h par an au lieu de 180 h</a:t>
            </a:r>
          </a:p>
          <a:p>
            <a:endParaRPr lang="fr-FR" dirty="0"/>
          </a:p>
          <a:p>
            <a:r>
              <a:rPr lang="fr-FR" dirty="0"/>
              <a:t>La définition du grand déplacement est modifiée</a:t>
            </a:r>
          </a:p>
          <a:p>
            <a:pPr marL="0" indent="0">
              <a:buNone/>
            </a:pPr>
            <a:r>
              <a:rPr lang="fr-FR" dirty="0"/>
              <a:t> </a:t>
            </a:r>
          </a:p>
          <a:p>
            <a:r>
              <a:rPr lang="fr-FR" dirty="0"/>
              <a:t>Les indemnités de petits déplacements effectués par les ouvriers ne seront plus mesurées par rapport à la distance à vol d'oiseau mais par rapport aux km réellement parcourus</a:t>
            </a:r>
          </a:p>
          <a:p>
            <a:endParaRPr lang="fr-FR" dirty="0"/>
          </a:p>
        </p:txBody>
      </p:sp>
      <p:sp>
        <p:nvSpPr>
          <p:cNvPr id="3" name="Titre 2"/>
          <p:cNvSpPr>
            <a:spLocks noGrp="1"/>
          </p:cNvSpPr>
          <p:nvPr>
            <p:ph type="title"/>
          </p:nvPr>
        </p:nvSpPr>
        <p:spPr>
          <a:xfrm>
            <a:off x="431682" y="428667"/>
            <a:ext cx="11251489" cy="1200133"/>
          </a:xfrm>
        </p:spPr>
        <p:txBody>
          <a:bodyPr>
            <a:normAutofit fontScale="90000"/>
          </a:bodyPr>
          <a:lstStyle/>
          <a:p>
            <a:r>
              <a:rPr lang="fr-FR" dirty="0"/>
              <a:t>Que retenir des conventions collectives des ouvriers du Bâtiment - 07/03/2018 (2)</a:t>
            </a:r>
          </a:p>
        </p:txBody>
      </p:sp>
    </p:spTree>
    <p:extLst>
      <p:ext uri="{BB962C8B-B14F-4D97-AF65-F5344CB8AC3E}">
        <p14:creationId xmlns:p14="http://schemas.microsoft.com/office/powerpoint/2010/main" val="2537980716"/>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4"/>
          </p:nvPr>
        </p:nvSpPr>
        <p:spPr/>
        <p:txBody>
          <a:bodyPr>
            <a:normAutofit lnSpcReduction="10000"/>
          </a:bodyPr>
          <a:lstStyle/>
          <a:p>
            <a:pPr algn="just"/>
            <a:r>
              <a:rPr lang="fr-FR" dirty="0"/>
              <a:t>L’indemnité de repas est à verser à tout ouvrier qui, pour des raisons de service, se trouve dans l’impossibilité de regagner son domicile et prend son déjeuner en dehors de sa résidence habituelle</a:t>
            </a:r>
          </a:p>
          <a:p>
            <a:endParaRPr lang="fr-FR" dirty="0"/>
          </a:p>
          <a:p>
            <a:r>
              <a:rPr lang="fr-FR" dirty="0"/>
              <a:t>L’indemnité de trajet sert désormais à indemniser « l’amplitude » et non plus « la sujétion ». Cette indemnité de trajet n’est pas due lorsque le trajet est déjà rémunéré en temps de travail</a:t>
            </a:r>
          </a:p>
          <a:p>
            <a:endParaRPr lang="fr-FR" dirty="0"/>
          </a:p>
          <a:p>
            <a:r>
              <a:rPr lang="fr-FR" dirty="0"/>
              <a:t>L’indemnité de licenciement conventionnelle est modifiée (retranscription des dispositions prévues dans la loi)</a:t>
            </a:r>
          </a:p>
        </p:txBody>
      </p:sp>
      <p:sp>
        <p:nvSpPr>
          <p:cNvPr id="3" name="Titre 2"/>
          <p:cNvSpPr>
            <a:spLocks noGrp="1"/>
          </p:cNvSpPr>
          <p:nvPr>
            <p:ph type="title"/>
          </p:nvPr>
        </p:nvSpPr>
        <p:spPr/>
        <p:txBody>
          <a:bodyPr>
            <a:normAutofit fontScale="90000"/>
          </a:bodyPr>
          <a:lstStyle/>
          <a:p>
            <a:r>
              <a:rPr lang="fr-FR" dirty="0"/>
              <a:t>Que retenir des conventions collectives des ouvriers du Bâtiment - 07/03/2018 (3)</a:t>
            </a:r>
          </a:p>
        </p:txBody>
      </p:sp>
    </p:spTree>
    <p:extLst>
      <p:ext uri="{BB962C8B-B14F-4D97-AF65-F5344CB8AC3E}">
        <p14:creationId xmlns:p14="http://schemas.microsoft.com/office/powerpoint/2010/main" val="3355781685"/>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3C2181D-911C-1343-7267-E35AC86CCA0E}"/>
              </a:ext>
            </a:extLst>
          </p:cNvPr>
          <p:cNvSpPr>
            <a:spLocks noGrp="1"/>
          </p:cNvSpPr>
          <p:nvPr>
            <p:ph type="title"/>
          </p:nvPr>
        </p:nvSpPr>
        <p:spPr>
          <a:xfrm>
            <a:off x="1373038" y="1457865"/>
            <a:ext cx="3200400" cy="4580626"/>
          </a:xfrm>
          <a:noFill/>
        </p:spPr>
        <p:txBody>
          <a:bodyPr rtlCol="0" anchor="t">
            <a:noAutofit/>
          </a:bodyPr>
          <a:lstStyle>
            <a:defPPr>
              <a:defRPr lang="fr-FR"/>
            </a:defPPr>
          </a:lstStyle>
          <a:p>
            <a:pPr rtl="0"/>
            <a:r>
              <a:rPr lang="fr-FR"/>
              <a:t>Ordre du jour</a:t>
            </a:r>
          </a:p>
        </p:txBody>
      </p:sp>
      <p:sp>
        <p:nvSpPr>
          <p:cNvPr id="3" name="Espace réservé du contenu 2">
            <a:extLst>
              <a:ext uri="{FF2B5EF4-FFF2-40B4-BE49-F238E27FC236}">
                <a16:creationId xmlns:a16="http://schemas.microsoft.com/office/drawing/2014/main" id="{9BEA8735-F1DC-1DE6-0A38-429B2F660F8A}"/>
              </a:ext>
            </a:extLst>
          </p:cNvPr>
          <p:cNvSpPr>
            <a:spLocks noGrp="1"/>
          </p:cNvSpPr>
          <p:nvPr>
            <p:ph idx="1"/>
          </p:nvPr>
        </p:nvSpPr>
        <p:spPr>
          <a:xfrm>
            <a:off x="4796286" y="1457864"/>
            <a:ext cx="6328913" cy="4580627"/>
          </a:xfrm>
          <a:noFill/>
        </p:spPr>
        <p:txBody>
          <a:bodyPr rtlCol="0" anchor="t">
            <a:normAutofit/>
          </a:bodyPr>
          <a:lstStyle>
            <a:defPPr>
              <a:defRPr lang="fr-FR"/>
            </a:defPPr>
          </a:lstStyle>
          <a:p>
            <a:pPr rtl="0"/>
            <a:r>
              <a:rPr lang="fr-FR" dirty="0"/>
              <a:t>Introduction</a:t>
            </a:r>
          </a:p>
          <a:p>
            <a:pPr rtl="0"/>
            <a:r>
              <a:rPr lang="fr-FR" dirty="0"/>
              <a:t>Renforcez la confiance</a:t>
            </a:r>
          </a:p>
          <a:p>
            <a:pPr rtl="0"/>
            <a:r>
              <a:rPr lang="fr-FR" dirty="0"/>
              <a:t>Suscitez l’intérêt du public</a:t>
            </a:r>
          </a:p>
          <a:p>
            <a:pPr rtl="0"/>
            <a:r>
              <a:rPr lang="fr-FR" dirty="0"/>
              <a:t>Aides visuelles</a:t>
            </a:r>
          </a:p>
          <a:p>
            <a:pPr rtl="0"/>
            <a:r>
              <a:rPr lang="fr-FR" dirty="0"/>
              <a:t>Derniers conseils et points importants à retenir</a:t>
            </a:r>
          </a:p>
        </p:txBody>
      </p:sp>
    </p:spTree>
    <p:extLst>
      <p:ext uri="{BB962C8B-B14F-4D97-AF65-F5344CB8AC3E}">
        <p14:creationId xmlns:p14="http://schemas.microsoft.com/office/powerpoint/2010/main" val="2070817603"/>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A0034E89-1952-5288-08A0-70A4A73BE39E}"/>
              </a:ext>
            </a:extLst>
          </p:cNvPr>
          <p:cNvSpPr>
            <a:spLocks noGrp="1"/>
          </p:cNvSpPr>
          <p:nvPr>
            <p:ph type="ctrTitle"/>
          </p:nvPr>
        </p:nvSpPr>
        <p:spPr>
          <a:xfrm>
            <a:off x="918259" y="798653"/>
            <a:ext cx="5166167" cy="5289630"/>
          </a:xfrm>
          <a:solidFill>
            <a:schemeClr val="bg1">
              <a:alpha val="95000"/>
            </a:schemeClr>
          </a:solidFill>
        </p:spPr>
        <p:txBody>
          <a:bodyPr rtlCol="0" anchor="ctr"/>
          <a:lstStyle>
            <a:defPPr>
              <a:defRPr lang="fr-FR"/>
            </a:defPPr>
          </a:lstStyle>
          <a:p>
            <a:pPr rtl="0"/>
            <a:r>
              <a:rPr lang="fr-FR" dirty="0"/>
              <a:t>La puissance de la communication</a:t>
            </a:r>
          </a:p>
        </p:txBody>
      </p:sp>
      <p:pic>
        <p:nvPicPr>
          <p:cNvPr id="10" name="Espace réservé d’image 16" descr="membre de l’équipe&#10;">
            <a:extLst>
              <a:ext uri="{FF2B5EF4-FFF2-40B4-BE49-F238E27FC236}">
                <a16:creationId xmlns:a16="http://schemas.microsoft.com/office/drawing/2014/main" id="{A7CE32F5-A0B3-2021-DCFD-DD6B651F758E}"/>
              </a:ext>
            </a:extLst>
          </p:cNvPr>
          <p:cNvPicPr>
            <a:picLocks noGrp="1" noChangeAspect="1"/>
          </p:cNvPicPr>
          <p:nvPr>
            <p:ph type="pic" sz="quarter" idx="13"/>
          </p:nvPr>
        </p:nvPicPr>
        <p:blipFill rotWithShape="1">
          <a:blip r:embed="rId3" cstate="print">
            <a:extLst>
              <a:ext uri="{28A0092B-C50C-407E-A947-70E740481C1C}">
                <a14:useLocalDpi xmlns:a14="http://schemas.microsoft.com/office/drawing/2010/main"/>
              </a:ext>
            </a:extLst>
          </a:blip>
          <a:srcRect l="76" r="76"/>
          <a:stretch/>
        </p:blipFill>
        <p:spPr>
          <a:xfrm>
            <a:off x="6084424" y="787077"/>
            <a:ext cx="5166167" cy="5289631"/>
          </a:xfrm>
        </p:spPr>
      </p:pic>
    </p:spTree>
    <p:extLst>
      <p:ext uri="{BB962C8B-B14F-4D97-AF65-F5344CB8AC3E}">
        <p14:creationId xmlns:p14="http://schemas.microsoft.com/office/powerpoint/2010/main" val="370945181"/>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54ABE40-AA00-F366-A36A-B3F1AADBF025}"/>
              </a:ext>
            </a:extLst>
          </p:cNvPr>
          <p:cNvSpPr>
            <a:spLocks noGrp="1"/>
          </p:cNvSpPr>
          <p:nvPr>
            <p:ph type="ctrTitle"/>
          </p:nvPr>
        </p:nvSpPr>
        <p:spPr>
          <a:xfrm>
            <a:off x="6296135" y="1124887"/>
            <a:ext cx="4480560" cy="2352356"/>
          </a:xfrm>
          <a:noFill/>
        </p:spPr>
        <p:txBody>
          <a:bodyPr rtlCol="0">
            <a:noAutofit/>
          </a:bodyPr>
          <a:lstStyle>
            <a:defPPr>
              <a:defRPr lang="fr-FR"/>
            </a:defPPr>
          </a:lstStyle>
          <a:p>
            <a:pPr rtl="0"/>
            <a:r>
              <a:rPr lang="fr-FR" dirty="0"/>
              <a:t>Surmontez la nervosité</a:t>
            </a:r>
          </a:p>
        </p:txBody>
      </p:sp>
      <p:sp>
        <p:nvSpPr>
          <p:cNvPr id="11" name="Sous-titre 10">
            <a:extLst>
              <a:ext uri="{FF2B5EF4-FFF2-40B4-BE49-F238E27FC236}">
                <a16:creationId xmlns:a16="http://schemas.microsoft.com/office/drawing/2014/main" id="{F4583933-95EE-13B0-55ED-7B10E3D3867E}"/>
              </a:ext>
            </a:extLst>
          </p:cNvPr>
          <p:cNvSpPr>
            <a:spLocks noGrp="1"/>
          </p:cNvSpPr>
          <p:nvPr>
            <p:ph type="subTitle" idx="1"/>
          </p:nvPr>
        </p:nvSpPr>
        <p:spPr>
          <a:xfrm>
            <a:off x="6296135" y="3571197"/>
            <a:ext cx="4476967" cy="2123547"/>
          </a:xfrm>
        </p:spPr>
        <p:txBody>
          <a:bodyPr rtlCol="0"/>
          <a:lstStyle>
            <a:defPPr>
              <a:defRPr lang="fr-FR"/>
            </a:defPPr>
          </a:lstStyle>
          <a:p>
            <a:pPr rtl="0"/>
            <a:r>
              <a:rPr lang="fr-FR" dirty="0"/>
              <a:t>Stratégies de renforcement de la confiance</a:t>
            </a:r>
          </a:p>
        </p:txBody>
      </p:sp>
      <p:pic>
        <p:nvPicPr>
          <p:cNvPr id="13" name="Espace réservé d’image 16" descr="Une personne et une personne regardant une tablette">
            <a:extLst>
              <a:ext uri="{FF2B5EF4-FFF2-40B4-BE49-F238E27FC236}">
                <a16:creationId xmlns:a16="http://schemas.microsoft.com/office/drawing/2014/main" id="{A565C7D0-ABAE-E6B6-B2C8-8EC5A7E28B3B}"/>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a:stretch/>
        </p:blipFill>
        <p:spPr>
          <a:xfrm>
            <a:off x="1329545" y="1148037"/>
            <a:ext cx="4365199" cy="4546707"/>
          </a:xfrm>
        </p:spPr>
      </p:pic>
    </p:spTree>
    <p:extLst>
      <p:ext uri="{BB962C8B-B14F-4D97-AF65-F5344CB8AC3E}">
        <p14:creationId xmlns:p14="http://schemas.microsoft.com/office/powerpoint/2010/main" val="1008037533"/>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635F5E3-2B1C-7C0A-8581-67A9052D13AA}"/>
              </a:ext>
            </a:extLst>
          </p:cNvPr>
          <p:cNvSpPr>
            <a:spLocks noGrp="1"/>
          </p:cNvSpPr>
          <p:nvPr>
            <p:ph type="title"/>
          </p:nvPr>
        </p:nvSpPr>
        <p:spPr>
          <a:xfrm>
            <a:off x="1616598" y="995425"/>
            <a:ext cx="8958805" cy="1077230"/>
          </a:xfrm>
          <a:noFill/>
        </p:spPr>
        <p:txBody>
          <a:bodyPr rtlCol="0"/>
          <a:lstStyle>
            <a:defPPr>
              <a:defRPr lang="fr-FR"/>
            </a:defPPr>
          </a:lstStyle>
          <a:p>
            <a:pPr rtl="0"/>
            <a:r>
              <a:rPr lang="fr-FR" dirty="0"/>
              <a:t>Suscitez l’intérêt du public</a:t>
            </a:r>
          </a:p>
        </p:txBody>
      </p:sp>
      <p:sp>
        <p:nvSpPr>
          <p:cNvPr id="3" name="Espace réservé du contenu 2">
            <a:extLst>
              <a:ext uri="{FF2B5EF4-FFF2-40B4-BE49-F238E27FC236}">
                <a16:creationId xmlns:a16="http://schemas.microsoft.com/office/drawing/2014/main" id="{A6A33159-D030-2F82-A142-F75940728319}"/>
              </a:ext>
            </a:extLst>
          </p:cNvPr>
          <p:cNvSpPr>
            <a:spLocks noGrp="1"/>
          </p:cNvSpPr>
          <p:nvPr>
            <p:ph sz="half" idx="14"/>
          </p:nvPr>
        </p:nvSpPr>
        <p:spPr>
          <a:xfrm>
            <a:off x="1616075" y="2257425"/>
            <a:ext cx="8959850" cy="3541713"/>
          </a:xfrm>
          <a:noFill/>
        </p:spPr>
        <p:txBody>
          <a:bodyPr vert="horz" lIns="91440" tIns="45720" rIns="91440" bIns="45720" rtlCol="0" anchor="t">
            <a:normAutofit/>
          </a:bodyPr>
          <a:lstStyle>
            <a:defPPr>
              <a:defRPr lang="fr-FR"/>
            </a:defPPr>
          </a:lstStyle>
          <a:p>
            <a:pPr rtl="0"/>
            <a:r>
              <a:rPr lang="fr-FR" dirty="0"/>
              <a:t>Regardez votre public pour créer un sentiment d’implication et de convivialité</a:t>
            </a:r>
          </a:p>
          <a:p>
            <a:pPr rtl="0"/>
            <a:r>
              <a:rPr lang="fr-FR" dirty="0"/>
              <a:t>Intégrez des histoires pertinentes dans votre présentation en utilisant des récits qui rendent votre message inoubliable et percutant</a:t>
            </a:r>
          </a:p>
          <a:p>
            <a:pPr rtl="0"/>
            <a:r>
              <a:rPr lang="fr-FR" dirty="0"/>
              <a:t>Encouragez les questions et fournissez des réponses réfléchies pour favoriser la participation du public</a:t>
            </a:r>
          </a:p>
          <a:p>
            <a:pPr rtl="0"/>
            <a:r>
              <a:rPr lang="fr-FR" dirty="0"/>
              <a:t>Utilisez des sondages ou des enquêtes en direct pour recueillir l’opinion du public, promouvoir l’engagement et veiller à ce que le public se sente impliqué</a:t>
            </a:r>
          </a:p>
        </p:txBody>
      </p:sp>
    </p:spTree>
    <p:extLst>
      <p:ext uri="{BB962C8B-B14F-4D97-AF65-F5344CB8AC3E}">
        <p14:creationId xmlns:p14="http://schemas.microsoft.com/office/powerpoint/2010/main" val="1667462095"/>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3D842265-4FF9-1B44-FEB5-821C943C6086}"/>
              </a:ext>
            </a:extLst>
          </p:cNvPr>
          <p:cNvSpPr>
            <a:spLocks noGrp="1"/>
          </p:cNvSpPr>
          <p:nvPr>
            <p:ph type="title"/>
          </p:nvPr>
        </p:nvSpPr>
        <p:spPr>
          <a:xfrm>
            <a:off x="1416937" y="879674"/>
            <a:ext cx="5377406" cy="2550005"/>
          </a:xfrm>
        </p:spPr>
        <p:txBody>
          <a:bodyPr rtlCol="0"/>
          <a:lstStyle>
            <a:defPPr>
              <a:defRPr lang="fr-FR"/>
            </a:defPPr>
          </a:lstStyle>
          <a:p>
            <a:pPr rtl="0"/>
            <a:r>
              <a:rPr lang="fr-FR" dirty="0"/>
              <a:t>Sélection d’aides visuelles</a:t>
            </a:r>
          </a:p>
        </p:txBody>
      </p:sp>
      <p:sp>
        <p:nvSpPr>
          <p:cNvPr id="7" name="Espace réservé du texte 6">
            <a:extLst>
              <a:ext uri="{FF2B5EF4-FFF2-40B4-BE49-F238E27FC236}">
                <a16:creationId xmlns:a16="http://schemas.microsoft.com/office/drawing/2014/main" id="{7B45969B-1704-F63D-6589-8EFA988FBC3F}"/>
              </a:ext>
            </a:extLst>
          </p:cNvPr>
          <p:cNvSpPr>
            <a:spLocks noGrp="1"/>
          </p:cNvSpPr>
          <p:nvPr>
            <p:ph type="body" sz="quarter" idx="13"/>
          </p:nvPr>
        </p:nvSpPr>
        <p:spPr>
          <a:xfrm>
            <a:off x="1417638" y="3576900"/>
            <a:ext cx="4126635" cy="2233613"/>
          </a:xfrm>
        </p:spPr>
        <p:txBody>
          <a:bodyPr rtlCol="0"/>
          <a:lstStyle>
            <a:defPPr>
              <a:defRPr lang="fr-FR"/>
            </a:defPPr>
          </a:lstStyle>
          <a:p>
            <a:pPr rtl="0"/>
            <a:r>
              <a:rPr lang="fr-FR" dirty="0"/>
              <a:t>Amélioration de votre présentation</a:t>
            </a:r>
          </a:p>
        </p:txBody>
      </p:sp>
    </p:spTree>
    <p:extLst>
      <p:ext uri="{BB962C8B-B14F-4D97-AF65-F5344CB8AC3E}">
        <p14:creationId xmlns:p14="http://schemas.microsoft.com/office/powerpoint/2010/main" val="2032268054"/>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7A9874B-BCA9-8420-1595-EDD1865A099A}"/>
              </a:ext>
            </a:extLst>
          </p:cNvPr>
          <p:cNvSpPr>
            <a:spLocks noGrp="1"/>
          </p:cNvSpPr>
          <p:nvPr>
            <p:ph type="title"/>
          </p:nvPr>
        </p:nvSpPr>
        <p:spPr>
          <a:xfrm>
            <a:off x="1269357" y="891251"/>
            <a:ext cx="9653286" cy="1158254"/>
          </a:xfrm>
          <a:noFill/>
        </p:spPr>
        <p:txBody>
          <a:bodyPr rtlCol="0"/>
          <a:lstStyle>
            <a:defPPr>
              <a:defRPr lang="fr-FR"/>
            </a:defPPr>
          </a:lstStyle>
          <a:p>
            <a:pPr rtl="0"/>
            <a:r>
              <a:rPr lang="fr-FR" dirty="0"/>
              <a:t>Techniques de discours efficaces</a:t>
            </a:r>
          </a:p>
        </p:txBody>
      </p:sp>
      <p:sp>
        <p:nvSpPr>
          <p:cNvPr id="3" name="Espace réservé du contenu 2">
            <a:extLst>
              <a:ext uri="{FF2B5EF4-FFF2-40B4-BE49-F238E27FC236}">
                <a16:creationId xmlns:a16="http://schemas.microsoft.com/office/drawing/2014/main" id="{68A5FD2B-E3E5-1C2B-0151-21F216B14A33}"/>
              </a:ext>
            </a:extLst>
          </p:cNvPr>
          <p:cNvSpPr>
            <a:spLocks noGrp="1"/>
          </p:cNvSpPr>
          <p:nvPr>
            <p:ph sz="half" idx="13"/>
          </p:nvPr>
        </p:nvSpPr>
        <p:spPr>
          <a:xfrm>
            <a:off x="1400540" y="2257062"/>
            <a:ext cx="4062711" cy="3541853"/>
          </a:xfrm>
          <a:noFill/>
        </p:spPr>
        <p:txBody>
          <a:bodyPr rtlCol="0">
            <a:normAutofit/>
          </a:bodyPr>
          <a:lstStyle>
            <a:defPPr>
              <a:defRPr lang="fr-FR"/>
            </a:defPPr>
          </a:lstStyle>
          <a:p>
            <a:pPr rtl="0"/>
            <a:r>
              <a:rPr lang="fr-FR" dirty="0"/>
              <a:t>Il s’agit d’un outil puissant de la prise de parole en public. Il implique une hauteur, un ton et un volume variables pour transmettre des émotions, accentuer des points et maintenir l’intérêt : </a:t>
            </a:r>
          </a:p>
          <a:p>
            <a:pPr lvl="1" rtl="0"/>
            <a:r>
              <a:rPr lang="fr-FR" dirty="0"/>
              <a:t>Variation de la hauteur</a:t>
            </a:r>
          </a:p>
          <a:p>
            <a:pPr lvl="1" rtl="0"/>
            <a:r>
              <a:rPr lang="fr-FR" dirty="0"/>
              <a:t>Inflexion de ton</a:t>
            </a:r>
          </a:p>
          <a:p>
            <a:pPr lvl="1" rtl="0"/>
            <a:r>
              <a:rPr lang="fr-FR" dirty="0"/>
              <a:t>Contrôle du volume</a:t>
            </a:r>
          </a:p>
        </p:txBody>
      </p:sp>
      <p:sp>
        <p:nvSpPr>
          <p:cNvPr id="4" name="Espace réservé du contenu 3">
            <a:extLst>
              <a:ext uri="{FF2B5EF4-FFF2-40B4-BE49-F238E27FC236}">
                <a16:creationId xmlns:a16="http://schemas.microsoft.com/office/drawing/2014/main" id="{ACFBB810-3430-2C29-1AA0-9744AA0A1AA3}"/>
              </a:ext>
            </a:extLst>
          </p:cNvPr>
          <p:cNvSpPr>
            <a:spLocks noGrp="1"/>
          </p:cNvSpPr>
          <p:nvPr>
            <p:ph sz="half" idx="14"/>
          </p:nvPr>
        </p:nvSpPr>
        <p:spPr>
          <a:xfrm>
            <a:off x="6588311" y="2257061"/>
            <a:ext cx="4203151" cy="3541853"/>
          </a:xfrm>
          <a:noFill/>
        </p:spPr>
        <p:txBody>
          <a:bodyPr rtlCol="0">
            <a:normAutofit/>
          </a:bodyPr>
          <a:lstStyle>
            <a:defPPr>
              <a:defRPr lang="fr-FR"/>
            </a:defPPr>
          </a:lstStyle>
          <a:p>
            <a:pPr rtl="0"/>
            <a:r>
              <a:rPr lang="fr-FR" dirty="0"/>
              <a:t>Un langage corporel efficace améliore votre message, ce qui le rend plus percutant et facile à retenir :</a:t>
            </a:r>
          </a:p>
          <a:p>
            <a:pPr lvl="1" rtl="0"/>
            <a:r>
              <a:rPr lang="fr-FR" dirty="0"/>
              <a:t>Contact visuel utile</a:t>
            </a:r>
          </a:p>
          <a:p>
            <a:pPr lvl="1" rtl="0"/>
            <a:r>
              <a:rPr lang="fr-FR" dirty="0"/>
              <a:t>Gestes intentionnels</a:t>
            </a:r>
          </a:p>
          <a:p>
            <a:pPr lvl="1" rtl="0"/>
            <a:r>
              <a:rPr lang="fr-FR" dirty="0"/>
              <a:t>Maintenez une bonne posture</a:t>
            </a:r>
          </a:p>
          <a:p>
            <a:pPr lvl="1" rtl="0"/>
            <a:r>
              <a:rPr lang="fr-FR" dirty="0"/>
              <a:t>Contrôlez vos expressions</a:t>
            </a:r>
          </a:p>
        </p:txBody>
      </p:sp>
    </p:spTree>
    <p:extLst>
      <p:ext uri="{BB962C8B-B14F-4D97-AF65-F5344CB8AC3E}">
        <p14:creationId xmlns:p14="http://schemas.microsoft.com/office/powerpoint/2010/main" val="1420595414"/>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14C27C8-165C-5513-DB4B-9D840097C545}"/>
              </a:ext>
            </a:extLst>
          </p:cNvPr>
          <p:cNvSpPr>
            <a:spLocks noGrp="1"/>
          </p:cNvSpPr>
          <p:nvPr>
            <p:ph type="title"/>
          </p:nvPr>
        </p:nvSpPr>
        <p:spPr>
          <a:xfrm>
            <a:off x="1092361" y="777240"/>
            <a:ext cx="10007278" cy="1283843"/>
          </a:xfrm>
          <a:noFill/>
        </p:spPr>
        <p:txBody>
          <a:bodyPr rtlCol="0" anchor="b"/>
          <a:lstStyle>
            <a:defPPr>
              <a:defRPr lang="fr-FR"/>
            </a:defPPr>
          </a:lstStyle>
          <a:p>
            <a:pPr rtl="0"/>
            <a:r>
              <a:rPr lang="fr-FR" dirty="0"/>
              <a:t>Navigation dans les sessions de Q&amp;R</a:t>
            </a:r>
          </a:p>
        </p:txBody>
      </p:sp>
      <p:sp>
        <p:nvSpPr>
          <p:cNvPr id="3" name="Espace réservé du contenu 2">
            <a:extLst>
              <a:ext uri="{FF2B5EF4-FFF2-40B4-BE49-F238E27FC236}">
                <a16:creationId xmlns:a16="http://schemas.microsoft.com/office/drawing/2014/main" id="{FACE640F-7F5A-BDB7-205D-765FA80B6796}"/>
              </a:ext>
            </a:extLst>
          </p:cNvPr>
          <p:cNvSpPr>
            <a:spLocks noGrp="1"/>
          </p:cNvSpPr>
          <p:nvPr>
            <p:ph sz="half" idx="1"/>
          </p:nvPr>
        </p:nvSpPr>
        <p:spPr>
          <a:xfrm>
            <a:off x="1447029" y="2261313"/>
            <a:ext cx="3275746" cy="3653350"/>
          </a:xfrm>
          <a:noFill/>
        </p:spPr>
        <p:txBody>
          <a:bodyPr rtlCol="0">
            <a:normAutofit/>
          </a:bodyPr>
          <a:lstStyle>
            <a:defPPr>
              <a:defRPr lang="fr-FR"/>
            </a:defPPr>
          </a:lstStyle>
          <a:p>
            <a:pPr rtl="0"/>
            <a:r>
              <a:rPr lang="fr-FR" dirty="0"/>
              <a:t>Connaissez votre support à l’avance</a:t>
            </a:r>
          </a:p>
          <a:p>
            <a:pPr rtl="0"/>
            <a:r>
              <a:rPr lang="fr-FR" dirty="0"/>
              <a:t>Prévoyez les questions courantes</a:t>
            </a:r>
          </a:p>
          <a:p>
            <a:pPr rtl="0"/>
            <a:r>
              <a:rPr lang="fr-FR" dirty="0"/>
              <a:t>Répétez vos réponses</a:t>
            </a:r>
          </a:p>
        </p:txBody>
      </p:sp>
      <p:sp>
        <p:nvSpPr>
          <p:cNvPr id="4" name="Espace réservé du contenu 3">
            <a:extLst>
              <a:ext uri="{FF2B5EF4-FFF2-40B4-BE49-F238E27FC236}">
                <a16:creationId xmlns:a16="http://schemas.microsoft.com/office/drawing/2014/main" id="{83302BFD-960F-CBB3-E984-CDC12813A10C}"/>
              </a:ext>
            </a:extLst>
          </p:cNvPr>
          <p:cNvSpPr>
            <a:spLocks noGrp="1"/>
          </p:cNvSpPr>
          <p:nvPr>
            <p:ph sz="half" idx="13"/>
          </p:nvPr>
        </p:nvSpPr>
        <p:spPr>
          <a:xfrm>
            <a:off x="5151438" y="2260600"/>
            <a:ext cx="5592762" cy="3654425"/>
          </a:xfrm>
          <a:noFill/>
        </p:spPr>
        <p:txBody>
          <a:bodyPr rtlCol="0">
            <a:normAutofit/>
          </a:bodyPr>
          <a:lstStyle>
            <a:defPPr>
              <a:defRPr lang="fr-FR"/>
            </a:defPPr>
          </a:lstStyle>
          <a:p>
            <a:pPr rtl="0"/>
            <a:r>
              <a:rPr lang="fr-FR" dirty="0"/>
              <a:t>Il est essentiel de garder son calme pendant la séance de Q&amp;R pour projeter une image de confiance et d'autorité. Considérez les conseils suivants pour rester calme :</a:t>
            </a:r>
          </a:p>
          <a:p>
            <a:pPr lvl="1" rtl="0"/>
            <a:r>
              <a:rPr lang="fr-FR" dirty="0"/>
              <a:t>Restez calme</a:t>
            </a:r>
          </a:p>
          <a:p>
            <a:pPr lvl="1" rtl="0"/>
            <a:r>
              <a:rPr lang="fr-FR" dirty="0"/>
              <a:t>Écoutez activement</a:t>
            </a:r>
          </a:p>
          <a:p>
            <a:pPr lvl="1" rtl="0"/>
            <a:r>
              <a:rPr lang="fr-FR" dirty="0"/>
              <a:t>Faites une pause et réfléchissez</a:t>
            </a:r>
          </a:p>
          <a:p>
            <a:pPr lvl="1" rtl="0"/>
            <a:r>
              <a:rPr lang="fr-FR" dirty="0"/>
              <a:t>Maintenez le contact visuel</a:t>
            </a:r>
          </a:p>
        </p:txBody>
      </p:sp>
    </p:spTree>
    <p:extLst>
      <p:ext uri="{BB962C8B-B14F-4D97-AF65-F5344CB8AC3E}">
        <p14:creationId xmlns:p14="http://schemas.microsoft.com/office/powerpoint/2010/main" val="305408670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re 9">
            <a:extLst>
              <a:ext uri="{FF2B5EF4-FFF2-40B4-BE49-F238E27FC236}">
                <a16:creationId xmlns:a16="http://schemas.microsoft.com/office/drawing/2014/main" id="{8C61CC16-17FE-0648-0F43-EAF814B695E7}"/>
              </a:ext>
            </a:extLst>
          </p:cNvPr>
          <p:cNvSpPr>
            <a:spLocks noGrp="1"/>
          </p:cNvSpPr>
          <p:nvPr>
            <p:ph type="ctrTitle"/>
          </p:nvPr>
        </p:nvSpPr>
        <p:spPr>
          <a:xfrm>
            <a:off x="6061275" y="1134320"/>
            <a:ext cx="4803494" cy="1956122"/>
          </a:xfrm>
        </p:spPr>
        <p:txBody>
          <a:bodyPr rtlCol="0"/>
          <a:lstStyle>
            <a:defPPr>
              <a:defRPr lang="fr-FR"/>
            </a:defPPr>
          </a:lstStyle>
          <a:p>
            <a:pPr rtl="0"/>
            <a:r>
              <a:rPr lang="fr-FR"/>
              <a:t>Impact du discours</a:t>
            </a:r>
          </a:p>
        </p:txBody>
      </p:sp>
      <p:sp>
        <p:nvSpPr>
          <p:cNvPr id="14" name="Sous-titre 13">
            <a:extLst>
              <a:ext uri="{FF2B5EF4-FFF2-40B4-BE49-F238E27FC236}">
                <a16:creationId xmlns:a16="http://schemas.microsoft.com/office/drawing/2014/main" id="{43EF6EE1-731F-12B6-CB93-FA4A14E509F7}"/>
              </a:ext>
            </a:extLst>
          </p:cNvPr>
          <p:cNvSpPr>
            <a:spLocks noGrp="1"/>
          </p:cNvSpPr>
          <p:nvPr>
            <p:ph type="subTitle" idx="1"/>
          </p:nvPr>
        </p:nvSpPr>
        <p:spPr>
          <a:xfrm>
            <a:off x="6061275" y="3418271"/>
            <a:ext cx="4803494" cy="2305409"/>
          </a:xfrm>
        </p:spPr>
        <p:txBody>
          <a:bodyPr rtlCol="0"/>
          <a:lstStyle>
            <a:defPPr>
              <a:defRPr lang="fr-FR"/>
            </a:defPPr>
          </a:lstStyle>
          <a:p>
            <a:pPr rtl="0"/>
            <a:r>
              <a:rPr lang="fr-FR" dirty="0"/>
              <a:t>Votre aptitude à communiquer efficacement aura un impact durable sur votre public</a:t>
            </a:r>
          </a:p>
          <a:p>
            <a:pPr rtl="0"/>
            <a:r>
              <a:rPr lang="fr-FR" dirty="0"/>
              <a:t>Une communication efficace implique non seulement la transmission d’un message, mais également l’écho avec les expériences, les valeurs et les émotions des personnes qui écoutent </a:t>
            </a:r>
          </a:p>
        </p:txBody>
      </p:sp>
      <p:pic>
        <p:nvPicPr>
          <p:cNvPr id="38" name="Espace réservé d’image 37" descr="Une personne écrivant sur un tableau en verre">
            <a:extLst>
              <a:ext uri="{FF2B5EF4-FFF2-40B4-BE49-F238E27FC236}">
                <a16:creationId xmlns:a16="http://schemas.microsoft.com/office/drawing/2014/main" id="{BB1CE701-01CA-6742-A69C-8DE01DEABF86}"/>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a:stretch/>
        </p:blipFill>
        <p:spPr>
          <a:xfrm>
            <a:off x="1308563" y="1146638"/>
            <a:ext cx="4389120" cy="4572000"/>
          </a:xfrm>
        </p:spPr>
      </p:pic>
    </p:spTree>
    <p:extLst>
      <p:ext uri="{BB962C8B-B14F-4D97-AF65-F5344CB8AC3E}">
        <p14:creationId xmlns:p14="http://schemas.microsoft.com/office/powerpoint/2010/main" val="2191925619"/>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7545968-70F7-0180-6448-3547E442EF4A}"/>
              </a:ext>
            </a:extLst>
          </p:cNvPr>
          <p:cNvSpPr>
            <a:spLocks noGrp="1"/>
          </p:cNvSpPr>
          <p:nvPr>
            <p:ph type="title"/>
          </p:nvPr>
        </p:nvSpPr>
        <p:spPr>
          <a:xfrm>
            <a:off x="838200" y="266219"/>
            <a:ext cx="10389243" cy="1424470"/>
          </a:xfrm>
          <a:noFill/>
        </p:spPr>
        <p:txBody>
          <a:bodyPr rtlCol="0" anchor="ctr">
            <a:noAutofit/>
          </a:bodyPr>
          <a:lstStyle>
            <a:defPPr>
              <a:defRPr lang="fr-FR"/>
            </a:defPPr>
          </a:lstStyle>
          <a:p>
            <a:pPr rtl="0"/>
            <a:r>
              <a:rPr lang="fr-FR" dirty="0"/>
              <a:t>Discours dynamique</a:t>
            </a:r>
          </a:p>
        </p:txBody>
      </p:sp>
      <p:sp>
        <p:nvSpPr>
          <p:cNvPr id="8" name="Espace réservé du contenu 7">
            <a:extLst>
              <a:ext uri="{FF2B5EF4-FFF2-40B4-BE49-F238E27FC236}">
                <a16:creationId xmlns:a16="http://schemas.microsoft.com/office/drawing/2014/main" id="{215CE58D-2739-522B-7C3A-6A7C985360C0}"/>
              </a:ext>
            </a:extLst>
          </p:cNvPr>
          <p:cNvSpPr>
            <a:spLocks noGrp="1"/>
          </p:cNvSpPr>
          <p:nvPr>
            <p:ph sz="half" idx="1"/>
          </p:nvPr>
        </p:nvSpPr>
        <p:spPr>
          <a:xfrm>
            <a:off x="838200" y="1779325"/>
            <a:ext cx="3064933" cy="4297680"/>
          </a:xfrm>
          <a:noFill/>
        </p:spPr>
        <p:txBody>
          <a:bodyPr vert="horz" lIns="91440" tIns="45720" rIns="91440" bIns="45720" rtlCol="0" anchor="t">
            <a:normAutofit/>
          </a:bodyPr>
          <a:lstStyle>
            <a:defPPr>
              <a:defRPr lang="fr-FR"/>
            </a:defPPr>
          </a:lstStyle>
          <a:p>
            <a:pPr rtl="0"/>
            <a:r>
              <a:rPr lang="fr-FR" dirty="0"/>
              <a:t>Apprenez à insuffler une énergie dans votre discours pour laisser une impression durable</a:t>
            </a:r>
          </a:p>
          <a:p>
            <a:pPr rtl="0"/>
            <a:r>
              <a:rPr lang="fr-FR" dirty="0"/>
              <a:t>L’un des objectifs d’une communication efficace est de motiver votre public</a:t>
            </a:r>
          </a:p>
        </p:txBody>
      </p:sp>
      <p:graphicFrame>
        <p:nvGraphicFramePr>
          <p:cNvPr id="3" name="Espace réservé du tableau 2">
            <a:extLst>
              <a:ext uri="{FF2B5EF4-FFF2-40B4-BE49-F238E27FC236}">
                <a16:creationId xmlns:a16="http://schemas.microsoft.com/office/drawing/2014/main" id="{F01CF5D3-D3B1-1944-CFDF-D8EE11DE42AA}"/>
              </a:ext>
            </a:extLst>
          </p:cNvPr>
          <p:cNvGraphicFramePr>
            <a:graphicFrameLocks noGrp="1"/>
          </p:cNvGraphicFramePr>
          <p:nvPr>
            <p:ph type="tbl" sz="quarter" idx="13"/>
            <p:extLst>
              <p:ext uri="{D42A27DB-BD31-4B8C-83A1-F6EECF244321}">
                <p14:modId xmlns:p14="http://schemas.microsoft.com/office/powerpoint/2010/main" val="3705130995"/>
              </p:ext>
            </p:extLst>
          </p:nvPr>
        </p:nvGraphicFramePr>
        <p:xfrm>
          <a:off x="4502150" y="1779588"/>
          <a:ext cx="6777648" cy="4536450"/>
        </p:xfrm>
        <a:graphic>
          <a:graphicData uri="http://schemas.openxmlformats.org/drawingml/2006/table">
            <a:tbl>
              <a:tblPr firstRow="1" bandRow="1">
                <a:tableStyleId>{912C8C85-51F0-491E-9774-3900AFEF0FD7}</a:tableStyleId>
              </a:tblPr>
              <a:tblGrid>
                <a:gridCol w="1694412">
                  <a:extLst>
                    <a:ext uri="{9D8B030D-6E8A-4147-A177-3AD203B41FA5}">
                      <a16:colId xmlns:a16="http://schemas.microsoft.com/office/drawing/2014/main" val="127040821"/>
                    </a:ext>
                  </a:extLst>
                </a:gridCol>
                <a:gridCol w="1795971">
                  <a:extLst>
                    <a:ext uri="{9D8B030D-6E8A-4147-A177-3AD203B41FA5}">
                      <a16:colId xmlns:a16="http://schemas.microsoft.com/office/drawing/2014/main" val="149845700"/>
                    </a:ext>
                  </a:extLst>
                </a:gridCol>
                <a:gridCol w="1592853">
                  <a:extLst>
                    <a:ext uri="{9D8B030D-6E8A-4147-A177-3AD203B41FA5}">
                      <a16:colId xmlns:a16="http://schemas.microsoft.com/office/drawing/2014/main" val="3119692462"/>
                    </a:ext>
                  </a:extLst>
                </a:gridCol>
                <a:gridCol w="1694412">
                  <a:extLst>
                    <a:ext uri="{9D8B030D-6E8A-4147-A177-3AD203B41FA5}">
                      <a16:colId xmlns:a16="http://schemas.microsoft.com/office/drawing/2014/main" val="3472639139"/>
                    </a:ext>
                  </a:extLst>
                </a:gridCol>
              </a:tblGrid>
              <a:tr h="671949">
                <a:tc>
                  <a:txBody>
                    <a:bodyPr/>
                    <a:lstStyle>
                      <a:defPPr>
                        <a:defRPr lang="fr-FR"/>
                      </a:defPPr>
                    </a:lstStyle>
                    <a:p>
                      <a:pPr algn="ctr" rtl="0"/>
                      <a:r>
                        <a:rPr lang="fr-FR" b="1">
                          <a:latin typeface="+mn-lt"/>
                        </a:rPr>
                        <a:t>Métrique</a:t>
                      </a:r>
                      <a:endParaRPr lang="fr-FR" b="1" i="0" dirty="0">
                        <a:latin typeface="+mn-lt"/>
                      </a:endParaRPr>
                    </a:p>
                  </a:txBody>
                  <a:tcPr anchor="ctr"/>
                </a:tc>
                <a:tc>
                  <a:txBody>
                    <a:bodyPr/>
                    <a:lstStyle>
                      <a:defPPr>
                        <a:defRPr lang="fr-FR"/>
                      </a:defPPr>
                    </a:lstStyle>
                    <a:p>
                      <a:pPr algn="ctr" rtl="0"/>
                      <a:r>
                        <a:rPr lang="fr-FR" b="1" dirty="0">
                          <a:latin typeface="+mn-lt"/>
                        </a:rPr>
                        <a:t>Mesure</a:t>
                      </a:r>
                      <a:endParaRPr lang="fr-FR" b="1" i="0" dirty="0">
                        <a:latin typeface="+mn-lt"/>
                      </a:endParaRPr>
                    </a:p>
                  </a:txBody>
                  <a:tcPr anchor="ctr"/>
                </a:tc>
                <a:tc>
                  <a:txBody>
                    <a:bodyPr/>
                    <a:lstStyle>
                      <a:defPPr>
                        <a:defRPr lang="fr-FR"/>
                      </a:defPPr>
                    </a:lstStyle>
                    <a:p>
                      <a:pPr algn="ctr" rtl="0"/>
                      <a:r>
                        <a:rPr lang="fr-FR" b="1" dirty="0">
                          <a:latin typeface="+mn-lt"/>
                        </a:rPr>
                        <a:t>Cible</a:t>
                      </a:r>
                      <a:endParaRPr lang="fr-FR" b="1" i="0" dirty="0">
                        <a:latin typeface="+mn-lt"/>
                      </a:endParaRPr>
                    </a:p>
                  </a:txBody>
                  <a:tcPr anchor="ctr"/>
                </a:tc>
                <a:tc>
                  <a:txBody>
                    <a:bodyPr/>
                    <a:lstStyle>
                      <a:defPPr>
                        <a:defRPr lang="fr-FR"/>
                      </a:defPPr>
                    </a:lstStyle>
                    <a:p>
                      <a:pPr algn="ctr" rtl="0"/>
                      <a:r>
                        <a:rPr lang="fr-FR" b="1" dirty="0">
                          <a:latin typeface="+mn-lt"/>
                        </a:rPr>
                        <a:t>Réel</a:t>
                      </a:r>
                      <a:endParaRPr lang="fr-FR" b="1" i="0" dirty="0">
                        <a:latin typeface="+mn-lt"/>
                      </a:endParaRPr>
                    </a:p>
                  </a:txBody>
                  <a:tcPr anchor="ctr"/>
                </a:tc>
                <a:extLst>
                  <a:ext uri="{0D108BD9-81ED-4DB2-BD59-A6C34878D82A}">
                    <a16:rowId xmlns:a16="http://schemas.microsoft.com/office/drawing/2014/main" val="3298013591"/>
                  </a:ext>
                </a:extLst>
              </a:tr>
              <a:tr h="671949">
                <a:tc>
                  <a:txBody>
                    <a:bodyPr/>
                    <a:lstStyle>
                      <a:defPPr>
                        <a:defRPr lang="fr-FR"/>
                      </a:defPPr>
                    </a:lstStyle>
                    <a:p>
                      <a:pPr algn="ctr" rtl="0"/>
                      <a:r>
                        <a:rPr lang="fr-FR" b="0" dirty="0">
                          <a:latin typeface="+mn-lt"/>
                        </a:rPr>
                        <a:t>Participation du public</a:t>
                      </a:r>
                      <a:endParaRPr lang="fr-FR" b="0" i="0" dirty="0">
                        <a:latin typeface="+mn-lt"/>
                      </a:endParaRPr>
                    </a:p>
                  </a:txBody>
                  <a:tcPr anchor="ctr"/>
                </a:tc>
                <a:tc>
                  <a:txBody>
                    <a:bodyPr/>
                    <a:lstStyle>
                      <a:defPPr>
                        <a:defRPr lang="fr-FR"/>
                      </a:defPPr>
                    </a:lstStyle>
                    <a:p>
                      <a:pPr algn="ctr" rtl="0"/>
                      <a:r>
                        <a:rPr lang="fr-FR" b="0" dirty="0">
                          <a:latin typeface="+mn-lt"/>
                        </a:rPr>
                        <a:t>Nombre de participants</a:t>
                      </a:r>
                      <a:endParaRPr lang="fr-FR" b="0" i="0" dirty="0">
                        <a:latin typeface="+mn-lt"/>
                      </a:endParaRPr>
                    </a:p>
                  </a:txBody>
                  <a:tcPr anchor="ctr"/>
                </a:tc>
                <a:tc>
                  <a:txBody>
                    <a:bodyPr/>
                    <a:lstStyle>
                      <a:defPPr>
                        <a:defRPr lang="fr-FR"/>
                      </a:defPPr>
                    </a:lstStyle>
                    <a:p>
                      <a:pPr algn="ctr" rtl="0"/>
                      <a:r>
                        <a:rPr lang="fr-FR" b="0">
                          <a:latin typeface="+mn-lt"/>
                        </a:rPr>
                        <a:t>150</a:t>
                      </a:r>
                      <a:endParaRPr lang="fr-FR" b="0" i="0" dirty="0">
                        <a:latin typeface="+mn-lt"/>
                      </a:endParaRPr>
                    </a:p>
                  </a:txBody>
                  <a:tcPr anchor="ctr"/>
                </a:tc>
                <a:tc>
                  <a:txBody>
                    <a:bodyPr/>
                    <a:lstStyle>
                      <a:defPPr>
                        <a:defRPr lang="fr-FR"/>
                      </a:defPPr>
                    </a:lstStyle>
                    <a:p>
                      <a:pPr algn="ctr" rtl="0"/>
                      <a:r>
                        <a:rPr lang="fr-FR" b="0">
                          <a:latin typeface="+mn-lt"/>
                        </a:rPr>
                        <a:t>120</a:t>
                      </a:r>
                      <a:endParaRPr lang="fr-FR" b="0" i="0" dirty="0">
                        <a:latin typeface="+mn-lt"/>
                      </a:endParaRPr>
                    </a:p>
                  </a:txBody>
                  <a:tcPr anchor="ctr"/>
                </a:tc>
                <a:extLst>
                  <a:ext uri="{0D108BD9-81ED-4DB2-BD59-A6C34878D82A}">
                    <a16:rowId xmlns:a16="http://schemas.microsoft.com/office/drawing/2014/main" val="3873867931"/>
                  </a:ext>
                </a:extLst>
              </a:tr>
              <a:tr h="671949">
                <a:tc>
                  <a:txBody>
                    <a:bodyPr/>
                    <a:lstStyle>
                      <a:defPPr>
                        <a:defRPr lang="fr-FR"/>
                      </a:defPPr>
                    </a:lstStyle>
                    <a:p>
                      <a:pPr algn="ctr" rtl="0"/>
                      <a:r>
                        <a:rPr lang="fr-FR" b="0" dirty="0">
                          <a:latin typeface="+mn-lt"/>
                        </a:rPr>
                        <a:t>Durée de l’engagement</a:t>
                      </a:r>
                      <a:endParaRPr lang="fr-FR" b="0" i="0" dirty="0">
                        <a:latin typeface="+mn-lt"/>
                      </a:endParaRPr>
                    </a:p>
                  </a:txBody>
                  <a:tcPr anchor="ctr"/>
                </a:tc>
                <a:tc>
                  <a:txBody>
                    <a:bodyPr/>
                    <a:lstStyle>
                      <a:defPPr>
                        <a:defRPr lang="fr-FR"/>
                      </a:defPPr>
                    </a:lstStyle>
                    <a:p>
                      <a:pPr algn="ctr" rtl="0"/>
                      <a:r>
                        <a:rPr lang="fr-FR" b="0">
                          <a:latin typeface="+mn-lt"/>
                        </a:rPr>
                        <a:t>Minutes</a:t>
                      </a:r>
                      <a:endParaRPr lang="fr-FR" b="0" i="0" dirty="0">
                        <a:latin typeface="+mn-lt"/>
                      </a:endParaRPr>
                    </a:p>
                  </a:txBody>
                  <a:tcPr anchor="ctr"/>
                </a:tc>
                <a:tc>
                  <a:txBody>
                    <a:bodyPr/>
                    <a:lstStyle>
                      <a:defPPr>
                        <a:defRPr lang="fr-FR"/>
                      </a:defPPr>
                    </a:lstStyle>
                    <a:p>
                      <a:pPr algn="ctr" rtl="0"/>
                      <a:r>
                        <a:rPr lang="fr-FR" b="0">
                          <a:latin typeface="+mn-lt"/>
                        </a:rPr>
                        <a:t>60</a:t>
                      </a:r>
                      <a:endParaRPr lang="fr-FR" b="0" i="0" dirty="0">
                        <a:latin typeface="+mn-lt"/>
                      </a:endParaRPr>
                    </a:p>
                  </a:txBody>
                  <a:tcPr anchor="ctr"/>
                </a:tc>
                <a:tc>
                  <a:txBody>
                    <a:bodyPr/>
                    <a:lstStyle>
                      <a:defPPr>
                        <a:defRPr lang="fr-FR"/>
                      </a:defPPr>
                    </a:lstStyle>
                    <a:p>
                      <a:pPr algn="ctr" rtl="0"/>
                      <a:r>
                        <a:rPr lang="fr-FR" b="0">
                          <a:latin typeface="+mn-lt"/>
                        </a:rPr>
                        <a:t>75</a:t>
                      </a:r>
                      <a:endParaRPr lang="fr-FR" b="0" i="0" dirty="0">
                        <a:latin typeface="+mn-lt"/>
                      </a:endParaRPr>
                    </a:p>
                  </a:txBody>
                  <a:tcPr anchor="ctr"/>
                </a:tc>
                <a:extLst>
                  <a:ext uri="{0D108BD9-81ED-4DB2-BD59-A6C34878D82A}">
                    <a16:rowId xmlns:a16="http://schemas.microsoft.com/office/drawing/2014/main" val="85209771"/>
                  </a:ext>
                </a:extLst>
              </a:tr>
              <a:tr h="671949">
                <a:tc>
                  <a:txBody>
                    <a:bodyPr/>
                    <a:lstStyle>
                      <a:defPPr>
                        <a:defRPr lang="fr-FR"/>
                      </a:defPPr>
                    </a:lstStyle>
                    <a:p>
                      <a:pPr algn="ctr" rtl="0"/>
                      <a:r>
                        <a:rPr lang="fr-FR" b="0" dirty="0">
                          <a:latin typeface="+mn-lt"/>
                        </a:rPr>
                        <a:t>Interactions relatives aux Q&amp;R</a:t>
                      </a:r>
                      <a:endParaRPr lang="fr-FR" b="0" i="0" dirty="0">
                        <a:latin typeface="+mn-lt"/>
                      </a:endParaRPr>
                    </a:p>
                  </a:txBody>
                  <a:tcPr anchor="ctr"/>
                </a:tc>
                <a:tc>
                  <a:txBody>
                    <a:bodyPr/>
                    <a:lstStyle>
                      <a:defPPr>
                        <a:defRPr lang="fr-FR"/>
                      </a:defPPr>
                    </a:lstStyle>
                    <a:p>
                      <a:pPr algn="ctr" rtl="0"/>
                      <a:r>
                        <a:rPr lang="fr-FR" b="0" dirty="0">
                          <a:latin typeface="+mn-lt"/>
                        </a:rPr>
                        <a:t>Nombre de questions</a:t>
                      </a:r>
                      <a:endParaRPr lang="fr-FR" b="0" i="0" dirty="0">
                        <a:latin typeface="+mn-lt"/>
                      </a:endParaRPr>
                    </a:p>
                  </a:txBody>
                  <a:tcPr anchor="ctr"/>
                </a:tc>
                <a:tc>
                  <a:txBody>
                    <a:bodyPr/>
                    <a:lstStyle>
                      <a:defPPr>
                        <a:defRPr lang="fr-FR"/>
                      </a:defPPr>
                    </a:lstStyle>
                    <a:p>
                      <a:pPr algn="ctr" rtl="0"/>
                      <a:r>
                        <a:rPr lang="fr-FR" b="0">
                          <a:latin typeface="+mn-lt"/>
                        </a:rPr>
                        <a:t>10</a:t>
                      </a:r>
                      <a:endParaRPr lang="fr-FR" b="0" i="0" dirty="0">
                        <a:latin typeface="+mn-lt"/>
                      </a:endParaRPr>
                    </a:p>
                  </a:txBody>
                  <a:tcPr anchor="ctr"/>
                </a:tc>
                <a:tc>
                  <a:txBody>
                    <a:bodyPr/>
                    <a:lstStyle>
                      <a:defPPr>
                        <a:defRPr lang="fr-FR"/>
                      </a:defPPr>
                    </a:lstStyle>
                    <a:p>
                      <a:pPr algn="ctr" rtl="0"/>
                      <a:r>
                        <a:rPr lang="fr-FR" b="0">
                          <a:latin typeface="+mn-lt"/>
                        </a:rPr>
                        <a:t>15</a:t>
                      </a:r>
                      <a:endParaRPr lang="fr-FR" b="0" i="0" dirty="0">
                        <a:latin typeface="+mn-lt"/>
                      </a:endParaRPr>
                    </a:p>
                  </a:txBody>
                  <a:tcPr anchor="ctr"/>
                </a:tc>
                <a:extLst>
                  <a:ext uri="{0D108BD9-81ED-4DB2-BD59-A6C34878D82A}">
                    <a16:rowId xmlns:a16="http://schemas.microsoft.com/office/drawing/2014/main" val="4061031278"/>
                  </a:ext>
                </a:extLst>
              </a:tr>
              <a:tr h="671949">
                <a:tc>
                  <a:txBody>
                    <a:bodyPr/>
                    <a:lstStyle>
                      <a:defPPr>
                        <a:defRPr lang="fr-FR"/>
                      </a:defPPr>
                    </a:lstStyle>
                    <a:p>
                      <a:pPr algn="ctr" rtl="0"/>
                      <a:r>
                        <a:rPr lang="fr-FR" b="0">
                          <a:latin typeface="+mn-lt"/>
                        </a:rPr>
                        <a:t>Commentaires positifs</a:t>
                      </a:r>
                      <a:endParaRPr lang="fr-FR" b="0" i="0" dirty="0">
                        <a:latin typeface="+mn-lt"/>
                      </a:endParaRPr>
                    </a:p>
                  </a:txBody>
                  <a:tcPr anchor="ctr"/>
                </a:tc>
                <a:tc>
                  <a:txBody>
                    <a:bodyPr/>
                    <a:lstStyle>
                      <a:defPPr>
                        <a:defRPr lang="fr-FR"/>
                      </a:defPPr>
                    </a:lstStyle>
                    <a:p>
                      <a:pPr algn="ctr" rtl="0"/>
                      <a:r>
                        <a:rPr lang="fr-FR" b="0" dirty="0">
                          <a:latin typeface="+mn-lt"/>
                        </a:rPr>
                        <a:t>Pourcentage (%)</a:t>
                      </a:r>
                      <a:endParaRPr lang="fr-FR" b="0" i="0" dirty="0">
                        <a:latin typeface="+mn-lt"/>
                      </a:endParaRPr>
                    </a:p>
                  </a:txBody>
                  <a:tcPr anchor="ctr"/>
                </a:tc>
                <a:tc>
                  <a:txBody>
                    <a:bodyPr/>
                    <a:lstStyle>
                      <a:defPPr>
                        <a:defRPr lang="fr-FR"/>
                      </a:defPPr>
                    </a:lstStyle>
                    <a:p>
                      <a:pPr algn="ctr" rtl="0"/>
                      <a:r>
                        <a:rPr lang="fr-FR" b="0">
                          <a:latin typeface="+mn-lt"/>
                        </a:rPr>
                        <a:t>90</a:t>
                      </a:r>
                      <a:endParaRPr lang="fr-FR" b="0" i="0" dirty="0">
                        <a:latin typeface="+mn-lt"/>
                      </a:endParaRPr>
                    </a:p>
                  </a:txBody>
                  <a:tcPr anchor="ctr"/>
                </a:tc>
                <a:tc>
                  <a:txBody>
                    <a:bodyPr/>
                    <a:lstStyle>
                      <a:defPPr>
                        <a:defRPr lang="fr-FR"/>
                      </a:defPPr>
                    </a:lstStyle>
                    <a:p>
                      <a:pPr algn="ctr" rtl="0"/>
                      <a:r>
                        <a:rPr lang="fr-FR" b="0">
                          <a:latin typeface="+mn-lt"/>
                        </a:rPr>
                        <a:t>95</a:t>
                      </a:r>
                      <a:endParaRPr lang="fr-FR" b="0" i="0" dirty="0">
                        <a:latin typeface="+mn-lt"/>
                      </a:endParaRPr>
                    </a:p>
                  </a:txBody>
                  <a:tcPr anchor="ctr"/>
                </a:tc>
                <a:extLst>
                  <a:ext uri="{0D108BD9-81ED-4DB2-BD59-A6C34878D82A}">
                    <a16:rowId xmlns:a16="http://schemas.microsoft.com/office/drawing/2014/main" val="3591840781"/>
                  </a:ext>
                </a:extLst>
              </a:tr>
              <a:tr h="934254">
                <a:tc>
                  <a:txBody>
                    <a:bodyPr/>
                    <a:lstStyle>
                      <a:defPPr>
                        <a:defRPr lang="fr-FR"/>
                      </a:defPPr>
                    </a:lstStyle>
                    <a:p>
                      <a:pPr algn="ctr" rtl="0"/>
                      <a:r>
                        <a:rPr lang="fr-FR" b="0" dirty="0">
                          <a:latin typeface="+mn-lt"/>
                        </a:rPr>
                        <a:t>Taux de rétention des informations</a:t>
                      </a:r>
                      <a:endParaRPr lang="fr-FR" b="0" i="0" dirty="0">
                        <a:latin typeface="+mn-lt"/>
                      </a:endParaRPr>
                    </a:p>
                  </a:txBody>
                  <a:tcPr anchor="ctr"/>
                </a:tc>
                <a:tc>
                  <a:txBody>
                    <a:bodyPr/>
                    <a:lstStyle>
                      <a:defPPr>
                        <a:defRPr lang="fr-FR"/>
                      </a:defPPr>
                    </a:lstStyle>
                    <a:p>
                      <a:pPr algn="ctr" rtl="0"/>
                      <a:r>
                        <a:rPr lang="fr-FR" b="0">
                          <a:latin typeface="+mn-lt"/>
                        </a:rPr>
                        <a:t>Pourcentage (%)</a:t>
                      </a:r>
                      <a:endParaRPr lang="fr-FR" b="0" i="0" dirty="0">
                        <a:latin typeface="+mn-lt"/>
                      </a:endParaRPr>
                    </a:p>
                  </a:txBody>
                  <a:tcPr anchor="ctr"/>
                </a:tc>
                <a:tc>
                  <a:txBody>
                    <a:bodyPr/>
                    <a:lstStyle>
                      <a:defPPr>
                        <a:defRPr lang="fr-FR"/>
                      </a:defPPr>
                    </a:lstStyle>
                    <a:p>
                      <a:pPr algn="ctr" rtl="0"/>
                      <a:r>
                        <a:rPr lang="fr-FR" b="0">
                          <a:latin typeface="+mn-lt"/>
                        </a:rPr>
                        <a:t>80</a:t>
                      </a:r>
                      <a:endParaRPr lang="fr-FR" b="0" i="0" dirty="0">
                        <a:latin typeface="+mn-lt"/>
                      </a:endParaRPr>
                    </a:p>
                  </a:txBody>
                  <a:tcPr anchor="ctr"/>
                </a:tc>
                <a:tc>
                  <a:txBody>
                    <a:bodyPr/>
                    <a:lstStyle>
                      <a:defPPr>
                        <a:defRPr lang="fr-FR"/>
                      </a:defPPr>
                    </a:lstStyle>
                    <a:p>
                      <a:pPr algn="ctr" rtl="0"/>
                      <a:r>
                        <a:rPr lang="fr-FR" b="0" dirty="0">
                          <a:latin typeface="+mn-lt"/>
                        </a:rPr>
                        <a:t>85</a:t>
                      </a:r>
                      <a:endParaRPr lang="fr-FR" b="0" i="0" dirty="0">
                        <a:latin typeface="+mn-lt"/>
                      </a:endParaRPr>
                    </a:p>
                  </a:txBody>
                  <a:tcPr anchor="ctr"/>
                </a:tc>
                <a:extLst>
                  <a:ext uri="{0D108BD9-81ED-4DB2-BD59-A6C34878D82A}">
                    <a16:rowId xmlns:a16="http://schemas.microsoft.com/office/drawing/2014/main" val="335389741"/>
                  </a:ext>
                </a:extLst>
              </a:tr>
            </a:tbl>
          </a:graphicData>
        </a:graphic>
      </p:graphicFrame>
    </p:spTree>
    <p:extLst>
      <p:ext uri="{BB962C8B-B14F-4D97-AF65-F5344CB8AC3E}">
        <p14:creationId xmlns:p14="http://schemas.microsoft.com/office/powerpoint/2010/main" val="1956697929"/>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D030A76-B788-B363-104E-266B7C7F7208}"/>
              </a:ext>
            </a:extLst>
          </p:cNvPr>
          <p:cNvSpPr>
            <a:spLocks noGrp="1"/>
          </p:cNvSpPr>
          <p:nvPr>
            <p:ph type="title"/>
          </p:nvPr>
        </p:nvSpPr>
        <p:spPr>
          <a:xfrm>
            <a:off x="1073070" y="914400"/>
            <a:ext cx="10045861" cy="1146680"/>
          </a:xfrm>
          <a:noFill/>
        </p:spPr>
        <p:txBody>
          <a:bodyPr rtlCol="0"/>
          <a:lstStyle>
            <a:defPPr>
              <a:defRPr lang="fr-FR"/>
            </a:defPPr>
          </a:lstStyle>
          <a:p>
            <a:pPr rtl="0"/>
            <a:r>
              <a:rPr lang="fr-FR" spc="-20" dirty="0"/>
              <a:t>Derniers conseils et points importants à retenir</a:t>
            </a:r>
          </a:p>
        </p:txBody>
      </p:sp>
      <p:sp>
        <p:nvSpPr>
          <p:cNvPr id="3" name="Espace réservé du contenu 2">
            <a:extLst>
              <a:ext uri="{FF2B5EF4-FFF2-40B4-BE49-F238E27FC236}">
                <a16:creationId xmlns:a16="http://schemas.microsoft.com/office/drawing/2014/main" id="{05948542-FCE1-3AE6-C6C9-17975609DF70}"/>
              </a:ext>
            </a:extLst>
          </p:cNvPr>
          <p:cNvSpPr>
            <a:spLocks noGrp="1"/>
          </p:cNvSpPr>
          <p:nvPr>
            <p:ph sz="half" idx="1"/>
          </p:nvPr>
        </p:nvSpPr>
        <p:spPr>
          <a:xfrm>
            <a:off x="1423687" y="2288614"/>
            <a:ext cx="5382228" cy="3475578"/>
          </a:xfrm>
          <a:noFill/>
        </p:spPr>
        <p:txBody>
          <a:bodyPr vert="horz" lIns="91440" tIns="45720" rIns="91440" bIns="45720" rtlCol="0" anchor="t">
            <a:normAutofit/>
          </a:bodyPr>
          <a:lstStyle>
            <a:defPPr>
              <a:defRPr lang="fr-FR"/>
            </a:defPPr>
          </a:lstStyle>
          <a:p>
            <a:pPr rtl="0"/>
            <a:r>
              <a:rPr lang="fr-FR" dirty="0"/>
              <a:t>Répétition cohérente</a:t>
            </a:r>
          </a:p>
          <a:p>
            <a:pPr lvl="1" rtl="0"/>
            <a:r>
              <a:rPr lang="fr-FR" dirty="0"/>
              <a:t>Renforcez vos connaissances</a:t>
            </a:r>
          </a:p>
          <a:p>
            <a:pPr rtl="0"/>
            <a:r>
              <a:rPr lang="fr-FR" dirty="0"/>
              <a:t>Affinez le style du discours</a:t>
            </a:r>
          </a:p>
          <a:p>
            <a:pPr lvl="1" rtl="0"/>
            <a:r>
              <a:rPr lang="fr-FR" dirty="0"/>
              <a:t>Rythme, ton et accentuation</a:t>
            </a:r>
          </a:p>
          <a:p>
            <a:pPr rtl="0"/>
            <a:r>
              <a:rPr lang="fr-FR" dirty="0"/>
              <a:t>Minutage et transitions</a:t>
            </a:r>
          </a:p>
          <a:p>
            <a:pPr lvl="1" rtl="0"/>
            <a:r>
              <a:rPr lang="fr-FR" dirty="0"/>
              <a:t>Recherchez un discours professionnel et fluide</a:t>
            </a:r>
          </a:p>
          <a:p>
            <a:pPr rtl="0"/>
            <a:r>
              <a:rPr lang="fr-FR" dirty="0"/>
              <a:t>Entraînez-vous à parler en public</a:t>
            </a:r>
          </a:p>
          <a:p>
            <a:pPr lvl="1" rtl="0"/>
            <a:r>
              <a:rPr lang="fr-FR" dirty="0"/>
              <a:t>Sollicitez des collègues pour écouter et donner leur avis</a:t>
            </a:r>
          </a:p>
          <a:p>
            <a:pPr lvl="1" rtl="0"/>
            <a:endParaRPr lang="fr-FR" dirty="0"/>
          </a:p>
        </p:txBody>
      </p:sp>
      <p:sp>
        <p:nvSpPr>
          <p:cNvPr id="4" name="Espace réservé du contenu 3">
            <a:extLst>
              <a:ext uri="{FF2B5EF4-FFF2-40B4-BE49-F238E27FC236}">
                <a16:creationId xmlns:a16="http://schemas.microsoft.com/office/drawing/2014/main" id="{3EE67564-0457-E486-97D0-8109D2C97B3F}"/>
              </a:ext>
            </a:extLst>
          </p:cNvPr>
          <p:cNvSpPr>
            <a:spLocks noGrp="1"/>
          </p:cNvSpPr>
          <p:nvPr>
            <p:ph sz="half" idx="2"/>
          </p:nvPr>
        </p:nvSpPr>
        <p:spPr>
          <a:xfrm>
            <a:off x="7451789" y="2288614"/>
            <a:ext cx="3667142" cy="3475578"/>
          </a:xfrm>
          <a:noFill/>
        </p:spPr>
        <p:txBody>
          <a:bodyPr rtlCol="0">
            <a:normAutofit/>
          </a:bodyPr>
          <a:lstStyle>
            <a:defPPr>
              <a:defRPr lang="fr-FR"/>
            </a:defPPr>
          </a:lstStyle>
          <a:p>
            <a:pPr rtl="0"/>
            <a:r>
              <a:rPr lang="fr-FR" dirty="0"/>
              <a:t>Recueillez des commentaires</a:t>
            </a:r>
          </a:p>
          <a:p>
            <a:pPr rtl="0"/>
            <a:r>
              <a:rPr lang="fr-FR" dirty="0"/>
              <a:t>Examinez les performances</a:t>
            </a:r>
          </a:p>
          <a:p>
            <a:pPr rtl="0"/>
            <a:r>
              <a:rPr lang="fr-FR" dirty="0"/>
              <a:t>Explorez de nouvelles techniques</a:t>
            </a:r>
          </a:p>
          <a:p>
            <a:pPr rtl="0"/>
            <a:r>
              <a:rPr lang="fr-FR" dirty="0"/>
              <a:t>Définissez des objectifs personnels</a:t>
            </a:r>
          </a:p>
          <a:p>
            <a:pPr rtl="0"/>
            <a:r>
              <a:rPr lang="fr-FR" dirty="0"/>
              <a:t>Répétez et adaptez-vous</a:t>
            </a:r>
          </a:p>
        </p:txBody>
      </p:sp>
    </p:spTree>
    <p:extLst>
      <p:ext uri="{BB962C8B-B14F-4D97-AF65-F5344CB8AC3E}">
        <p14:creationId xmlns:p14="http://schemas.microsoft.com/office/powerpoint/2010/main" val="1994246962"/>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1FC59F6-9B22-C211-4B4C-A2FD4B914C46}"/>
              </a:ext>
            </a:extLst>
          </p:cNvPr>
          <p:cNvSpPr>
            <a:spLocks noGrp="1"/>
          </p:cNvSpPr>
          <p:nvPr>
            <p:ph type="title"/>
          </p:nvPr>
        </p:nvSpPr>
        <p:spPr>
          <a:xfrm>
            <a:off x="838200" y="133629"/>
            <a:ext cx="10515600" cy="1325563"/>
          </a:xfrm>
          <a:noFill/>
        </p:spPr>
        <p:txBody>
          <a:bodyPr rtlCol="0" anchor="b"/>
          <a:lstStyle>
            <a:defPPr>
              <a:defRPr lang="fr-FR"/>
            </a:defPPr>
          </a:lstStyle>
          <a:p>
            <a:pPr rtl="0"/>
            <a:r>
              <a:rPr lang="fr-FR" dirty="0"/>
              <a:t>Mesures d’engagement du discours</a:t>
            </a:r>
          </a:p>
        </p:txBody>
      </p:sp>
      <p:graphicFrame>
        <p:nvGraphicFramePr>
          <p:cNvPr id="15" name="Espace réservé du tableau 3">
            <a:extLst>
              <a:ext uri="{FF2B5EF4-FFF2-40B4-BE49-F238E27FC236}">
                <a16:creationId xmlns:a16="http://schemas.microsoft.com/office/drawing/2014/main" id="{81012411-049E-B618-E9BE-800979D76AFD}"/>
              </a:ext>
            </a:extLst>
          </p:cNvPr>
          <p:cNvGraphicFramePr>
            <a:graphicFrameLocks noGrp="1"/>
          </p:cNvGraphicFramePr>
          <p:nvPr>
            <p:ph type="tbl" sz="quarter" idx="13"/>
            <p:extLst>
              <p:ext uri="{D42A27DB-BD31-4B8C-83A1-F6EECF244321}">
                <p14:modId xmlns:p14="http://schemas.microsoft.com/office/powerpoint/2010/main" val="272330044"/>
              </p:ext>
            </p:extLst>
          </p:nvPr>
        </p:nvGraphicFramePr>
        <p:xfrm>
          <a:off x="914400" y="1779588"/>
          <a:ext cx="10361676" cy="4294002"/>
        </p:xfrm>
        <a:graphic>
          <a:graphicData uri="http://schemas.openxmlformats.org/drawingml/2006/table">
            <a:tbl>
              <a:tblPr firstRow="1" bandRow="1">
                <a:tableStyleId>{912C8C85-51F0-491E-9774-3900AFEF0FD7}</a:tableStyleId>
              </a:tblPr>
              <a:tblGrid>
                <a:gridCol w="2590419">
                  <a:extLst>
                    <a:ext uri="{9D8B030D-6E8A-4147-A177-3AD203B41FA5}">
                      <a16:colId xmlns:a16="http://schemas.microsoft.com/office/drawing/2014/main" val="2382218087"/>
                    </a:ext>
                  </a:extLst>
                </a:gridCol>
                <a:gridCol w="2590419">
                  <a:extLst>
                    <a:ext uri="{9D8B030D-6E8A-4147-A177-3AD203B41FA5}">
                      <a16:colId xmlns:a16="http://schemas.microsoft.com/office/drawing/2014/main" val="3953468724"/>
                    </a:ext>
                  </a:extLst>
                </a:gridCol>
                <a:gridCol w="2590419">
                  <a:extLst>
                    <a:ext uri="{9D8B030D-6E8A-4147-A177-3AD203B41FA5}">
                      <a16:colId xmlns:a16="http://schemas.microsoft.com/office/drawing/2014/main" val="4277526474"/>
                    </a:ext>
                  </a:extLst>
                </a:gridCol>
                <a:gridCol w="2590419">
                  <a:extLst>
                    <a:ext uri="{9D8B030D-6E8A-4147-A177-3AD203B41FA5}">
                      <a16:colId xmlns:a16="http://schemas.microsoft.com/office/drawing/2014/main" val="2438884888"/>
                    </a:ext>
                  </a:extLst>
                </a:gridCol>
              </a:tblGrid>
              <a:tr h="715667">
                <a:tc>
                  <a:txBody>
                    <a:bodyPr/>
                    <a:lstStyle>
                      <a:defPPr>
                        <a:defRPr lang="fr-FR"/>
                      </a:defPPr>
                    </a:lstStyle>
                    <a:p>
                      <a:pPr algn="ctr" rtl="0"/>
                      <a:r>
                        <a:rPr lang="fr-FR" b="0">
                          <a:latin typeface="+mn-lt"/>
                        </a:rPr>
                        <a:t>Facteur d’impact</a:t>
                      </a:r>
                      <a:endParaRPr lang="fr-FR" b="0" i="0" dirty="0">
                        <a:latin typeface="+mn-lt"/>
                      </a:endParaRPr>
                    </a:p>
                  </a:txBody>
                  <a:tcPr anchor="ctr"/>
                </a:tc>
                <a:tc>
                  <a:txBody>
                    <a:bodyPr/>
                    <a:lstStyle>
                      <a:defPPr>
                        <a:defRPr lang="fr-FR"/>
                      </a:defPPr>
                    </a:lstStyle>
                    <a:p>
                      <a:pPr algn="ctr" rtl="0"/>
                      <a:r>
                        <a:rPr lang="fr-FR" b="0">
                          <a:latin typeface="+mn-lt"/>
                        </a:rPr>
                        <a:t>Mesure</a:t>
                      </a:r>
                      <a:endParaRPr lang="fr-FR" b="0" i="0" dirty="0">
                        <a:latin typeface="+mn-lt"/>
                      </a:endParaRPr>
                    </a:p>
                  </a:txBody>
                  <a:tcPr anchor="ctr"/>
                </a:tc>
                <a:tc>
                  <a:txBody>
                    <a:bodyPr/>
                    <a:lstStyle>
                      <a:defPPr>
                        <a:defRPr lang="fr-FR"/>
                      </a:defPPr>
                    </a:lstStyle>
                    <a:p>
                      <a:pPr algn="ctr" rtl="0"/>
                      <a:r>
                        <a:rPr lang="fr-FR" b="0">
                          <a:latin typeface="+mn-lt"/>
                        </a:rPr>
                        <a:t>Cible</a:t>
                      </a:r>
                      <a:endParaRPr lang="fr-FR" b="0" i="0" dirty="0">
                        <a:latin typeface="+mn-lt"/>
                      </a:endParaRPr>
                    </a:p>
                  </a:txBody>
                  <a:tcPr anchor="ctr"/>
                </a:tc>
                <a:tc>
                  <a:txBody>
                    <a:bodyPr/>
                    <a:lstStyle>
                      <a:defPPr>
                        <a:defRPr lang="fr-FR"/>
                      </a:defPPr>
                    </a:lstStyle>
                    <a:p>
                      <a:pPr algn="ctr" rtl="0"/>
                      <a:r>
                        <a:rPr lang="fr-FR" b="0">
                          <a:latin typeface="+mn-lt"/>
                        </a:rPr>
                        <a:t>Atteint</a:t>
                      </a:r>
                      <a:endParaRPr lang="fr-FR" b="0" i="0" dirty="0">
                        <a:latin typeface="+mn-lt"/>
                      </a:endParaRPr>
                    </a:p>
                  </a:txBody>
                  <a:tcPr anchor="ctr"/>
                </a:tc>
                <a:extLst>
                  <a:ext uri="{0D108BD9-81ED-4DB2-BD59-A6C34878D82A}">
                    <a16:rowId xmlns:a16="http://schemas.microsoft.com/office/drawing/2014/main" val="2857107962"/>
                  </a:ext>
                </a:extLst>
              </a:tr>
              <a:tr h="715667">
                <a:tc>
                  <a:txBody>
                    <a:bodyPr/>
                    <a:lstStyle>
                      <a:defPPr>
                        <a:defRPr lang="fr-FR"/>
                      </a:defPPr>
                    </a:lstStyle>
                    <a:p>
                      <a:pPr algn="ctr" rtl="0"/>
                      <a:r>
                        <a:rPr lang="fr-FR" b="0">
                          <a:latin typeface="+mn-lt"/>
                        </a:rPr>
                        <a:t>Interaction du public</a:t>
                      </a:r>
                      <a:endParaRPr lang="fr-FR" b="0" i="0" dirty="0">
                        <a:latin typeface="+mn-lt"/>
                      </a:endParaRPr>
                    </a:p>
                  </a:txBody>
                  <a:tcPr anchor="ctr"/>
                </a:tc>
                <a:tc>
                  <a:txBody>
                    <a:bodyPr/>
                    <a:lstStyle>
                      <a:defPPr>
                        <a:defRPr lang="fr-FR"/>
                      </a:defPPr>
                    </a:lstStyle>
                    <a:p>
                      <a:pPr algn="ctr" rtl="0"/>
                      <a:r>
                        <a:rPr lang="fr-FR" b="0">
                          <a:latin typeface="+mn-lt"/>
                        </a:rPr>
                        <a:t>Pourcentage (%)</a:t>
                      </a:r>
                      <a:endParaRPr lang="fr-FR" b="0" i="0" dirty="0">
                        <a:latin typeface="+mn-lt"/>
                      </a:endParaRPr>
                    </a:p>
                  </a:txBody>
                  <a:tcPr anchor="ctr"/>
                </a:tc>
                <a:tc>
                  <a:txBody>
                    <a:bodyPr/>
                    <a:lstStyle>
                      <a:defPPr>
                        <a:defRPr lang="fr-FR"/>
                      </a:defPPr>
                    </a:lstStyle>
                    <a:p>
                      <a:pPr algn="ctr" rtl="0"/>
                      <a:r>
                        <a:rPr lang="fr-FR" b="0">
                          <a:latin typeface="+mn-lt"/>
                        </a:rPr>
                        <a:t>85</a:t>
                      </a:r>
                      <a:endParaRPr lang="fr-FR" b="0" i="0" dirty="0">
                        <a:latin typeface="+mn-lt"/>
                      </a:endParaRPr>
                    </a:p>
                  </a:txBody>
                  <a:tcPr anchor="ctr"/>
                </a:tc>
                <a:tc>
                  <a:txBody>
                    <a:bodyPr/>
                    <a:lstStyle>
                      <a:defPPr>
                        <a:defRPr lang="fr-FR"/>
                      </a:defPPr>
                    </a:lstStyle>
                    <a:p>
                      <a:pPr algn="ctr" rtl="0"/>
                      <a:r>
                        <a:rPr lang="fr-FR" b="0">
                          <a:latin typeface="+mn-lt"/>
                        </a:rPr>
                        <a:t>88</a:t>
                      </a:r>
                      <a:endParaRPr lang="fr-FR" b="0" i="0" dirty="0">
                        <a:latin typeface="+mn-lt"/>
                      </a:endParaRPr>
                    </a:p>
                  </a:txBody>
                  <a:tcPr anchor="ctr"/>
                </a:tc>
                <a:extLst>
                  <a:ext uri="{0D108BD9-81ED-4DB2-BD59-A6C34878D82A}">
                    <a16:rowId xmlns:a16="http://schemas.microsoft.com/office/drawing/2014/main" val="1671386868"/>
                  </a:ext>
                </a:extLst>
              </a:tr>
              <a:tr h="715667">
                <a:tc>
                  <a:txBody>
                    <a:bodyPr/>
                    <a:lstStyle>
                      <a:defPPr>
                        <a:defRPr lang="fr-FR"/>
                      </a:defPPr>
                    </a:lstStyle>
                    <a:p>
                      <a:pPr algn="ctr" rtl="0"/>
                      <a:r>
                        <a:rPr lang="fr-FR" b="0">
                          <a:latin typeface="+mn-lt"/>
                        </a:rPr>
                        <a:t>Rétention de connaissances</a:t>
                      </a:r>
                      <a:endParaRPr lang="fr-FR" b="0" i="0" dirty="0">
                        <a:latin typeface="+mn-lt"/>
                      </a:endParaRPr>
                    </a:p>
                  </a:txBody>
                  <a:tcPr anchor="ctr"/>
                </a:tc>
                <a:tc>
                  <a:txBody>
                    <a:bodyPr/>
                    <a:lstStyle>
                      <a:defPPr>
                        <a:defRPr lang="fr-FR"/>
                      </a:defPPr>
                    </a:lstStyle>
                    <a:p>
                      <a:pPr algn="ctr" rtl="0"/>
                      <a:r>
                        <a:rPr lang="fr-FR" b="0">
                          <a:latin typeface="+mn-lt"/>
                        </a:rPr>
                        <a:t>Pourcentage (%)</a:t>
                      </a:r>
                      <a:endParaRPr lang="fr-FR" b="0" i="0" dirty="0">
                        <a:latin typeface="+mn-lt"/>
                      </a:endParaRPr>
                    </a:p>
                  </a:txBody>
                  <a:tcPr anchor="ctr"/>
                </a:tc>
                <a:tc>
                  <a:txBody>
                    <a:bodyPr/>
                    <a:lstStyle>
                      <a:defPPr>
                        <a:defRPr lang="fr-FR"/>
                      </a:defPPr>
                    </a:lstStyle>
                    <a:p>
                      <a:pPr algn="ctr" rtl="0"/>
                      <a:r>
                        <a:rPr lang="fr-FR" b="0">
                          <a:latin typeface="+mn-lt"/>
                        </a:rPr>
                        <a:t>75</a:t>
                      </a:r>
                      <a:endParaRPr lang="fr-FR" b="0" i="0" dirty="0">
                        <a:latin typeface="+mn-lt"/>
                      </a:endParaRPr>
                    </a:p>
                  </a:txBody>
                  <a:tcPr anchor="ctr"/>
                </a:tc>
                <a:tc>
                  <a:txBody>
                    <a:bodyPr/>
                    <a:lstStyle>
                      <a:defPPr>
                        <a:defRPr lang="fr-FR"/>
                      </a:defPPr>
                    </a:lstStyle>
                    <a:p>
                      <a:pPr algn="ctr" rtl="0"/>
                      <a:r>
                        <a:rPr lang="fr-FR" b="0">
                          <a:latin typeface="+mn-lt"/>
                        </a:rPr>
                        <a:t>80</a:t>
                      </a:r>
                      <a:endParaRPr lang="fr-FR" b="0" i="0" dirty="0">
                        <a:latin typeface="+mn-lt"/>
                      </a:endParaRPr>
                    </a:p>
                  </a:txBody>
                  <a:tcPr anchor="ctr"/>
                </a:tc>
                <a:extLst>
                  <a:ext uri="{0D108BD9-81ED-4DB2-BD59-A6C34878D82A}">
                    <a16:rowId xmlns:a16="http://schemas.microsoft.com/office/drawing/2014/main" val="380626418"/>
                  </a:ext>
                </a:extLst>
              </a:tr>
              <a:tr h="715667">
                <a:tc>
                  <a:txBody>
                    <a:bodyPr/>
                    <a:lstStyle>
                      <a:defPPr>
                        <a:defRPr lang="fr-FR"/>
                      </a:defPPr>
                    </a:lstStyle>
                    <a:p>
                      <a:pPr algn="ctr" rtl="0"/>
                      <a:r>
                        <a:rPr lang="fr-FR" b="0" dirty="0">
                          <a:latin typeface="+mn-lt"/>
                        </a:rPr>
                        <a:t>Enquêtes postérieures à la présentation</a:t>
                      </a:r>
                      <a:endParaRPr lang="fr-FR" b="0" i="0" dirty="0">
                        <a:latin typeface="+mn-lt"/>
                      </a:endParaRPr>
                    </a:p>
                  </a:txBody>
                  <a:tcPr anchor="ctr"/>
                </a:tc>
                <a:tc>
                  <a:txBody>
                    <a:bodyPr/>
                    <a:lstStyle>
                      <a:defPPr>
                        <a:defRPr lang="fr-FR"/>
                      </a:defPPr>
                    </a:lstStyle>
                    <a:p>
                      <a:pPr algn="ctr" rtl="0"/>
                      <a:r>
                        <a:rPr lang="fr-FR" b="0">
                          <a:latin typeface="+mn-lt"/>
                        </a:rPr>
                        <a:t>Note moyenne</a:t>
                      </a:r>
                      <a:endParaRPr lang="fr-FR" b="0" i="0" dirty="0">
                        <a:latin typeface="+mn-lt"/>
                      </a:endParaRPr>
                    </a:p>
                  </a:txBody>
                  <a:tcPr anchor="ctr"/>
                </a:tc>
                <a:tc>
                  <a:txBody>
                    <a:bodyPr/>
                    <a:lstStyle>
                      <a:defPPr>
                        <a:defRPr lang="fr-FR"/>
                      </a:defPPr>
                    </a:lstStyle>
                    <a:p>
                      <a:pPr algn="ctr" rtl="0"/>
                      <a:r>
                        <a:rPr lang="fr-FR" b="0">
                          <a:latin typeface="+mn-lt"/>
                        </a:rPr>
                        <a:t>4,2</a:t>
                      </a:r>
                      <a:endParaRPr lang="fr-FR" b="0" i="0" dirty="0">
                        <a:latin typeface="+mn-lt"/>
                      </a:endParaRPr>
                    </a:p>
                  </a:txBody>
                  <a:tcPr anchor="ctr"/>
                </a:tc>
                <a:tc>
                  <a:txBody>
                    <a:bodyPr/>
                    <a:lstStyle>
                      <a:defPPr>
                        <a:defRPr lang="fr-FR"/>
                      </a:defPPr>
                    </a:lstStyle>
                    <a:p>
                      <a:pPr algn="ctr" rtl="0"/>
                      <a:r>
                        <a:rPr lang="fr-FR" b="0">
                          <a:latin typeface="+mn-lt"/>
                        </a:rPr>
                        <a:t>4,5</a:t>
                      </a:r>
                      <a:endParaRPr lang="fr-FR" b="0" i="0" dirty="0">
                        <a:latin typeface="+mn-lt"/>
                      </a:endParaRPr>
                    </a:p>
                  </a:txBody>
                  <a:tcPr anchor="ctr"/>
                </a:tc>
                <a:extLst>
                  <a:ext uri="{0D108BD9-81ED-4DB2-BD59-A6C34878D82A}">
                    <a16:rowId xmlns:a16="http://schemas.microsoft.com/office/drawing/2014/main" val="2132482967"/>
                  </a:ext>
                </a:extLst>
              </a:tr>
              <a:tr h="715667">
                <a:tc>
                  <a:txBody>
                    <a:bodyPr/>
                    <a:lstStyle>
                      <a:defPPr>
                        <a:defRPr lang="fr-FR"/>
                      </a:defPPr>
                    </a:lstStyle>
                    <a:p>
                      <a:pPr algn="ctr" rtl="0"/>
                      <a:r>
                        <a:rPr lang="fr-FR" b="0">
                          <a:latin typeface="+mn-lt"/>
                        </a:rPr>
                        <a:t>Taux de référence</a:t>
                      </a:r>
                      <a:endParaRPr lang="fr-FR" b="0" i="0" dirty="0">
                        <a:latin typeface="+mn-lt"/>
                      </a:endParaRPr>
                    </a:p>
                  </a:txBody>
                  <a:tcPr anchor="ctr"/>
                </a:tc>
                <a:tc>
                  <a:txBody>
                    <a:bodyPr/>
                    <a:lstStyle>
                      <a:defPPr>
                        <a:defRPr lang="fr-FR"/>
                      </a:defPPr>
                    </a:lstStyle>
                    <a:p>
                      <a:pPr algn="ctr" rtl="0"/>
                      <a:r>
                        <a:rPr lang="fr-FR" b="0">
                          <a:latin typeface="+mn-lt"/>
                        </a:rPr>
                        <a:t>Pourcentage (%)</a:t>
                      </a:r>
                      <a:endParaRPr lang="fr-FR" b="0" i="0" dirty="0">
                        <a:latin typeface="+mn-lt"/>
                      </a:endParaRPr>
                    </a:p>
                  </a:txBody>
                  <a:tcPr anchor="ctr"/>
                </a:tc>
                <a:tc>
                  <a:txBody>
                    <a:bodyPr/>
                    <a:lstStyle>
                      <a:defPPr>
                        <a:defRPr lang="fr-FR"/>
                      </a:defPPr>
                    </a:lstStyle>
                    <a:p>
                      <a:pPr algn="ctr" rtl="0"/>
                      <a:r>
                        <a:rPr lang="fr-FR" b="0">
                          <a:latin typeface="+mn-lt"/>
                        </a:rPr>
                        <a:t>10</a:t>
                      </a:r>
                      <a:endParaRPr lang="fr-FR" b="0" i="0" dirty="0">
                        <a:latin typeface="+mn-lt"/>
                      </a:endParaRPr>
                    </a:p>
                  </a:txBody>
                  <a:tcPr anchor="ctr"/>
                </a:tc>
                <a:tc>
                  <a:txBody>
                    <a:bodyPr/>
                    <a:lstStyle>
                      <a:defPPr>
                        <a:defRPr lang="fr-FR"/>
                      </a:defPPr>
                    </a:lstStyle>
                    <a:p>
                      <a:pPr algn="ctr" rtl="0"/>
                      <a:r>
                        <a:rPr lang="fr-FR" b="0">
                          <a:latin typeface="+mn-lt"/>
                        </a:rPr>
                        <a:t>12</a:t>
                      </a:r>
                      <a:endParaRPr lang="fr-FR" b="0" i="0" dirty="0">
                        <a:latin typeface="+mn-lt"/>
                      </a:endParaRPr>
                    </a:p>
                  </a:txBody>
                  <a:tcPr anchor="ctr"/>
                </a:tc>
                <a:extLst>
                  <a:ext uri="{0D108BD9-81ED-4DB2-BD59-A6C34878D82A}">
                    <a16:rowId xmlns:a16="http://schemas.microsoft.com/office/drawing/2014/main" val="3936251906"/>
                  </a:ext>
                </a:extLst>
              </a:tr>
              <a:tr h="715667">
                <a:tc>
                  <a:txBody>
                    <a:bodyPr/>
                    <a:lstStyle>
                      <a:defPPr>
                        <a:defRPr lang="fr-FR"/>
                      </a:defPPr>
                    </a:lstStyle>
                    <a:p>
                      <a:pPr algn="ctr" rtl="0"/>
                      <a:r>
                        <a:rPr lang="fr-FR" b="0">
                          <a:latin typeface="+mn-lt"/>
                        </a:rPr>
                        <a:t>Opportunités de collaboration</a:t>
                      </a:r>
                      <a:endParaRPr lang="fr-FR" b="0" i="0" dirty="0">
                        <a:latin typeface="+mn-lt"/>
                      </a:endParaRPr>
                    </a:p>
                  </a:txBody>
                  <a:tcPr anchor="ctr"/>
                </a:tc>
                <a:tc>
                  <a:txBody>
                    <a:bodyPr/>
                    <a:lstStyle>
                      <a:defPPr>
                        <a:defRPr lang="fr-FR"/>
                      </a:defPPr>
                    </a:lstStyle>
                    <a:p>
                      <a:pPr algn="ctr" rtl="0"/>
                      <a:r>
                        <a:rPr lang="fr-FR" b="0">
                          <a:latin typeface="+mn-lt"/>
                        </a:rPr>
                        <a:t>Nombre d’opportunités</a:t>
                      </a:r>
                      <a:endParaRPr lang="fr-FR" b="0" i="0" dirty="0">
                        <a:latin typeface="+mn-lt"/>
                      </a:endParaRPr>
                    </a:p>
                  </a:txBody>
                  <a:tcPr anchor="ctr"/>
                </a:tc>
                <a:tc>
                  <a:txBody>
                    <a:bodyPr/>
                    <a:lstStyle>
                      <a:defPPr>
                        <a:defRPr lang="fr-FR"/>
                      </a:defPPr>
                    </a:lstStyle>
                    <a:p>
                      <a:pPr algn="ctr" rtl="0"/>
                      <a:r>
                        <a:rPr lang="fr-FR" b="0">
                          <a:latin typeface="+mn-lt"/>
                        </a:rPr>
                        <a:t>8</a:t>
                      </a:r>
                      <a:endParaRPr lang="fr-FR" b="0" i="0" dirty="0">
                        <a:latin typeface="+mn-lt"/>
                      </a:endParaRPr>
                    </a:p>
                  </a:txBody>
                  <a:tcPr anchor="ctr"/>
                </a:tc>
                <a:tc>
                  <a:txBody>
                    <a:bodyPr/>
                    <a:lstStyle>
                      <a:defPPr>
                        <a:defRPr lang="fr-FR"/>
                      </a:defPPr>
                    </a:lstStyle>
                    <a:p>
                      <a:pPr algn="ctr" rtl="0"/>
                      <a:r>
                        <a:rPr lang="fr-FR" b="0" dirty="0">
                          <a:latin typeface="+mn-lt"/>
                        </a:rPr>
                        <a:t>10</a:t>
                      </a:r>
                      <a:endParaRPr lang="fr-FR" b="0" i="0" dirty="0">
                        <a:latin typeface="+mn-lt"/>
                      </a:endParaRPr>
                    </a:p>
                  </a:txBody>
                  <a:tcPr anchor="ctr"/>
                </a:tc>
                <a:extLst>
                  <a:ext uri="{0D108BD9-81ED-4DB2-BD59-A6C34878D82A}">
                    <a16:rowId xmlns:a16="http://schemas.microsoft.com/office/drawing/2014/main" val="568537164"/>
                  </a:ext>
                </a:extLst>
              </a:tr>
            </a:tbl>
          </a:graphicData>
        </a:graphic>
      </p:graphicFrame>
    </p:spTree>
    <p:extLst>
      <p:ext uri="{BB962C8B-B14F-4D97-AF65-F5344CB8AC3E}">
        <p14:creationId xmlns:p14="http://schemas.microsoft.com/office/powerpoint/2010/main" val="3604630649"/>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8BAC361-0D7A-DC05-86B5-6DD77D322F5B}"/>
              </a:ext>
            </a:extLst>
          </p:cNvPr>
          <p:cNvSpPr>
            <a:spLocks noGrp="1"/>
          </p:cNvSpPr>
          <p:nvPr>
            <p:ph type="title"/>
          </p:nvPr>
        </p:nvSpPr>
        <p:spPr>
          <a:xfrm>
            <a:off x="4143375" y="92597"/>
            <a:ext cx="3905250" cy="3032567"/>
          </a:xfrm>
          <a:noFill/>
        </p:spPr>
        <p:txBody>
          <a:bodyPr rtlCol="0" anchor="b"/>
          <a:lstStyle>
            <a:defPPr>
              <a:defRPr lang="fr-FR"/>
            </a:defPPr>
          </a:lstStyle>
          <a:p>
            <a:pPr rtl="0"/>
            <a:r>
              <a:rPr lang="fr-FR"/>
              <a:t>Merci</a:t>
            </a:r>
          </a:p>
        </p:txBody>
      </p:sp>
      <p:sp>
        <p:nvSpPr>
          <p:cNvPr id="3" name="Espace réservé du contenu 2">
            <a:extLst>
              <a:ext uri="{FF2B5EF4-FFF2-40B4-BE49-F238E27FC236}">
                <a16:creationId xmlns:a16="http://schemas.microsoft.com/office/drawing/2014/main" id="{1BE98EFF-197D-3136-70B9-7BBD30A48931}"/>
              </a:ext>
            </a:extLst>
          </p:cNvPr>
          <p:cNvSpPr>
            <a:spLocks noGrp="1"/>
          </p:cNvSpPr>
          <p:nvPr>
            <p:ph type="body" sz="quarter" idx="10"/>
          </p:nvPr>
        </p:nvSpPr>
        <p:spPr>
          <a:xfrm>
            <a:off x="4143375" y="4004321"/>
            <a:ext cx="3905250" cy="2743200"/>
          </a:xfrm>
          <a:noFill/>
        </p:spPr>
        <p:txBody>
          <a:bodyPr rtlCol="0" anchor="t">
            <a:normAutofit/>
          </a:bodyPr>
          <a:lstStyle>
            <a:defPPr>
              <a:defRPr lang="fr-FR"/>
            </a:defPPr>
          </a:lstStyle>
          <a:p>
            <a:pPr rtl="0"/>
            <a:r>
              <a:rPr lang="fr-FR"/>
              <a:t>Brita Tamm​</a:t>
            </a:r>
          </a:p>
          <a:p>
            <a:pPr rtl="0"/>
            <a:r>
              <a:rPr lang="fr-FR"/>
              <a:t>502-555-0152</a:t>
            </a:r>
          </a:p>
          <a:p>
            <a:pPr rtl="0"/>
            <a:r>
              <a:rPr lang="fr-FR"/>
              <a:t>brita@firstupconsultants.com</a:t>
            </a:r>
          </a:p>
          <a:p>
            <a:pPr rtl="0"/>
            <a:r>
              <a:rPr lang="fr-FR"/>
              <a:t>www.firstupconsultants.com</a:t>
            </a:r>
          </a:p>
        </p:txBody>
      </p:sp>
    </p:spTree>
    <p:extLst>
      <p:ext uri="{BB962C8B-B14F-4D97-AF65-F5344CB8AC3E}">
        <p14:creationId xmlns:p14="http://schemas.microsoft.com/office/powerpoint/2010/main" val="611567175"/>
      </p:ext>
    </p:extLst>
  </p:cSld>
  <p:clrMapOvr>
    <a:masterClrMapping/>
  </p:clrMapOvr>
</p:sld>
</file>

<file path=ppt/theme/theme1.xml><?xml version="1.0" encoding="utf-8"?>
<a:theme xmlns:a="http://schemas.openxmlformats.org/drawingml/2006/main" name="Personnalisé">
  <a:themeElements>
    <a:clrScheme name="TM10081922">
      <a:dk1>
        <a:srgbClr val="000000"/>
      </a:dk1>
      <a:lt1>
        <a:srgbClr val="FFFFFF"/>
      </a:lt1>
      <a:dk2>
        <a:srgbClr val="435369"/>
      </a:dk2>
      <a:lt2>
        <a:srgbClr val="E7E5E5"/>
      </a:lt2>
      <a:accent1>
        <a:srgbClr val="F2E5D8"/>
      </a:accent1>
      <a:accent2>
        <a:srgbClr val="8C3A27"/>
      </a:accent2>
      <a:accent3>
        <a:srgbClr val="F0C8BC"/>
      </a:accent3>
      <a:accent4>
        <a:srgbClr val="D9A390"/>
      </a:accent4>
      <a:accent5>
        <a:srgbClr val="FFF6F4"/>
      </a:accent5>
      <a:accent6>
        <a:srgbClr val="183F1E"/>
      </a:accent6>
      <a:hlink>
        <a:srgbClr val="467886"/>
      </a:hlink>
      <a:folHlink>
        <a:srgbClr val="96607D"/>
      </a:folHlink>
    </a:clrScheme>
    <a:fontScheme name="Custom 100">
      <a:majorFont>
        <a:latin typeface="Tisa Offc Serif Pro"/>
        <a:ea typeface=""/>
        <a:cs typeface=""/>
      </a:majorFont>
      <a:minorFont>
        <a:latin typeface="Quire Sans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_72342536_TF10081922_Win32" id="{7BC52F11-DA02-48DC-8184-F5C159ED06F7}" vid="{67B1E8DC-E01C-42C6-94A3-40EB0BB60D71}"/>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4a774a2b-bdf9-4966-8a34-a8cc9bbcc689" xsi:nil="true"/>
    <lcf76f155ced4ddcb4097134ff3c332f xmlns="7be4420d-3530-4f80-a479-62b9a272b2b5">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E4B10C6517D904B99912CD8D7E2C458" ma:contentTypeVersion="15" ma:contentTypeDescription="Crée un document." ma:contentTypeScope="" ma:versionID="e1cad357db00acc9fda58d3b7f94e267">
  <xsd:schema xmlns:xsd="http://www.w3.org/2001/XMLSchema" xmlns:xs="http://www.w3.org/2001/XMLSchema" xmlns:p="http://schemas.microsoft.com/office/2006/metadata/properties" xmlns:ns2="7be4420d-3530-4f80-a479-62b9a272b2b5" xmlns:ns3="4a774a2b-bdf9-4966-8a34-a8cc9bbcc689" targetNamespace="http://schemas.microsoft.com/office/2006/metadata/properties" ma:root="true" ma:fieldsID="e795a42cd59ecba587f8b9af401b3372" ns2:_="" ns3:_="">
    <xsd:import namespace="7be4420d-3530-4f80-a479-62b9a272b2b5"/>
    <xsd:import namespace="4a774a2b-bdf9-4966-8a34-a8cc9bbcc689"/>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2:MediaLengthInSeconds" minOccurs="0"/>
                <xsd:element ref="ns2:MediaServiceSearchPropertie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be4420d-3530-4f80-a479-62b9a272b2b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Balises d’images" ma:readOnly="false" ma:fieldId="{5cf76f15-5ced-4ddc-b409-7134ff3c332f}" ma:taxonomyMulti="true" ma:sspId="5770225b-ab96-42e6-9610-3b2afa844317"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description="" ma:hidden="true" ma:indexed="true" ma:internalName="MediaServiceDateTaken" ma:readOnly="true">
      <xsd:simpleType>
        <xsd:restriction base="dms:Text"/>
      </xsd:simpleType>
    </xsd:element>
    <xsd:element name="MediaServiceLocation" ma:index="18" nillable="true" ma:displayName="Location" ma:description="" ma:indexed="true" ma:internalName="MediaServiceLocatio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SearchProperties" ma:index="20"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a774a2b-bdf9-4966-8a34-a8cc9bbcc689"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ff110c81-1dd9-444e-a9e5-53b44b62586c}" ma:internalName="TaxCatchAll" ma:showField="CatchAllData" ma:web="4a774a2b-bdf9-4966-8a34-a8cc9bbcc689">
      <xsd:complexType>
        <xsd:complexContent>
          <xsd:extension base="dms:MultiChoiceLookup">
            <xsd:sequence>
              <xsd:element name="Value" type="dms:Lookup" maxOccurs="unbounded" minOccurs="0" nillable="true"/>
            </xsd:sequence>
          </xsd:extension>
        </xsd:complexContent>
      </xsd:complexType>
    </xsd:element>
    <xsd:element name="SharedWithUsers" ma:index="21"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Partagé avec dé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A349358-775F-4CF9-9AE6-33A7901637EF}">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CB8FC0E5-78D4-4876-86AB-BD26F2374D61}"/>
</file>

<file path=customXml/itemProps3.xml><?xml version="1.0" encoding="utf-8"?>
<ds:datastoreItem xmlns:ds="http://schemas.openxmlformats.org/officeDocument/2006/customXml" ds:itemID="{FB2D96AF-4C9E-4DD0-A165-CD22BB87D090}">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{54908CF3-EE35-43F1-A75C-9B9358EDB6ED}TF96423eb0-8e02-4a99-b83b-bc60d19202d587b10bba_win32-6f1b4b62d9a7</Template>
  <TotalTime>11</TotalTime>
  <Words>11175</Words>
  <Application>Microsoft Office PowerPoint</Application>
  <PresentationFormat>Grand écran</PresentationFormat>
  <Paragraphs>946</Paragraphs>
  <Slides>124</Slides>
  <Notes>124</Notes>
  <HiddenSlides>0</HiddenSlides>
  <MMClips>0</MMClips>
  <ScaleCrop>false</ScaleCrop>
  <HeadingPairs>
    <vt:vector size="6" baseType="variant">
      <vt:variant>
        <vt:lpstr>Polices utilisées</vt:lpstr>
      </vt:variant>
      <vt:variant>
        <vt:i4>9</vt:i4>
      </vt:variant>
      <vt:variant>
        <vt:lpstr>Thème</vt:lpstr>
      </vt:variant>
      <vt:variant>
        <vt:i4>1</vt:i4>
      </vt:variant>
      <vt:variant>
        <vt:lpstr>Titres des diapositives</vt:lpstr>
      </vt:variant>
      <vt:variant>
        <vt:i4>124</vt:i4>
      </vt:variant>
    </vt:vector>
  </HeadingPairs>
  <TitlesOfParts>
    <vt:vector size="134" baseType="lpstr">
      <vt:lpstr>ＭＳ Ｐゴシック</vt:lpstr>
      <vt:lpstr>Aptos</vt:lpstr>
      <vt:lpstr>Arial</vt:lpstr>
      <vt:lpstr>Calibri</vt:lpstr>
      <vt:lpstr>Quire Sans Pro Light</vt:lpstr>
      <vt:lpstr>Tisa Offc Serif Pro</vt:lpstr>
      <vt:lpstr>Webdings</vt:lpstr>
      <vt:lpstr>Wingdings</vt:lpstr>
      <vt:lpstr>Wingdings 3</vt:lpstr>
      <vt:lpstr>Personnalisé</vt:lpstr>
      <vt:lpstr>LES ESSENTIELS DU BTP</vt:lpstr>
      <vt:lpstr>Présentation PowerPoint</vt:lpstr>
      <vt:lpstr>Séquence 1 </vt:lpstr>
      <vt:lpstr>Les 3 niveaux de hiérarchie du code  de travail</vt:lpstr>
      <vt:lpstr>La négociation d’entreprise et la CCN</vt:lpstr>
      <vt:lpstr>Les particularités des conventions collectives du BTP (1)</vt:lpstr>
      <vt:lpstr>Les particularités des conventions collectives du Btp (2)</vt:lpstr>
      <vt:lpstr>avertissement</vt:lpstr>
      <vt:lpstr>Les particularités des conventions collectives du Btp (3)</vt:lpstr>
      <vt:lpstr>Conventions collectives BTP</vt:lpstr>
      <vt:lpstr>Conventions collectives : Information des salariés</vt:lpstr>
      <vt:lpstr>Séquence 2 </vt:lpstr>
      <vt:lpstr>L’embauche : Les obligations dans un contexte de responsabilité de l’employeur</vt:lpstr>
      <vt:lpstr>L’embauche : Mesures pour assurer la santé et la sécurité des salariés</vt:lpstr>
      <vt:lpstr>L’embauche : les risques</vt:lpstr>
      <vt:lpstr>L’embauche : Pénibilité  </vt:lpstr>
      <vt:lpstr>L’embauche : La période d’essai</vt:lpstr>
      <vt:lpstr>L’embauche : CDD </vt:lpstr>
      <vt:lpstr>L’embauche : Le contrat de travail </vt:lpstr>
      <vt:lpstr>L’embauche : Forfait jours </vt:lpstr>
      <vt:lpstr>L’embauche : Exercice</vt:lpstr>
      <vt:lpstr>Séquence 3 </vt:lpstr>
      <vt:lpstr>Présentation PowerPoint</vt:lpstr>
      <vt:lpstr>Le brut : classification et rémunération (1)</vt:lpstr>
      <vt:lpstr>Le brut : classification et rémunération (2)</vt:lpstr>
      <vt:lpstr>Le brut : Rémunération minimum conventionnelle </vt:lpstr>
      <vt:lpstr>Le brut : Les heures</vt:lpstr>
      <vt:lpstr>Le brut : Les heures supplémentaires (1)</vt:lpstr>
      <vt:lpstr>Le brut : Les heures supplémentaires (2)</vt:lpstr>
      <vt:lpstr>Le travail de nuit </vt:lpstr>
      <vt:lpstr>Le travail  des jours fériés (ouvriers)</vt:lpstr>
      <vt:lpstr>Les apprentis (1)</vt:lpstr>
      <vt:lpstr>Les apprentis (2)</vt:lpstr>
      <vt:lpstr>Les apprentis (3)</vt:lpstr>
      <vt:lpstr>Le brut : Les primes </vt:lpstr>
      <vt:lpstr>Les trajets</vt:lpstr>
      <vt:lpstr>Le temps de travail effectif et les temps de trajet</vt:lpstr>
      <vt:lpstr>Le brut : les temps de trajet (1)</vt:lpstr>
      <vt:lpstr>Le brut : les temps de trajet (2)</vt:lpstr>
      <vt:lpstr>Le brut : les temps de trajet (3)</vt:lpstr>
      <vt:lpstr>Le brut et l’indemnité de trajet SELON LA CONVENTION COLLECTIVE</vt:lpstr>
      <vt:lpstr>Le brut et l’indemnité de trajet POSITION DE LA COUR DE CASSATION</vt:lpstr>
      <vt:lpstr>Le brut, l’indemnité de trajet et l'URSSAF</vt:lpstr>
      <vt:lpstr>Séquence 4  </vt:lpstr>
      <vt:lpstr>Présentation PowerPoint</vt:lpstr>
      <vt:lpstr>Avec le BOSS disparition des frais d’entreprise</vt:lpstr>
      <vt:lpstr>Les frais professionnels et de déplacement :  Les grands déplacements (1)</vt:lpstr>
      <vt:lpstr>Les frais professionnels et de déplacement :  Les grands déplacements (2)</vt:lpstr>
      <vt:lpstr>Les frais de grands déplacements et  La déduction forfaitaire spécifique</vt:lpstr>
      <vt:lpstr>Les frais professionnels et de déplacement : Les voyages </vt:lpstr>
      <vt:lpstr>Avant de traiter les petits déplacements </vt:lpstr>
      <vt:lpstr>Les frais professionnels et de déplacements :  Autres frais professionnels </vt:lpstr>
      <vt:lpstr>Les frais professionnels :  Indemnités de petits déplacements (1)</vt:lpstr>
      <vt:lpstr>Les frais professionnels :  Indemnités de petits déplacements (2)</vt:lpstr>
      <vt:lpstr>Les frais professionnels :  La déduction forfaitaire spécifique</vt:lpstr>
      <vt:lpstr>Les frais professionnels : le brut et La déduction forfaitaire spécifique</vt:lpstr>
      <vt:lpstr>Les frais professionnels : La déduction forfaitaire spécifique et le calcul du net imposable</vt:lpstr>
      <vt:lpstr>Séquence 5  </vt:lpstr>
      <vt:lpstr>Présentation PowerPoint</vt:lpstr>
      <vt:lpstr>Les cotisations : versées à l’URSSAF</vt:lpstr>
      <vt:lpstr>Les cotisations : versées à l’URSSAF</vt:lpstr>
      <vt:lpstr>Les cotisations : versées à l’URSSAF</vt:lpstr>
      <vt:lpstr>Les cotisations : versées à l’URSSAF</vt:lpstr>
      <vt:lpstr>Les cotisations : versées à l’URSSAF</vt:lpstr>
      <vt:lpstr>URSSAF : la réduction générale des cotisations patronales sur les bas salaires (ex réduction Fillon) </vt:lpstr>
      <vt:lpstr>URSSAF : la réduction générale des cotisations patronales sur les bas salaires (ex réduction Fillon) </vt:lpstr>
      <vt:lpstr>réduction du plafond SS dans le BTP(1)</vt:lpstr>
      <vt:lpstr>réduction du plafond SS dans le BTP(2)</vt:lpstr>
      <vt:lpstr>Les cotisations : Les autres cotisations </vt:lpstr>
      <vt:lpstr>Cotisations retraite (ETAM)</vt:lpstr>
      <vt:lpstr>BTp ET FORMATION CONTINUE</vt:lpstr>
      <vt:lpstr>Garanties prévoyance PRO-BTP </vt:lpstr>
      <vt:lpstr>Mutuelle santé </vt:lpstr>
      <vt:lpstr>Caisse congés payés et cotisation syndicale</vt:lpstr>
      <vt:lpstr>Impact du secteur sur les bases fiscales </vt:lpstr>
      <vt:lpstr>LE BULLETIN DE PAYE </vt:lpstr>
      <vt:lpstr>Séquence 6 </vt:lpstr>
      <vt:lpstr>Présentation PowerPoint</vt:lpstr>
      <vt:lpstr>Les évènements courants : Maternité </vt:lpstr>
      <vt:lpstr>Les évènements courants : maladie (1)</vt:lpstr>
      <vt:lpstr>Les évènements courants : maladie (2) </vt:lpstr>
      <vt:lpstr>Les évènements courants : maladie et contrat incapacité de travail</vt:lpstr>
      <vt:lpstr>Les évènements courants : maladie et indemnités  (- 90 jours) versées par PRO-BTP aux ouvriers du bâtiment </vt:lpstr>
      <vt:lpstr>Les évènements courants : maladie et indemnités  (- 90 jours) versées par PRO-BTP aux ouvriers des travaux publics </vt:lpstr>
      <vt:lpstr>Les évènements courants : maladie et indemnités (+ 90 jours) versées par PRO-BTP aux ouvriers (1) </vt:lpstr>
      <vt:lpstr>Les évènements courants : maladie et indemnités (+ 90 jours) versées par PRO-BTP aux ouvriers (2) </vt:lpstr>
      <vt:lpstr>Les évènements courants : Les congés payés</vt:lpstr>
      <vt:lpstr>Les congés payés et le plafond SS </vt:lpstr>
      <vt:lpstr>Les congés payés et un jour férié</vt:lpstr>
      <vt:lpstr>Les évènements courants : Les indemnités</vt:lpstr>
      <vt:lpstr>Les évènements courants : Congés payés  Particularités Etam/cadres</vt:lpstr>
      <vt:lpstr>Les évènements courants : Les intempéries</vt:lpstr>
      <vt:lpstr>Les évènements courants : Les intempéries</vt:lpstr>
      <vt:lpstr>Les intempéries</vt:lpstr>
      <vt:lpstr>Séquence 7</vt:lpstr>
      <vt:lpstr>Présentation PowerPoint</vt:lpstr>
      <vt:lpstr>CDD : renouvellement, transformation en CDI</vt:lpstr>
      <vt:lpstr>Fin de contrat : documents à remettre</vt:lpstr>
      <vt:lpstr>La Rupture : Préavis</vt:lpstr>
      <vt:lpstr>La Rupture : Licenciement (1)</vt:lpstr>
      <vt:lpstr>La Rupture : Licenciement (2)</vt:lpstr>
      <vt:lpstr>La Rupture : Licenciement (3)</vt:lpstr>
      <vt:lpstr>Départ en retraite : visite médicale</vt:lpstr>
      <vt:lpstr>La Rupture : Indemnités de départ  à la retraite (1)</vt:lpstr>
      <vt:lpstr>La Rupture : Indemnités de départ  à la retraite (2)</vt:lpstr>
      <vt:lpstr>La Rupture : Indemnités de mise  à la retraite (1) </vt:lpstr>
      <vt:lpstr>La Rupture : Indemnités de mise  à la retraite (2)</vt:lpstr>
      <vt:lpstr>La Rupture : Indemnités de mise  à la retraite (2)</vt:lpstr>
      <vt:lpstr>Que retenir : points principaux pouvant être modifiés par accord d’entreprise</vt:lpstr>
      <vt:lpstr>Que retenir des conventions collectives des ouvriers du Bâtiment - 07/03/2018 (1)</vt:lpstr>
      <vt:lpstr>Que retenir des conventions collectives des ouvriers du Bâtiment - 07/03/2018 (2)</vt:lpstr>
      <vt:lpstr>Que retenir des conventions collectives des ouvriers du Bâtiment - 07/03/2018 (3)</vt:lpstr>
      <vt:lpstr>Ordre du jour</vt:lpstr>
      <vt:lpstr>La puissance de la communication</vt:lpstr>
      <vt:lpstr>Surmontez la nervosité</vt:lpstr>
      <vt:lpstr>Suscitez l’intérêt du public</vt:lpstr>
      <vt:lpstr>Sélection d’aides visuelles</vt:lpstr>
      <vt:lpstr>Techniques de discours efficaces</vt:lpstr>
      <vt:lpstr>Navigation dans les sessions de Q&amp;R</vt:lpstr>
      <vt:lpstr>Impact du discours</vt:lpstr>
      <vt:lpstr>Discours dynamique</vt:lpstr>
      <vt:lpstr>Derniers conseils et points importants à retenir</vt:lpstr>
      <vt:lpstr>Mesures d’engagement du discours</vt:lpstr>
      <vt:lpstr>Merci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Florence Rendu</dc:creator>
  <cp:lastModifiedBy>Florence Rendu</cp:lastModifiedBy>
  <cp:revision>1</cp:revision>
  <dcterms:created xsi:type="dcterms:W3CDTF">2025-09-16T06:35:21Z</dcterms:created>
  <dcterms:modified xsi:type="dcterms:W3CDTF">2026-09-06T17:22:48Z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0x0101008E4B10C6517D904B99912CD8D7E2C458</vt:lpwstr>
  </property>
</Properties>
</file>